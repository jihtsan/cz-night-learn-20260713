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封面插画由 OpenAI 图像生成工具生成；无外部图片。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https://github.com/vercel-labs/skills</a:t>
            </a:r>
          </a:p>
          <a:p>
            <a:r>
              <a:t>https://qwenlm.github.io/qwen-code-docs/en/users/features/skills/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https://github.com/vercel-labs/skills</a:t>
            </a:r>
          </a:p>
          <a:p>
            <a:r>
              <a:t>https://www.kimi.com/code/docs/en/kimi-code-cli/customization/skills.html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https://qwenlm.github.io/qwen-code-docs/en/users/features/skills/</a:t>
            </a:r>
          </a:p>
          <a:p>
            <a:r>
              <a:t>https://github.com/anthropics/skills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https://help.openai.com/en/articles/20001256-plugins-in-codex/</a:t>
            </a:r>
          </a:p>
          <a:p>
            <a:r>
              <a:t>https://github.com/vercel-labs/skills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https://github.com/markdown-viewer/skills</a:t>
            </a:r>
          </a:p>
          <a:p>
            <a:r>
              <a:t>https://github.com/vercel-labs/skills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https://github.com/markdown-viewer/skills</a:t>
            </a:r>
          </a:p>
          <a:p>
            <a:r>
              <a:t>https://github.com/VoltAgent/awesome-agent-skills</a:t>
            </a:r>
          </a:p>
          <a:p>
            <a:r>
              <a:t>https://github.com/jiji262/claude-design-skill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https://www.newrank.cn/</a:t>
            </a:r>
          </a:p>
          <a:p>
            <a:r>
              <a:t>https://socialdata.cn/</a:t>
            </a:r>
          </a:p>
          <a:p>
            <a:r>
              <a:t>https://ad-market.xiaohongshu.com/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https://github.com/jackwener/xhs-cli</a:t>
            </a:r>
          </a:p>
          <a:p>
            <a:r>
              <a:t>https://github.com/lucasygu/redbook</a:t>
            </a:r>
          </a:p>
          <a:p>
            <a:r>
              <a:t>https://ad-market.xiaohongshu.com/</a:t>
            </a:r>
          </a:p>
          <a:p>
            <a:r>
              <a:t>https://kawo.com/cn/solutions/%E7%AB%9E%E5%93%81%E7%9B%91%E6%B5%8B%E4%B8%8E%E5%88%86%E6%9E%90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收尾建议：不要从“收藏很多 Skill”开始，而从一个重复任务开始。
[Sources]
https://qwenlm.github.io/qwen-code-docs/en/users/features/skills/
https://github.com/vercel-labs/skills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685800" y="800100"/>
            <a:ext cx="1866900" cy="323850"/>
          </a:xfrm>
          <a:prstGeom prst="roundRect">
            <a:avLst>
              <a:gd name="adj" fmla="val 47059"/>
            </a:avLst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876300"/>
            <a:ext cx="1666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给 Agent 装上“操作手册”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90650"/>
            <a:ext cx="59055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825" b="1">
                <a:solidFill>
                  <a:srgbClr val="112A46"/>
                </a:solidFill>
              </a:defRPr>
            </a:pPr>
            <a:r>
              <a:rPr sz="3825" b="1">
                <a:solidFill>
                  <a:srgbClr val="112A46"/>
                </a:solidFill>
              </a:rPr>
              <a:t>Skill：让 Agent</a:t>
            </a:r>
            <a:endParaRPr sz="3825" b="1">
              <a:solidFill>
                <a:srgbClr val="112A46"/>
              </a:solidFill>
            </a:endParaRPr>
          </a:p>
          <a:p>
            <a:pPr>
              <a:defRPr sz="3825" b="1">
                <a:solidFill>
                  <a:srgbClr val="112A46"/>
                </a:solidFill>
              </a:defRPr>
            </a:pPr>
            <a:r>
              <a:rPr sz="3825" b="1">
                <a:solidFill>
                  <a:srgbClr val="112A46"/>
                </a:solidFill>
              </a:rPr>
              <a:t>会做事，也做对事</a:t>
            </a:r>
            <a:endParaRPr sz="3825" b="1">
              <a:solidFill>
                <a:srgbClr val="112A4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847975"/>
            <a:ext cx="557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D7186"/>
                </a:solidFill>
              </a:defRPr>
            </a:pPr>
            <a:r>
              <a:rPr sz="1500" b="0">
                <a:solidFill>
                  <a:srgbClr val="5D7186"/>
                </a:solidFill>
              </a:rPr>
              <a:t>从调用逻辑，到圆形信息图与社媒调研的实用组合</a:t>
            </a:r>
            <a:endParaRPr sz="1500" b="0">
              <a:solidFill>
                <a:srgbClr val="5D7186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3676650"/>
            <a:ext cx="933450" cy="304800"/>
          </a:xfrm>
          <a:prstGeom prst="roundRect">
            <a:avLst>
              <a:gd name="adj" fmla="val 50000"/>
            </a:avLst>
          </a:prstGeom>
          <a:solidFill>
            <a:srgbClr val="DDF1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37433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可复用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752600" y="3676650"/>
            <a:ext cx="933450" cy="304800"/>
          </a:xfrm>
          <a:prstGeom prst="roundRect">
            <a:avLst>
              <a:gd name="adj" fmla="val 50000"/>
            </a:avLst>
          </a:prstGeom>
          <a:solidFill>
            <a:srgbClr val="E8F7DA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885950" y="37433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可协作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800350" y="3676650"/>
            <a:ext cx="933450" cy="304800"/>
          </a:xfrm>
          <a:prstGeom prst="roundRect">
            <a:avLst>
              <a:gd name="adj" fmla="val 50000"/>
            </a:avLst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933700" y="37433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可验证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607695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D7186"/>
                </a:solidFill>
              </a:defRPr>
            </a:pPr>
            <a:r>
              <a:rPr sz="1125" b="0">
                <a:solidFill>
                  <a:srgbClr val="5D7186"/>
                </a:solidFill>
              </a:rPr>
              <a:t>AI Agent Skills 实用导览  |  2026</a:t>
            </a:r>
            <a:endParaRPr sz="1125" b="0">
              <a:solidFill>
                <a:srgbClr val="5D718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WHY IT MATTERS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Skill 的强，不在“多懂一点”，而在“稳定地做对一次又一次”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它把临时提示词升级为可触发、可复用、可协作的工作方法。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400300"/>
            <a:ext cx="2333625" cy="2543175"/>
          </a:xfrm>
          <a:prstGeom prst="roundRect">
            <a:avLst>
              <a:gd name="adj" fmla="val 6531"/>
            </a:avLst>
          </a:prstGeom>
          <a:solidFill>
            <a:srgbClr val="DDF1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14400" y="2619375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7051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◎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3337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按需加载</a:t>
            </a:r>
            <a:endParaRPr sz="1725" b="1">
              <a:solidFill>
                <a:srgbClr val="112A4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7528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平时只读名称与描述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需要时才加载细节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00425" y="2400300"/>
            <a:ext cx="2333625" cy="2543175"/>
          </a:xfrm>
          <a:prstGeom prst="roundRect">
            <a:avLst>
              <a:gd name="adj" fmla="val 6531"/>
            </a:avLst>
          </a:prstGeom>
          <a:solidFill>
            <a:srgbClr val="E8F7DA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3629025" y="2619375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762375" y="27051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✓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29025" y="33337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流程固化</a:t>
            </a:r>
            <a:endParaRPr sz="1725" b="1">
              <a:solidFill>
                <a:srgbClr val="112A4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29025" y="37528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把步骤、检查点、模板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变成可执行的 SOP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115050" y="2400300"/>
            <a:ext cx="2333625" cy="2543175"/>
          </a:xfrm>
          <a:prstGeom prst="roundRect">
            <a:avLst>
              <a:gd name="adj" fmla="val 6531"/>
            </a:avLst>
          </a:prstGeom>
          <a:solidFill>
            <a:srgbClr val="FFE3DC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6343650" y="2619375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27051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＋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33337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能力拼装</a:t>
            </a:r>
            <a:endParaRPr sz="1725" b="1">
              <a:solidFill>
                <a:srgbClr val="112A4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43650" y="37528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把工具、脚本、资料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串成完整任务链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829675" y="2400300"/>
            <a:ext cx="2333625" cy="2543175"/>
          </a:xfrm>
          <a:prstGeom prst="roundRect">
            <a:avLst>
              <a:gd name="adj" fmla="val 6531"/>
            </a:avLst>
          </a:prstGeom>
          <a:solidFill>
            <a:srgbClr val="EFEA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058275" y="2619375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91625" y="27051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↗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58275" y="33337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团队复用</a:t>
            </a:r>
            <a:endParaRPr sz="1725" b="1">
              <a:solidFill>
                <a:srgbClr val="112A4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58275" y="37528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跟项目一起进 Git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让成果不靠个人记忆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55054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2A46"/>
                </a:solidFill>
              </a:defRPr>
            </a:pPr>
            <a:r>
              <a:rPr sz="1800" b="1">
                <a:solidFill>
                  <a:srgbClr val="112A46"/>
                </a:solidFill>
              </a:rPr>
              <a:t>一句话：Skill 不是替代模型，而是把“会聊天的模型”带进一条可交付的工作路径。</a:t>
            </a:r>
            <a:endParaRPr sz="1800" b="1">
              <a:solidFill>
                <a:srgbClr val="112A4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CORE FLOW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Agent 调用 Skill：先匹配，再加载，最后带着工具完成任务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关键是“按任务触发”，而不是把所有说明一次塞进上下文。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762250"/>
            <a:ext cx="1752600" cy="1371600"/>
          </a:xfrm>
          <a:prstGeom prst="roundRect">
            <a:avLst>
              <a:gd name="adj" fmla="val 11111"/>
            </a:avLst>
          </a:prstGeom>
          <a:solidFill>
            <a:srgbClr val="DDF1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38200" y="2905125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42975" y="29622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1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33147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收到任务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3609975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“做一份社媒周报”</a:t>
            </a:r>
            <a:endParaRPr sz="1050" b="0">
              <a:solidFill>
                <a:srgbClr val="5D718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781300" y="2762250"/>
            <a:ext cx="1752600" cy="1371600"/>
          </a:xfrm>
          <a:prstGeom prst="roundRect">
            <a:avLst>
              <a:gd name="adj" fmla="val 11111"/>
            </a:avLst>
          </a:prstGeom>
          <a:solidFill>
            <a:srgbClr val="E8F7DA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2933700" y="2905125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038475" y="29622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2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52750" y="33147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看技能目录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952750" y="3609975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读取 name + description</a:t>
            </a:r>
            <a:endParaRPr sz="1050" b="0">
              <a:solidFill>
                <a:srgbClr val="5D7186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876800" y="2762250"/>
            <a:ext cx="1752600" cy="1371600"/>
          </a:xfrm>
          <a:prstGeom prst="roundRect">
            <a:avLst>
              <a:gd name="adj" fmla="val 11111"/>
            </a:avLst>
          </a:prstGeom>
          <a:solidFill>
            <a:srgbClr val="FFE3DC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5029200" y="2905125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133975" y="29622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3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048250" y="33147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匹配 Skill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48250" y="3609975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判断“是否适用”</a:t>
            </a:r>
            <a:endParaRPr sz="1050" b="0">
              <a:solidFill>
                <a:srgbClr val="5D7186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972300" y="2762250"/>
            <a:ext cx="1752600" cy="1371600"/>
          </a:xfrm>
          <a:prstGeom prst="roundRect">
            <a:avLst>
              <a:gd name="adj" fmla="val 11111"/>
            </a:avLst>
          </a:prstGeom>
          <a:solidFill>
            <a:srgbClr val="EFEA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7124700" y="2905125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29475" y="29622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4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43750" y="33147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加载说明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43750" y="3609975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SKILL.md、模板、资料</a:t>
            </a:r>
            <a:endParaRPr sz="1050" b="0">
              <a:solidFill>
                <a:srgbClr val="5D7186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067800" y="2762250"/>
            <a:ext cx="1752600" cy="1371600"/>
          </a:xfrm>
          <a:prstGeom prst="roundRect">
            <a:avLst>
              <a:gd name="adj" fmla="val 11111"/>
            </a:avLst>
          </a:prstGeom>
          <a:solidFill>
            <a:srgbClr val="DDF1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9220200" y="2905125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24975" y="2962275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5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39250" y="33147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调用工具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39250" y="3609975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5D7186"/>
                </a:solidFill>
              </a:defRPr>
            </a:pPr>
            <a:r>
              <a:rPr sz="1050" b="0">
                <a:solidFill>
                  <a:srgbClr val="5D7186"/>
                </a:solidFill>
              </a:rPr>
              <a:t>MCP / 浏览器 / 脚本</a:t>
            </a:r>
            <a:endParaRPr sz="1050" b="0">
              <a:solidFill>
                <a:srgbClr val="5D7186"/>
              </a:solidFill>
            </a:endParaRP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2457450" y="3248025"/>
            <a:ext cx="257175" cy="3619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31" name="右箭头 30"/>
          <p:cNvSpPr>
            <a:spLocks noGrp="1"/>
          </p:cNvSpPr>
          <p:nvPr/>
        </p:nvSpPr>
        <p:spPr>
          <a:xfrm>
            <a:off x="4552950" y="3248025"/>
            <a:ext cx="257175" cy="3619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32" name="右箭头 31"/>
          <p:cNvSpPr>
            <a:spLocks noGrp="1"/>
          </p:cNvSpPr>
          <p:nvPr/>
        </p:nvSpPr>
        <p:spPr>
          <a:xfrm>
            <a:off x="6648450" y="3248025"/>
            <a:ext cx="257175" cy="3619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33" name="右箭头 32"/>
          <p:cNvSpPr>
            <a:spLocks noGrp="1"/>
          </p:cNvSpPr>
          <p:nvPr/>
        </p:nvSpPr>
        <p:spPr>
          <a:xfrm>
            <a:off x="8743950" y="3248025"/>
            <a:ext cx="257175" cy="3619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2857500" y="4953000"/>
            <a:ext cx="6477000" cy="666750"/>
          </a:xfrm>
          <a:prstGeom prst="roundRect">
            <a:avLst>
              <a:gd name="adj" fmla="val 22857"/>
            </a:avLst>
          </a:prstGeom>
          <a:solidFill>
            <a:srgbClr val="112A46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181350" y="515302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最后还要：检查结果 → 形成交付物 → 记录可复用经验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009900" y="590550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Agent 像“执行者”  •  Skill 像“操作手册”  •  MCP 像“工具箱”</a:t>
            </a:r>
            <a:endParaRPr sz="1350" b="0">
              <a:solidFill>
                <a:srgbClr val="5D718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WHAT A SKILL DOES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Skill 的五个作用：引导、约束、扩展、复用、验收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把“怎么做”和“做到什么标准算完成”讲清楚。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085850" y="2428875"/>
            <a:ext cx="1181100" cy="1181100"/>
          </a:xfrm>
          <a:prstGeom prst="ellipse">
            <a:avLst/>
          </a:prstGeom>
          <a:solidFill>
            <a:srgbClr val="DDF1F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33500" y="28575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引导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33425" y="3952875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告诉 Agent 任务从哪一步开始、何时结束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552700" y="2905125"/>
            <a:ext cx="342900" cy="2476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3228975" y="2428875"/>
            <a:ext cx="1181100" cy="1181100"/>
          </a:xfrm>
          <a:prstGeom prst="ellipse">
            <a:avLst/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76625" y="28575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约束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76550" y="3952875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规定格式、禁区、权限与必须遵守的规则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4695825" y="2905125"/>
            <a:ext cx="342900" cy="2476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5372100" y="2428875"/>
            <a:ext cx="1181100" cy="1181100"/>
          </a:xfrm>
          <a:prstGeom prst="ellipse">
            <a:avLst/>
          </a:prstGeom>
          <a:solidFill>
            <a:srgbClr val="E8F7D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619750" y="28575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扩展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019675" y="3952875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把脚本、模板、专业资料放在需要时再拿出来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838950" y="2905125"/>
            <a:ext cx="342900" cy="2476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7515225" y="2428875"/>
            <a:ext cx="1181100" cy="1181100"/>
          </a:xfrm>
          <a:prstGeom prst="ellipse">
            <a:avLst/>
          </a:prstGeom>
          <a:solidFill>
            <a:srgbClr val="EFEAFF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762875" y="28575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复用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162800" y="3952875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个人经验沉淀为团队可重复调用的工作流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8982075" y="2905125"/>
            <a:ext cx="342900" cy="2476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658350" y="2428875"/>
            <a:ext cx="1181100" cy="1181100"/>
          </a:xfrm>
          <a:prstGeom prst="ellipse">
            <a:avLst/>
          </a:prstGeom>
          <a:solidFill>
            <a:srgbClr val="FFF4D0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906000" y="28575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验收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05925" y="3952875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附上检查清单，让输出能被验证和追溯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85800" y="5295900"/>
            <a:ext cx="10820400" cy="647700"/>
          </a:xfrm>
          <a:prstGeom prst="roundRect">
            <a:avLst>
              <a:gd name="adj" fmla="val 23529"/>
            </a:avLst>
          </a:prstGeom>
          <a:solidFill>
            <a:srgbClr val="F3F7FA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09650" y="5505450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写得好的 Skill 往往很“克制”：任务边界清楚、触发条件具体、参考资料按需展开。</a:t>
            </a:r>
            <a:endParaRPr sz="1575" b="1">
              <a:solidFill>
                <a:srgbClr val="112A4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WORK TOGETHER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Skill、MCP、Plugin：不是替代关系，而是一套协作分工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做一件真实任务，通常需要“方法 + 工具 + 打包交付”。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914400" y="2428875"/>
            <a:ext cx="314325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1152525" y="2667000"/>
            <a:ext cx="971550" cy="304800"/>
          </a:xfrm>
          <a:prstGeom prst="roundRect">
            <a:avLst>
              <a:gd name="adj" fmla="val 50000"/>
            </a:avLst>
          </a:prstGeom>
          <a:solidFill>
            <a:srgbClr val="DDF1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85875" y="2733675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SKILL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52525" y="32099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2A46"/>
                </a:solidFill>
              </a:defRPr>
            </a:pPr>
            <a:r>
              <a:rPr sz="2100" b="1">
                <a:solidFill>
                  <a:srgbClr val="112A46"/>
                </a:solidFill>
              </a:rPr>
              <a:t>操作手册</a:t>
            </a:r>
            <a:endParaRPr sz="2100" b="1">
              <a:solidFill>
                <a:srgbClr val="112A4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52525" y="3733800"/>
            <a:ext cx="252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D7186"/>
                </a:solidFill>
              </a:defRPr>
            </a:pPr>
            <a:r>
              <a:rPr sz="1275" b="0">
                <a:solidFill>
                  <a:srgbClr val="5D7186"/>
                </a:solidFill>
              </a:rPr>
              <a:t>何时做、怎么做、按什么标准做</a:t>
            </a:r>
            <a:endParaRPr sz="1275" b="0">
              <a:solidFill>
                <a:srgbClr val="5D7186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152525" y="4419600"/>
            <a:ext cx="2533650" cy="342900"/>
          </a:xfrm>
          <a:prstGeom prst="roundRect">
            <a:avLst>
              <a:gd name="adj" fmla="val 44444"/>
            </a:avLst>
          </a:prstGeom>
          <a:solidFill>
            <a:srgbClr val="F3F7FA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85875" y="4505325"/>
            <a:ext cx="2305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8334F"/>
                </a:solidFill>
              </a:defRPr>
            </a:pPr>
            <a:r>
              <a:rPr sz="1050" b="1">
                <a:solidFill>
                  <a:srgbClr val="18334F"/>
                </a:solidFill>
              </a:rPr>
              <a:t>例：社媒周报写作流程</a:t>
            </a:r>
            <a:endParaRPr sz="1050" b="1">
              <a:solidFill>
                <a:srgbClr val="18334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581525" y="2428875"/>
            <a:ext cx="314325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819650" y="2667000"/>
            <a:ext cx="971550" cy="304800"/>
          </a:xfrm>
          <a:prstGeom prst="roundRect">
            <a:avLst>
              <a:gd name="adj" fmla="val 50000"/>
            </a:avLst>
          </a:prstGeom>
          <a:solidFill>
            <a:srgbClr val="E8F7D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953000" y="2733675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MCP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32099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2A46"/>
                </a:solidFill>
              </a:defRPr>
            </a:pPr>
            <a:r>
              <a:rPr sz="2100" b="1">
                <a:solidFill>
                  <a:srgbClr val="112A46"/>
                </a:solidFill>
              </a:rPr>
              <a:t>工具连接</a:t>
            </a:r>
            <a:endParaRPr sz="2100" b="1">
              <a:solidFill>
                <a:srgbClr val="112A4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19650" y="3733800"/>
            <a:ext cx="252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D7186"/>
                </a:solidFill>
              </a:defRPr>
            </a:pPr>
            <a:r>
              <a:rPr sz="1275" b="0">
                <a:solidFill>
                  <a:srgbClr val="5D7186"/>
                </a:solidFill>
              </a:rPr>
              <a:t>能访问哪些系统、数据与动作</a:t>
            </a:r>
            <a:endParaRPr sz="1275" b="0">
              <a:solidFill>
                <a:srgbClr val="5D7186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819650" y="4419600"/>
            <a:ext cx="2533650" cy="342900"/>
          </a:xfrm>
          <a:prstGeom prst="roundRect">
            <a:avLst>
              <a:gd name="adj" fmla="val 44444"/>
            </a:avLst>
          </a:prstGeom>
          <a:solidFill>
            <a:srgbClr val="F3F7F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953000" y="4505325"/>
            <a:ext cx="2305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8334F"/>
                </a:solidFill>
              </a:defRPr>
            </a:pPr>
            <a:r>
              <a:rPr sz="1050" b="1">
                <a:solidFill>
                  <a:srgbClr val="18334F"/>
                </a:solidFill>
              </a:rPr>
              <a:t>例：浏览器、飞书、数据库</a:t>
            </a:r>
            <a:endParaRPr sz="1050" b="1">
              <a:solidFill>
                <a:srgbClr val="18334F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248650" y="2428875"/>
            <a:ext cx="314325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486775" y="2667000"/>
            <a:ext cx="971550" cy="304800"/>
          </a:xfrm>
          <a:prstGeom prst="roundRect">
            <a:avLst>
              <a:gd name="adj" fmla="val 50000"/>
            </a:avLst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620125" y="2733675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PLUGIN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86775" y="32099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2A46"/>
                </a:solidFill>
              </a:defRPr>
            </a:pPr>
            <a:r>
              <a:rPr sz="2100" b="1">
                <a:solidFill>
                  <a:srgbClr val="112A46"/>
                </a:solidFill>
              </a:rPr>
              <a:t>能力套装</a:t>
            </a:r>
            <a:endParaRPr sz="2100" b="1">
              <a:solidFill>
                <a:srgbClr val="112A4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86775" y="3733800"/>
            <a:ext cx="2524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D7186"/>
                </a:solidFill>
              </a:defRPr>
            </a:pPr>
            <a:r>
              <a:rPr sz="1275" b="0">
                <a:solidFill>
                  <a:srgbClr val="5D7186"/>
                </a:solidFill>
              </a:rPr>
              <a:t>把 Skills、MCP、配置一起封装与分发</a:t>
            </a:r>
            <a:endParaRPr sz="1275" b="0">
              <a:solidFill>
                <a:srgbClr val="5D7186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486775" y="4419600"/>
            <a:ext cx="2533650" cy="342900"/>
          </a:xfrm>
          <a:prstGeom prst="roundRect">
            <a:avLst>
              <a:gd name="adj" fmla="val 44444"/>
            </a:avLst>
          </a:prstGeom>
          <a:solidFill>
            <a:srgbClr val="F3F7FA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620125" y="4505325"/>
            <a:ext cx="2305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8334F"/>
                </a:solidFill>
              </a:defRPr>
            </a:pPr>
            <a:r>
              <a:rPr sz="1050" b="1">
                <a:solidFill>
                  <a:srgbClr val="18334F"/>
                </a:solidFill>
              </a:rPr>
              <a:t>例：团队的一键工作台</a:t>
            </a:r>
            <a:endParaRPr sz="1050" b="1">
              <a:solidFill>
                <a:srgbClr val="18334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276350" y="56197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2A46"/>
                </a:solidFill>
              </a:defRPr>
            </a:pPr>
            <a:r>
              <a:rPr sz="1650" b="1">
                <a:solidFill>
                  <a:srgbClr val="112A46"/>
                </a:solidFill>
              </a:rPr>
              <a:t>最实用的组合：用 Skill 编排方法，用 MCP 接入数据和动作，用 Plugin 发给团队。</a:t>
            </a:r>
            <a:endParaRPr sz="1650" b="1">
              <a:solidFill>
                <a:srgbClr val="112A4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USE CASE 01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要做“圆形图”，先选对图的任务：数据、流程，还是视觉表达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圆形不只是好看；它很适合表达比例、循环、层级与旅程。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2486025" y="3248025"/>
            <a:ext cx="1790700" cy="1790700"/>
          </a:xfrm>
          <a:prstGeom prst="ellipse">
            <a:avLst/>
          </a:prstGeom>
          <a:solidFill>
            <a:srgbClr val="112A46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927350" y="363855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圆形图</a:t>
            </a:r>
            <a:endParaRPr sz="1950" b="1">
              <a:solidFill>
                <a:srgbClr val="FFFFFF"/>
              </a:solidFill>
            </a:endParaRPr>
          </a:p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设计</a:t>
            </a:r>
            <a:endParaRPr sz="1950" b="1">
              <a:solidFill>
                <a:srgbClr val="FFFFFF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343025" y="2060575"/>
            <a:ext cx="1238250" cy="1238250"/>
          </a:xfrm>
          <a:prstGeom prst="ellipse">
            <a:avLst/>
          </a:prstGeom>
          <a:solidFill>
            <a:srgbClr val="DDF1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724025" y="23558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比例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14475" y="2698750"/>
            <a:ext cx="990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环形 / 玫瑰图</a:t>
            </a:r>
            <a:endParaRPr sz="975" b="0">
              <a:solidFill>
                <a:srgbClr val="5D7186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4762500" y="3571875"/>
            <a:ext cx="1238250" cy="1238250"/>
          </a:xfrm>
          <a:prstGeom prst="ellipse">
            <a:avLst/>
          </a:prstGeom>
          <a:solidFill>
            <a:srgbClr val="E8F7DA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143500" y="386715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循环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33950" y="4210050"/>
            <a:ext cx="990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闭环 / 生命周期</a:t>
            </a:r>
            <a:endParaRPr sz="975" b="0">
              <a:solidFill>
                <a:srgbClr val="5D7186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3762375" y="5429250"/>
            <a:ext cx="1238250" cy="1238250"/>
          </a:xfrm>
          <a:prstGeom prst="ellipse">
            <a:avLst/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143375" y="5724525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关系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33825" y="6067425"/>
            <a:ext cx="990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放射 / 生态图</a:t>
            </a:r>
            <a:endParaRPr sz="975" b="0">
              <a:solidFill>
                <a:srgbClr val="5D7186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238250" y="5000625"/>
            <a:ext cx="1238250" cy="1238250"/>
          </a:xfrm>
          <a:prstGeom prst="ellipse">
            <a:avLst/>
          </a:prstGeom>
          <a:solidFill>
            <a:srgbClr val="EFEA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619250" y="52959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12A46"/>
                </a:solidFill>
              </a:defRPr>
            </a:pPr>
            <a:r>
              <a:rPr sz="1500" b="1">
                <a:solidFill>
                  <a:srgbClr val="112A46"/>
                </a:solidFill>
              </a:rPr>
              <a:t>路径</a:t>
            </a:r>
            <a:endParaRPr sz="1500" b="1">
              <a:solidFill>
                <a:srgbClr val="112A4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09700" y="5638800"/>
            <a:ext cx="990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D7186"/>
                </a:solidFill>
              </a:defRPr>
            </a:pPr>
            <a:r>
              <a:rPr sz="975" b="0">
                <a:solidFill>
                  <a:srgbClr val="5D7186"/>
                </a:solidFill>
              </a:rPr>
              <a:t>用户旅程</a:t>
            </a:r>
            <a:endParaRPr sz="975" b="0">
              <a:solidFill>
                <a:srgbClr val="5D718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239000" y="2381250"/>
            <a:ext cx="3714750" cy="2667000"/>
          </a:xfrm>
          <a:prstGeom prst="roundRect">
            <a:avLst>
              <a:gd name="adj" fmla="val 5714"/>
            </a:avLst>
          </a:prstGeom>
          <a:solidFill>
            <a:srgbClr val="FFF9F1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572375" y="26955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2A46"/>
                </a:solidFill>
              </a:defRPr>
            </a:pPr>
            <a:r>
              <a:rPr sz="1875" b="1">
                <a:solidFill>
                  <a:srgbClr val="112A46"/>
                </a:solidFill>
              </a:rPr>
              <a:t>制作原则</a:t>
            </a:r>
            <a:endParaRPr sz="1875" b="1">
              <a:solidFill>
                <a:srgbClr val="112A4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81900" y="3238500"/>
            <a:ext cx="2857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数据类：数值与来源必须准确</a:t>
            </a:r>
            <a:endParaRPr sz="1350" b="0">
              <a:solidFill>
                <a:srgbClr val="5D7186"/>
              </a:solidFill>
            </a:endParaRPr>
          </a:p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流程类：顺序和箭头必须清楚</a:t>
            </a:r>
            <a:endParaRPr sz="1350" b="0">
              <a:solidFill>
                <a:srgbClr val="5D7186"/>
              </a:solidFill>
            </a:endParaRPr>
          </a:p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海报类：用图像生成增强氛围</a:t>
            </a:r>
            <a:endParaRPr sz="1350" b="0">
              <a:solidFill>
                <a:srgbClr val="5D7186"/>
              </a:solidFill>
            </a:endParaRPr>
          </a:p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• 所有图：先确定“一句话结论”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162800" y="5353050"/>
            <a:ext cx="3238500" cy="304800"/>
          </a:xfrm>
          <a:prstGeom prst="roundRect">
            <a:avLst>
              <a:gd name="adj" fmla="val 50000"/>
            </a:avLst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96150" y="5419725"/>
            <a:ext cx="2971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不确定？先写结论，再选图形。</a:t>
            </a:r>
            <a:endParaRPr sz="1050" b="1">
              <a:solidFill>
                <a:srgbClr val="112A4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RECOMMENDATION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圆形图设计：三类 Skill 各自解决不同问题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不要只用“生成图片”；可编辑性与数据准确性同样重要。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57250" y="2333625"/>
            <a:ext cx="104775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123950" y="2514600"/>
            <a:ext cx="438150" cy="438150"/>
          </a:xfrm>
          <a:prstGeom prst="ellipse">
            <a:avLst/>
          </a:prstGeom>
          <a:solidFill>
            <a:srgbClr val="DDF1FF"/>
          </a:solidFill>
          <a:ln w="0">
            <a:noFill/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181100" y="257175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85875" y="262890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1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09750" y="24955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数据准确、可编辑</a:t>
            </a:r>
            <a:endParaRPr sz="1575" b="1">
              <a:solidFill>
                <a:srgbClr val="112A4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24375" y="2495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334F"/>
                </a:solidFill>
              </a:defRPr>
            </a:pPr>
            <a:r>
              <a:rPr sz="1500" b="1">
                <a:solidFill>
                  <a:srgbClr val="18334F"/>
                </a:solidFill>
              </a:rPr>
              <a:t>图表 / Vega / infographic</a:t>
            </a:r>
            <a:endParaRPr sz="1500" b="1">
              <a:solidFill>
                <a:srgbClr val="18334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09750" y="2828925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比例、趋势、流程、课程图解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57250" y="3400425"/>
            <a:ext cx="104775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23950" y="3581400"/>
            <a:ext cx="438150" cy="438150"/>
          </a:xfrm>
          <a:prstGeom prst="ellipse">
            <a:avLst/>
          </a:prstGeom>
          <a:solidFill>
            <a:srgbClr val="E8F7DA"/>
          </a:solidFill>
          <a:ln w="0">
            <a:noFill/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1181100" y="363855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85875" y="369570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2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809750" y="3562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原型图、界面方案</a:t>
            </a:r>
            <a:endParaRPr sz="1575" b="1">
              <a:solidFill>
                <a:srgbClr val="112A4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24375" y="3562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334F"/>
                </a:solidFill>
              </a:defRPr>
            </a:pPr>
            <a:r>
              <a:rPr sz="1500" b="1">
                <a:solidFill>
                  <a:srgbClr val="18334F"/>
                </a:solidFill>
              </a:rPr>
              <a:t>Figma 相关 Skills</a:t>
            </a:r>
            <a:endParaRPr sz="1500" b="1">
              <a:solidFill>
                <a:srgbClr val="18334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09750" y="3895725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网页、App、组件与设计系统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57250" y="4467225"/>
            <a:ext cx="10477500" cy="8001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1123950" y="4648200"/>
            <a:ext cx="438150" cy="438150"/>
          </a:xfrm>
          <a:prstGeom prst="ellipse">
            <a:avLst/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1181100" y="470535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285875" y="476250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3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809750" y="4629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社媒长图、海报感</a:t>
            </a:r>
            <a:endParaRPr sz="1575" b="1">
              <a:solidFill>
                <a:srgbClr val="112A4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24375" y="4629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8334F"/>
                </a:solidFill>
              </a:defRPr>
            </a:pPr>
            <a:r>
              <a:rPr sz="1500" b="1">
                <a:solidFill>
                  <a:srgbClr val="18334F"/>
                </a:solidFill>
              </a:rPr>
              <a:t>ImageGen / 视觉设计 Skill</a:t>
            </a:r>
            <a:endParaRPr sz="1500" b="1">
              <a:solidFill>
                <a:srgbClr val="18334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809750" y="4962525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氛围、人物、插画与封面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47750" y="5905500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2A46"/>
                </a:solidFill>
              </a:defRPr>
            </a:pPr>
            <a:r>
              <a:rPr sz="1650" b="1">
                <a:solidFill>
                  <a:srgbClr val="112A46"/>
                </a:solidFill>
              </a:rPr>
              <a:t>推荐顺序：先用“数据/结构型 Skill”定骨架，再用“视觉型 Skill”增加传播力。</a:t>
            </a:r>
            <a:endParaRPr sz="1650" b="1">
              <a:solidFill>
                <a:srgbClr val="112A4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USE CASE 02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社媒调研不是“抓一堆内容”，而是把内容变成可行动的洞察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最好的输出不是链接清单，而是可验证的选题、竞品结论和下一步行动。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686050"/>
            <a:ext cx="2286000" cy="2095500"/>
          </a:xfrm>
          <a:prstGeom prst="roundRect">
            <a:avLst>
              <a:gd name="adj" fmla="val 7273"/>
            </a:avLst>
          </a:prstGeom>
          <a:solidFill>
            <a:srgbClr val="DDF1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95350" y="289560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0125" y="295275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1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448050"/>
            <a:ext cx="1733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平台与问题</a:t>
            </a:r>
            <a:endParaRPr sz="1575" b="1">
              <a:solidFill>
                <a:srgbClr val="112A4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39052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小红书 / 抖音 / B站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我要研究什么？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3028950" y="3543300"/>
            <a:ext cx="257175" cy="3619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90900" y="2686050"/>
            <a:ext cx="2286000" cy="2095500"/>
          </a:xfrm>
          <a:prstGeom prst="roundRect">
            <a:avLst>
              <a:gd name="adj" fmla="val 7273"/>
            </a:avLst>
          </a:prstGeom>
          <a:solidFill>
            <a:srgbClr val="E8F7DA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600450" y="289560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705225" y="295275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2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00450" y="3448050"/>
            <a:ext cx="1733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采集与清洗</a:t>
            </a:r>
            <a:endParaRPr sz="1575" b="1">
              <a:solidFill>
                <a:srgbClr val="112A4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00450" y="39052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关键词、账号、帖子、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互动、评论、时间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734050" y="3543300"/>
            <a:ext cx="257175" cy="3619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0" y="2686050"/>
            <a:ext cx="2286000" cy="2095500"/>
          </a:xfrm>
          <a:prstGeom prst="roundRect">
            <a:avLst>
              <a:gd name="adj" fmla="val 7273"/>
            </a:avLst>
          </a:prstGeom>
          <a:solidFill>
            <a:srgbClr val="FFE3DC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6305550" y="289560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10325" y="295275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3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3448050"/>
            <a:ext cx="1733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分析与聚类</a:t>
            </a:r>
            <a:endParaRPr sz="1575" b="1">
              <a:solidFill>
                <a:srgbClr val="112A4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05550" y="39052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爆款结构、话题、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情绪、痛点、SOV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2" name="右箭头 21"/>
          <p:cNvSpPr>
            <a:spLocks noGrp="1"/>
          </p:cNvSpPr>
          <p:nvPr/>
        </p:nvSpPr>
        <p:spPr>
          <a:xfrm>
            <a:off x="8439150" y="3543300"/>
            <a:ext cx="257175" cy="361950"/>
          </a:xfrm>
          <a:prstGeom prst="rightArrow">
            <a:avLst/>
          </a:prstGeom>
          <a:solidFill>
            <a:srgbClr val="FFD86E"/>
          </a:solidFill>
          <a:ln w="0">
            <a:noFill/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8801100" y="2686050"/>
            <a:ext cx="2286000" cy="2095500"/>
          </a:xfrm>
          <a:prstGeom prst="roundRect">
            <a:avLst>
              <a:gd name="adj" fmla="val 7273"/>
            </a:avLst>
          </a:prstGeom>
          <a:solidFill>
            <a:srgbClr val="EFEA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010650" y="289560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115425" y="2952750"/>
            <a:ext cx="152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12A46"/>
                </a:solidFill>
              </a:defRPr>
            </a:pPr>
            <a:r>
              <a:rPr sz="1200" b="1">
                <a:solidFill>
                  <a:srgbClr val="112A46"/>
                </a:solidFill>
              </a:rPr>
              <a:t>4</a:t>
            </a:r>
            <a:endParaRPr sz="1200" b="1">
              <a:solidFill>
                <a:srgbClr val="112A46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010650" y="3448050"/>
            <a:ext cx="1733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2A46"/>
                </a:solidFill>
              </a:defRPr>
            </a:pPr>
            <a:r>
              <a:rPr sz="1575" b="1">
                <a:solidFill>
                  <a:srgbClr val="112A46"/>
                </a:solidFill>
              </a:rPr>
              <a:t>图表与行动</a:t>
            </a:r>
            <a:endParaRPr sz="1575" b="1">
              <a:solidFill>
                <a:srgbClr val="112A46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010650" y="39052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周报、选题库、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圆形信息图、复盘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123950" y="5429250"/>
            <a:ext cx="9944100" cy="457200"/>
          </a:xfrm>
          <a:prstGeom prst="roundRect">
            <a:avLst>
              <a:gd name="adj" fmla="val 33333"/>
            </a:avLst>
          </a:prstGeom>
          <a:solidFill>
            <a:srgbClr val="112A46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476375" y="55626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AI 的价值：帮你做归类、对比和表达；人的价值：提出正确问题，并验证数据边界。</a:t>
            </a:r>
            <a:endParaRPr sz="14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4572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8B7B"/>
                </a:solidFill>
              </a:defRPr>
            </a:pPr>
            <a:r>
              <a:rPr sz="1050" b="1">
                <a:solidFill>
                  <a:srgbClr val="FF8B7B"/>
                </a:solidFill>
              </a:rPr>
              <a:t>RECOMMENDATION</a:t>
            </a:r>
            <a:endParaRPr sz="1050" b="1">
              <a:solidFill>
                <a:srgbClr val="FF8B7B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12A46"/>
                </a:solidFill>
              </a:defRPr>
            </a:pPr>
            <a:r>
              <a:rPr sz="2625" b="1">
                <a:solidFill>
                  <a:srgbClr val="112A46"/>
                </a:solidFill>
              </a:rPr>
              <a:t>社媒 Skill：从“小红书内容研究”开始，逐步扩展为全域周报</a:t>
            </a:r>
            <a:endParaRPr sz="2625" b="1">
              <a:solidFill>
                <a:srgbClr val="112A46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D7186"/>
                </a:solidFill>
              </a:defRPr>
            </a:pPr>
            <a:r>
              <a:rPr sz="1350" b="0">
                <a:solidFill>
                  <a:srgbClr val="5D7186"/>
                </a:solidFill>
              </a:rPr>
              <a:t>开源 Skill 适合灵活研究；稳定数据应优先来自官方接口或专业数据服务。</a:t>
            </a:r>
            <a:endParaRPr sz="1350" b="0">
              <a:solidFill>
                <a:srgbClr val="5D7186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81175"/>
            <a:ext cx="10820400" cy="19050"/>
          </a:xfrm>
          <a:prstGeom prst="rect">
            <a:avLst/>
          </a:prstGeom>
          <a:solidFill>
            <a:srgbClr val="D7E4ED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57250" y="2428875"/>
            <a:ext cx="30480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1095375" y="2647950"/>
            <a:ext cx="495300" cy="304800"/>
          </a:xfrm>
          <a:prstGeom prst="roundRect">
            <a:avLst>
              <a:gd name="adj" fmla="val 50000"/>
            </a:avLst>
          </a:prstGeom>
          <a:solidFill>
            <a:srgbClr val="DDF1F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28725" y="27146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①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5375" y="32099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内容发现</a:t>
            </a:r>
            <a:endParaRPr sz="1725" b="1">
              <a:solidFill>
                <a:srgbClr val="112A4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95375" y="36861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8334F"/>
                </a:solidFill>
              </a:defRPr>
            </a:pPr>
            <a:r>
              <a:rPr sz="1425" b="1">
                <a:solidFill>
                  <a:srgbClr val="18334F"/>
                </a:solidFill>
              </a:rPr>
              <a:t>xhs-cli / redbook</a:t>
            </a:r>
            <a:endParaRPr sz="1425" b="1">
              <a:solidFill>
                <a:srgbClr val="18334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5375" y="4171950"/>
            <a:ext cx="2333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关键词搜索、笔记阅读、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爆文与竞品拆解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52925" y="2428875"/>
            <a:ext cx="30480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591050" y="2647950"/>
            <a:ext cx="495300" cy="304800"/>
          </a:xfrm>
          <a:prstGeom prst="roundRect">
            <a:avLst>
              <a:gd name="adj" fmla="val 50000"/>
            </a:avLst>
          </a:prstGeom>
          <a:solidFill>
            <a:srgbClr val="E8F7DA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724400" y="27146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②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91050" y="32099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数据来源</a:t>
            </a:r>
            <a:endParaRPr sz="1725" b="1">
              <a:solidFill>
                <a:srgbClr val="112A4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91050" y="36861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8334F"/>
                </a:solidFill>
              </a:defRPr>
            </a:pPr>
            <a:r>
              <a:rPr sz="1425" b="1">
                <a:solidFill>
                  <a:srgbClr val="18334F"/>
                </a:solidFill>
              </a:rPr>
              <a:t>官方 API / 数据平台</a:t>
            </a:r>
            <a:endParaRPr sz="1425" b="1">
              <a:solidFill>
                <a:srgbClr val="18334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91050" y="4171950"/>
            <a:ext cx="2333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已授权账号数据、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跨平台监测与导出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48600" y="2428875"/>
            <a:ext cx="30480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D7E4ED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086725" y="2647950"/>
            <a:ext cx="495300" cy="304800"/>
          </a:xfrm>
          <a:prstGeom prst="roundRect">
            <a:avLst>
              <a:gd name="adj" fmla="val 50000"/>
            </a:avLst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20075" y="2714625"/>
            <a:ext cx="228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2A46"/>
                </a:solidFill>
              </a:defRPr>
            </a:pPr>
            <a:r>
              <a:rPr sz="1050" b="1">
                <a:solidFill>
                  <a:srgbClr val="112A46"/>
                </a:solidFill>
              </a:rPr>
              <a:t>③</a:t>
            </a:r>
            <a:endParaRPr sz="1050" b="1">
              <a:solidFill>
                <a:srgbClr val="112A4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86725" y="32099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2A46"/>
                </a:solidFill>
              </a:defRPr>
            </a:pPr>
            <a:r>
              <a:rPr sz="1725" b="1">
                <a:solidFill>
                  <a:srgbClr val="112A46"/>
                </a:solidFill>
              </a:rPr>
              <a:t>自建分析</a:t>
            </a:r>
            <a:endParaRPr sz="1725" b="1">
              <a:solidFill>
                <a:srgbClr val="112A4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86725" y="36861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8334F"/>
                </a:solidFill>
              </a:defRPr>
            </a:pPr>
            <a:r>
              <a:rPr sz="1425" b="1">
                <a:solidFill>
                  <a:srgbClr val="18334F"/>
                </a:solidFill>
              </a:rPr>
              <a:t>social-weekly-report</a:t>
            </a:r>
            <a:endParaRPr sz="1425" b="1">
              <a:solidFill>
                <a:srgbClr val="18334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86725" y="4171950"/>
            <a:ext cx="2333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CSV/Excel → 洞察、</a:t>
            </a:r>
            <a:endParaRPr sz="1200" b="0">
              <a:solidFill>
                <a:srgbClr val="5D7186"/>
              </a:solidFill>
            </a:endParaRPr>
          </a:p>
          <a:p>
            <a:pPr>
              <a:defRPr sz="1200" b="0">
                <a:solidFill>
                  <a:srgbClr val="5D7186"/>
                </a:solidFill>
              </a:defRPr>
            </a:pPr>
            <a:r>
              <a:rPr sz="1200" b="0">
                <a:solidFill>
                  <a:srgbClr val="5D7186"/>
                </a:solidFill>
              </a:rPr>
              <a:t>图表、选题与周报</a:t>
            </a:r>
            <a:endParaRPr sz="1200" b="0">
              <a:solidFill>
                <a:srgbClr val="5D7186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57250" y="5467350"/>
            <a:ext cx="10477500" cy="495300"/>
          </a:xfrm>
          <a:prstGeom prst="roundRect">
            <a:avLst>
              <a:gd name="adj" fmla="val 30769"/>
            </a:avLst>
          </a:prstGeom>
          <a:solidFill>
            <a:srgbClr val="FFE3DC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62050" y="56102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2A46"/>
                </a:solidFill>
              </a:defRPr>
            </a:pPr>
            <a:r>
              <a:rPr sz="1275" b="1">
                <a:solidFill>
                  <a:srgbClr val="112A46"/>
                </a:solidFill>
              </a:rPr>
              <a:t>边界提醒：第三方采集可能涉及账号登录、平台规则和数据合规；建议低频研究、可追溯、先获得授权。</a:t>
            </a:r>
            <a:endParaRPr sz="1275" b="1">
              <a:solidFill>
                <a:srgbClr val="112A4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685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D86E"/>
                </a:solidFill>
              </a:defRPr>
            </a:pPr>
            <a:r>
              <a:rPr sz="1050" b="1">
                <a:solidFill>
                  <a:srgbClr val="FFD86E"/>
                </a:solidFill>
              </a:rPr>
              <a:t>START SMALL</a:t>
            </a:r>
            <a:endParaRPr sz="1050" b="1">
              <a:solidFill>
                <a:srgbClr val="FFD8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066800"/>
            <a:ext cx="7810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从三个小 Skill 开始，</a:t>
            </a:r>
            <a:endParaRPr sz="3225" b="1">
              <a:solidFill>
                <a:srgbClr val="FFFFFF"/>
              </a:solidFill>
            </a:endParaRPr>
          </a:p>
          <a:p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把学习变成自己的工作流</a:t>
            </a:r>
            <a:endParaRPr sz="3225" b="1">
              <a:solidFill>
                <a:srgbClr val="FFFFFF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3190875"/>
            <a:ext cx="3143250" cy="1905000"/>
          </a:xfrm>
          <a:prstGeom prst="roundRect">
            <a:avLst>
              <a:gd name="adj" fmla="val 8000"/>
            </a:avLst>
          </a:prstGeom>
          <a:solidFill>
            <a:srgbClr val="1A3B5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23925" y="340042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D86E"/>
                </a:solidFill>
              </a:defRPr>
            </a:pPr>
            <a:r>
              <a:rPr sz="1350" b="1">
                <a:solidFill>
                  <a:srgbClr val="FFD86E"/>
                </a:solidFill>
              </a:rPr>
              <a:t>01</a:t>
            </a:r>
            <a:endParaRPr sz="1350" b="1">
              <a:solidFill>
                <a:srgbClr val="FFD86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23925" y="38481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infographic-designer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23925" y="43434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把数据或提纲变成</a:t>
            </a:r>
            <a:endParaRPr sz="1200" b="0">
              <a:solidFill>
                <a:srgbClr val="CAD9E4"/>
              </a:solidFill>
            </a:endParaRPr>
          </a:p>
          <a:p>
            <a:pPr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环形图、循环图、信息长图</a:t>
            </a:r>
            <a:endParaRPr sz="1200" b="0">
              <a:solidFill>
                <a:srgbClr val="CAD9E4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257675" y="3190875"/>
            <a:ext cx="3143250" cy="1905000"/>
          </a:xfrm>
          <a:prstGeom prst="roundRect">
            <a:avLst>
              <a:gd name="adj" fmla="val 8000"/>
            </a:avLst>
          </a:prstGeom>
          <a:solidFill>
            <a:srgbClr val="22496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495800" y="340042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D86E"/>
                </a:solidFill>
              </a:defRPr>
            </a:pPr>
            <a:r>
              <a:rPr sz="1350" b="1">
                <a:solidFill>
                  <a:srgbClr val="FFD86E"/>
                </a:solidFill>
              </a:rPr>
              <a:t>02</a:t>
            </a:r>
            <a:endParaRPr sz="1350" b="1">
              <a:solidFill>
                <a:srgbClr val="FFD86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95800" y="38481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xhs-content-breakdown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43434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把爆文拆成标题、封面、</a:t>
            </a:r>
            <a:endParaRPr sz="1200" b="0">
              <a:solidFill>
                <a:srgbClr val="CAD9E4"/>
              </a:solidFill>
            </a:endParaRPr>
          </a:p>
          <a:p>
            <a:pPr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结构、评论痛点与选题</a:t>
            </a:r>
            <a:endParaRPr sz="1200" b="0">
              <a:solidFill>
                <a:srgbClr val="CAD9E4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829550" y="3190875"/>
            <a:ext cx="3143250" cy="1905000"/>
          </a:xfrm>
          <a:prstGeom prst="roundRect">
            <a:avLst>
              <a:gd name="adj" fmla="val 8000"/>
            </a:avLst>
          </a:prstGeom>
          <a:solidFill>
            <a:srgbClr val="1A3B59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067675" y="340042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D86E"/>
                </a:solidFill>
              </a:defRPr>
            </a:pPr>
            <a:r>
              <a:rPr sz="1350" b="1">
                <a:solidFill>
                  <a:srgbClr val="FFD86E"/>
                </a:solidFill>
              </a:rPr>
              <a:t>03</a:t>
            </a:r>
            <a:endParaRPr sz="1350" b="1">
              <a:solidFill>
                <a:srgbClr val="FFD86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67675" y="38481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social-weekly-report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067675" y="43434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把每周数据变成</a:t>
            </a:r>
            <a:endParaRPr sz="1200" b="0">
              <a:solidFill>
                <a:srgbClr val="CAD9E4"/>
              </a:solidFill>
            </a:endParaRPr>
          </a:p>
          <a:p>
            <a:pPr>
              <a:defRPr sz="1200" b="0">
                <a:solidFill>
                  <a:srgbClr val="CAD9E4"/>
                </a:solidFill>
              </a:defRPr>
            </a:pPr>
            <a:r>
              <a:rPr sz="1200" b="0">
                <a:solidFill>
                  <a:srgbClr val="CAD9E4"/>
                </a:solidFill>
              </a:rPr>
              <a:t>图表、洞察与下周行动</a:t>
            </a:r>
            <a:endParaRPr sz="1200" b="0">
              <a:solidFill>
                <a:srgbClr val="CAD9E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8293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第一步建议：挑一个你每周真的会重复做的任务，先把它写成 Skill。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2046</Words>
  <Application>WPS 表格</Application>
  <PresentationFormat>Converted Presentation</PresentationFormat>
  <Paragraphs>316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儷宋 Pro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joo00der</cp:lastModifiedBy>
  <cp:revision>1</cp:revision>
  <dcterms:created xsi:type="dcterms:W3CDTF">2026-07-27T15:31:07Z</dcterms:created>
  <dcterms:modified xsi:type="dcterms:W3CDTF">2026-07-27T15:31:07Z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B174E30B1F62FD40BB79676AAC4E056D_42</vt:lpwstr>
  </property>
  <property fmtid="{D5CDD505-2E9C-101B-9397-08002B2CF9AE}" pid="3" name="KSOProductBuildVer">
    <vt:lpwstr>2052-12.1.23155.23155</vt:lpwstr>
  </property>
</Properties>
</file>