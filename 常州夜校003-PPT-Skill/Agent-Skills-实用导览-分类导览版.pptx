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5f107a93b804467" /><Relationship Type="http://schemas.openxmlformats.org/officeDocument/2006/relationships/extended-properties" Target="/docProps/app.xml" Id="Rab51929937424787" /><Relationship Type="http://schemas.openxmlformats.org/officeDocument/2006/relationships/officeDocument" Target="/ppt/presentation.xml" Id="R2fc854c655a5495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91261987e3b4579"/>
  </p:sldMasterIdLst>
  <p:notesMasterIdLst>
    <p:notesMasterId xmlns:r="http://schemas.openxmlformats.org/officeDocument/2006/relationships" r:id="R60a8cff412124b6d"/>
  </p:notesMasterIdLst>
  <p:sldIdLst>
    <p:sldId xmlns:r="http://schemas.openxmlformats.org/officeDocument/2006/relationships" id="256" r:id="R8e03836908494f5f"/>
    <p:sldId xmlns:r="http://schemas.openxmlformats.org/officeDocument/2006/relationships" id="257" r:id="Rdfbb0617cb1344fa"/>
    <p:sldId xmlns:r="http://schemas.openxmlformats.org/officeDocument/2006/relationships" id="258" r:id="R9deb403befaf4ffe"/>
    <p:sldId xmlns:r="http://schemas.openxmlformats.org/officeDocument/2006/relationships" id="259" r:id="R8c061271e5a2486b"/>
    <p:sldId xmlns:r="http://schemas.openxmlformats.org/officeDocument/2006/relationships" id="260" r:id="R99ce4656b26e43ac"/>
    <p:sldId xmlns:r="http://schemas.openxmlformats.org/officeDocument/2006/relationships" id="261" r:id="R1c8feaf43d6d4122"/>
    <p:sldId xmlns:r="http://schemas.openxmlformats.org/officeDocument/2006/relationships" id="262" r:id="R8bab532c7be9479b"/>
    <p:sldId xmlns:r="http://schemas.openxmlformats.org/officeDocument/2006/relationships" id="263" r:id="Ra6dfe5cbb39e4ad9"/>
    <p:sldId xmlns:r="http://schemas.openxmlformats.org/officeDocument/2006/relationships" id="264" r:id="Rd882457c991c42d4"/>
    <p:sldId xmlns:r="http://schemas.openxmlformats.org/officeDocument/2006/relationships" id="265" r:id="R763b2a3424494996"/>
    <p:sldId xmlns:r="http://schemas.openxmlformats.org/officeDocument/2006/relationships" id="266" r:id="R359c040053c14241"/>
    <p:sldId xmlns:r="http://schemas.openxmlformats.org/officeDocument/2006/relationships" id="267" r:id="R8da960eb617c4699"/>
    <p:sldId xmlns:r="http://schemas.openxmlformats.org/officeDocument/2006/relationships" id="268" r:id="Rbc59c89aac51422a"/>
    <p:sldId xmlns:r="http://schemas.openxmlformats.org/officeDocument/2006/relationships" id="269" r:id="R4308dda25d514c70"/>
    <p:sldId xmlns:r="http://schemas.openxmlformats.org/officeDocument/2006/relationships" id="270" r:id="Rc9dd236a5f494fe4"/>
    <p:sldId xmlns:r="http://schemas.openxmlformats.org/officeDocument/2006/relationships" id="271" r:id="R0a41bafbb50b44c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e1d4b899a174f3d" /><Relationship Type="http://schemas.openxmlformats.org/officeDocument/2006/relationships/slideMaster" Target="/ppt/slideMasters/slideMaster1.xml" Id="R491261987e3b4579" /><Relationship Type="http://schemas.openxmlformats.org/officeDocument/2006/relationships/notesMaster" Target="/ppt/notesMasters/notesMaster1.xml" Id="R60a8cff412124b6d" /><Relationship Type="http://schemas.openxmlformats.org/officeDocument/2006/relationships/presProps" Target="/ppt/presProps.xml" Id="Rb3c2001c165c4fbe" /><Relationship Type="http://schemas.openxmlformats.org/officeDocument/2006/relationships/viewProps" Target="/ppt/viewProps.xml" Id="Rdba736771b2d4ea1" /><Relationship Type="http://schemas.openxmlformats.org/officeDocument/2006/relationships/tableStyles" Target="/ppt/tableStyles.xml" Id="R154c2f468885471e" /><Relationship Type="http://schemas.openxmlformats.org/officeDocument/2006/relationships/slide" Target="/ppt/slides/slide1.xml" Id="R8e03836908494f5f" /><Relationship Type="http://schemas.openxmlformats.org/officeDocument/2006/relationships/slide" Target="/ppt/slides/slide2.xml" Id="Rdfbb0617cb1344fa" /><Relationship Type="http://schemas.openxmlformats.org/officeDocument/2006/relationships/slide" Target="/ppt/slides/slide3.xml" Id="R9deb403befaf4ffe" /><Relationship Type="http://schemas.openxmlformats.org/officeDocument/2006/relationships/slide" Target="/ppt/slides/slide4.xml" Id="R8c061271e5a2486b" /><Relationship Type="http://schemas.openxmlformats.org/officeDocument/2006/relationships/slide" Target="/ppt/slides/slide5.xml" Id="R99ce4656b26e43ac" /><Relationship Type="http://schemas.openxmlformats.org/officeDocument/2006/relationships/slide" Target="/ppt/slides/slide6.xml" Id="R1c8feaf43d6d4122" /><Relationship Type="http://schemas.openxmlformats.org/officeDocument/2006/relationships/slide" Target="/ppt/slides/slide7.xml" Id="R8bab532c7be9479b" /><Relationship Type="http://schemas.openxmlformats.org/officeDocument/2006/relationships/slide" Target="/ppt/slides/slide8.xml" Id="Ra6dfe5cbb39e4ad9" /><Relationship Type="http://schemas.openxmlformats.org/officeDocument/2006/relationships/slide" Target="/ppt/slides/slide9.xml" Id="Rd882457c991c42d4" /><Relationship Type="http://schemas.openxmlformats.org/officeDocument/2006/relationships/slide" Target="/ppt/slides/slide10.xml" Id="R763b2a3424494996" /><Relationship Type="http://schemas.openxmlformats.org/officeDocument/2006/relationships/slide" Target="/ppt/slides/slide11.xml" Id="R359c040053c14241" /><Relationship Type="http://schemas.openxmlformats.org/officeDocument/2006/relationships/slide" Target="/ppt/slides/slide12.xml" Id="R8da960eb617c4699" /><Relationship Type="http://schemas.openxmlformats.org/officeDocument/2006/relationships/slide" Target="/ppt/slides/slide13.xml" Id="Rbc59c89aac51422a" /><Relationship Type="http://schemas.openxmlformats.org/officeDocument/2006/relationships/slide" Target="/ppt/slides/slide14.xml" Id="R4308dda25d514c70" /><Relationship Type="http://schemas.openxmlformats.org/officeDocument/2006/relationships/slide" Target="/ppt/slides/slide15.xml" Id="Rc9dd236a5f494fe4" /><Relationship Type="http://schemas.openxmlformats.org/officeDocument/2006/relationships/slide" Target="/ppt/slides/slide16.xml" Id="R0a41bafbb50b44c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9c6c47c67134ec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9cd1a05d23146ba" /><Relationship Type="http://schemas.openxmlformats.org/officeDocument/2006/relationships/notesMaster" Target="/ppt/notesMasters/notesMaster1.xml" Id="Rad98d5b462454f1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a14c8a0484b4f4c" /><Relationship Type="http://schemas.openxmlformats.org/officeDocument/2006/relationships/notesMaster" Target="/ppt/notesMasters/notesMaster1.xml" Id="Rc21ecade99a2490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23b3f94c35a4e50" /><Relationship Type="http://schemas.openxmlformats.org/officeDocument/2006/relationships/notesMaster" Target="/ppt/notesMasters/notesMaster1.xml" Id="R9252f5bb48b04b2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51484e4f4ff4952" /><Relationship Type="http://schemas.openxmlformats.org/officeDocument/2006/relationships/notesMaster" Target="/ppt/notesMasters/notesMaster1.xml" Id="R86634240f5cc444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23e504e05124df3" /><Relationship Type="http://schemas.openxmlformats.org/officeDocument/2006/relationships/notesMaster" Target="/ppt/notesMasters/notesMaster1.xml" Id="R4487c567050847d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b3ff92d71cd4d37" /><Relationship Type="http://schemas.openxmlformats.org/officeDocument/2006/relationships/notesMaster" Target="/ppt/notesMasters/notesMaster1.xml" Id="R8a6689de630c4ed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3f1414fee7547ac" /><Relationship Type="http://schemas.openxmlformats.org/officeDocument/2006/relationships/notesMaster" Target="/ppt/notesMasters/notesMaster1.xml" Id="R1a624bcf92f7483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5d9ac7c3c574b25" /><Relationship Type="http://schemas.openxmlformats.org/officeDocument/2006/relationships/notesMaster" Target="/ppt/notesMasters/notesMaster1.xml" Id="R4b6e507e67354de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88cfe4924204dd7" /><Relationship Type="http://schemas.openxmlformats.org/officeDocument/2006/relationships/notesMaster" Target="/ppt/notesMasters/notesMaster1.xml" Id="R95aa7796a50649d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e8b647ebd404cee" /><Relationship Type="http://schemas.openxmlformats.org/officeDocument/2006/relationships/notesMaster" Target="/ppt/notesMasters/notesMaster1.xml" Id="Rdc208c24e605487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3bd669bdc1b4d4c" /><Relationship Type="http://schemas.openxmlformats.org/officeDocument/2006/relationships/notesMaster" Target="/ppt/notesMasters/notesMaster1.xml" Id="Rac8e843f84ce415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c7bffff42a54a54" /><Relationship Type="http://schemas.openxmlformats.org/officeDocument/2006/relationships/notesMaster" Target="/ppt/notesMasters/notesMaster1.xml" Id="Rda5426e0cf4d484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fc7d1fe05124565" /><Relationship Type="http://schemas.openxmlformats.org/officeDocument/2006/relationships/notesMaster" Target="/ppt/notesMasters/notesMaster1.xml" Id="R3e86fae6f2ff4e1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586590d52de46be" /><Relationship Type="http://schemas.openxmlformats.org/officeDocument/2006/relationships/notesMaster" Target="/ppt/notesMasters/notesMaster1.xml" Id="Rad08bd03eadb49b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4cff433b6894709" /><Relationship Type="http://schemas.openxmlformats.org/officeDocument/2006/relationships/notesMaster" Target="/ppt/notesMasters/notesMaster1.xml" Id="Rdf80ce16c7234c2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ced5e1cc79245ac" /><Relationship Type="http://schemas.openxmlformats.org/officeDocument/2006/relationships/notesMaster" Target="/ppt/notesMasters/notesMaster1.xml" Id="R19cb593fce964e2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封面插画由 OpenAI 图像生成工具生成；无外部图片。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https://github.com/vercel-labs/skills</a:t>
            </a:r>
          </a:p>
          <a:p xmlns:a="http://schemas.openxmlformats.org/drawingml/2006/main">
            <a:r>
              <a:t>https://qwenlm.github.io/qwen-code-docs/en/users/features/skills/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https://github.com/vercel-labs/skills</a:t>
            </a:r>
          </a:p>
          <a:p xmlns:a="http://schemas.openxmlformats.org/drawingml/2006/main">
            <a:r>
              <a:t>https://www.kimi.com/code/docs/en/kimi-code-cli/customization/skills.html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https://qwenlm.github.io/qwen-code-docs/en/users/features/skills/</a:t>
            </a:r>
          </a:p>
          <a:p xmlns:a="http://schemas.openxmlformats.org/drawingml/2006/main">
            <a:r>
              <a:t>https://github.com/anthropics/skills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https://qwenlm.github.io/qwen-code-docs/en/users/features/skills/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https://github.com/markdown-viewer/skills</a:t>
            </a:r>
          </a:p>
          <a:p xmlns:a="http://schemas.openxmlformats.org/drawingml/2006/main">
            <a:r>
              <a:t>https://github.com/jiji262/claude-design-skill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https://github.com/vercel-labs/skills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https://github.com/jackwener/xhs-cli</a:t>
            </a:r>
          </a:p>
          <a:p xmlns:a="http://schemas.openxmlformats.org/drawingml/2006/main">
            <a:r>
              <a:t>https://ad-market.xiaohongshu.com/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https://github.com/vercel-labs/skills</a:t>
            </a:r>
          </a:p>
          <a:p xmlns:a="http://schemas.openxmlformats.org/drawingml/2006/main">
            <a:r>
              <a:t>https://help.openai.com/en/articles/20001256-plugins-in-codex/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https://arxiv.org/abs/2605.11418</a:t>
            </a:r>
          </a:p>
          <a:p xmlns:a="http://schemas.openxmlformats.org/drawingml/2006/main">
            <a:r>
              <a:t>https://github.com/anthropics/skills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https://help.openai.com/en/articles/20001256-plugins-in-codex/</a:t>
            </a:r>
          </a:p>
          <a:p xmlns:a="http://schemas.openxmlformats.org/drawingml/2006/main">
            <a:r>
              <a:t>https://github.com/vercel-labs/skills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https://github.com/markdown-viewer/skills</a:t>
            </a:r>
          </a:p>
          <a:p xmlns:a="http://schemas.openxmlformats.org/drawingml/2006/main">
            <a:r>
              <a:t>https://github.com/vercel-labs/skills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https://github.com/markdown-viewer/skills</a:t>
            </a:r>
          </a:p>
          <a:p xmlns:a="http://schemas.openxmlformats.org/drawingml/2006/main">
            <a:r>
              <a:t>https://github.com/VoltAgent/awesome-agent-skills</a:t>
            </a:r>
          </a:p>
          <a:p xmlns:a="http://schemas.openxmlformats.org/drawingml/2006/main">
            <a:r>
              <a:t>https://github.com/jiji262/claude-design-skill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https://www.newrank.cn/</a:t>
            </a:r>
          </a:p>
          <a:p xmlns:a="http://schemas.openxmlformats.org/drawingml/2006/main">
            <a:r>
              <a:t>https://socialdata.cn/</a:t>
            </a:r>
          </a:p>
          <a:p xmlns:a="http://schemas.openxmlformats.org/drawingml/2006/main">
            <a:r>
              <a:t>https://ad-market.xiaohongshu.com/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https://github.com/jackwener/xhs-cli</a:t>
            </a:r>
          </a:p>
          <a:p xmlns:a="http://schemas.openxmlformats.org/drawingml/2006/main">
            <a:r>
              <a:t>https://github.com/lucasygu/redbook</a:t>
            </a:r>
          </a:p>
          <a:p xmlns:a="http://schemas.openxmlformats.org/drawingml/2006/main">
            <a:r>
              <a:t>https://ad-market.xiaohongshu.com/</a:t>
            </a:r>
          </a:p>
          <a:p xmlns:a="http://schemas.openxmlformats.org/drawingml/2006/main">
            <a:r>
              <a:t>https://kawo.com/cn/solutions/%E7%AB%9E%E5%93%81%E7%9B%91%E6%B5%8B%E4%B8%8E%E5%88%86%E6%9E%90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收尾建议：不要从“收藏很多 Skill”开始，而从一个重复任务开始。
[Sources]
https://qwenlm.github.io/qwen-code-docs/en/users/features/skills/
https://github.com/vercel-labs/skills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1e3e1f3d00457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469d3cc62d342fb" /><Relationship Type="http://schemas.openxmlformats.org/officeDocument/2006/relationships/slideLayout" Target="/ppt/slideLayouts/slideLayout1.xml" Id="R977e703b8e6e4035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77e703b8e6e403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8426e5e7f443ae" /><Relationship Type="http://schemas.openxmlformats.org/officeDocument/2006/relationships/image" Target="/ppt/media/image.png" Id="R72409bafd1b449d0" /><Relationship Type="http://schemas.openxmlformats.org/officeDocument/2006/relationships/notesSlide" Target="/ppt/notesSlides/notesSlide1.xml" Id="R5c406c71422a435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640c81dcf44efd" /><Relationship Type="http://schemas.openxmlformats.org/officeDocument/2006/relationships/notesSlide" Target="/ppt/notesSlides/notesSlide2.xml" Id="R319a696266c5408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edbe2a587d4be5" /><Relationship Type="http://schemas.openxmlformats.org/officeDocument/2006/relationships/notesSlide" Target="/ppt/notesSlides/notesSlide3.xml" Id="R4bb2edf5a98843e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b35ff7afb14b0e" /><Relationship Type="http://schemas.openxmlformats.org/officeDocument/2006/relationships/notesSlide" Target="/ppt/notesSlides/notesSlide4.xml" Id="Ra16faaa11db0401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5a2b6ef499417b" /><Relationship Type="http://schemas.openxmlformats.org/officeDocument/2006/relationships/notesSlide" Target="/ppt/notesSlides/notesSlide5.xml" Id="R71d16174b9ce4c2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6e3fc499b24026" /><Relationship Type="http://schemas.openxmlformats.org/officeDocument/2006/relationships/notesSlide" Target="/ppt/notesSlides/notesSlide6.xml" Id="R63e09bc16bec4cf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48f835ab9d4a79" /><Relationship Type="http://schemas.openxmlformats.org/officeDocument/2006/relationships/notesSlide" Target="/ppt/notesSlides/notesSlide7.xml" Id="R39403810231c454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acccb907ea4ba9" /><Relationship Type="http://schemas.openxmlformats.org/officeDocument/2006/relationships/notesSlide" Target="/ppt/notesSlides/notesSlide8.xml" Id="R7ec84c23c27846b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f78b0944914070" /><Relationship Type="http://schemas.openxmlformats.org/officeDocument/2006/relationships/notesSlide" Target="/ppt/notesSlides/notesSlide9.xml" Id="Rd8c8bfffad43434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985bd2ca654bcf" /><Relationship Type="http://schemas.openxmlformats.org/officeDocument/2006/relationships/notesSlide" Target="/ppt/notesSlides/notesSlide10.xml" Id="Rc12250c2411d40a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11d8aee5a3497e" /><Relationship Type="http://schemas.openxmlformats.org/officeDocument/2006/relationships/notesSlide" Target="/ppt/notesSlides/notesSlide11.xml" Id="R667d190dc2c047f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51238dd89447b4" /><Relationship Type="http://schemas.openxmlformats.org/officeDocument/2006/relationships/notesSlide" Target="/ppt/notesSlides/notesSlide12.xml" Id="R4a97aa19be40497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6ff067b2a2498f" /><Relationship Type="http://schemas.openxmlformats.org/officeDocument/2006/relationships/notesSlide" Target="/ppt/notesSlides/notesSlide13.xml" Id="Rd941356ace45494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81943a024545f8" /><Relationship Type="http://schemas.openxmlformats.org/officeDocument/2006/relationships/notesSlide" Target="/ppt/notesSlides/notesSlide14.xml" Id="R4a38176aebfa426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69589c8a744cc9" /><Relationship Type="http://schemas.openxmlformats.org/officeDocument/2006/relationships/notesSlide" Target="/ppt/notesSlides/notesSlide15.xml" Id="R1d44afcba3cf47b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23aa19e14b4782" /><Relationship Type="http://schemas.openxmlformats.org/officeDocument/2006/relationships/notesSlide" Target="/ppt/notesSlides/notesSlide16.xml" Id="R920c763c8fa647f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9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409bafd1b449d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圆角矩形 1">
            <a:extLst xmlns:a="http://schemas.openxmlformats.org/drawingml/2006/main">
              <a:ext uri="{FF2B5EF4-FFF2-40B4-BE49-F238E27FC236}">
                <a16:creationId xmlns:a16="http://schemas.microsoft.com/office/drawing/2014/main" id="{4DA6ED41-5BE9-4AD6-A914-C875E046E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86690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FE3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316263C1-D090-4508-8D8A-190AF3EC9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6300"/>
            <a:ext cx="1666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F8B7B"/>
                </a:solidFill>
              </a:defRPr>
            </a:pPr>
            <a:r>
              <a:rPr sz="1050" b="1">
                <a:solidFill>
                  <a:srgbClr val="FF8B7B"/>
                </a:solidFill>
              </a:rPr>
              <a:t>给 Agent 装上“操作手册”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89DC243C-9C9F-4C88-B480-5131FD270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5905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825" b="1">
                <a:solidFill>
                  <a:srgbClr val="112A46"/>
                </a:solidFill>
              </a:defRPr>
            </a:pPr>
            <a:r>
              <a:rPr sz="3825" b="1">
                <a:solidFill>
                  <a:srgbClr val="112A46"/>
                </a:solidFill>
              </a:rPr>
              <a:t>Skill：让 Agent</a:t>
            </a:r>
          </a:p>
          <a:p xmlns:a="http://schemas.openxmlformats.org/drawingml/2006/main">
            <a:pPr>
              <a:buNone/>
              <a:defRPr sz="3825" b="1">
                <a:solidFill>
                  <a:srgbClr val="112A46"/>
                </a:solidFill>
              </a:defRPr>
            </a:pPr>
            <a:r>
              <a:rPr sz="3825" b="1">
                <a:solidFill>
                  <a:srgbClr val="112A46"/>
                </a:solidFill>
              </a:rPr>
              <a:t>会做事，也做对事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3E2BF591-95C9-46F8-A4DA-E2FDF0B87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47975"/>
            <a:ext cx="557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D7186"/>
                </a:solidFill>
              </a:defRPr>
            </a:pPr>
            <a:r>
              <a:rPr sz="1500" b="0">
                <a:solidFill>
                  <a:srgbClr val="5D7186"/>
                </a:solidFill>
              </a:rPr>
              <a:t>从调用逻辑，到圆形信息图与社媒调研的实用组合</a:t>
            </a:r>
          </a:p>
        </p:txBody>
      </p:sp>
      <p:sp>
        <p:nvSpPr>
          <p:cNvPr id="6" name="圆角矩形 5">
            <a:extLst xmlns:a="http://schemas.openxmlformats.org/drawingml/2006/main">
              <a:ext uri="{FF2B5EF4-FFF2-40B4-BE49-F238E27FC236}">
                <a16:creationId xmlns:a16="http://schemas.microsoft.com/office/drawing/2014/main" id="{F6C36BD7-0A5B-4E48-BF9F-287CEE522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76650"/>
            <a:ext cx="9334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1B5CFA9D-7CE3-48E1-A636-EA4B56C66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43325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12A46"/>
                </a:solidFill>
              </a:defRPr>
            </a:pPr>
            <a:r>
              <a:rPr sz="1050" b="1">
                <a:solidFill>
                  <a:srgbClr val="112A46"/>
                </a:solidFill>
              </a:rPr>
              <a:t>可复用</a:t>
            </a:r>
          </a:p>
        </p:txBody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3B405DA8-7786-4121-BB04-53E1630FC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676650"/>
            <a:ext cx="9334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7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394644BE-D59D-46D4-B586-85872B82B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743325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12A46"/>
                </a:solidFill>
              </a:defRPr>
            </a:pPr>
            <a:r>
              <a:rPr sz="1050" b="1">
                <a:solidFill>
                  <a:srgbClr val="112A46"/>
                </a:solidFill>
              </a:rPr>
              <a:t>可协作</a:t>
            </a:r>
          </a:p>
        </p:txBody>
      </p:sp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332ED259-42E9-441D-B067-378931DAE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676650"/>
            <a:ext cx="9334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E3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2692ACB3-EAA3-4BD4-A4D8-7637C0AD5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743325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12A46"/>
                </a:solidFill>
              </a:defRPr>
            </a:pPr>
            <a:r>
              <a:rPr sz="1050" b="1">
                <a:solidFill>
                  <a:srgbClr val="112A46"/>
                </a:solidFill>
              </a:rPr>
              <a:t>可验证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26A04392-D545-400E-9B23-D0CBC8CB0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769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5D7186"/>
                </a:solidFill>
              </a:defRPr>
            </a:pPr>
            <a:r>
              <a:rPr sz="1125" b="0">
                <a:solidFill>
                  <a:srgbClr val="5D7186"/>
                </a:solidFill>
              </a:rPr>
              <a:t>AI Agent Skills 实用导览  |  2026</a:t>
            </a:r>
          </a:p>
        </p:txBody>
      </p:sp>
    </p:spTree>
    <p:extLst>
      <p:ext uri="{BB962C8B-B14F-4D97-AF65-F5344CB8AC3E}">
        <p14:creationId xmlns:p14="http://schemas.microsoft.com/office/powerpoint/2010/main" val="6287312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2189419D-5CBE-4802-99BF-98F6F8104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F8B7B"/>
                </a:solidFill>
              </a:defRPr>
            </a:pPr>
            <a:r>
              <a:rPr sz="1050" b="1">
                <a:solidFill>
                  <a:srgbClr val="FF8B7B"/>
                </a:solidFill>
              </a:rPr>
              <a:t>WHY IT MATTERS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4D8C40F-4C1E-4240-8A5C-291E2ED73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112A46"/>
                </a:solidFill>
              </a:defRPr>
            </a:pPr>
            <a:r>
              <a:rPr sz="2625" b="1">
                <a:solidFill>
                  <a:srgbClr val="112A46"/>
                </a:solidFill>
              </a:rPr>
              <a:t>Skill 的强，不在“多懂一点”，而在“稳定地做对一次又一次”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9253400F-448B-4E04-B025-F7E2DDF30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D7186"/>
                </a:solidFill>
              </a:defRPr>
            </a:pPr>
            <a:r>
              <a:rPr sz="1350" b="0">
                <a:solidFill>
                  <a:srgbClr val="5D7186"/>
                </a:solidFill>
              </a:rPr>
              <a:t>它把临时提示词升级为可触发、可复用、可协作的工作方法。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51B770C3-DED6-4E25-83BF-BAE92A51B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圆角矩形 4">
            <a:extLst xmlns:a="http://schemas.openxmlformats.org/drawingml/2006/main">
              <a:ext uri="{FF2B5EF4-FFF2-40B4-BE49-F238E27FC236}">
                <a16:creationId xmlns:a16="http://schemas.microsoft.com/office/drawing/2014/main" id="{7E35D999-A55B-4A70-BAD0-9DA349706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2333625" cy="2543175"/>
          </a:xfrm>
          <a:prstGeom xmlns:a="http://schemas.openxmlformats.org/drawingml/2006/main" prst="roundRect">
            <a:avLst>
              <a:gd name="adj" fmla="val 6531"/>
            </a:avLst>
          </a:prstGeom>
          <a:solidFill xmlns:a="http://schemas.openxmlformats.org/drawingml/2006/main">
            <a:srgbClr val="DDF1FF"/>
          </a:solidFill>
          <a:ln xmlns:a="http://schemas.openxmlformats.org/drawingml/2006/main" w="9525">
            <a:solidFill>
              <a:srgbClr val="D7E4ED"/>
            </a:solidFill>
            <a:prstDash val="solid"/>
          </a:ln>
        </p:spPr>
      </p:sp>
      <p:sp>
        <p:nvSpPr>
          <p:cNvPr id="6" name="椭圆 5">
            <a:extLst xmlns:a="http://schemas.openxmlformats.org/drawingml/2006/main">
              <a:ext uri="{FF2B5EF4-FFF2-40B4-BE49-F238E27FC236}">
                <a16:creationId xmlns:a16="http://schemas.microsoft.com/office/drawing/2014/main" id="{2A896F51-28EE-46D4-A767-7E2401EB5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21D69445-78D9-42C4-BD89-3D5F9298E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051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12A46"/>
                </a:solidFill>
              </a:defRPr>
            </a:pPr>
            <a:r>
              <a:rPr sz="1875" b="1">
                <a:solidFill>
                  <a:srgbClr val="112A46"/>
                </a:solidFill>
              </a:rPr>
              <a:t>◎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B790E0E7-A820-4FE3-BBC8-E33CABD1D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3375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12A46"/>
                </a:solidFill>
              </a:defRPr>
            </a:pPr>
            <a:r>
              <a:rPr sz="1725" b="1">
                <a:solidFill>
                  <a:srgbClr val="112A46"/>
                </a:solidFill>
              </a:rPr>
              <a:t>按需加载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C7ECBB1-BE59-4BBD-991E-20CAF8213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52850"/>
            <a:ext cx="180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D7186"/>
                </a:solidFill>
              </a:defRPr>
            </a:pPr>
            <a:r>
              <a:rPr sz="1200" b="0">
                <a:solidFill>
                  <a:srgbClr val="5D7186"/>
                </a:solidFill>
              </a:rPr>
              <a:t>平时只读名称与描述</a:t>
            </a:r>
          </a:p>
          <a:p xmlns:a="http://schemas.openxmlformats.org/drawingml/2006/main">
            <a:pPr>
              <a:buNone/>
              <a:defRPr sz="1200" b="0">
                <a:solidFill>
                  <a:srgbClr val="5D7186"/>
                </a:solidFill>
              </a:defRPr>
            </a:pPr>
            <a:r>
              <a:rPr sz="1200" b="0">
                <a:solidFill>
                  <a:srgbClr val="5D7186"/>
                </a:solidFill>
              </a:rPr>
              <a:t>需要时才加载细节</a:t>
            </a:r>
          </a:p>
        </p:txBody>
      </p:sp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89EF9667-DCF8-4672-90B6-E8A74C77F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400300"/>
            <a:ext cx="2333625" cy="2543175"/>
          </a:xfrm>
          <a:prstGeom xmlns:a="http://schemas.openxmlformats.org/drawingml/2006/main" prst="roundRect">
            <a:avLst>
              <a:gd name="adj" fmla="val 6531"/>
            </a:avLst>
          </a:prstGeom>
          <a:solidFill xmlns:a="http://schemas.openxmlformats.org/drawingml/2006/main">
            <a:srgbClr val="E8F7DA"/>
          </a:solidFill>
          <a:ln xmlns:a="http://schemas.openxmlformats.org/drawingml/2006/main" w="9525">
            <a:solidFill>
              <a:srgbClr val="D7E4ED"/>
            </a:solidFill>
            <a:prstDash val="solid"/>
          </a:ln>
        </p:spPr>
      </p:sp>
      <p:sp>
        <p:nvSpPr>
          <p:cNvPr id="11" name="椭圆 10">
            <a:extLst xmlns:a="http://schemas.openxmlformats.org/drawingml/2006/main">
              <a:ext uri="{FF2B5EF4-FFF2-40B4-BE49-F238E27FC236}">
                <a16:creationId xmlns:a16="http://schemas.microsoft.com/office/drawing/2014/main" id="{07E9E67A-89C1-4597-951F-D44D0022C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02C03662-3A90-476B-B383-FE5540EA2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7051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12A46"/>
                </a:solidFill>
              </a:defRPr>
            </a:pPr>
            <a:r>
              <a:rPr sz="1875" b="1">
                <a:solidFill>
                  <a:srgbClr val="112A46"/>
                </a:solidFill>
              </a:rPr>
              <a:t>✓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7861A03C-8A1C-4CAA-9C5A-60F9BFEBB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3375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12A46"/>
                </a:solidFill>
              </a:defRPr>
            </a:pPr>
            <a:r>
              <a:rPr sz="1725" b="1">
                <a:solidFill>
                  <a:srgbClr val="112A46"/>
                </a:solidFill>
              </a:rPr>
              <a:t>流程固化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9D6E9CF7-BD03-4069-B247-451C3023A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752850"/>
            <a:ext cx="180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D7186"/>
                </a:solidFill>
              </a:defRPr>
            </a:pPr>
            <a:r>
              <a:rPr sz="1200" b="0">
                <a:solidFill>
                  <a:srgbClr val="5D7186"/>
                </a:solidFill>
              </a:rPr>
              <a:t>把步骤、检查点、模板</a:t>
            </a:r>
          </a:p>
          <a:p xmlns:a="http://schemas.openxmlformats.org/drawingml/2006/main">
            <a:pPr>
              <a:buNone/>
              <a:defRPr sz="1200" b="0">
                <a:solidFill>
                  <a:srgbClr val="5D7186"/>
                </a:solidFill>
              </a:defRPr>
            </a:pPr>
            <a:r>
              <a:rPr sz="1200" b="0">
                <a:solidFill>
                  <a:srgbClr val="5D7186"/>
                </a:solidFill>
              </a:rPr>
              <a:t>变成可执行的 SOP</a:t>
            </a:r>
          </a:p>
        </p:txBody>
      </p:sp>
      <p:sp>
        <p:nvSpPr>
          <p:cNvPr id="15" name="圆角矩形 14">
            <a:extLst xmlns:a="http://schemas.openxmlformats.org/drawingml/2006/main">
              <a:ext uri="{FF2B5EF4-FFF2-40B4-BE49-F238E27FC236}">
                <a16:creationId xmlns:a16="http://schemas.microsoft.com/office/drawing/2014/main" id="{D7989D5D-D89D-4E72-85F2-D8872941E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400300"/>
            <a:ext cx="2333625" cy="2543175"/>
          </a:xfrm>
          <a:prstGeom xmlns:a="http://schemas.openxmlformats.org/drawingml/2006/main" prst="roundRect">
            <a:avLst>
              <a:gd name="adj" fmla="val 6531"/>
            </a:avLst>
          </a:prstGeom>
          <a:solidFill xmlns:a="http://schemas.openxmlformats.org/drawingml/2006/main">
            <a:srgbClr val="FFE3DC"/>
          </a:solidFill>
          <a:ln xmlns:a="http://schemas.openxmlformats.org/drawingml/2006/main" w="9525">
            <a:solidFill>
              <a:srgbClr val="D7E4ED"/>
            </a:solidFill>
            <a:prstDash val="solid"/>
          </a:ln>
        </p:spPr>
      </p:sp>
      <p:sp>
        <p:nvSpPr>
          <p:cNvPr id="16" name="椭圆 15">
            <a:extLst xmlns:a="http://schemas.openxmlformats.org/drawingml/2006/main">
              <a:ext uri="{FF2B5EF4-FFF2-40B4-BE49-F238E27FC236}">
                <a16:creationId xmlns:a16="http://schemas.microsoft.com/office/drawing/2014/main" id="{1532181E-ECA2-4CF3-B271-98223CA8E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193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C0F45738-A8DF-4BB1-AA48-EDA06DA19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051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12A46"/>
                </a:solidFill>
              </a:defRPr>
            </a:pPr>
            <a:r>
              <a:rPr sz="1875" b="1">
                <a:solidFill>
                  <a:srgbClr val="112A46"/>
                </a:solidFill>
              </a:rPr>
              <a:t>＋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34E6870D-AF8E-4D2E-A1F7-75719D24D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3375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12A46"/>
                </a:solidFill>
              </a:defRPr>
            </a:pPr>
            <a:r>
              <a:rPr sz="1725" b="1">
                <a:solidFill>
                  <a:srgbClr val="112A46"/>
                </a:solidFill>
              </a:rPr>
              <a:t>能力拼装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6D0C53E4-1131-4731-A42A-57DCCE9BF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752850"/>
            <a:ext cx="180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D7186"/>
                </a:solidFill>
              </a:defRPr>
            </a:pPr>
            <a:r>
              <a:rPr sz="1200" b="0">
                <a:solidFill>
                  <a:srgbClr val="5D7186"/>
                </a:solidFill>
              </a:rPr>
              <a:t>把工具、脚本、资料</a:t>
            </a:r>
          </a:p>
          <a:p xmlns:a="http://schemas.openxmlformats.org/drawingml/2006/main">
            <a:pPr>
              <a:buNone/>
              <a:defRPr sz="1200" b="0">
                <a:solidFill>
                  <a:srgbClr val="5D7186"/>
                </a:solidFill>
              </a:defRPr>
            </a:pPr>
            <a:r>
              <a:rPr sz="1200" b="0">
                <a:solidFill>
                  <a:srgbClr val="5D7186"/>
                </a:solidFill>
              </a:rPr>
              <a:t>串成完整任务链</a:t>
            </a:r>
          </a:p>
        </p:txBody>
      </p:sp>
      <p:sp>
        <p:nvSpPr>
          <p:cNvPr id="20" name="圆角矩形 19">
            <a:extLst xmlns:a="http://schemas.openxmlformats.org/drawingml/2006/main">
              <a:ext uri="{FF2B5EF4-FFF2-40B4-BE49-F238E27FC236}">
                <a16:creationId xmlns:a16="http://schemas.microsoft.com/office/drawing/2014/main" id="{3A077464-9A7C-4002-9737-E6384A850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400300"/>
            <a:ext cx="2333625" cy="2543175"/>
          </a:xfrm>
          <a:prstGeom xmlns:a="http://schemas.openxmlformats.org/drawingml/2006/main" prst="roundRect">
            <a:avLst>
              <a:gd name="adj" fmla="val 6531"/>
            </a:avLst>
          </a:prstGeom>
          <a:solidFill xmlns:a="http://schemas.openxmlformats.org/drawingml/2006/main">
            <a:srgbClr val="EFEAFF"/>
          </a:solidFill>
          <a:ln xmlns:a="http://schemas.openxmlformats.org/drawingml/2006/main" w="9525">
            <a:solidFill>
              <a:srgbClr val="D7E4ED"/>
            </a:solidFill>
            <a:prstDash val="solid"/>
          </a:ln>
        </p:spPr>
      </p:sp>
      <p:sp>
        <p:nvSpPr>
          <p:cNvPr id="21" name="椭圆 20">
            <a:extLst xmlns:a="http://schemas.openxmlformats.org/drawingml/2006/main">
              <a:ext uri="{FF2B5EF4-FFF2-40B4-BE49-F238E27FC236}">
                <a16:creationId xmlns:a16="http://schemas.microsoft.com/office/drawing/2014/main" id="{439A1583-4819-48C4-B9F6-A8AAF4977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6193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245135B0-8413-4ADB-A689-D6B762A1E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7051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12A46"/>
                </a:solidFill>
              </a:defRPr>
            </a:pPr>
            <a:r>
              <a:rPr sz="1875" b="1">
                <a:solidFill>
                  <a:srgbClr val="112A46"/>
                </a:solidFill>
              </a:rPr>
              <a:t>↗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96C328FD-7BD5-41B5-8215-BDEC3318C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33375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12A46"/>
                </a:solidFill>
              </a:defRPr>
            </a:pPr>
            <a:r>
              <a:rPr sz="1725" b="1">
                <a:solidFill>
                  <a:srgbClr val="112A46"/>
                </a:solidFill>
              </a:rPr>
              <a:t>团队复用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768BF15E-AC48-44D3-8019-B2625D0D2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752850"/>
            <a:ext cx="180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D7186"/>
                </a:solidFill>
              </a:defRPr>
            </a:pPr>
            <a:r>
              <a:rPr sz="1200" b="0">
                <a:solidFill>
                  <a:srgbClr val="5D7186"/>
                </a:solidFill>
              </a:rPr>
              <a:t>跟项目一起进 Git</a:t>
            </a:r>
          </a:p>
          <a:p xmlns:a="http://schemas.openxmlformats.org/drawingml/2006/main">
            <a:pPr>
              <a:buNone/>
              <a:defRPr sz="1200" b="0">
                <a:solidFill>
                  <a:srgbClr val="5D7186"/>
                </a:solidFill>
              </a:defRPr>
            </a:pPr>
            <a:r>
              <a:rPr sz="1200" b="0">
                <a:solidFill>
                  <a:srgbClr val="5D7186"/>
                </a:solidFill>
              </a:rPr>
              <a:t>让成果不靠个人记忆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9AB0E38F-5711-4996-B745-06528AE45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12A46"/>
                </a:solidFill>
              </a:defRPr>
            </a:pPr>
            <a:r>
              <a:rPr sz="1800" b="1">
                <a:solidFill>
                  <a:srgbClr val="112A46"/>
                </a:solidFill>
              </a:rPr>
              <a:t>一句话：Skill 不是替代模型，而是把“会聊天的模型”带进一条可交付的工作路径。</a:t>
            </a:r>
          </a:p>
        </p:txBody>
      </p:sp>
    </p:spTree>
    <p:extLst>
      <p:ext uri="{BB962C8B-B14F-4D97-AF65-F5344CB8AC3E}">
        <p14:creationId xmlns:p14="http://schemas.microsoft.com/office/powerpoint/2010/main" val="4281659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9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434446CF-261B-47BF-9268-450A99130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F8B7B"/>
                </a:solidFill>
              </a:defRPr>
            </a:pPr>
            <a:r>
              <a:rPr sz="1050" b="1">
                <a:solidFill>
                  <a:srgbClr val="FF8B7B"/>
                </a:solidFill>
              </a:rPr>
              <a:t>CORE FLOW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19CA384-BAF1-49C6-BCBB-2F3888444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112A46"/>
                </a:solidFill>
              </a:defRPr>
            </a:pPr>
            <a:r>
              <a:rPr sz="2625" b="1">
                <a:solidFill>
                  <a:srgbClr val="112A46"/>
                </a:solidFill>
              </a:rPr>
              <a:t>Agent 调用 Skill：先匹配，再加载，最后带着工具完成任务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F47A9FE3-97C5-4804-BC14-081CBA445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D7186"/>
                </a:solidFill>
              </a:defRPr>
            </a:pPr>
            <a:r>
              <a:rPr sz="1350" b="0">
                <a:solidFill>
                  <a:srgbClr val="5D7186"/>
                </a:solidFill>
              </a:rPr>
              <a:t>关键是“按任务触发”，而不是把所有说明一次塞进上下文。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CFAC21E1-B823-4786-97D4-7385C6D6A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圆角矩形 4">
            <a:extLst xmlns:a="http://schemas.openxmlformats.org/drawingml/2006/main">
              <a:ext uri="{FF2B5EF4-FFF2-40B4-BE49-F238E27FC236}">
                <a16:creationId xmlns:a16="http://schemas.microsoft.com/office/drawing/2014/main" id="{DAF1811A-3EB9-4F22-9359-C918C1FBA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1752600" cy="13716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DF1FF"/>
          </a:solidFill>
          <a:ln xmlns:a="http://schemas.openxmlformats.org/drawingml/2006/main" w="9525">
            <a:solidFill>
              <a:srgbClr val="D7E4ED"/>
            </a:solidFill>
            <a:prstDash val="solid"/>
          </a:ln>
        </p:spPr>
      </p:sp>
      <p:sp>
        <p:nvSpPr>
          <p:cNvPr id="6" name="椭圆 5">
            <a:extLst xmlns:a="http://schemas.openxmlformats.org/drawingml/2006/main">
              <a:ext uri="{FF2B5EF4-FFF2-40B4-BE49-F238E27FC236}">
                <a16:creationId xmlns:a16="http://schemas.microsoft.com/office/drawing/2014/main" id="{5CA93676-FDE6-435C-A3E9-17A0FCA3E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051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A40EA90-428C-437A-87AF-2A0417F29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962275"/>
            <a:ext cx="152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12A46"/>
                </a:solidFill>
              </a:defRPr>
            </a:pPr>
            <a:r>
              <a:rPr sz="1200" b="1">
                <a:solidFill>
                  <a:srgbClr val="112A46"/>
                </a:solidFill>
              </a:rPr>
              <a:t>1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E66A9A28-7C7D-4AF4-A875-0B3ED8FD0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1470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12A46"/>
                </a:solidFill>
              </a:defRPr>
            </a:pPr>
            <a:r>
              <a:rPr sz="1500" b="1">
                <a:solidFill>
                  <a:srgbClr val="112A46"/>
                </a:solidFill>
              </a:rPr>
              <a:t>收到任务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127A7735-174B-4769-9381-2D27D73A3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9975"/>
            <a:ext cx="1409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D7186"/>
                </a:solidFill>
              </a:defRPr>
            </a:pPr>
            <a:r>
              <a:rPr sz="1050" b="0">
                <a:solidFill>
                  <a:srgbClr val="5D7186"/>
                </a:solidFill>
              </a:rPr>
              <a:t>“做一份社媒周报”</a:t>
            </a:r>
          </a:p>
        </p:txBody>
      </p:sp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17326816-B365-4CB0-B797-37DBD527F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762250"/>
            <a:ext cx="1752600" cy="13716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8F7DA"/>
          </a:solidFill>
          <a:ln xmlns:a="http://schemas.openxmlformats.org/drawingml/2006/main" w="9525">
            <a:solidFill>
              <a:srgbClr val="D7E4ED"/>
            </a:solidFill>
            <a:prstDash val="solid"/>
          </a:ln>
        </p:spPr>
      </p:sp>
      <p:sp>
        <p:nvSpPr>
          <p:cNvPr id="11" name="椭圆 10">
            <a:extLst xmlns:a="http://schemas.openxmlformats.org/drawingml/2006/main">
              <a:ext uri="{FF2B5EF4-FFF2-40B4-BE49-F238E27FC236}">
                <a16:creationId xmlns:a16="http://schemas.microsoft.com/office/drawing/2014/main" id="{9E82FF7B-8D09-4E79-BF15-F2CA087C0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9051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4E0426EC-540B-4E78-B04C-27C6345E6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962275"/>
            <a:ext cx="152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12A46"/>
                </a:solidFill>
              </a:defRPr>
            </a:pPr>
            <a:r>
              <a:rPr sz="1200" b="1">
                <a:solidFill>
                  <a:srgbClr val="112A46"/>
                </a:solidFill>
              </a:rPr>
              <a:t>2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7CBBB452-17EC-4DD7-857F-768844ECD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31470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12A46"/>
                </a:solidFill>
              </a:defRPr>
            </a:pPr>
            <a:r>
              <a:rPr sz="1500" b="1">
                <a:solidFill>
                  <a:srgbClr val="112A46"/>
                </a:solidFill>
              </a:rPr>
              <a:t>看技能目录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1C7E3108-EB17-4289-BA51-7FF74F0D2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609975"/>
            <a:ext cx="1409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D7186"/>
                </a:solidFill>
              </a:defRPr>
            </a:pPr>
            <a:r>
              <a:rPr sz="1050" b="0">
                <a:solidFill>
                  <a:srgbClr val="5D7186"/>
                </a:solidFill>
              </a:rPr>
              <a:t>读取 name + description</a:t>
            </a:r>
          </a:p>
        </p:txBody>
      </p:sp>
      <p:sp>
        <p:nvSpPr>
          <p:cNvPr id="15" name="圆角矩形 14">
            <a:extLst xmlns:a="http://schemas.openxmlformats.org/drawingml/2006/main">
              <a:ext uri="{FF2B5EF4-FFF2-40B4-BE49-F238E27FC236}">
                <a16:creationId xmlns:a16="http://schemas.microsoft.com/office/drawing/2014/main" id="{93844667-8F17-4D10-BEDC-94A03F0AF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762250"/>
            <a:ext cx="1752600" cy="13716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E3DC"/>
          </a:solidFill>
          <a:ln xmlns:a="http://schemas.openxmlformats.org/drawingml/2006/main" w="9525">
            <a:solidFill>
              <a:srgbClr val="D7E4ED"/>
            </a:solidFill>
            <a:prstDash val="solid"/>
          </a:ln>
        </p:spPr>
      </p:sp>
      <p:sp>
        <p:nvSpPr>
          <p:cNvPr id="16" name="椭圆 15">
            <a:extLst xmlns:a="http://schemas.openxmlformats.org/drawingml/2006/main">
              <a:ext uri="{FF2B5EF4-FFF2-40B4-BE49-F238E27FC236}">
                <a16:creationId xmlns:a16="http://schemas.microsoft.com/office/drawing/2014/main" id="{1EFD3319-10C8-442A-9F06-631958E47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9051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C7060AAC-A0D3-4C81-B917-C954163CC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2962275"/>
            <a:ext cx="152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12A46"/>
                </a:solidFill>
              </a:defRPr>
            </a:pPr>
            <a:r>
              <a:rPr sz="1200" b="1">
                <a:solidFill>
                  <a:srgbClr val="112A46"/>
                </a:solidFill>
              </a:rPr>
              <a:t>3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A75DD04D-17AD-4A2C-875F-09DAFF043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31470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12A46"/>
                </a:solidFill>
              </a:defRPr>
            </a:pPr>
            <a:r>
              <a:rPr sz="1500" b="1">
                <a:solidFill>
                  <a:srgbClr val="112A46"/>
                </a:solidFill>
              </a:rPr>
              <a:t>匹配 Skill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0CE104B2-4EBA-4987-92AD-61EA7766E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09975"/>
            <a:ext cx="1409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D7186"/>
                </a:solidFill>
              </a:defRPr>
            </a:pPr>
            <a:r>
              <a:rPr sz="1050" b="0">
                <a:solidFill>
                  <a:srgbClr val="5D7186"/>
                </a:solidFill>
              </a:rPr>
              <a:t>判断“是否适用”</a:t>
            </a:r>
          </a:p>
        </p:txBody>
      </p:sp>
      <p:sp>
        <p:nvSpPr>
          <p:cNvPr id="20" name="圆角矩形 19">
            <a:extLst xmlns:a="http://schemas.openxmlformats.org/drawingml/2006/main">
              <a:ext uri="{FF2B5EF4-FFF2-40B4-BE49-F238E27FC236}">
                <a16:creationId xmlns:a16="http://schemas.microsoft.com/office/drawing/2014/main" id="{D360DEF0-2C24-4D1B-89C1-5627F1766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762250"/>
            <a:ext cx="1752600" cy="13716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FEAFF"/>
          </a:solidFill>
          <a:ln xmlns:a="http://schemas.openxmlformats.org/drawingml/2006/main" w="9525">
            <a:solidFill>
              <a:srgbClr val="D7E4ED"/>
            </a:solidFill>
            <a:prstDash val="solid"/>
          </a:ln>
        </p:spPr>
      </p:sp>
      <p:sp>
        <p:nvSpPr>
          <p:cNvPr id="21" name="椭圆 20">
            <a:extLst xmlns:a="http://schemas.openxmlformats.org/drawingml/2006/main">
              <a:ext uri="{FF2B5EF4-FFF2-40B4-BE49-F238E27FC236}">
                <a16:creationId xmlns:a16="http://schemas.microsoft.com/office/drawing/2014/main" id="{71640823-1C05-4077-818B-77B7A9E6D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9051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8B206B1E-8242-4465-8CC8-674CB53E5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962275"/>
            <a:ext cx="152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12A46"/>
                </a:solidFill>
              </a:defRPr>
            </a:pPr>
            <a:r>
              <a:rPr sz="1200" b="1">
                <a:solidFill>
                  <a:srgbClr val="112A46"/>
                </a:solidFill>
              </a:rPr>
              <a:t>4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76E94D5B-1D45-4836-8ED3-D6619D745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31470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12A46"/>
                </a:solidFill>
              </a:defRPr>
            </a:pPr>
            <a:r>
              <a:rPr sz="1500" b="1">
                <a:solidFill>
                  <a:srgbClr val="112A46"/>
                </a:solidFill>
              </a:rPr>
              <a:t>加载说明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D069C398-69E1-4BFC-9888-0448B7A25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609975"/>
            <a:ext cx="1409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D7186"/>
                </a:solidFill>
              </a:defRPr>
            </a:pPr>
            <a:r>
              <a:rPr sz="1050" b="0">
                <a:solidFill>
                  <a:srgbClr val="5D7186"/>
                </a:solidFill>
              </a:rPr>
              <a:t>SKILL.md、模板、资料</a:t>
            </a:r>
          </a:p>
        </p:txBody>
      </p:sp>
      <p:sp>
        <p:nvSpPr>
          <p:cNvPr id="25" name="圆角矩形 24">
            <a:extLst xmlns:a="http://schemas.openxmlformats.org/drawingml/2006/main">
              <a:ext uri="{FF2B5EF4-FFF2-40B4-BE49-F238E27FC236}">
                <a16:creationId xmlns:a16="http://schemas.microsoft.com/office/drawing/2014/main" id="{75B58394-51B2-4FEB-A544-3A9024F4B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762250"/>
            <a:ext cx="1752600" cy="13716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DF1FF"/>
          </a:solidFill>
          <a:ln xmlns:a="http://schemas.openxmlformats.org/drawingml/2006/main" w="9525">
            <a:solidFill>
              <a:srgbClr val="D7E4ED"/>
            </a:solidFill>
            <a:prstDash val="solid"/>
          </a:ln>
        </p:spPr>
      </p:sp>
      <p:sp>
        <p:nvSpPr>
          <p:cNvPr id="26" name="椭圆 25">
            <a:extLst xmlns:a="http://schemas.openxmlformats.org/drawingml/2006/main">
              <a:ext uri="{FF2B5EF4-FFF2-40B4-BE49-F238E27FC236}">
                <a16:creationId xmlns:a16="http://schemas.microsoft.com/office/drawing/2014/main" id="{C9A6C5D8-D6BF-4BBA-AE4D-5B8067A9C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9051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9CAB09CE-A572-43F3-8CE5-B6784199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962275"/>
            <a:ext cx="152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12A46"/>
                </a:solidFill>
              </a:defRPr>
            </a:pPr>
            <a:r>
              <a:rPr sz="1200" b="1">
                <a:solidFill>
                  <a:srgbClr val="112A46"/>
                </a:solidFill>
              </a:rPr>
              <a:t>5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013E4373-45C8-462E-9DDD-87FB47BCF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1470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12A46"/>
                </a:solidFill>
              </a:defRPr>
            </a:pPr>
            <a:r>
              <a:rPr sz="1500" b="1">
                <a:solidFill>
                  <a:srgbClr val="112A46"/>
                </a:solidFill>
              </a:rPr>
              <a:t>调用工具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16B07051-FB07-472F-AB8D-23CAEF2EE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609975"/>
            <a:ext cx="1409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D7186"/>
                </a:solidFill>
              </a:defRPr>
            </a:pPr>
            <a:r>
              <a:rPr sz="1050" b="0">
                <a:solidFill>
                  <a:srgbClr val="5D7186"/>
                </a:solidFill>
              </a:rPr>
              <a:t>MCP / 浏览器 / 脚本</a:t>
            </a:r>
          </a:p>
        </p:txBody>
      </p:sp>
      <p:sp>
        <p:nvSpPr>
          <p:cNvPr id="30" name="右箭头 29">
            <a:extLst xmlns:a="http://schemas.openxmlformats.org/drawingml/2006/main">
              <a:ext uri="{FF2B5EF4-FFF2-40B4-BE49-F238E27FC236}">
                <a16:creationId xmlns:a16="http://schemas.microsoft.com/office/drawing/2014/main" id="{91BC6A60-C727-4325-B034-47BE3A657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248025"/>
            <a:ext cx="257175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D8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右箭头 30">
            <a:extLst xmlns:a="http://schemas.openxmlformats.org/drawingml/2006/main">
              <a:ext uri="{FF2B5EF4-FFF2-40B4-BE49-F238E27FC236}">
                <a16:creationId xmlns:a16="http://schemas.microsoft.com/office/drawing/2014/main" id="{D5BD187E-2340-465E-BB64-F08EFC128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248025"/>
            <a:ext cx="257175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D8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右箭头 31">
            <a:extLst xmlns:a="http://schemas.openxmlformats.org/drawingml/2006/main">
              <a:ext uri="{FF2B5EF4-FFF2-40B4-BE49-F238E27FC236}">
                <a16:creationId xmlns:a16="http://schemas.microsoft.com/office/drawing/2014/main" id="{0D13C466-98F9-4FA2-9F20-726511ADE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248025"/>
            <a:ext cx="257175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D8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右箭头 32">
            <a:extLst xmlns:a="http://schemas.openxmlformats.org/drawingml/2006/main">
              <a:ext uri="{FF2B5EF4-FFF2-40B4-BE49-F238E27FC236}">
                <a16:creationId xmlns:a16="http://schemas.microsoft.com/office/drawing/2014/main" id="{1221CCC6-4939-4B98-94B2-1F026CC7E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248025"/>
            <a:ext cx="257175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D8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圆角矩形 33">
            <a:extLst xmlns:a="http://schemas.openxmlformats.org/drawingml/2006/main">
              <a:ext uri="{FF2B5EF4-FFF2-40B4-BE49-F238E27FC236}">
                <a16:creationId xmlns:a16="http://schemas.microsoft.com/office/drawing/2014/main" id="{BE32C4C8-88A7-405C-B5A5-63D4573CE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953000"/>
            <a:ext cx="647700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112A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DB926283-62C0-46B3-9B21-8B1D0AFE5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5153025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最后还要：检查结果 → 形成交付物 → 记录可复用经验</a:t>
            </a: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0F59EB85-ABF1-4B32-87A7-AE3AD97B6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90550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D7186"/>
                </a:solidFill>
              </a:defRPr>
            </a:pPr>
            <a:r>
              <a:rPr sz="1350" b="0">
                <a:solidFill>
                  <a:srgbClr val="5D7186"/>
                </a:solidFill>
              </a:rPr>
              <a:t>Agent 像“执行者”  •  Skill 像“操作手册”  •  MCP 像“工具箱”</a:t>
            </a:r>
          </a:p>
        </p:txBody>
      </p:sp>
    </p:spTree>
    <p:extLst>
      <p:ext uri="{BB962C8B-B14F-4D97-AF65-F5344CB8AC3E}">
        <p14:creationId xmlns:p14="http://schemas.microsoft.com/office/powerpoint/2010/main" val="21166511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61A8B2E6-93F7-46BA-A0A3-25E48456B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F8B7B"/>
                </a:solidFill>
              </a:defRPr>
            </a:pPr>
            <a:r>
              <a:rPr sz="1050" b="1">
                <a:solidFill>
                  <a:srgbClr val="FF8B7B"/>
                </a:solidFill>
              </a:rPr>
              <a:t>WHAT A SKILL DOES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331788A9-8AF1-4101-82A9-9A71E55B6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112A46"/>
                </a:solidFill>
              </a:defRPr>
            </a:pPr>
            <a:r>
              <a:rPr sz="2625" b="1">
                <a:solidFill>
                  <a:srgbClr val="112A46"/>
                </a:solidFill>
              </a:rPr>
              <a:t>Skill 的五个作用：引导、约束、扩展、复用、验收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56B0C81-4F1F-4535-8118-76C83B7AC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D7186"/>
                </a:solidFill>
              </a:defRPr>
            </a:pPr>
            <a:r>
              <a:rPr sz="1350" b="0">
                <a:solidFill>
                  <a:srgbClr val="5D7186"/>
                </a:solidFill>
              </a:rPr>
              <a:t>把“怎么做”和“做到什么标准算完成”讲清楚。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1BD89612-CB69-4E55-BB20-8D839D2AC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椭圆 4">
            <a:extLst xmlns:a="http://schemas.openxmlformats.org/drawingml/2006/main">
              <a:ext uri="{FF2B5EF4-FFF2-40B4-BE49-F238E27FC236}">
                <a16:creationId xmlns:a16="http://schemas.microsoft.com/office/drawing/2014/main" id="{BE4D55C2-DC0C-4906-8A64-8BE6E4D2B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28875"/>
            <a:ext cx="1181100" cy="1181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E62E35A5-0F4E-4AEB-8D0C-6F18631F0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575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12A46"/>
                </a:solidFill>
              </a:defRPr>
            </a:pPr>
            <a:r>
              <a:rPr sz="1875" b="1">
                <a:solidFill>
                  <a:srgbClr val="112A46"/>
                </a:solidFill>
              </a:rPr>
              <a:t>引导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F2B30635-22D1-4F97-BA1E-558BF42A5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952875"/>
            <a:ext cx="190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D7186"/>
                </a:solidFill>
              </a:defRPr>
            </a:pPr>
            <a:r>
              <a:rPr sz="1200" b="0">
                <a:solidFill>
                  <a:srgbClr val="5D7186"/>
                </a:solidFill>
              </a:rPr>
              <a:t>告诉 Agent 任务从哪一步开始、何时结束</a:t>
            </a:r>
          </a:p>
        </p:txBody>
      </p:sp>
      <p:sp>
        <p:nvSpPr>
          <p:cNvPr id="8" name="右箭头 7">
            <a:extLst xmlns:a="http://schemas.openxmlformats.org/drawingml/2006/main">
              <a:ext uri="{FF2B5EF4-FFF2-40B4-BE49-F238E27FC236}">
                <a16:creationId xmlns:a16="http://schemas.microsoft.com/office/drawing/2014/main" id="{CEC26F67-402C-4927-85D8-0B8346A71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905125"/>
            <a:ext cx="3429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D8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椭圆 8">
            <a:extLst xmlns:a="http://schemas.openxmlformats.org/drawingml/2006/main">
              <a:ext uri="{FF2B5EF4-FFF2-40B4-BE49-F238E27FC236}">
                <a16:creationId xmlns:a16="http://schemas.microsoft.com/office/drawing/2014/main" id="{BF1C64D2-A572-4745-AAE7-28BE0D891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2428875"/>
            <a:ext cx="1181100" cy="1181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3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812F65F-76B5-413B-8B38-3F264111B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8575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12A46"/>
                </a:solidFill>
              </a:defRPr>
            </a:pPr>
            <a:r>
              <a:rPr sz="1875" b="1">
                <a:solidFill>
                  <a:srgbClr val="112A46"/>
                </a:solidFill>
              </a:rPr>
              <a:t>约束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B03623F1-0500-4A17-83CD-EC9B8825B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952875"/>
            <a:ext cx="190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D7186"/>
                </a:solidFill>
              </a:defRPr>
            </a:pPr>
            <a:r>
              <a:rPr sz="1200" b="0">
                <a:solidFill>
                  <a:srgbClr val="5D7186"/>
                </a:solidFill>
              </a:rPr>
              <a:t>规定格式、禁区、权限与必须遵守的规则</a:t>
            </a:r>
          </a:p>
        </p:txBody>
      </p:sp>
      <p:sp>
        <p:nvSpPr>
          <p:cNvPr id="12" name="右箭头 11">
            <a:extLst xmlns:a="http://schemas.openxmlformats.org/drawingml/2006/main">
              <a:ext uri="{FF2B5EF4-FFF2-40B4-BE49-F238E27FC236}">
                <a16:creationId xmlns:a16="http://schemas.microsoft.com/office/drawing/2014/main" id="{79EDC385-E963-4E1F-9CDA-78D8929BA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905125"/>
            <a:ext cx="3429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D8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椭圆 12">
            <a:extLst xmlns:a="http://schemas.openxmlformats.org/drawingml/2006/main">
              <a:ext uri="{FF2B5EF4-FFF2-40B4-BE49-F238E27FC236}">
                <a16:creationId xmlns:a16="http://schemas.microsoft.com/office/drawing/2014/main" id="{25DBC8B0-8A45-42BC-87FA-EF1743CBD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428875"/>
            <a:ext cx="1181100" cy="1181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C55EDE8C-6BCB-4BF1-9B06-AE725869F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8575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12A46"/>
                </a:solidFill>
              </a:defRPr>
            </a:pPr>
            <a:r>
              <a:rPr sz="1875" b="1">
                <a:solidFill>
                  <a:srgbClr val="112A46"/>
                </a:solidFill>
              </a:rPr>
              <a:t>扩展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C7876336-CACA-4D01-B78B-CCB779A45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952875"/>
            <a:ext cx="190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D7186"/>
                </a:solidFill>
              </a:defRPr>
            </a:pPr>
            <a:r>
              <a:rPr sz="1200" b="0">
                <a:solidFill>
                  <a:srgbClr val="5D7186"/>
                </a:solidFill>
              </a:rPr>
              <a:t>把脚本、模板、专业资料放在需要时再拿出来</a:t>
            </a:r>
          </a:p>
        </p:txBody>
      </p:sp>
      <p:sp>
        <p:nvSpPr>
          <p:cNvPr id="16" name="右箭头 15">
            <a:extLst xmlns:a="http://schemas.openxmlformats.org/drawingml/2006/main">
              <a:ext uri="{FF2B5EF4-FFF2-40B4-BE49-F238E27FC236}">
                <a16:creationId xmlns:a16="http://schemas.microsoft.com/office/drawing/2014/main" id="{9B97BE89-747F-479F-AFC6-BFFE3F192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905125"/>
            <a:ext cx="3429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D8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椭圆 16">
            <a:extLst xmlns:a="http://schemas.openxmlformats.org/drawingml/2006/main">
              <a:ext uri="{FF2B5EF4-FFF2-40B4-BE49-F238E27FC236}">
                <a16:creationId xmlns:a16="http://schemas.microsoft.com/office/drawing/2014/main" id="{0DF2EDDA-08CD-4FC0-9F56-5873FAD39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2428875"/>
            <a:ext cx="1181100" cy="1181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EA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C40682C9-0942-473C-9E58-191433EA3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8575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12A46"/>
                </a:solidFill>
              </a:defRPr>
            </a:pPr>
            <a:r>
              <a:rPr sz="1875" b="1">
                <a:solidFill>
                  <a:srgbClr val="112A46"/>
                </a:solidFill>
              </a:rPr>
              <a:t>复用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D7B381B7-B5BB-4C52-8FA5-775617F4A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952875"/>
            <a:ext cx="190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D7186"/>
                </a:solidFill>
              </a:defRPr>
            </a:pPr>
            <a:r>
              <a:rPr sz="1200" b="0">
                <a:solidFill>
                  <a:srgbClr val="5D7186"/>
                </a:solidFill>
              </a:rPr>
              <a:t>个人经验沉淀为团队可重复调用的工作流</a:t>
            </a:r>
          </a:p>
        </p:txBody>
      </p:sp>
      <p:sp>
        <p:nvSpPr>
          <p:cNvPr id="20" name="右箭头 19">
            <a:extLst xmlns:a="http://schemas.openxmlformats.org/drawingml/2006/main">
              <a:ext uri="{FF2B5EF4-FFF2-40B4-BE49-F238E27FC236}">
                <a16:creationId xmlns:a16="http://schemas.microsoft.com/office/drawing/2014/main" id="{2999F743-183D-46EA-B0D6-FE09E2CE4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905125"/>
            <a:ext cx="3429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D8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椭圆 20">
            <a:extLst xmlns:a="http://schemas.openxmlformats.org/drawingml/2006/main">
              <a:ext uri="{FF2B5EF4-FFF2-40B4-BE49-F238E27FC236}">
                <a16:creationId xmlns:a16="http://schemas.microsoft.com/office/drawing/2014/main" id="{0B419EBA-F671-4D3D-A671-5AB3E77C8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428875"/>
            <a:ext cx="1181100" cy="1181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035035AE-4DE9-46E9-8185-93F81E68E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8575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12A46"/>
                </a:solidFill>
              </a:defRPr>
            </a:pPr>
            <a:r>
              <a:rPr sz="1875" b="1">
                <a:solidFill>
                  <a:srgbClr val="112A46"/>
                </a:solidFill>
              </a:rPr>
              <a:t>验收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811C3FAA-6EB2-433C-9059-34264B31F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952875"/>
            <a:ext cx="190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D7186"/>
                </a:solidFill>
              </a:defRPr>
            </a:pPr>
            <a:r>
              <a:rPr sz="1200" b="0">
                <a:solidFill>
                  <a:srgbClr val="5D7186"/>
                </a:solidFill>
              </a:rPr>
              <a:t>附上检查清单，让输出能被验证和追溯</a:t>
            </a:r>
          </a:p>
        </p:txBody>
      </p:sp>
      <p:sp>
        <p:nvSpPr>
          <p:cNvPr id="24" name="圆角矩形 23">
            <a:extLst xmlns:a="http://schemas.openxmlformats.org/drawingml/2006/main">
              <a:ext uri="{FF2B5EF4-FFF2-40B4-BE49-F238E27FC236}">
                <a16:creationId xmlns:a16="http://schemas.microsoft.com/office/drawing/2014/main" id="{4FE6355C-B6E8-4A35-BB6D-CB74EBEB7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1082040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EAEE0D33-7EFE-45C0-98AC-BD3915F01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505450"/>
            <a:ext cx="971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12A46"/>
                </a:solidFill>
              </a:defRPr>
            </a:pPr>
            <a:r>
              <a:rPr sz="1575" b="1">
                <a:solidFill>
                  <a:srgbClr val="112A46"/>
                </a:solidFill>
              </a:rPr>
              <a:t>写得好的 Skill 往往很“克制”：任务边界清楚、触发条件具体、参考资料按需展开。</a:t>
            </a:r>
          </a:p>
        </p:txBody>
      </p:sp>
    </p:spTree>
    <p:extLst>
      <p:ext uri="{BB962C8B-B14F-4D97-AF65-F5344CB8AC3E}">
        <p14:creationId xmlns:p14="http://schemas.microsoft.com/office/powerpoint/2010/main" val="6454411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61A8B2E6-93F7-46BA-A0A3-25E48456B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F8B7B"/>
                </a:solidFill>
              </a:defRPr>
            </a:pPr>
            <a:r>
              <a:rPr sz="1050" b="1">
                <a:solidFill>
                  <a:srgbClr val="FF8B7B"/>
                </a:solidFill>
              </a:rPr>
              <a:t>GUIDANCE SKILL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331788A9-8AF1-4101-82A9-9A71E55B6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112A46"/>
                </a:solidFill>
              </a:defRPr>
            </a:pPr>
            <a:r>
              <a:rPr sz="2625" b="1">
                <a:solidFill>
                  <a:srgbClr val="112A46"/>
                </a:solidFill>
              </a:rPr>
              <a:t>引导类：把模糊需求变成可执行步骤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56B0C81-4F1F-4535-8118-76C83B7AC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D7186"/>
                </a:solidFill>
              </a:defRPr>
            </a:pPr>
            <a:r>
              <a:rPr sz="1350" b="0">
                <a:solidFill>
                  <a:srgbClr val="5D7186"/>
                </a:solidFill>
              </a:rPr>
              <a:t>规定触发条件、步骤、模板、检查点与交付物，像一份可复用的 SOP。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1BD89612-CB69-4E55-BB20-8D839D2AC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椭圆 4">
            <a:extLst xmlns:a="http://schemas.openxmlformats.org/drawingml/2006/main">
              <a:ext uri="{FF2B5EF4-FFF2-40B4-BE49-F238E27FC236}">
                <a16:creationId xmlns:a16="http://schemas.microsoft.com/office/drawing/2014/main" id="{BE4D55C2-DC0C-4906-8A64-8BE6E4D2B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28875"/>
            <a:ext cx="1181100" cy="1181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E62E35A5-0F4E-4AEB-8D0C-6F18631F0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575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12A46"/>
                </a:solidFill>
              </a:defRPr>
            </a:pPr>
            <a:r>
              <a:rPr sz="1875" b="1">
                <a:solidFill>
                  <a:srgbClr val="112A46"/>
                </a:solidFill>
              </a:rPr>
              <a:t>触发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F2B30635-22D1-4F97-BA1E-558BF42A5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952875"/>
            <a:ext cx="190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D7186"/>
                </a:solidFill>
              </a:defRPr>
            </a:pPr>
            <a:r>
              <a:rPr sz="1200" b="0">
                <a:solidFill>
                  <a:srgbClr val="5D7186"/>
                </a:solidFill>
              </a:rPr>
              <a:t>任务出现时何时启用</a:t>
            </a:r>
          </a:p>
        </p:txBody>
      </p:sp>
      <p:sp>
        <p:nvSpPr>
          <p:cNvPr id="8" name="右箭头 7">
            <a:extLst xmlns:a="http://schemas.openxmlformats.org/drawingml/2006/main">
              <a:ext uri="{FF2B5EF4-FFF2-40B4-BE49-F238E27FC236}">
                <a16:creationId xmlns:a16="http://schemas.microsoft.com/office/drawing/2014/main" id="{CEC26F67-402C-4927-85D8-0B8346A71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905125"/>
            <a:ext cx="3429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D8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椭圆 8">
            <a:extLst xmlns:a="http://schemas.openxmlformats.org/drawingml/2006/main">
              <a:ext uri="{FF2B5EF4-FFF2-40B4-BE49-F238E27FC236}">
                <a16:creationId xmlns:a16="http://schemas.microsoft.com/office/drawing/2014/main" id="{BF1C64D2-A572-4745-AAE7-28BE0D891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2428875"/>
            <a:ext cx="1181100" cy="1181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3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812F65F-76B5-413B-8B38-3F264111B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8575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12A46"/>
                </a:solidFill>
              </a:defRPr>
            </a:pPr>
            <a:r>
              <a:rPr sz="1875" b="1">
                <a:solidFill>
                  <a:srgbClr val="112A46"/>
                </a:solidFill>
              </a:rPr>
              <a:t>步骤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B03623F1-0500-4A17-83CD-EC9B8825B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952875"/>
            <a:ext cx="190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D7186"/>
                </a:solidFill>
              </a:defRPr>
            </a:pPr>
            <a:r>
              <a:rPr sz="1200" b="0">
                <a:solidFill>
                  <a:srgbClr val="5D7186"/>
                </a:solidFill>
              </a:rPr>
              <a:t>先做什么、后做什么</a:t>
            </a:r>
          </a:p>
        </p:txBody>
      </p:sp>
      <p:sp>
        <p:nvSpPr>
          <p:cNvPr id="12" name="右箭头 11">
            <a:extLst xmlns:a="http://schemas.openxmlformats.org/drawingml/2006/main">
              <a:ext uri="{FF2B5EF4-FFF2-40B4-BE49-F238E27FC236}">
                <a16:creationId xmlns:a16="http://schemas.microsoft.com/office/drawing/2014/main" id="{79EDC385-E963-4E1F-9CDA-78D8929BA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905125"/>
            <a:ext cx="3429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D8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椭圆 12">
            <a:extLst xmlns:a="http://schemas.openxmlformats.org/drawingml/2006/main">
              <a:ext uri="{FF2B5EF4-FFF2-40B4-BE49-F238E27FC236}">
                <a16:creationId xmlns:a16="http://schemas.microsoft.com/office/drawing/2014/main" id="{25DBC8B0-8A45-42BC-87FA-EF1743CBD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428875"/>
            <a:ext cx="1181100" cy="1181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C55EDE8C-6BCB-4BF1-9B06-AE725869F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8575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12A46"/>
                </a:solidFill>
              </a:defRPr>
            </a:pPr>
            <a:r>
              <a:rPr sz="1875" b="1">
                <a:solidFill>
                  <a:srgbClr val="112A46"/>
                </a:solidFill>
              </a:rPr>
              <a:t>模板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C7876336-CACA-4D01-B78B-CCB779A45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952875"/>
            <a:ext cx="190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D7186"/>
                </a:solidFill>
              </a:defRPr>
            </a:pPr>
            <a:r>
              <a:rPr sz="1200" b="0">
                <a:solidFill>
                  <a:srgbClr val="5D7186"/>
                </a:solidFill>
              </a:rPr>
              <a:t>复用文案、表格与结构</a:t>
            </a:r>
          </a:p>
        </p:txBody>
      </p:sp>
      <p:sp>
        <p:nvSpPr>
          <p:cNvPr id="16" name="右箭头 15">
            <a:extLst xmlns:a="http://schemas.openxmlformats.org/drawingml/2006/main">
              <a:ext uri="{FF2B5EF4-FFF2-40B4-BE49-F238E27FC236}">
                <a16:creationId xmlns:a16="http://schemas.microsoft.com/office/drawing/2014/main" id="{9B97BE89-747F-479F-AFC6-BFFE3F192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905125"/>
            <a:ext cx="3429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D8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椭圆 16">
            <a:extLst xmlns:a="http://schemas.openxmlformats.org/drawingml/2006/main">
              <a:ext uri="{FF2B5EF4-FFF2-40B4-BE49-F238E27FC236}">
                <a16:creationId xmlns:a16="http://schemas.microsoft.com/office/drawing/2014/main" id="{0DF2EDDA-08CD-4FC0-9F56-5873FAD39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2428875"/>
            <a:ext cx="1181100" cy="1181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EA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C40682C9-0942-473C-9E58-191433EA3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8575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12A46"/>
                </a:solidFill>
              </a:defRPr>
            </a:pPr>
            <a:r>
              <a:rPr sz="1875" b="1">
                <a:solidFill>
                  <a:srgbClr val="112A46"/>
                </a:solidFill>
              </a:rPr>
              <a:t>检查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D7B381B7-B5BB-4C52-8FA5-775617F4A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952875"/>
            <a:ext cx="190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D7186"/>
                </a:solidFill>
              </a:defRPr>
            </a:pPr>
            <a:r>
              <a:rPr sz="1200" b="0">
                <a:solidFill>
                  <a:srgbClr val="5D7186"/>
                </a:solidFill>
              </a:rPr>
              <a:t>是否缺步骤或越边界</a:t>
            </a:r>
          </a:p>
        </p:txBody>
      </p:sp>
      <p:sp>
        <p:nvSpPr>
          <p:cNvPr id="20" name="右箭头 19">
            <a:extLst xmlns:a="http://schemas.openxmlformats.org/drawingml/2006/main">
              <a:ext uri="{FF2B5EF4-FFF2-40B4-BE49-F238E27FC236}">
                <a16:creationId xmlns:a16="http://schemas.microsoft.com/office/drawing/2014/main" id="{2999F743-183D-46EA-B0D6-FE09E2CE4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905125"/>
            <a:ext cx="3429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D8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椭圆 20">
            <a:extLst xmlns:a="http://schemas.openxmlformats.org/drawingml/2006/main">
              <a:ext uri="{FF2B5EF4-FFF2-40B4-BE49-F238E27FC236}">
                <a16:creationId xmlns:a16="http://schemas.microsoft.com/office/drawing/2014/main" id="{0B419EBA-F671-4D3D-A671-5AB3E77C8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428875"/>
            <a:ext cx="1181100" cy="1181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035035AE-4DE9-46E9-8185-93F81E68E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8575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12A46"/>
                </a:solidFill>
              </a:defRPr>
            </a:pPr>
            <a:r>
              <a:rPr sz="1875" b="1">
                <a:solidFill>
                  <a:srgbClr val="112A46"/>
                </a:solidFill>
              </a:rPr>
              <a:t>交付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811C3FAA-6EB2-433C-9059-34264B31F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952875"/>
            <a:ext cx="190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D7186"/>
                </a:solidFill>
              </a:defRPr>
            </a:pPr>
            <a:r>
              <a:rPr sz="1200" b="0">
                <a:solidFill>
                  <a:srgbClr val="5D7186"/>
                </a:solidFill>
              </a:rPr>
              <a:t>产出报告、文件或动作</a:t>
            </a:r>
          </a:p>
        </p:txBody>
      </p:sp>
      <p:sp>
        <p:nvSpPr>
          <p:cNvPr id="24" name="圆角矩形 23">
            <a:extLst xmlns:a="http://schemas.openxmlformats.org/drawingml/2006/main">
              <a:ext uri="{FF2B5EF4-FFF2-40B4-BE49-F238E27FC236}">
                <a16:creationId xmlns:a16="http://schemas.microsoft.com/office/drawing/2014/main" id="{4FE6355C-B6E8-4A35-BB6D-CB74EBEB7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1082040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EAEE0D33-7EFE-45C0-98AC-BD3915F01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505450"/>
            <a:ext cx="971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12A46"/>
                </a:solidFill>
              </a:defRPr>
            </a:pPr>
            <a:r>
              <a:rPr sz="1575" b="1">
                <a:solidFill>
                  <a:srgbClr val="112A46"/>
                </a:solidFill>
              </a:rPr>
              <a:t>例：把“做周报”固定成“读数据 → 找异常 → 写洞察 → 导出 PPT”。</a:t>
            </a:r>
          </a:p>
        </p:txBody>
      </p:sp>
    </p:spTree>
    <p:extLst>
      <p:ext uri="{BB962C8B-B14F-4D97-AF65-F5344CB8AC3E}">
        <p14:creationId xmlns:p14="http://schemas.microsoft.com/office/powerpoint/2010/main" val="6454411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61A8B2E6-93F7-46BA-A0A3-25E48456B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F8B7B"/>
                </a:solidFill>
              </a:defRPr>
            </a:pPr>
            <a:r>
              <a:rPr sz="1050" b="1">
                <a:solidFill>
                  <a:srgbClr val="FF8B7B"/>
                </a:solidFill>
              </a:rPr>
              <a:t>KNOWLEDGE SKILL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331788A9-8AF1-4101-82A9-9A71E55B6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112A46"/>
                </a:solidFill>
              </a:defRPr>
            </a:pPr>
            <a:r>
              <a:rPr sz="2625" b="1">
                <a:solidFill>
                  <a:srgbClr val="112A46"/>
                </a:solidFill>
              </a:rPr>
              <a:t>知识类：让 Agent 按专业方法与风格做事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56B0C81-4F1F-4535-8118-76C83B7AC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D7186"/>
                </a:solidFill>
              </a:defRPr>
            </a:pPr>
            <a:r>
              <a:rPr sz="1350" b="0">
                <a:solidFill>
                  <a:srgbClr val="5D7186"/>
                </a:solidFill>
              </a:rPr>
              <a:t>提供参考资料、设计规则和案例；不直接执行，但显著提升判断与表达质量。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1BD89612-CB69-4E55-BB20-8D839D2AC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椭圆 4">
            <a:extLst xmlns:a="http://schemas.openxmlformats.org/drawingml/2006/main">
              <a:ext uri="{FF2B5EF4-FFF2-40B4-BE49-F238E27FC236}">
                <a16:creationId xmlns:a16="http://schemas.microsoft.com/office/drawing/2014/main" id="{BE4D55C2-DC0C-4906-8A64-8BE6E4D2B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28875"/>
            <a:ext cx="1181100" cy="1181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E62E35A5-0F4E-4AEB-8D0C-6F18631F0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575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12A46"/>
                </a:solidFill>
              </a:defRPr>
            </a:pPr>
            <a:r>
              <a:rPr sz="1875" b="1">
                <a:solidFill>
                  <a:srgbClr val="112A46"/>
                </a:solidFill>
              </a:rPr>
              <a:t>原理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F2B30635-22D1-4F97-BA1E-558BF42A5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952875"/>
            <a:ext cx="190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D7186"/>
                </a:solidFill>
              </a:defRPr>
            </a:pPr>
            <a:r>
              <a:rPr sz="1200" b="0">
                <a:solidFill>
                  <a:srgbClr val="5D7186"/>
                </a:solidFill>
              </a:rPr>
              <a:t>选择正确的表达逻辑</a:t>
            </a:r>
          </a:p>
        </p:txBody>
      </p:sp>
      <p:sp>
        <p:nvSpPr>
          <p:cNvPr id="8" name="右箭头 7">
            <a:extLst xmlns:a="http://schemas.openxmlformats.org/drawingml/2006/main">
              <a:ext uri="{FF2B5EF4-FFF2-40B4-BE49-F238E27FC236}">
                <a16:creationId xmlns:a16="http://schemas.microsoft.com/office/drawing/2014/main" id="{CEC26F67-402C-4927-85D8-0B8346A71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905125"/>
            <a:ext cx="3429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D8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椭圆 8">
            <a:extLst xmlns:a="http://schemas.openxmlformats.org/drawingml/2006/main">
              <a:ext uri="{FF2B5EF4-FFF2-40B4-BE49-F238E27FC236}">
                <a16:creationId xmlns:a16="http://schemas.microsoft.com/office/drawing/2014/main" id="{BF1C64D2-A572-4745-AAE7-28BE0D891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2428875"/>
            <a:ext cx="1181100" cy="1181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3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812F65F-76B5-413B-8B38-3F264111B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8575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12A46"/>
                </a:solidFill>
              </a:defRPr>
            </a:pPr>
            <a:r>
              <a:rPr sz="1875" b="1">
                <a:solidFill>
                  <a:srgbClr val="112A46"/>
                </a:solidFill>
              </a:rPr>
              <a:t>图表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B03623F1-0500-4A17-83CD-EC9B8825B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952875"/>
            <a:ext cx="190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D7186"/>
                </a:solidFill>
              </a:defRPr>
            </a:pPr>
            <a:r>
              <a:rPr sz="1200" b="0">
                <a:solidFill>
                  <a:srgbClr val="5D7186"/>
                </a:solidFill>
              </a:rPr>
              <a:t>饼图、漏斗图、路径图</a:t>
            </a:r>
          </a:p>
        </p:txBody>
      </p:sp>
      <p:sp>
        <p:nvSpPr>
          <p:cNvPr id="12" name="右箭头 11">
            <a:extLst xmlns:a="http://schemas.openxmlformats.org/drawingml/2006/main">
              <a:ext uri="{FF2B5EF4-FFF2-40B4-BE49-F238E27FC236}">
                <a16:creationId xmlns:a16="http://schemas.microsoft.com/office/drawing/2014/main" id="{79EDC385-E963-4E1F-9CDA-78D8929BA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905125"/>
            <a:ext cx="3429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D8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椭圆 12">
            <a:extLst xmlns:a="http://schemas.openxmlformats.org/drawingml/2006/main">
              <a:ext uri="{FF2B5EF4-FFF2-40B4-BE49-F238E27FC236}">
                <a16:creationId xmlns:a16="http://schemas.microsoft.com/office/drawing/2014/main" id="{25DBC8B0-8A45-42BC-87FA-EF1743CBD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428875"/>
            <a:ext cx="1181100" cy="1181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C55EDE8C-6BCB-4BF1-9B06-AE725869F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8575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12A46"/>
                </a:solidFill>
              </a:defRPr>
            </a:pPr>
            <a:r>
              <a:rPr sz="1875" b="1">
                <a:solidFill>
                  <a:srgbClr val="112A46"/>
                </a:solidFill>
              </a:rPr>
              <a:t>风格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C7876336-CACA-4D01-B78B-CCB779A45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952875"/>
            <a:ext cx="190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D7186"/>
                </a:solidFill>
              </a:defRPr>
            </a:pPr>
            <a:r>
              <a:rPr sz="1200" b="0">
                <a:solidFill>
                  <a:srgbClr val="5D7186"/>
                </a:solidFill>
              </a:rPr>
              <a:t>莫奈底色、赛博朋克色</a:t>
            </a:r>
          </a:p>
        </p:txBody>
      </p:sp>
      <p:sp>
        <p:nvSpPr>
          <p:cNvPr id="16" name="右箭头 15">
            <a:extLst xmlns:a="http://schemas.openxmlformats.org/drawingml/2006/main">
              <a:ext uri="{FF2B5EF4-FFF2-40B4-BE49-F238E27FC236}">
                <a16:creationId xmlns:a16="http://schemas.microsoft.com/office/drawing/2014/main" id="{9B97BE89-747F-479F-AFC6-BFFE3F192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905125"/>
            <a:ext cx="3429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D8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椭圆 16">
            <a:extLst xmlns:a="http://schemas.openxmlformats.org/drawingml/2006/main">
              <a:ext uri="{FF2B5EF4-FFF2-40B4-BE49-F238E27FC236}">
                <a16:creationId xmlns:a16="http://schemas.microsoft.com/office/drawing/2014/main" id="{0DF2EDDA-08CD-4FC0-9F56-5873FAD39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2428875"/>
            <a:ext cx="1181100" cy="1181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EA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C40682C9-0942-473C-9E58-191433EA3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8575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12A46"/>
                </a:solidFill>
              </a:defRPr>
            </a:pPr>
            <a:r>
              <a:rPr sz="1875" b="1">
                <a:solidFill>
                  <a:srgbClr val="112A46"/>
                </a:solidFill>
              </a:rPr>
              <a:t>模板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D7B381B7-B5BB-4C52-8FA5-775617F4A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952875"/>
            <a:ext cx="190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D7186"/>
                </a:solidFill>
              </a:defRPr>
            </a:pPr>
            <a:r>
              <a:rPr sz="1200" b="0">
                <a:solidFill>
                  <a:srgbClr val="5D7186"/>
                </a:solidFill>
              </a:rPr>
              <a:t>课程、报告、社媒长图</a:t>
            </a:r>
          </a:p>
        </p:txBody>
      </p:sp>
      <p:sp>
        <p:nvSpPr>
          <p:cNvPr id="20" name="右箭头 19">
            <a:extLst xmlns:a="http://schemas.openxmlformats.org/drawingml/2006/main">
              <a:ext uri="{FF2B5EF4-FFF2-40B4-BE49-F238E27FC236}">
                <a16:creationId xmlns:a16="http://schemas.microsoft.com/office/drawing/2014/main" id="{2999F743-183D-46EA-B0D6-FE09E2CE4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905125"/>
            <a:ext cx="3429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D8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椭圆 20">
            <a:extLst xmlns:a="http://schemas.openxmlformats.org/drawingml/2006/main">
              <a:ext uri="{FF2B5EF4-FFF2-40B4-BE49-F238E27FC236}">
                <a16:creationId xmlns:a16="http://schemas.microsoft.com/office/drawing/2014/main" id="{0B419EBA-F671-4D3D-A671-5AB3E77C8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428875"/>
            <a:ext cx="1181100" cy="1181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035035AE-4DE9-46E9-8185-93F81E68E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8575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12A46"/>
                </a:solidFill>
              </a:defRPr>
            </a:pPr>
            <a:r>
              <a:rPr sz="1875" b="1">
                <a:solidFill>
                  <a:srgbClr val="112A46"/>
                </a:solidFill>
              </a:rPr>
              <a:t>案例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811C3FAA-6EB2-433C-9059-34264B31F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952875"/>
            <a:ext cx="190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D7186"/>
                </a:solidFill>
              </a:defRPr>
            </a:pPr>
            <a:r>
              <a:rPr sz="1200" b="0">
                <a:solidFill>
                  <a:srgbClr val="5D7186"/>
                </a:solidFill>
              </a:rPr>
              <a:t>看效果，也看边界</a:t>
            </a:r>
          </a:p>
        </p:txBody>
      </p:sp>
      <p:sp>
        <p:nvSpPr>
          <p:cNvPr id="24" name="圆角矩形 23">
            <a:extLst xmlns:a="http://schemas.openxmlformats.org/drawingml/2006/main">
              <a:ext uri="{FF2B5EF4-FFF2-40B4-BE49-F238E27FC236}">
                <a16:creationId xmlns:a16="http://schemas.microsoft.com/office/drawing/2014/main" id="{4FE6355C-B6E8-4A35-BB6D-CB74EBEB7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1082040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EAEE0D33-7EFE-45C0-98AC-BD3915F01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505450"/>
            <a:ext cx="971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12A46"/>
                </a:solidFill>
              </a:defRPr>
            </a:pPr>
            <a:r>
              <a:rPr sz="1575" b="1">
                <a:solidFill>
                  <a:srgbClr val="112A46"/>
                </a:solidFill>
              </a:rPr>
              <a:t>例：图表设计 Skill 会先判断要表达比例、流程、关系，还是视觉氛围。</a:t>
            </a:r>
          </a:p>
        </p:txBody>
      </p:sp>
    </p:spTree>
    <p:extLst>
      <p:ext uri="{BB962C8B-B14F-4D97-AF65-F5344CB8AC3E}">
        <p14:creationId xmlns:p14="http://schemas.microsoft.com/office/powerpoint/2010/main" val="64544115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61A8B2E6-93F7-46BA-A0A3-25E48456B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F8B7B"/>
                </a:solidFill>
              </a:defRPr>
            </a:pPr>
            <a:r>
              <a:rPr sz="1050" b="1">
                <a:solidFill>
                  <a:srgbClr val="FF8B7B"/>
                </a:solidFill>
              </a:rPr>
              <a:t>SCRIPT SKILL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331788A9-8AF1-4101-82A9-9A71E55B6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112A46"/>
                </a:solidFill>
              </a:defRPr>
            </a:pPr>
            <a:r>
              <a:rPr sz="2625" b="1">
                <a:solidFill>
                  <a:srgbClr val="112A46"/>
                </a:solidFill>
              </a:rPr>
              <a:t>脚本类：把重复步骤交给确定性的代码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56B0C81-4F1F-4535-8118-76C83B7AC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D7186"/>
                </a:solidFill>
              </a:defRPr>
            </a:pPr>
            <a:r>
              <a:rPr sz="1350" b="0">
                <a:solidFill>
                  <a:srgbClr val="5D7186"/>
                </a:solidFill>
              </a:rPr>
              <a:t>适合批量、计算、格式转换等“必须稳定”的工作，不依赖每次临场发挥。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1BD89612-CB69-4E55-BB20-8D839D2AC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椭圆 4">
            <a:extLst xmlns:a="http://schemas.openxmlformats.org/drawingml/2006/main">
              <a:ext uri="{FF2B5EF4-FFF2-40B4-BE49-F238E27FC236}">
                <a16:creationId xmlns:a16="http://schemas.microsoft.com/office/drawing/2014/main" id="{BE4D55C2-DC0C-4906-8A64-8BE6E4D2B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28875"/>
            <a:ext cx="1181100" cy="1181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E62E35A5-0F4E-4AEB-8D0C-6F18631F0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575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12A46"/>
                </a:solidFill>
              </a:defRPr>
            </a:pPr>
            <a:r>
              <a:rPr sz="1875" b="1">
                <a:solidFill>
                  <a:srgbClr val="112A46"/>
                </a:solidFill>
              </a:rPr>
              <a:t>读取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F2B30635-22D1-4F97-BA1E-558BF42A5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952875"/>
            <a:ext cx="190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D7186"/>
                </a:solidFill>
              </a:defRPr>
            </a:pPr>
            <a:r>
              <a:rPr sz="1200" b="0">
                <a:solidFill>
                  <a:srgbClr val="5D7186"/>
                </a:solidFill>
              </a:rPr>
              <a:t>从 CSV、Excel 取数</a:t>
            </a:r>
          </a:p>
        </p:txBody>
      </p:sp>
      <p:sp>
        <p:nvSpPr>
          <p:cNvPr id="8" name="右箭头 7">
            <a:extLst xmlns:a="http://schemas.openxmlformats.org/drawingml/2006/main">
              <a:ext uri="{FF2B5EF4-FFF2-40B4-BE49-F238E27FC236}">
                <a16:creationId xmlns:a16="http://schemas.microsoft.com/office/drawing/2014/main" id="{CEC26F67-402C-4927-85D8-0B8346A71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905125"/>
            <a:ext cx="3429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D8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椭圆 8">
            <a:extLst xmlns:a="http://schemas.openxmlformats.org/drawingml/2006/main">
              <a:ext uri="{FF2B5EF4-FFF2-40B4-BE49-F238E27FC236}">
                <a16:creationId xmlns:a16="http://schemas.microsoft.com/office/drawing/2014/main" id="{BF1C64D2-A572-4745-AAE7-28BE0D891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2428875"/>
            <a:ext cx="1181100" cy="1181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3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812F65F-76B5-413B-8B38-3F264111B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8575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12A46"/>
                </a:solidFill>
              </a:defRPr>
            </a:pPr>
            <a:r>
              <a:rPr sz="1875" b="1">
                <a:solidFill>
                  <a:srgbClr val="112A46"/>
                </a:solidFill>
              </a:rPr>
              <a:t>清洗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B03623F1-0500-4A17-83CD-EC9B8825B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952875"/>
            <a:ext cx="190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D7186"/>
                </a:solidFill>
              </a:defRPr>
            </a:pPr>
            <a:r>
              <a:rPr sz="1200" b="0">
                <a:solidFill>
                  <a:srgbClr val="5D7186"/>
                </a:solidFill>
              </a:rPr>
              <a:t>去重、整理字段</a:t>
            </a:r>
          </a:p>
        </p:txBody>
      </p:sp>
      <p:sp>
        <p:nvSpPr>
          <p:cNvPr id="12" name="右箭头 11">
            <a:extLst xmlns:a="http://schemas.openxmlformats.org/drawingml/2006/main">
              <a:ext uri="{FF2B5EF4-FFF2-40B4-BE49-F238E27FC236}">
                <a16:creationId xmlns:a16="http://schemas.microsoft.com/office/drawing/2014/main" id="{79EDC385-E963-4E1F-9CDA-78D8929BA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905125"/>
            <a:ext cx="3429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D8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椭圆 12">
            <a:extLst xmlns:a="http://schemas.openxmlformats.org/drawingml/2006/main">
              <a:ext uri="{FF2B5EF4-FFF2-40B4-BE49-F238E27FC236}">
                <a16:creationId xmlns:a16="http://schemas.microsoft.com/office/drawing/2014/main" id="{25DBC8B0-8A45-42BC-87FA-EF1743CBD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428875"/>
            <a:ext cx="1181100" cy="1181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C55EDE8C-6BCB-4BF1-9B06-AE725869F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8575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12A46"/>
                </a:solidFill>
              </a:defRPr>
            </a:pPr>
            <a:r>
              <a:rPr sz="1875" b="1">
                <a:solidFill>
                  <a:srgbClr val="112A46"/>
                </a:solidFill>
              </a:rPr>
              <a:t>计算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C7876336-CACA-4D01-B78B-CCB779A45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952875"/>
            <a:ext cx="190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D7186"/>
                </a:solidFill>
              </a:defRPr>
            </a:pPr>
            <a:r>
              <a:rPr sz="1200" b="0">
                <a:solidFill>
                  <a:srgbClr val="5D7186"/>
                </a:solidFill>
              </a:rPr>
              <a:t>算互动率与增长率</a:t>
            </a:r>
          </a:p>
        </p:txBody>
      </p:sp>
      <p:sp>
        <p:nvSpPr>
          <p:cNvPr id="16" name="右箭头 15">
            <a:extLst xmlns:a="http://schemas.openxmlformats.org/drawingml/2006/main">
              <a:ext uri="{FF2B5EF4-FFF2-40B4-BE49-F238E27FC236}">
                <a16:creationId xmlns:a16="http://schemas.microsoft.com/office/drawing/2014/main" id="{9B97BE89-747F-479F-AFC6-BFFE3F192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905125"/>
            <a:ext cx="3429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D8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椭圆 16">
            <a:extLst xmlns:a="http://schemas.openxmlformats.org/drawingml/2006/main">
              <a:ext uri="{FF2B5EF4-FFF2-40B4-BE49-F238E27FC236}">
                <a16:creationId xmlns:a16="http://schemas.microsoft.com/office/drawing/2014/main" id="{0DF2EDDA-08CD-4FC0-9F56-5873FAD39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2428875"/>
            <a:ext cx="1181100" cy="1181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EA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C40682C9-0942-473C-9E58-191433EA3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8575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12A46"/>
                </a:solidFill>
              </a:defRPr>
            </a:pPr>
            <a:r>
              <a:rPr sz="1875" b="1">
                <a:solidFill>
                  <a:srgbClr val="112A46"/>
                </a:solidFill>
              </a:rPr>
              <a:t>生成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D7B381B7-B5BB-4C52-8FA5-775617F4A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952875"/>
            <a:ext cx="190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D7186"/>
                </a:solidFill>
              </a:defRPr>
            </a:pPr>
            <a:r>
              <a:rPr sz="1200" b="0">
                <a:solidFill>
                  <a:srgbClr val="5D7186"/>
                </a:solidFill>
              </a:rPr>
              <a:t>生成 SVG、图表或文件</a:t>
            </a:r>
          </a:p>
        </p:txBody>
      </p:sp>
      <p:sp>
        <p:nvSpPr>
          <p:cNvPr id="20" name="右箭头 19">
            <a:extLst xmlns:a="http://schemas.openxmlformats.org/drawingml/2006/main">
              <a:ext uri="{FF2B5EF4-FFF2-40B4-BE49-F238E27FC236}">
                <a16:creationId xmlns:a16="http://schemas.microsoft.com/office/drawing/2014/main" id="{2999F743-183D-46EA-B0D6-FE09E2CE4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905125"/>
            <a:ext cx="3429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D8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椭圆 20">
            <a:extLst xmlns:a="http://schemas.openxmlformats.org/drawingml/2006/main">
              <a:ext uri="{FF2B5EF4-FFF2-40B4-BE49-F238E27FC236}">
                <a16:creationId xmlns:a16="http://schemas.microsoft.com/office/drawing/2014/main" id="{0B419EBA-F671-4D3D-A671-5AB3E77C8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428875"/>
            <a:ext cx="1181100" cy="1181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035035AE-4DE9-46E9-8185-93F81E68E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8575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12A46"/>
                </a:solidFill>
              </a:defRPr>
            </a:pPr>
            <a:r>
              <a:rPr sz="1875" b="1">
                <a:solidFill>
                  <a:srgbClr val="112A46"/>
                </a:solidFill>
              </a:rPr>
              <a:t>导出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811C3FAA-6EB2-433C-9059-34264B31F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952875"/>
            <a:ext cx="190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D7186"/>
                </a:solidFill>
              </a:defRPr>
            </a:pPr>
            <a:r>
              <a:rPr sz="1200" b="0">
                <a:solidFill>
                  <a:srgbClr val="5D7186"/>
                </a:solidFill>
              </a:rPr>
              <a:t>PPT、图片或表格交付</a:t>
            </a:r>
          </a:p>
        </p:txBody>
      </p:sp>
      <p:sp>
        <p:nvSpPr>
          <p:cNvPr id="24" name="圆角矩形 23">
            <a:extLst xmlns:a="http://schemas.openxmlformats.org/drawingml/2006/main">
              <a:ext uri="{FF2B5EF4-FFF2-40B4-BE49-F238E27FC236}">
                <a16:creationId xmlns:a16="http://schemas.microsoft.com/office/drawing/2014/main" id="{4FE6355C-B6E8-4A35-BB6D-CB74EBEB7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1082040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EAEE0D33-7EFE-45C0-98AC-BD3915F01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505450"/>
            <a:ext cx="971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12A46"/>
                </a:solidFill>
              </a:defRPr>
            </a:pPr>
            <a:r>
              <a:rPr sz="1575" b="1">
                <a:solidFill>
                  <a:srgbClr val="112A46"/>
                </a:solidFill>
              </a:rPr>
              <a:t>例：社媒周报先由脚本清洗数据，再交给 Agent 解读原因和建议。</a:t>
            </a:r>
          </a:p>
        </p:txBody>
      </p:sp>
    </p:spTree>
    <p:extLst>
      <p:ext uri="{BB962C8B-B14F-4D97-AF65-F5344CB8AC3E}">
        <p14:creationId xmlns:p14="http://schemas.microsoft.com/office/powerpoint/2010/main" val="64544115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61A8B2E6-93F7-46BA-A0A3-25E48456B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F8B7B"/>
                </a:solidFill>
              </a:defRPr>
            </a:pPr>
            <a:r>
              <a:rPr sz="1050" b="1">
                <a:solidFill>
                  <a:srgbClr val="FF8B7B"/>
                </a:solidFill>
              </a:rPr>
              <a:t>CONNECTOR SKILL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331788A9-8AF1-4101-82A9-9A71E55B6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112A46"/>
                </a:solidFill>
              </a:defRPr>
            </a:pPr>
            <a:r>
              <a:rPr sz="2625" b="1">
                <a:solidFill>
                  <a:srgbClr val="112A46"/>
                </a:solidFill>
              </a:rPr>
              <a:t>连接器类：让 Agent 接进真实平台与账号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56B0C81-4F1F-4535-8118-76C83B7AC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D7186"/>
                </a:solidFill>
              </a:defRPr>
            </a:pPr>
            <a:r>
              <a:rPr sz="1350" b="0">
                <a:solidFill>
                  <a:srgbClr val="5D7186"/>
                </a:solidFill>
              </a:rPr>
              <a:t>连接器或 MCP 提供“工具箱”；Skill 说明什么任务该调用它，以及怎样安全使用。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1BD89612-CB69-4E55-BB20-8D839D2AC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椭圆 4">
            <a:extLst xmlns:a="http://schemas.openxmlformats.org/drawingml/2006/main">
              <a:ext uri="{FF2B5EF4-FFF2-40B4-BE49-F238E27FC236}">
                <a16:creationId xmlns:a16="http://schemas.microsoft.com/office/drawing/2014/main" id="{BE4D55C2-DC0C-4906-8A64-8BE6E4D2B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28875"/>
            <a:ext cx="1181100" cy="1181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E62E35A5-0F4E-4AEB-8D0C-6F18631F0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575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12A46"/>
                </a:solidFill>
              </a:defRPr>
            </a:pPr>
            <a:r>
              <a:rPr sz="1875" b="1">
                <a:solidFill>
                  <a:srgbClr val="112A46"/>
                </a:solidFill>
              </a:rPr>
              <a:t>登录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F2B30635-22D1-4F97-BA1E-558BF42A5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952875"/>
            <a:ext cx="190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D7186"/>
                </a:solidFill>
              </a:defRPr>
            </a:pPr>
            <a:r>
              <a:rPr sz="1200" b="0">
                <a:solidFill>
                  <a:srgbClr val="5D7186"/>
                </a:solidFill>
              </a:rPr>
              <a:t>验证授权与账号状态</a:t>
            </a:r>
          </a:p>
        </p:txBody>
      </p:sp>
      <p:sp>
        <p:nvSpPr>
          <p:cNvPr id="8" name="右箭头 7">
            <a:extLst xmlns:a="http://schemas.openxmlformats.org/drawingml/2006/main">
              <a:ext uri="{FF2B5EF4-FFF2-40B4-BE49-F238E27FC236}">
                <a16:creationId xmlns:a16="http://schemas.microsoft.com/office/drawing/2014/main" id="{CEC26F67-402C-4927-85D8-0B8346A71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905125"/>
            <a:ext cx="3429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D8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椭圆 8">
            <a:extLst xmlns:a="http://schemas.openxmlformats.org/drawingml/2006/main">
              <a:ext uri="{FF2B5EF4-FFF2-40B4-BE49-F238E27FC236}">
                <a16:creationId xmlns:a16="http://schemas.microsoft.com/office/drawing/2014/main" id="{BF1C64D2-A572-4745-AAE7-28BE0D891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2428875"/>
            <a:ext cx="1181100" cy="1181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3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812F65F-76B5-413B-8B38-3F264111B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8575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12A46"/>
                </a:solidFill>
              </a:defRPr>
            </a:pPr>
            <a:r>
              <a:rPr sz="1875" b="1">
                <a:solidFill>
                  <a:srgbClr val="112A46"/>
                </a:solidFill>
              </a:rPr>
              <a:t>搜索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B03623F1-0500-4A17-83CD-EC9B8825B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952875"/>
            <a:ext cx="190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D7186"/>
                </a:solidFill>
              </a:defRPr>
            </a:pPr>
            <a:r>
              <a:rPr sz="1200" b="0">
                <a:solidFill>
                  <a:srgbClr val="5D7186"/>
                </a:solidFill>
              </a:rPr>
              <a:t>按关键词找内容</a:t>
            </a:r>
          </a:p>
        </p:txBody>
      </p:sp>
      <p:sp>
        <p:nvSpPr>
          <p:cNvPr id="12" name="右箭头 11">
            <a:extLst xmlns:a="http://schemas.openxmlformats.org/drawingml/2006/main">
              <a:ext uri="{FF2B5EF4-FFF2-40B4-BE49-F238E27FC236}">
                <a16:creationId xmlns:a16="http://schemas.microsoft.com/office/drawing/2014/main" id="{79EDC385-E963-4E1F-9CDA-78D8929BA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905125"/>
            <a:ext cx="3429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D8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椭圆 12">
            <a:extLst xmlns:a="http://schemas.openxmlformats.org/drawingml/2006/main">
              <a:ext uri="{FF2B5EF4-FFF2-40B4-BE49-F238E27FC236}">
                <a16:creationId xmlns:a16="http://schemas.microsoft.com/office/drawing/2014/main" id="{25DBC8B0-8A45-42BC-87FA-EF1743CBD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428875"/>
            <a:ext cx="1181100" cy="1181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C55EDE8C-6BCB-4BF1-9B06-AE725869F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8575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12A46"/>
                </a:solidFill>
              </a:defRPr>
            </a:pPr>
            <a:r>
              <a:rPr sz="1875" b="1">
                <a:solidFill>
                  <a:srgbClr val="112A46"/>
                </a:solidFill>
              </a:rPr>
              <a:t>浏览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C7876336-CACA-4D01-B78B-CCB779A45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952875"/>
            <a:ext cx="190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D7186"/>
                </a:solidFill>
              </a:defRPr>
            </a:pPr>
            <a:r>
              <a:rPr sz="1200" b="0">
                <a:solidFill>
                  <a:srgbClr val="5D7186"/>
                </a:solidFill>
              </a:rPr>
              <a:t>读取笔记、视频与账号</a:t>
            </a:r>
          </a:p>
        </p:txBody>
      </p:sp>
      <p:sp>
        <p:nvSpPr>
          <p:cNvPr id="16" name="右箭头 15">
            <a:extLst xmlns:a="http://schemas.openxmlformats.org/drawingml/2006/main">
              <a:ext uri="{FF2B5EF4-FFF2-40B4-BE49-F238E27FC236}">
                <a16:creationId xmlns:a16="http://schemas.microsoft.com/office/drawing/2014/main" id="{9B97BE89-747F-479F-AFC6-BFFE3F192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905125"/>
            <a:ext cx="3429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D8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椭圆 16">
            <a:extLst xmlns:a="http://schemas.openxmlformats.org/drawingml/2006/main">
              <a:ext uri="{FF2B5EF4-FFF2-40B4-BE49-F238E27FC236}">
                <a16:creationId xmlns:a16="http://schemas.microsoft.com/office/drawing/2014/main" id="{0DF2EDDA-08CD-4FC0-9F56-5873FAD39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2428875"/>
            <a:ext cx="1181100" cy="1181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EA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C40682C9-0942-473C-9E58-191433EA3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8575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12A46"/>
                </a:solidFill>
              </a:defRPr>
            </a:pPr>
            <a:r>
              <a:rPr sz="1875" b="1">
                <a:solidFill>
                  <a:srgbClr val="112A46"/>
                </a:solidFill>
              </a:rPr>
              <a:t>评论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D7B381B7-B5BB-4C52-8FA5-775617F4A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952875"/>
            <a:ext cx="190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D7186"/>
                </a:solidFill>
              </a:defRPr>
            </a:pPr>
            <a:r>
              <a:rPr sz="1200" b="0">
                <a:solidFill>
                  <a:srgbClr val="5D7186"/>
                </a:solidFill>
              </a:rPr>
              <a:t>预览、筛选与分析</a:t>
            </a:r>
          </a:p>
        </p:txBody>
      </p:sp>
      <p:sp>
        <p:nvSpPr>
          <p:cNvPr id="20" name="右箭头 19">
            <a:extLst xmlns:a="http://schemas.openxmlformats.org/drawingml/2006/main">
              <a:ext uri="{FF2B5EF4-FFF2-40B4-BE49-F238E27FC236}">
                <a16:creationId xmlns:a16="http://schemas.microsoft.com/office/drawing/2014/main" id="{2999F743-183D-46EA-B0D6-FE09E2CE4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905125"/>
            <a:ext cx="3429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D8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椭圆 20">
            <a:extLst xmlns:a="http://schemas.openxmlformats.org/drawingml/2006/main">
              <a:ext uri="{FF2B5EF4-FFF2-40B4-BE49-F238E27FC236}">
                <a16:creationId xmlns:a16="http://schemas.microsoft.com/office/drawing/2014/main" id="{0B419EBA-F671-4D3D-A671-5AB3E77C8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428875"/>
            <a:ext cx="1181100" cy="1181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035035AE-4DE9-46E9-8185-93F81E68E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8575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12A46"/>
                </a:solidFill>
              </a:defRPr>
            </a:pPr>
            <a:r>
              <a:rPr sz="1875" b="1">
                <a:solidFill>
                  <a:srgbClr val="112A46"/>
                </a:solidFill>
              </a:rPr>
              <a:t>发布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811C3FAA-6EB2-433C-9059-34264B31F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952875"/>
            <a:ext cx="190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D7186"/>
                </a:solidFill>
              </a:defRPr>
            </a:pPr>
            <a:r>
              <a:rPr sz="1200" b="0">
                <a:solidFill>
                  <a:srgbClr val="5D7186"/>
                </a:solidFill>
              </a:rPr>
              <a:t>审核后发送内容</a:t>
            </a:r>
          </a:p>
        </p:txBody>
      </p:sp>
      <p:sp>
        <p:nvSpPr>
          <p:cNvPr id="24" name="圆角矩形 23">
            <a:extLst xmlns:a="http://schemas.openxmlformats.org/drawingml/2006/main">
              <a:ext uri="{FF2B5EF4-FFF2-40B4-BE49-F238E27FC236}">
                <a16:creationId xmlns:a16="http://schemas.microsoft.com/office/drawing/2014/main" id="{4FE6355C-B6E8-4A35-BB6D-CB74EBEB7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1082040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EAEE0D33-7EFE-45C0-98AC-BD3915F01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505450"/>
            <a:ext cx="971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12A46"/>
                </a:solidFill>
              </a:defRPr>
            </a:pPr>
            <a:r>
              <a:rPr sz="1575" b="1">
                <a:solidFill>
                  <a:srgbClr val="112A46"/>
                </a:solidFill>
              </a:rPr>
              <a:t>小红书场景：可搜索、浏览、预览评论与发布；先确认授权范围和平台规则。</a:t>
            </a:r>
          </a:p>
        </p:txBody>
      </p:sp>
    </p:spTree>
    <p:extLst>
      <p:ext uri="{BB962C8B-B14F-4D97-AF65-F5344CB8AC3E}">
        <p14:creationId xmlns:p14="http://schemas.microsoft.com/office/powerpoint/2010/main" val="64544115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61A8B2E6-93F7-46BA-A0A3-25E48456B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F8B7B"/>
                </a:solidFill>
              </a:defRPr>
            </a:pPr>
            <a:r>
              <a:rPr sz="1050" b="1">
                <a:solidFill>
                  <a:srgbClr val="FF8B7B"/>
                </a:solidFill>
              </a:rPr>
              <a:t>ORCHESTRATION SKILL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331788A9-8AF1-4101-82A9-9A71E55B6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112A46"/>
                </a:solidFill>
              </a:defRPr>
            </a:pPr>
            <a:r>
              <a:rPr sz="2625" b="1">
                <a:solidFill>
                  <a:srgbClr val="112A46"/>
                </a:solidFill>
              </a:rPr>
              <a:t>工具编排类：让多个能力按顺序协作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56B0C81-4F1F-4535-8118-76C83B7AC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D7186"/>
                </a:solidFill>
              </a:defRPr>
            </a:pPr>
            <a:r>
              <a:rPr sz="1350" b="0">
                <a:solidFill>
                  <a:srgbClr val="5D7186"/>
                </a:solidFill>
              </a:rPr>
              <a:t>它不只调用一个工具，而是把检索、分析、生成和交付串成完整任务链。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1BD89612-CB69-4E55-BB20-8D839D2AC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椭圆 4">
            <a:extLst xmlns:a="http://schemas.openxmlformats.org/drawingml/2006/main">
              <a:ext uri="{FF2B5EF4-FFF2-40B4-BE49-F238E27FC236}">
                <a16:creationId xmlns:a16="http://schemas.microsoft.com/office/drawing/2014/main" id="{BE4D55C2-DC0C-4906-8A64-8BE6E4D2B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28875"/>
            <a:ext cx="1181100" cy="1181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E62E35A5-0F4E-4AEB-8D0C-6F18631F0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575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12A46"/>
                </a:solidFill>
              </a:defRPr>
            </a:pPr>
            <a:r>
              <a:rPr sz="1875" b="1">
                <a:solidFill>
                  <a:srgbClr val="112A46"/>
                </a:solidFill>
              </a:rPr>
              <a:t>识别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F2B30635-22D1-4F97-BA1E-558BF42A5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952875"/>
            <a:ext cx="190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D7186"/>
                </a:solidFill>
              </a:defRPr>
            </a:pPr>
            <a:r>
              <a:rPr sz="1200" b="0">
                <a:solidFill>
                  <a:srgbClr val="5D7186"/>
                </a:solidFill>
              </a:rPr>
              <a:t>判断任务要什么</a:t>
            </a:r>
          </a:p>
        </p:txBody>
      </p:sp>
      <p:sp>
        <p:nvSpPr>
          <p:cNvPr id="8" name="右箭头 7">
            <a:extLst xmlns:a="http://schemas.openxmlformats.org/drawingml/2006/main">
              <a:ext uri="{FF2B5EF4-FFF2-40B4-BE49-F238E27FC236}">
                <a16:creationId xmlns:a16="http://schemas.microsoft.com/office/drawing/2014/main" id="{CEC26F67-402C-4927-85D8-0B8346A71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905125"/>
            <a:ext cx="3429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D8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椭圆 8">
            <a:extLst xmlns:a="http://schemas.openxmlformats.org/drawingml/2006/main">
              <a:ext uri="{FF2B5EF4-FFF2-40B4-BE49-F238E27FC236}">
                <a16:creationId xmlns:a16="http://schemas.microsoft.com/office/drawing/2014/main" id="{BF1C64D2-A572-4745-AAE7-28BE0D891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2428875"/>
            <a:ext cx="1181100" cy="1181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3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812F65F-76B5-413B-8B38-3F264111B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8575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12A46"/>
                </a:solidFill>
              </a:defRPr>
            </a:pPr>
            <a:r>
              <a:rPr sz="1875" b="1">
                <a:solidFill>
                  <a:srgbClr val="112A46"/>
                </a:solidFill>
              </a:rPr>
              <a:t>选择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B03623F1-0500-4A17-83CD-EC9B8825B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952875"/>
            <a:ext cx="190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D7186"/>
                </a:solidFill>
              </a:defRPr>
            </a:pPr>
            <a:r>
              <a:rPr sz="1200" b="0">
                <a:solidFill>
                  <a:srgbClr val="5D7186"/>
                </a:solidFill>
              </a:rPr>
              <a:t>选合适 Skill 与工具</a:t>
            </a:r>
          </a:p>
        </p:txBody>
      </p:sp>
      <p:sp>
        <p:nvSpPr>
          <p:cNvPr id="12" name="右箭头 11">
            <a:extLst xmlns:a="http://schemas.openxmlformats.org/drawingml/2006/main">
              <a:ext uri="{FF2B5EF4-FFF2-40B4-BE49-F238E27FC236}">
                <a16:creationId xmlns:a16="http://schemas.microsoft.com/office/drawing/2014/main" id="{79EDC385-E963-4E1F-9CDA-78D8929BA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905125"/>
            <a:ext cx="3429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D8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椭圆 12">
            <a:extLst xmlns:a="http://schemas.openxmlformats.org/drawingml/2006/main">
              <a:ext uri="{FF2B5EF4-FFF2-40B4-BE49-F238E27FC236}">
                <a16:creationId xmlns:a16="http://schemas.microsoft.com/office/drawing/2014/main" id="{25DBC8B0-8A45-42BC-87FA-EF1743CBD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428875"/>
            <a:ext cx="1181100" cy="1181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C55EDE8C-6BCB-4BF1-9B06-AE725869F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8575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12A46"/>
                </a:solidFill>
              </a:defRPr>
            </a:pPr>
            <a:r>
              <a:rPr sz="1875" b="1">
                <a:solidFill>
                  <a:srgbClr val="112A46"/>
                </a:solidFill>
              </a:rPr>
              <a:t>调用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C7876336-CACA-4D01-B78B-CCB779A45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952875"/>
            <a:ext cx="190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D7186"/>
                </a:solidFill>
              </a:defRPr>
            </a:pPr>
            <a:r>
              <a:rPr sz="1200" b="0">
                <a:solidFill>
                  <a:srgbClr val="5D7186"/>
                </a:solidFill>
              </a:rPr>
              <a:t>按步骤执行动作</a:t>
            </a:r>
          </a:p>
        </p:txBody>
      </p:sp>
      <p:sp>
        <p:nvSpPr>
          <p:cNvPr id="16" name="右箭头 15">
            <a:extLst xmlns:a="http://schemas.openxmlformats.org/drawingml/2006/main">
              <a:ext uri="{FF2B5EF4-FFF2-40B4-BE49-F238E27FC236}">
                <a16:creationId xmlns:a16="http://schemas.microsoft.com/office/drawing/2014/main" id="{9B97BE89-747F-479F-AFC6-BFFE3F192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905125"/>
            <a:ext cx="3429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D8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椭圆 16">
            <a:extLst xmlns:a="http://schemas.openxmlformats.org/drawingml/2006/main">
              <a:ext uri="{FF2B5EF4-FFF2-40B4-BE49-F238E27FC236}">
                <a16:creationId xmlns:a16="http://schemas.microsoft.com/office/drawing/2014/main" id="{0DF2EDDA-08CD-4FC0-9F56-5873FAD39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2428875"/>
            <a:ext cx="1181100" cy="1181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EA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C40682C9-0942-473C-9E58-191433EA3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8575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12A46"/>
                </a:solidFill>
              </a:defRPr>
            </a:pPr>
            <a:r>
              <a:rPr sz="1875" b="1">
                <a:solidFill>
                  <a:srgbClr val="112A46"/>
                </a:solidFill>
              </a:rPr>
              <a:t>汇总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D7B381B7-B5BB-4C52-8FA5-775617F4A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952875"/>
            <a:ext cx="190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D7186"/>
                </a:solidFill>
              </a:defRPr>
            </a:pPr>
            <a:r>
              <a:rPr sz="1200" b="0">
                <a:solidFill>
                  <a:srgbClr val="5D7186"/>
                </a:solidFill>
              </a:rPr>
              <a:t>去重、比对与归类</a:t>
            </a:r>
          </a:p>
        </p:txBody>
      </p:sp>
      <p:sp>
        <p:nvSpPr>
          <p:cNvPr id="20" name="右箭头 19">
            <a:extLst xmlns:a="http://schemas.openxmlformats.org/drawingml/2006/main">
              <a:ext uri="{FF2B5EF4-FFF2-40B4-BE49-F238E27FC236}">
                <a16:creationId xmlns:a16="http://schemas.microsoft.com/office/drawing/2014/main" id="{2999F743-183D-46EA-B0D6-FE09E2CE4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905125"/>
            <a:ext cx="3429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D8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椭圆 20">
            <a:extLst xmlns:a="http://schemas.openxmlformats.org/drawingml/2006/main">
              <a:ext uri="{FF2B5EF4-FFF2-40B4-BE49-F238E27FC236}">
                <a16:creationId xmlns:a16="http://schemas.microsoft.com/office/drawing/2014/main" id="{0B419EBA-F671-4D3D-A671-5AB3E77C8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428875"/>
            <a:ext cx="1181100" cy="1181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035035AE-4DE9-46E9-8185-93F81E68E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8575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12A46"/>
                </a:solidFill>
              </a:defRPr>
            </a:pPr>
            <a:r>
              <a:rPr sz="1875" b="1">
                <a:solidFill>
                  <a:srgbClr val="112A46"/>
                </a:solidFill>
              </a:rPr>
              <a:t>交付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811C3FAA-6EB2-433C-9059-34264B31F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952875"/>
            <a:ext cx="190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D7186"/>
                </a:solidFill>
              </a:defRPr>
            </a:pPr>
            <a:r>
              <a:rPr sz="1200" b="0">
                <a:solidFill>
                  <a:srgbClr val="5D7186"/>
                </a:solidFill>
              </a:rPr>
              <a:t>形成报告、图表或草稿</a:t>
            </a:r>
          </a:p>
        </p:txBody>
      </p:sp>
      <p:sp>
        <p:nvSpPr>
          <p:cNvPr id="24" name="圆角矩形 23">
            <a:extLst xmlns:a="http://schemas.openxmlformats.org/drawingml/2006/main">
              <a:ext uri="{FF2B5EF4-FFF2-40B4-BE49-F238E27FC236}">
                <a16:creationId xmlns:a16="http://schemas.microsoft.com/office/drawing/2014/main" id="{4FE6355C-B6E8-4A35-BB6D-CB74EBEB7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1082040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EAEE0D33-7EFE-45C0-98AC-BD3915F01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505450"/>
            <a:ext cx="971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12A46"/>
                </a:solidFill>
              </a:defRPr>
            </a:pPr>
            <a:r>
              <a:rPr sz="1575" b="1">
                <a:solidFill>
                  <a:srgbClr val="112A46"/>
                </a:solidFill>
              </a:rPr>
              <a:t>例：社媒调研 = 搜内容 → 抓指标 → 聚类评论 → 生成圆形信息图。</a:t>
            </a:r>
          </a:p>
        </p:txBody>
      </p:sp>
    </p:spTree>
    <p:extLst>
      <p:ext uri="{BB962C8B-B14F-4D97-AF65-F5344CB8AC3E}">
        <p14:creationId xmlns:p14="http://schemas.microsoft.com/office/powerpoint/2010/main" val="64544115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61A8B2E6-93F7-46BA-A0A3-25E48456B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F8B7B"/>
                </a:solidFill>
              </a:defRPr>
            </a:pPr>
            <a:r>
              <a:rPr sz="1050" b="1">
                <a:solidFill>
                  <a:srgbClr val="FF8B7B"/>
                </a:solidFill>
              </a:rPr>
              <a:t>EVALUATION &amp; SAFETY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331788A9-8AF1-4101-82A9-9A71E55B6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112A46"/>
                </a:solidFill>
              </a:defRPr>
            </a:pPr>
            <a:r>
              <a:rPr sz="2625" b="1">
                <a:solidFill>
                  <a:srgbClr val="112A46"/>
                </a:solidFill>
              </a:rPr>
              <a:t>评测与安全类：保证结果可信、权限可控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56B0C81-4F1F-4535-8118-76C83B7AC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D7186"/>
                </a:solidFill>
              </a:defRPr>
            </a:pPr>
            <a:r>
              <a:rPr sz="1350" b="0">
                <a:solidFill>
                  <a:srgbClr val="5D7186"/>
                </a:solidFill>
              </a:rPr>
              <a:t>把“做完”变成“可交付”：检查来源、格式、事实、权限和复盘记录。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1BD89612-CB69-4E55-BB20-8D839D2AC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椭圆 4">
            <a:extLst xmlns:a="http://schemas.openxmlformats.org/drawingml/2006/main">
              <a:ext uri="{FF2B5EF4-FFF2-40B4-BE49-F238E27FC236}">
                <a16:creationId xmlns:a16="http://schemas.microsoft.com/office/drawing/2014/main" id="{BE4D55C2-DC0C-4906-8A64-8BE6E4D2B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28875"/>
            <a:ext cx="1181100" cy="1181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E62E35A5-0F4E-4AEB-8D0C-6F18631F0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575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12A46"/>
                </a:solidFill>
              </a:defRPr>
            </a:pPr>
            <a:r>
              <a:rPr sz="1875" b="1">
                <a:solidFill>
                  <a:srgbClr val="112A46"/>
                </a:solidFill>
              </a:rPr>
              <a:t>来源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F2B30635-22D1-4F97-BA1E-558BF42A5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952875"/>
            <a:ext cx="190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D7186"/>
                </a:solidFill>
              </a:defRPr>
            </a:pPr>
            <a:r>
              <a:rPr sz="1200" b="0">
                <a:solidFill>
                  <a:srgbClr val="5D7186"/>
                </a:solidFill>
              </a:rPr>
              <a:t>标注数据与链接</a:t>
            </a:r>
          </a:p>
        </p:txBody>
      </p:sp>
      <p:sp>
        <p:nvSpPr>
          <p:cNvPr id="8" name="右箭头 7">
            <a:extLst xmlns:a="http://schemas.openxmlformats.org/drawingml/2006/main">
              <a:ext uri="{FF2B5EF4-FFF2-40B4-BE49-F238E27FC236}">
                <a16:creationId xmlns:a16="http://schemas.microsoft.com/office/drawing/2014/main" id="{CEC26F67-402C-4927-85D8-0B8346A71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905125"/>
            <a:ext cx="3429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D8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椭圆 8">
            <a:extLst xmlns:a="http://schemas.openxmlformats.org/drawingml/2006/main">
              <a:ext uri="{FF2B5EF4-FFF2-40B4-BE49-F238E27FC236}">
                <a16:creationId xmlns:a16="http://schemas.microsoft.com/office/drawing/2014/main" id="{BF1C64D2-A572-4745-AAE7-28BE0D891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2428875"/>
            <a:ext cx="1181100" cy="1181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3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812F65F-76B5-413B-8B38-3F264111B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8575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12A46"/>
                </a:solidFill>
              </a:defRPr>
            </a:pPr>
            <a:r>
              <a:rPr sz="1875" b="1">
                <a:solidFill>
                  <a:srgbClr val="112A46"/>
                </a:solidFill>
              </a:rPr>
              <a:t>权限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B03623F1-0500-4A17-83CD-EC9B8825B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952875"/>
            <a:ext cx="190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D7186"/>
                </a:solidFill>
              </a:defRPr>
            </a:pPr>
            <a:r>
              <a:rPr sz="1200" b="0">
                <a:solidFill>
                  <a:srgbClr val="5D7186"/>
                </a:solidFill>
              </a:rPr>
              <a:t>最小权限、必要授权</a:t>
            </a:r>
          </a:p>
        </p:txBody>
      </p:sp>
      <p:sp>
        <p:nvSpPr>
          <p:cNvPr id="12" name="右箭头 11">
            <a:extLst xmlns:a="http://schemas.openxmlformats.org/drawingml/2006/main">
              <a:ext uri="{FF2B5EF4-FFF2-40B4-BE49-F238E27FC236}">
                <a16:creationId xmlns:a16="http://schemas.microsoft.com/office/drawing/2014/main" id="{79EDC385-E963-4E1F-9CDA-78D8929BA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905125"/>
            <a:ext cx="3429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D8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椭圆 12">
            <a:extLst xmlns:a="http://schemas.openxmlformats.org/drawingml/2006/main">
              <a:ext uri="{FF2B5EF4-FFF2-40B4-BE49-F238E27FC236}">
                <a16:creationId xmlns:a16="http://schemas.microsoft.com/office/drawing/2014/main" id="{25DBC8B0-8A45-42BC-87FA-EF1743CBD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428875"/>
            <a:ext cx="1181100" cy="1181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C55EDE8C-6BCB-4BF1-9B06-AE725869F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8575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12A46"/>
                </a:solidFill>
              </a:defRPr>
            </a:pPr>
            <a:r>
              <a:rPr sz="1875" b="1">
                <a:solidFill>
                  <a:srgbClr val="112A46"/>
                </a:solidFill>
              </a:rPr>
              <a:t>格式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C7876336-CACA-4D01-B78B-CCB779A45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952875"/>
            <a:ext cx="190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D7186"/>
                </a:solidFill>
              </a:defRPr>
            </a:pPr>
            <a:r>
              <a:rPr sz="1200" b="0">
                <a:solidFill>
                  <a:srgbClr val="5D7186"/>
                </a:solidFill>
              </a:rPr>
              <a:t>符合模板与字段</a:t>
            </a:r>
          </a:p>
        </p:txBody>
      </p:sp>
      <p:sp>
        <p:nvSpPr>
          <p:cNvPr id="16" name="右箭头 15">
            <a:extLst xmlns:a="http://schemas.openxmlformats.org/drawingml/2006/main">
              <a:ext uri="{FF2B5EF4-FFF2-40B4-BE49-F238E27FC236}">
                <a16:creationId xmlns:a16="http://schemas.microsoft.com/office/drawing/2014/main" id="{9B97BE89-747F-479F-AFC6-BFFE3F192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905125"/>
            <a:ext cx="3429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D8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椭圆 16">
            <a:extLst xmlns:a="http://schemas.openxmlformats.org/drawingml/2006/main">
              <a:ext uri="{FF2B5EF4-FFF2-40B4-BE49-F238E27FC236}">
                <a16:creationId xmlns:a16="http://schemas.microsoft.com/office/drawing/2014/main" id="{0DF2EDDA-08CD-4FC0-9F56-5873FAD39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2428875"/>
            <a:ext cx="1181100" cy="1181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EA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C40682C9-0942-473C-9E58-191433EA3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8575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12A46"/>
                </a:solidFill>
              </a:defRPr>
            </a:pPr>
            <a:r>
              <a:rPr sz="1875" b="1">
                <a:solidFill>
                  <a:srgbClr val="112A46"/>
                </a:solidFill>
              </a:rPr>
              <a:t>事实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D7B381B7-B5BB-4C52-8FA5-775617F4A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952875"/>
            <a:ext cx="190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D7186"/>
                </a:solidFill>
              </a:defRPr>
            </a:pPr>
            <a:r>
              <a:rPr sz="1200" b="0">
                <a:solidFill>
                  <a:srgbClr val="5D7186"/>
                </a:solidFill>
              </a:rPr>
              <a:t>不把推断当事实</a:t>
            </a:r>
          </a:p>
        </p:txBody>
      </p:sp>
      <p:sp>
        <p:nvSpPr>
          <p:cNvPr id="20" name="右箭头 19">
            <a:extLst xmlns:a="http://schemas.openxmlformats.org/drawingml/2006/main">
              <a:ext uri="{FF2B5EF4-FFF2-40B4-BE49-F238E27FC236}">
                <a16:creationId xmlns:a16="http://schemas.microsoft.com/office/drawing/2014/main" id="{2999F743-183D-46EA-B0D6-FE09E2CE4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905125"/>
            <a:ext cx="3429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D8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椭圆 20">
            <a:extLst xmlns:a="http://schemas.openxmlformats.org/drawingml/2006/main">
              <a:ext uri="{FF2B5EF4-FFF2-40B4-BE49-F238E27FC236}">
                <a16:creationId xmlns:a16="http://schemas.microsoft.com/office/drawing/2014/main" id="{0B419EBA-F671-4D3D-A671-5AB3E77C8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428875"/>
            <a:ext cx="1181100" cy="1181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035035AE-4DE9-46E9-8185-93F81E68E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8575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12A46"/>
                </a:solidFill>
              </a:defRPr>
            </a:pPr>
            <a:r>
              <a:rPr sz="1875" b="1">
                <a:solidFill>
                  <a:srgbClr val="112A46"/>
                </a:solidFill>
              </a:rPr>
              <a:t>复盘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811C3FAA-6EB2-433C-9059-34264B31F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952875"/>
            <a:ext cx="190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D7186"/>
                </a:solidFill>
              </a:defRPr>
            </a:pPr>
            <a:r>
              <a:rPr sz="1200" b="0">
                <a:solidFill>
                  <a:srgbClr val="5D7186"/>
                </a:solidFill>
              </a:rPr>
              <a:t>记录问题，更新流程</a:t>
            </a:r>
          </a:p>
        </p:txBody>
      </p:sp>
      <p:sp>
        <p:nvSpPr>
          <p:cNvPr id="24" name="圆角矩形 23">
            <a:extLst xmlns:a="http://schemas.openxmlformats.org/drawingml/2006/main">
              <a:ext uri="{FF2B5EF4-FFF2-40B4-BE49-F238E27FC236}">
                <a16:creationId xmlns:a16="http://schemas.microsoft.com/office/drawing/2014/main" id="{4FE6355C-B6E8-4A35-BB6D-CB74EBEB7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1082040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EAEE0D33-7EFE-45C0-98AC-BD3915F01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505450"/>
            <a:ext cx="971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12A46"/>
                </a:solidFill>
              </a:defRPr>
            </a:pPr>
            <a:r>
              <a:rPr sz="1575" b="1">
                <a:solidFill>
                  <a:srgbClr val="112A46"/>
                </a:solidFill>
              </a:rPr>
              <a:t>高价值输出要能回答：数据从哪里来？是否授权？结论能否复核？</a:t>
            </a:r>
          </a:p>
        </p:txBody>
      </p:sp>
    </p:spTree>
    <p:extLst>
      <p:ext uri="{BB962C8B-B14F-4D97-AF65-F5344CB8AC3E}">
        <p14:creationId xmlns:p14="http://schemas.microsoft.com/office/powerpoint/2010/main" val="64544115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9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6EEB4A57-DBEA-48E3-A9F2-0120127F4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F8B7B"/>
                </a:solidFill>
              </a:defRPr>
            </a:pPr>
            <a:r>
              <a:rPr sz="1050" b="1">
                <a:solidFill>
                  <a:srgbClr val="FF8B7B"/>
                </a:solidFill>
              </a:rPr>
              <a:t>WORK TOGETHER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3577295B-B4FA-49AF-AC98-9297A2253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112A46"/>
                </a:solidFill>
              </a:defRPr>
            </a:pPr>
            <a:r>
              <a:rPr sz="2625" b="1">
                <a:solidFill>
                  <a:srgbClr val="112A46"/>
                </a:solidFill>
              </a:rPr>
              <a:t>Skill、MCP、Plugin：不是替代关系，而是一套协作分工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309A95D1-C834-4230-AD47-1F2388918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D7186"/>
                </a:solidFill>
              </a:defRPr>
            </a:pPr>
            <a:r>
              <a:rPr sz="1350" b="0">
                <a:solidFill>
                  <a:srgbClr val="5D7186"/>
                </a:solidFill>
              </a:rPr>
              <a:t>做一件真实任务，通常需要“方法 + 工具 + 打包交付”。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62337DE6-40FF-417F-AFFD-2B9CF0881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圆角矩形 4">
            <a:extLst xmlns:a="http://schemas.openxmlformats.org/drawingml/2006/main">
              <a:ext uri="{FF2B5EF4-FFF2-40B4-BE49-F238E27FC236}">
                <a16:creationId xmlns:a16="http://schemas.microsoft.com/office/drawing/2014/main" id="{3DE53BD4-8AF1-431B-A5BD-0825C23D1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28875"/>
            <a:ext cx="3143250" cy="257175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D"/>
            </a:solidFill>
            <a:prstDash val="solid"/>
          </a:ln>
        </p:spPr>
      </p:sp>
      <p:sp>
        <p:nvSpPr>
          <p:cNvPr id="6" name="圆角矩形 5">
            <a:extLst xmlns:a="http://schemas.openxmlformats.org/drawingml/2006/main">
              <a:ext uri="{FF2B5EF4-FFF2-40B4-BE49-F238E27FC236}">
                <a16:creationId xmlns:a16="http://schemas.microsoft.com/office/drawing/2014/main" id="{DB38CE8F-F4C1-4508-946A-2A838979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2667000"/>
            <a:ext cx="9715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F81BA68F-A29F-4107-B281-25271D3D6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733675"/>
            <a:ext cx="704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12A46"/>
                </a:solidFill>
              </a:defRPr>
            </a:pPr>
            <a:r>
              <a:rPr sz="1050" b="1">
                <a:solidFill>
                  <a:srgbClr val="112A46"/>
                </a:solidFill>
              </a:rPr>
              <a:t>SKILL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284415A7-91F4-4E51-BF89-142BABB1D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32099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12A46"/>
                </a:solidFill>
              </a:defRPr>
            </a:pPr>
            <a:r>
              <a:rPr sz="2100" b="1">
                <a:solidFill>
                  <a:srgbClr val="112A46"/>
                </a:solidFill>
              </a:rPr>
              <a:t>操作手册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F8A6AE7-A2BC-43B6-8443-8A7E765A9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3733800"/>
            <a:ext cx="2524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D7186"/>
                </a:solidFill>
              </a:defRPr>
            </a:pPr>
            <a:r>
              <a:rPr sz="1275" b="0">
                <a:solidFill>
                  <a:srgbClr val="5D7186"/>
                </a:solidFill>
              </a:rPr>
              <a:t>何时做、怎么做、按什么标准做</a:t>
            </a:r>
          </a:p>
        </p:txBody>
      </p:sp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BC108A40-EF49-4C2B-97A0-0309239A8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419600"/>
            <a:ext cx="2533650" cy="34290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BA73E1E9-861A-4CC3-9576-6B7596753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505325"/>
            <a:ext cx="2305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8334F"/>
                </a:solidFill>
              </a:defRPr>
            </a:pPr>
            <a:r>
              <a:rPr sz="1050" b="1">
                <a:solidFill>
                  <a:srgbClr val="18334F"/>
                </a:solidFill>
              </a:rPr>
              <a:t>例：社媒周报写作流程</a:t>
            </a:r>
          </a:p>
        </p:txBody>
      </p:sp>
      <p:sp>
        <p:nvSpPr>
          <p:cNvPr id="12" name="圆角矩形 11">
            <a:extLst xmlns:a="http://schemas.openxmlformats.org/drawingml/2006/main">
              <a:ext uri="{FF2B5EF4-FFF2-40B4-BE49-F238E27FC236}">
                <a16:creationId xmlns:a16="http://schemas.microsoft.com/office/drawing/2014/main" id="{5027A078-B9E1-4CC2-BF03-EA235BE12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428875"/>
            <a:ext cx="3143250" cy="257175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D"/>
            </a:solidFill>
            <a:prstDash val="solid"/>
          </a:ln>
        </p:spPr>
      </p:sp>
      <p:sp>
        <p:nvSpPr>
          <p:cNvPr id="13" name="圆角矩形 12">
            <a:extLst xmlns:a="http://schemas.openxmlformats.org/drawingml/2006/main">
              <a:ext uri="{FF2B5EF4-FFF2-40B4-BE49-F238E27FC236}">
                <a16:creationId xmlns:a16="http://schemas.microsoft.com/office/drawing/2014/main" id="{041F8FC3-18D5-4306-B6F3-933E76378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667000"/>
            <a:ext cx="9715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7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3662AFB9-617D-4C4B-BEB9-A445D6313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33675"/>
            <a:ext cx="704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12A46"/>
                </a:solidFill>
              </a:defRPr>
            </a:pPr>
            <a:r>
              <a:rPr sz="1050" b="1">
                <a:solidFill>
                  <a:srgbClr val="112A46"/>
                </a:solidFill>
              </a:rPr>
              <a:t>MCP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80EC280D-9237-449C-9E47-3C8AD3B04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2099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12A46"/>
                </a:solidFill>
              </a:defRPr>
            </a:pPr>
            <a:r>
              <a:rPr sz="2100" b="1">
                <a:solidFill>
                  <a:srgbClr val="112A46"/>
                </a:solidFill>
              </a:rPr>
              <a:t>工具连接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97BF40E4-7A25-4BA9-8991-77AA00C4F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733800"/>
            <a:ext cx="2524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D7186"/>
                </a:solidFill>
              </a:defRPr>
            </a:pPr>
            <a:r>
              <a:rPr sz="1275" b="0">
                <a:solidFill>
                  <a:srgbClr val="5D7186"/>
                </a:solidFill>
              </a:rPr>
              <a:t>能访问哪些系统、数据与动作</a:t>
            </a:r>
          </a:p>
        </p:txBody>
      </p:sp>
      <p:sp>
        <p:nvSpPr>
          <p:cNvPr id="17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E7382504-E1A2-4403-9928-D563B5F96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419600"/>
            <a:ext cx="2533650" cy="34290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65B94436-136A-42E9-B31D-5D8BC591E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505325"/>
            <a:ext cx="2305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8334F"/>
                </a:solidFill>
              </a:defRPr>
            </a:pPr>
            <a:r>
              <a:rPr sz="1050" b="1">
                <a:solidFill>
                  <a:srgbClr val="18334F"/>
                </a:solidFill>
              </a:rPr>
              <a:t>例：浏览器、飞书、数据库</a:t>
            </a:r>
          </a:p>
        </p:txBody>
      </p:sp>
      <p:sp>
        <p:nvSpPr>
          <p:cNvPr id="19" name="圆角矩形 18">
            <a:extLst xmlns:a="http://schemas.openxmlformats.org/drawingml/2006/main">
              <a:ext uri="{FF2B5EF4-FFF2-40B4-BE49-F238E27FC236}">
                <a16:creationId xmlns:a16="http://schemas.microsoft.com/office/drawing/2014/main" id="{99E49787-71A8-478F-AA96-EA4A9A686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28875"/>
            <a:ext cx="3143250" cy="257175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D"/>
            </a:solidFill>
            <a:prstDash val="solid"/>
          </a:ln>
        </p:spPr>
      </p:sp>
      <p:sp>
        <p:nvSpPr>
          <p:cNvPr id="20" name="圆角矩形 19">
            <a:extLst xmlns:a="http://schemas.openxmlformats.org/drawingml/2006/main">
              <a:ext uri="{FF2B5EF4-FFF2-40B4-BE49-F238E27FC236}">
                <a16:creationId xmlns:a16="http://schemas.microsoft.com/office/drawing/2014/main" id="{DA1AC6FE-D27C-4176-8587-FAB04808A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667000"/>
            <a:ext cx="9715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E3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91EA8406-62E4-4B01-8F87-E045319EA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733675"/>
            <a:ext cx="704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12A46"/>
                </a:solidFill>
              </a:defRPr>
            </a:pPr>
            <a:r>
              <a:rPr sz="1050" b="1">
                <a:solidFill>
                  <a:srgbClr val="112A46"/>
                </a:solidFill>
              </a:rPr>
              <a:t>PLUGIN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C3821996-D224-444C-83E4-B2E77B00C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32099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12A46"/>
                </a:solidFill>
              </a:defRPr>
            </a:pPr>
            <a:r>
              <a:rPr sz="2100" b="1">
                <a:solidFill>
                  <a:srgbClr val="112A46"/>
                </a:solidFill>
              </a:rPr>
              <a:t>能力套装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09D20E55-EC21-488C-8E0F-332FDA827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3733800"/>
            <a:ext cx="2524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D7186"/>
                </a:solidFill>
              </a:defRPr>
            </a:pPr>
            <a:r>
              <a:rPr sz="1275" b="0">
                <a:solidFill>
                  <a:srgbClr val="5D7186"/>
                </a:solidFill>
              </a:rPr>
              <a:t>把 Skills、MCP、配置一起封装与分发</a:t>
            </a:r>
          </a:p>
        </p:txBody>
      </p:sp>
      <p:sp>
        <p:nvSpPr>
          <p:cNvPr id="24" name="圆角矩形 23">
            <a:extLst xmlns:a="http://schemas.openxmlformats.org/drawingml/2006/main">
              <a:ext uri="{FF2B5EF4-FFF2-40B4-BE49-F238E27FC236}">
                <a16:creationId xmlns:a16="http://schemas.microsoft.com/office/drawing/2014/main" id="{87307AAE-C053-4988-B8B2-46F5E6B65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4419600"/>
            <a:ext cx="2533650" cy="34290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3932EC40-3AF0-4DA1-A207-39D58ADFC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505325"/>
            <a:ext cx="2305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8334F"/>
                </a:solidFill>
              </a:defRPr>
            </a:pPr>
            <a:r>
              <a:rPr sz="1050" b="1">
                <a:solidFill>
                  <a:srgbClr val="18334F"/>
                </a:solidFill>
              </a:rPr>
              <a:t>例：团队的一键工作台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E498A6EF-DA5A-4E18-A4B9-93EB407A0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61975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12A46"/>
                </a:solidFill>
              </a:defRPr>
            </a:pPr>
            <a:r>
              <a:rPr sz="1650" b="1">
                <a:solidFill>
                  <a:srgbClr val="112A46"/>
                </a:solidFill>
              </a:rPr>
              <a:t>最实用的组合：用 Skill 编排方法，用 MCP 接入数据和动作，用 Plugin 发给团队。</a:t>
            </a:r>
          </a:p>
        </p:txBody>
      </p:sp>
    </p:spTree>
    <p:extLst>
      <p:ext uri="{BB962C8B-B14F-4D97-AF65-F5344CB8AC3E}">
        <p14:creationId xmlns:p14="http://schemas.microsoft.com/office/powerpoint/2010/main" val="192927163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C83784B0-09DB-4928-AAEA-B649AABE6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F8B7B"/>
                </a:solidFill>
              </a:defRPr>
            </a:pPr>
            <a:r>
              <a:rPr sz="1050" b="1">
                <a:solidFill>
                  <a:srgbClr val="FF8B7B"/>
                </a:solidFill>
              </a:rPr>
              <a:t>USE CASE 01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D47CAD89-3D05-4B67-BE87-91B03D2BB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112A46"/>
                </a:solidFill>
              </a:defRPr>
            </a:pPr>
            <a:r>
              <a:rPr sz="2625" b="1">
                <a:solidFill>
                  <a:srgbClr val="112A46"/>
                </a:solidFill>
              </a:rPr>
              <a:t>要做“圆形图”，先选对图的任务：数据、流程，还是视觉表达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FF59756-3510-4389-8A7C-DD835DDF6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D7186"/>
                </a:solidFill>
              </a:defRPr>
            </a:pPr>
            <a:r>
              <a:rPr sz="1350" b="0">
                <a:solidFill>
                  <a:srgbClr val="5D7186"/>
                </a:solidFill>
              </a:rPr>
              <a:t>圆形不只是好看；它很适合表达比例、循环、层级与旅程。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F6D82E4A-FE7C-4919-A06A-F32538ED7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椭圆 4">
            <a:extLst xmlns:a="http://schemas.openxmlformats.org/drawingml/2006/main">
              <a:ext uri="{FF2B5EF4-FFF2-40B4-BE49-F238E27FC236}">
                <a16:creationId xmlns:a16="http://schemas.microsoft.com/office/drawing/2014/main" id="{368EFEEB-A059-4200-8342-0E8B7045C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3248025"/>
            <a:ext cx="1790700" cy="1790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2A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93A4052-57CF-4471-BA2D-A05E125F7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7350" y="3638550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圆形图</a:t>
            </a:r>
          </a:p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设计</a:t>
            </a:r>
          </a:p>
        </p:txBody>
      </p:sp>
      <p:sp>
        <p:nvSpPr>
          <p:cNvPr id="7" name="椭圆 6">
            <a:extLst xmlns:a="http://schemas.openxmlformats.org/drawingml/2006/main">
              <a:ext uri="{FF2B5EF4-FFF2-40B4-BE49-F238E27FC236}">
                <a16:creationId xmlns:a16="http://schemas.microsoft.com/office/drawing/2014/main" id="{0BD8DC35-255F-4E81-83E6-1FD123AA4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2060575"/>
            <a:ext cx="1238250" cy="1238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19E9BE48-7869-4641-BE81-1C518BC48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23558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12A46"/>
                </a:solidFill>
              </a:defRPr>
            </a:pPr>
            <a:r>
              <a:rPr sz="1500" b="1">
                <a:solidFill>
                  <a:srgbClr val="112A46"/>
                </a:solidFill>
              </a:rPr>
              <a:t>比例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ADF67B6-33D8-4A9D-932B-94F13D5E2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2698750"/>
            <a:ext cx="990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D7186"/>
                </a:solidFill>
              </a:defRPr>
            </a:pPr>
            <a:r>
              <a:rPr sz="975" b="0">
                <a:solidFill>
                  <a:srgbClr val="5D7186"/>
                </a:solidFill>
              </a:rPr>
              <a:t>环形 / 玫瑰图</a:t>
            </a:r>
          </a:p>
        </p:txBody>
      </p:sp>
      <p:sp>
        <p:nvSpPr>
          <p:cNvPr id="10" name="椭圆 9">
            <a:extLst xmlns:a="http://schemas.openxmlformats.org/drawingml/2006/main">
              <a:ext uri="{FF2B5EF4-FFF2-40B4-BE49-F238E27FC236}">
                <a16:creationId xmlns:a16="http://schemas.microsoft.com/office/drawing/2014/main" id="{C606E10C-50FE-445A-86F0-9772DDED6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71875"/>
            <a:ext cx="1238250" cy="1238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362E7FA4-F4C7-4062-9E08-AD76295BA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8671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12A46"/>
                </a:solidFill>
              </a:defRPr>
            </a:pPr>
            <a:r>
              <a:rPr sz="1500" b="1">
                <a:solidFill>
                  <a:srgbClr val="112A46"/>
                </a:solidFill>
              </a:rPr>
              <a:t>循环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C1BD7732-B616-4D59-973B-47E71B684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210050"/>
            <a:ext cx="990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D7186"/>
                </a:solidFill>
              </a:defRPr>
            </a:pPr>
            <a:r>
              <a:rPr sz="975" b="0">
                <a:solidFill>
                  <a:srgbClr val="5D7186"/>
                </a:solidFill>
              </a:rPr>
              <a:t>闭环 / 生命周期</a:t>
            </a:r>
          </a:p>
        </p:txBody>
      </p:sp>
      <p:sp>
        <p:nvSpPr>
          <p:cNvPr id="13" name="椭圆 12">
            <a:extLst xmlns:a="http://schemas.openxmlformats.org/drawingml/2006/main">
              <a:ext uri="{FF2B5EF4-FFF2-40B4-BE49-F238E27FC236}">
                <a16:creationId xmlns:a16="http://schemas.microsoft.com/office/drawing/2014/main" id="{A5E15242-3D04-47C8-85AF-BE34536B3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5429250"/>
            <a:ext cx="1238250" cy="1238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3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78BE595F-F3B0-4DCC-B0F3-EB30B09CC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57245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12A46"/>
                </a:solidFill>
              </a:defRPr>
            </a:pPr>
            <a:r>
              <a:rPr sz="1500" b="1">
                <a:solidFill>
                  <a:srgbClr val="112A46"/>
                </a:solidFill>
              </a:rPr>
              <a:t>关系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8A968530-01E6-4CE5-8413-7A5CFDFFE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6067425"/>
            <a:ext cx="990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D7186"/>
                </a:solidFill>
              </a:defRPr>
            </a:pPr>
            <a:r>
              <a:rPr sz="975" b="0">
                <a:solidFill>
                  <a:srgbClr val="5D7186"/>
                </a:solidFill>
              </a:rPr>
              <a:t>放射 / 生态图</a:t>
            </a:r>
          </a:p>
        </p:txBody>
      </p:sp>
      <p:sp>
        <p:nvSpPr>
          <p:cNvPr id="16" name="椭圆 15">
            <a:extLst xmlns:a="http://schemas.openxmlformats.org/drawingml/2006/main">
              <a:ext uri="{FF2B5EF4-FFF2-40B4-BE49-F238E27FC236}">
                <a16:creationId xmlns:a16="http://schemas.microsoft.com/office/drawing/2014/main" id="{B8992EEB-CE17-4B29-A330-84896072E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00625"/>
            <a:ext cx="1238250" cy="1238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EA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F2BDFBBE-6C0E-4D1D-BAE3-512F5D524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959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12A46"/>
                </a:solidFill>
              </a:defRPr>
            </a:pPr>
            <a:r>
              <a:rPr sz="1500" b="1">
                <a:solidFill>
                  <a:srgbClr val="112A46"/>
                </a:solidFill>
              </a:rPr>
              <a:t>路径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780EC66A-61D2-4D51-976A-F028522C1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638800"/>
            <a:ext cx="990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D7186"/>
                </a:solidFill>
              </a:defRPr>
            </a:pPr>
            <a:r>
              <a:rPr sz="975" b="0">
                <a:solidFill>
                  <a:srgbClr val="5D7186"/>
                </a:solidFill>
              </a:rPr>
              <a:t>用户旅程</a:t>
            </a:r>
          </a:p>
        </p:txBody>
      </p:sp>
      <p:sp>
        <p:nvSpPr>
          <p:cNvPr id="19" name="圆角矩形 18">
            <a:extLst xmlns:a="http://schemas.openxmlformats.org/drawingml/2006/main">
              <a:ext uri="{FF2B5EF4-FFF2-40B4-BE49-F238E27FC236}">
                <a16:creationId xmlns:a16="http://schemas.microsoft.com/office/drawing/2014/main" id="{8CB9C5BD-F749-4558-9414-4225FC9F1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81250"/>
            <a:ext cx="3714750" cy="26670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9F1"/>
          </a:solidFill>
          <a:ln xmlns:a="http://schemas.openxmlformats.org/drawingml/2006/main" w="9525">
            <a:solidFill>
              <a:srgbClr val="D7E4ED"/>
            </a:solidFill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5BAF6683-97FA-4547-AFC1-C6D6893D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6955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12A46"/>
                </a:solidFill>
              </a:defRPr>
            </a:pPr>
            <a:r>
              <a:rPr sz="1875" b="1">
                <a:solidFill>
                  <a:srgbClr val="112A46"/>
                </a:solidFill>
              </a:rPr>
              <a:t>制作原则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CD258403-B1DC-4CA0-B047-82A20B577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238500"/>
            <a:ext cx="2857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D7186"/>
                </a:solidFill>
              </a:defRPr>
            </a:pPr>
            <a:r>
              <a:rPr sz="1350" b="0">
                <a:solidFill>
                  <a:srgbClr val="5D7186"/>
                </a:solidFill>
              </a:rPr>
              <a:t>• 数据类：数值与来源必须准确</a:t>
            </a:r>
          </a:p>
          <a:p xmlns:a="http://schemas.openxmlformats.org/drawingml/2006/main">
            <a:pPr>
              <a:buNone/>
              <a:defRPr sz="1350" b="0">
                <a:solidFill>
                  <a:srgbClr val="5D7186"/>
                </a:solidFill>
              </a:defRPr>
            </a:pPr>
            <a:r>
              <a:rPr sz="1350" b="0">
                <a:solidFill>
                  <a:srgbClr val="5D7186"/>
                </a:solidFill>
              </a:rPr>
              <a:t>• 流程类：顺序和箭头必须清楚</a:t>
            </a:r>
          </a:p>
          <a:p xmlns:a="http://schemas.openxmlformats.org/drawingml/2006/main">
            <a:pPr>
              <a:buNone/>
              <a:defRPr sz="1350" b="0">
                <a:solidFill>
                  <a:srgbClr val="5D7186"/>
                </a:solidFill>
              </a:defRPr>
            </a:pPr>
            <a:r>
              <a:rPr sz="1350" b="0">
                <a:solidFill>
                  <a:srgbClr val="5D7186"/>
                </a:solidFill>
              </a:rPr>
              <a:t>• 海报类：用图像生成增强氛围</a:t>
            </a:r>
          </a:p>
          <a:p xmlns:a="http://schemas.openxmlformats.org/drawingml/2006/main">
            <a:pPr>
              <a:buNone/>
              <a:defRPr sz="1350" b="0">
                <a:solidFill>
                  <a:srgbClr val="5D7186"/>
                </a:solidFill>
              </a:defRPr>
            </a:pPr>
            <a:r>
              <a:rPr sz="1350" b="0">
                <a:solidFill>
                  <a:srgbClr val="5D7186"/>
                </a:solidFill>
              </a:rPr>
              <a:t>• 所有图：先确定“一句话结论”</a:t>
            </a:r>
          </a:p>
        </p:txBody>
      </p:sp>
      <p:sp>
        <p:nvSpPr>
          <p:cNvPr id="22" name="圆角矩形 21">
            <a:extLst xmlns:a="http://schemas.openxmlformats.org/drawingml/2006/main">
              <a:ext uri="{FF2B5EF4-FFF2-40B4-BE49-F238E27FC236}">
                <a16:creationId xmlns:a16="http://schemas.microsoft.com/office/drawing/2014/main" id="{DECF66A0-271F-4115-9FBF-E16F25B0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353050"/>
            <a:ext cx="32385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8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7E9FA75A-C7CB-43A4-B77E-79B264880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5419725"/>
            <a:ext cx="2971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12A46"/>
                </a:solidFill>
              </a:defRPr>
            </a:pPr>
            <a:r>
              <a:rPr sz="1050" b="1">
                <a:solidFill>
                  <a:srgbClr val="112A46"/>
                </a:solidFill>
              </a:rPr>
              <a:t>不确定？先写结论，再选图形。</a:t>
            </a:r>
          </a:p>
        </p:txBody>
      </p:sp>
    </p:spTree>
    <p:extLst>
      <p:ext uri="{BB962C8B-B14F-4D97-AF65-F5344CB8AC3E}">
        <p14:creationId xmlns:p14="http://schemas.microsoft.com/office/powerpoint/2010/main" val="201445820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9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81DC93CD-6645-4FED-9995-C87A47727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F8B7B"/>
                </a:solidFill>
              </a:defRPr>
            </a:pPr>
            <a:r>
              <a:rPr sz="1050" b="1">
                <a:solidFill>
                  <a:srgbClr val="FF8B7B"/>
                </a:solidFill>
              </a:rPr>
              <a:t>RECOMMENDATION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4B02F567-247E-4BBB-8E16-74C49D828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112A46"/>
                </a:solidFill>
              </a:defRPr>
            </a:pPr>
            <a:r>
              <a:rPr sz="2625" b="1">
                <a:solidFill>
                  <a:srgbClr val="112A46"/>
                </a:solidFill>
              </a:rPr>
              <a:t>圆形图设计：三类 Skill 各自解决不同问题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5A3D6EFB-A180-4956-AED6-D65D1FA5C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D7186"/>
                </a:solidFill>
              </a:defRPr>
            </a:pPr>
            <a:r>
              <a:rPr sz="1350" b="0">
                <a:solidFill>
                  <a:srgbClr val="5D7186"/>
                </a:solidFill>
              </a:rPr>
              <a:t>不要只用“生成图片”；可编辑性与数据准确性同样重要。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2810AD20-3AD4-47B8-91E6-5572869D1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圆角矩形 4">
            <a:extLst xmlns:a="http://schemas.openxmlformats.org/drawingml/2006/main">
              <a:ext uri="{FF2B5EF4-FFF2-40B4-BE49-F238E27FC236}">
                <a16:creationId xmlns:a16="http://schemas.microsoft.com/office/drawing/2014/main" id="{BCA21604-EB03-43E5-9E26-2FCA241A0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1047750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D"/>
            </a:solidFill>
            <a:prstDash val="solid"/>
          </a:ln>
        </p:spPr>
      </p:sp>
      <p:sp>
        <p:nvSpPr>
          <p:cNvPr id="6" name="椭圆 5">
            <a:extLst xmlns:a="http://schemas.openxmlformats.org/drawingml/2006/main">
              <a:ext uri="{FF2B5EF4-FFF2-40B4-BE49-F238E27FC236}">
                <a16:creationId xmlns:a16="http://schemas.microsoft.com/office/drawing/2014/main" id="{A0DB3B6C-F3EF-4955-9968-4793EA547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146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椭圆 6">
            <a:extLst xmlns:a="http://schemas.openxmlformats.org/drawingml/2006/main">
              <a:ext uri="{FF2B5EF4-FFF2-40B4-BE49-F238E27FC236}">
                <a16:creationId xmlns:a16="http://schemas.microsoft.com/office/drawing/2014/main" id="{477BCC02-1CFD-4CCF-99B5-75D1284FF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571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4F30EF60-3113-46B6-A687-151CC8758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628900"/>
            <a:ext cx="152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12A46"/>
                </a:solidFill>
              </a:defRPr>
            </a:pPr>
            <a:r>
              <a:rPr sz="1200" b="1">
                <a:solidFill>
                  <a:srgbClr val="112A46"/>
                </a:solidFill>
              </a:rPr>
              <a:t>1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CED3C561-D715-4227-AE14-24253B240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4955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12A46"/>
                </a:solidFill>
              </a:defRPr>
            </a:pPr>
            <a:r>
              <a:rPr sz="1575" b="1">
                <a:solidFill>
                  <a:srgbClr val="112A46"/>
                </a:solidFill>
              </a:rPr>
              <a:t>数据准确、可编辑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16BE54BD-4D0E-4105-8512-F0724A84E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4955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8334F"/>
                </a:solidFill>
              </a:defRPr>
            </a:pPr>
            <a:r>
              <a:rPr sz="1500" b="1">
                <a:solidFill>
                  <a:srgbClr val="18334F"/>
                </a:solidFill>
              </a:rPr>
              <a:t>图表 / Vega / infographic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EFBB513-A984-486D-AA30-849FDFEB2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828925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D7186"/>
                </a:solidFill>
              </a:defRPr>
            </a:pPr>
            <a:r>
              <a:rPr sz="1200" b="0">
                <a:solidFill>
                  <a:srgbClr val="5D7186"/>
                </a:solidFill>
              </a:rPr>
              <a:t>比例、趋势、流程、课程图解</a:t>
            </a:r>
          </a:p>
        </p:txBody>
      </p:sp>
      <p:sp>
        <p:nvSpPr>
          <p:cNvPr id="12" name="圆角矩形 11">
            <a:extLst xmlns:a="http://schemas.openxmlformats.org/drawingml/2006/main">
              <a:ext uri="{FF2B5EF4-FFF2-40B4-BE49-F238E27FC236}">
                <a16:creationId xmlns:a16="http://schemas.microsoft.com/office/drawing/2014/main" id="{6D05B575-C8F0-4259-9A3B-7C497929D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00425"/>
            <a:ext cx="1047750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D"/>
            </a:solidFill>
            <a:prstDash val="solid"/>
          </a:ln>
        </p:spPr>
      </p:sp>
      <p:sp>
        <p:nvSpPr>
          <p:cNvPr id="13" name="椭圆 12">
            <a:extLst xmlns:a="http://schemas.openxmlformats.org/drawingml/2006/main">
              <a:ext uri="{FF2B5EF4-FFF2-40B4-BE49-F238E27FC236}">
                <a16:creationId xmlns:a16="http://schemas.microsoft.com/office/drawing/2014/main" id="{63FA7468-62B8-41F3-90CC-987FB7C75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814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椭圆 13">
            <a:extLst xmlns:a="http://schemas.openxmlformats.org/drawingml/2006/main">
              <a:ext uri="{FF2B5EF4-FFF2-40B4-BE49-F238E27FC236}">
                <a16:creationId xmlns:a16="http://schemas.microsoft.com/office/drawing/2014/main" id="{D8A9A00C-73C6-48DA-8681-E9441CA55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38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F11C0EA1-298A-4143-BAC1-111AF99DA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695700"/>
            <a:ext cx="152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12A46"/>
                </a:solidFill>
              </a:defRPr>
            </a:pPr>
            <a:r>
              <a:rPr sz="1200" b="1">
                <a:solidFill>
                  <a:srgbClr val="112A46"/>
                </a:solidFill>
              </a:rPr>
              <a:t>2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C0704E43-D9E7-422E-A066-29DDC0206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562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12A46"/>
                </a:solidFill>
              </a:defRPr>
            </a:pPr>
            <a:r>
              <a:rPr sz="1575" b="1">
                <a:solidFill>
                  <a:srgbClr val="112A46"/>
                </a:solidFill>
              </a:rPr>
              <a:t>原型图、界面方案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C979A8ED-2095-420C-8D16-275C0CA45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5623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8334F"/>
                </a:solidFill>
              </a:defRPr>
            </a:pPr>
            <a:r>
              <a:rPr sz="1500" b="1">
                <a:solidFill>
                  <a:srgbClr val="18334F"/>
                </a:solidFill>
              </a:rPr>
              <a:t>Figma 相关 Skills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EAE5400D-25B6-4DDA-B9EF-02F6E3593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895725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D7186"/>
                </a:solidFill>
              </a:defRPr>
            </a:pPr>
            <a:r>
              <a:rPr sz="1200" b="0">
                <a:solidFill>
                  <a:srgbClr val="5D7186"/>
                </a:solidFill>
              </a:rPr>
              <a:t>网页、App、组件与设计系统</a:t>
            </a:r>
          </a:p>
        </p:txBody>
      </p:sp>
      <p:sp>
        <p:nvSpPr>
          <p:cNvPr id="19" name="圆角矩形 18">
            <a:extLst xmlns:a="http://schemas.openxmlformats.org/drawingml/2006/main">
              <a:ext uri="{FF2B5EF4-FFF2-40B4-BE49-F238E27FC236}">
                <a16:creationId xmlns:a16="http://schemas.microsoft.com/office/drawing/2014/main" id="{95439F18-8121-4E8A-A944-EB280699E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67225"/>
            <a:ext cx="1047750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D"/>
            </a:solidFill>
            <a:prstDash val="solid"/>
          </a:ln>
        </p:spPr>
      </p:sp>
      <p:sp>
        <p:nvSpPr>
          <p:cNvPr id="20" name="椭圆 19">
            <a:extLst xmlns:a="http://schemas.openxmlformats.org/drawingml/2006/main">
              <a:ext uri="{FF2B5EF4-FFF2-40B4-BE49-F238E27FC236}">
                <a16:creationId xmlns:a16="http://schemas.microsoft.com/office/drawing/2014/main" id="{27C77173-0472-4328-9520-4F990E2CF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482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3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椭圆 20">
            <a:extLst xmlns:a="http://schemas.openxmlformats.org/drawingml/2006/main">
              <a:ext uri="{FF2B5EF4-FFF2-40B4-BE49-F238E27FC236}">
                <a16:creationId xmlns:a16="http://schemas.microsoft.com/office/drawing/2014/main" id="{E6B42E7F-68A5-4024-9CD1-9E358215A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705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62D4F408-E971-45E3-B06E-28046DC94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762500"/>
            <a:ext cx="152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12A46"/>
                </a:solidFill>
              </a:defRPr>
            </a:pPr>
            <a:r>
              <a:rPr sz="1200" b="1">
                <a:solidFill>
                  <a:srgbClr val="112A46"/>
                </a:solidFill>
              </a:rPr>
              <a:t>3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667032FD-F40F-498A-B60C-F401583E7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6291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12A46"/>
                </a:solidFill>
              </a:defRPr>
            </a:pPr>
            <a:r>
              <a:rPr sz="1575" b="1">
                <a:solidFill>
                  <a:srgbClr val="112A46"/>
                </a:solidFill>
              </a:rPr>
              <a:t>社媒长图、海报感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6F7F2E88-5425-466D-AD1E-8AF8C83A7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6291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8334F"/>
                </a:solidFill>
              </a:defRPr>
            </a:pPr>
            <a:r>
              <a:rPr sz="1500" b="1">
                <a:solidFill>
                  <a:srgbClr val="18334F"/>
                </a:solidFill>
              </a:rPr>
              <a:t>ImageGen / 视觉设计 Skill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4277D941-A539-4049-B871-16B2E03C6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62525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D7186"/>
                </a:solidFill>
              </a:defRPr>
            </a:pPr>
            <a:r>
              <a:rPr sz="1200" b="0">
                <a:solidFill>
                  <a:srgbClr val="5D7186"/>
                </a:solidFill>
              </a:rPr>
              <a:t>氛围、人物、插画与封面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6E398A9F-E763-4DBF-A9FB-8ABEFA60B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905500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12A46"/>
                </a:solidFill>
              </a:defRPr>
            </a:pPr>
            <a:r>
              <a:rPr sz="1650" b="1">
                <a:solidFill>
                  <a:srgbClr val="112A46"/>
                </a:solidFill>
              </a:rPr>
              <a:t>推荐顺序：先用“数据/结构型 Skill”定骨架，再用“视觉型 Skill”增加传播力。</a:t>
            </a:r>
          </a:p>
        </p:txBody>
      </p:sp>
    </p:spTree>
    <p:extLst>
      <p:ext uri="{BB962C8B-B14F-4D97-AF65-F5344CB8AC3E}">
        <p14:creationId xmlns:p14="http://schemas.microsoft.com/office/powerpoint/2010/main" val="195984127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1B1D4347-329F-4401-9A5D-5C38B099F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F8B7B"/>
                </a:solidFill>
              </a:defRPr>
            </a:pPr>
            <a:r>
              <a:rPr sz="1050" b="1">
                <a:solidFill>
                  <a:srgbClr val="FF8B7B"/>
                </a:solidFill>
              </a:rPr>
              <a:t>USE CASE 02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C398E80C-EDAC-4F34-8511-BF40273B5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112A46"/>
                </a:solidFill>
              </a:defRPr>
            </a:pPr>
            <a:r>
              <a:rPr sz="2625" b="1">
                <a:solidFill>
                  <a:srgbClr val="112A46"/>
                </a:solidFill>
              </a:rPr>
              <a:t>社媒调研不是“抓一堆内容”，而是把内容变成可行动的洞察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308337F2-39E8-49B4-8C6F-CE1304496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D7186"/>
                </a:solidFill>
              </a:defRPr>
            </a:pPr>
            <a:r>
              <a:rPr sz="1350" b="0">
                <a:solidFill>
                  <a:srgbClr val="5D7186"/>
                </a:solidFill>
              </a:rPr>
              <a:t>最好的输出不是链接清单，而是可验证的选题、竞品结论和下一步行动。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065DD61B-29BB-45B0-AB16-4DA8F06A4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圆角矩形 4">
            <a:extLst xmlns:a="http://schemas.openxmlformats.org/drawingml/2006/main">
              <a:ext uri="{FF2B5EF4-FFF2-40B4-BE49-F238E27FC236}">
                <a16:creationId xmlns:a16="http://schemas.microsoft.com/office/drawing/2014/main" id="{981D96D8-6C63-485B-8CC0-0CC3830E1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228600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DDF1FF"/>
          </a:solidFill>
          <a:ln xmlns:a="http://schemas.openxmlformats.org/drawingml/2006/main" w="9525">
            <a:solidFill>
              <a:srgbClr val="D7E4ED"/>
            </a:solidFill>
            <a:prstDash val="solid"/>
          </a:ln>
        </p:spPr>
      </p:sp>
      <p:sp>
        <p:nvSpPr>
          <p:cNvPr id="6" name="椭圆 5">
            <a:extLst xmlns:a="http://schemas.openxmlformats.org/drawingml/2006/main">
              <a:ext uri="{FF2B5EF4-FFF2-40B4-BE49-F238E27FC236}">
                <a16:creationId xmlns:a16="http://schemas.microsoft.com/office/drawing/2014/main" id="{6088E58E-AA92-4535-AFA9-6A80A5492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95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F78D091C-738D-470D-8C63-9557F9F38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52750"/>
            <a:ext cx="152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12A46"/>
                </a:solidFill>
              </a:defRPr>
            </a:pPr>
            <a:r>
              <a:rPr sz="1200" b="1">
                <a:solidFill>
                  <a:srgbClr val="112A46"/>
                </a:solidFill>
              </a:rPr>
              <a:t>1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22120A43-B0FA-4815-BEDD-FCB7BFE3E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48050"/>
            <a:ext cx="1733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12A46"/>
                </a:solidFill>
              </a:defRPr>
            </a:pPr>
            <a:r>
              <a:rPr sz="1575" b="1">
                <a:solidFill>
                  <a:srgbClr val="112A46"/>
                </a:solidFill>
              </a:rPr>
              <a:t>平台与问题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86D1EAE7-32B2-4602-9CBD-262CE4DBE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0525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D7186"/>
                </a:solidFill>
              </a:defRPr>
            </a:pPr>
            <a:r>
              <a:rPr sz="1200" b="0">
                <a:solidFill>
                  <a:srgbClr val="5D7186"/>
                </a:solidFill>
              </a:rPr>
              <a:t>小红书 / 抖音 / B站</a:t>
            </a:r>
          </a:p>
          <a:p xmlns:a="http://schemas.openxmlformats.org/drawingml/2006/main">
            <a:pPr>
              <a:buNone/>
              <a:defRPr sz="1200" b="0">
                <a:solidFill>
                  <a:srgbClr val="5D7186"/>
                </a:solidFill>
              </a:defRPr>
            </a:pPr>
            <a:r>
              <a:rPr sz="1200" b="0">
                <a:solidFill>
                  <a:srgbClr val="5D7186"/>
                </a:solidFill>
              </a:rPr>
              <a:t>我要研究什么？</a:t>
            </a:r>
          </a:p>
        </p:txBody>
      </p:sp>
      <p:sp>
        <p:nvSpPr>
          <p:cNvPr id="10" name="右箭头 9">
            <a:extLst xmlns:a="http://schemas.openxmlformats.org/drawingml/2006/main">
              <a:ext uri="{FF2B5EF4-FFF2-40B4-BE49-F238E27FC236}">
                <a16:creationId xmlns:a16="http://schemas.microsoft.com/office/drawing/2014/main" id="{D3D0441C-1CBD-464A-99A3-39A736EFD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543300"/>
            <a:ext cx="257175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D8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圆角矩形 10">
            <a:extLst xmlns:a="http://schemas.openxmlformats.org/drawingml/2006/main">
              <a:ext uri="{FF2B5EF4-FFF2-40B4-BE49-F238E27FC236}">
                <a16:creationId xmlns:a16="http://schemas.microsoft.com/office/drawing/2014/main" id="{61C0DD04-6F0F-4DE6-A7FF-55F9A72DF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686050"/>
            <a:ext cx="228600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8F7DA"/>
          </a:solidFill>
          <a:ln xmlns:a="http://schemas.openxmlformats.org/drawingml/2006/main" w="9525">
            <a:solidFill>
              <a:srgbClr val="D7E4ED"/>
            </a:solidFill>
            <a:prstDash val="solid"/>
          </a:ln>
        </p:spPr>
      </p:sp>
      <p:sp>
        <p:nvSpPr>
          <p:cNvPr id="12" name="椭圆 11">
            <a:extLst xmlns:a="http://schemas.openxmlformats.org/drawingml/2006/main">
              <a:ext uri="{FF2B5EF4-FFF2-40B4-BE49-F238E27FC236}">
                <a16:creationId xmlns:a16="http://schemas.microsoft.com/office/drawing/2014/main" id="{2DF0385C-C257-4CDF-9B0A-271BA6DB3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895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F491D73F-4DC2-41D0-BE37-05B88715B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952750"/>
            <a:ext cx="152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12A46"/>
                </a:solidFill>
              </a:defRPr>
            </a:pPr>
            <a:r>
              <a:rPr sz="1200" b="1">
                <a:solidFill>
                  <a:srgbClr val="112A46"/>
                </a:solidFill>
              </a:rPr>
              <a:t>2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AB647A9F-DE0A-49D8-98F9-7B6A6D07B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448050"/>
            <a:ext cx="1733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12A46"/>
                </a:solidFill>
              </a:defRPr>
            </a:pPr>
            <a:r>
              <a:rPr sz="1575" b="1">
                <a:solidFill>
                  <a:srgbClr val="112A46"/>
                </a:solidFill>
              </a:rPr>
              <a:t>采集与清洗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E55BAF46-B8ED-4626-8852-CB5A9E94F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90525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D7186"/>
                </a:solidFill>
              </a:defRPr>
            </a:pPr>
            <a:r>
              <a:rPr sz="1200" b="0">
                <a:solidFill>
                  <a:srgbClr val="5D7186"/>
                </a:solidFill>
              </a:rPr>
              <a:t>关键词、账号、帖子、</a:t>
            </a:r>
          </a:p>
          <a:p xmlns:a="http://schemas.openxmlformats.org/drawingml/2006/main">
            <a:pPr>
              <a:buNone/>
              <a:defRPr sz="1200" b="0">
                <a:solidFill>
                  <a:srgbClr val="5D7186"/>
                </a:solidFill>
              </a:defRPr>
            </a:pPr>
            <a:r>
              <a:rPr sz="1200" b="0">
                <a:solidFill>
                  <a:srgbClr val="5D7186"/>
                </a:solidFill>
              </a:rPr>
              <a:t>互动、评论、时间</a:t>
            </a:r>
          </a:p>
        </p:txBody>
      </p:sp>
      <p:sp>
        <p:nvSpPr>
          <p:cNvPr id="16" name="右箭头 15">
            <a:extLst xmlns:a="http://schemas.openxmlformats.org/drawingml/2006/main">
              <a:ext uri="{FF2B5EF4-FFF2-40B4-BE49-F238E27FC236}">
                <a16:creationId xmlns:a16="http://schemas.microsoft.com/office/drawing/2014/main" id="{875A6598-89DD-4868-9F6B-74A5CAC85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543300"/>
            <a:ext cx="257175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D8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7DBA135D-5AD1-412F-8096-E428F687F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86050"/>
            <a:ext cx="228600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E3DC"/>
          </a:solidFill>
          <a:ln xmlns:a="http://schemas.openxmlformats.org/drawingml/2006/main" w="9525">
            <a:solidFill>
              <a:srgbClr val="D7E4ED"/>
            </a:solidFill>
            <a:prstDash val="solid"/>
          </a:ln>
        </p:spPr>
      </p:sp>
      <p:sp>
        <p:nvSpPr>
          <p:cNvPr id="18" name="椭圆 17">
            <a:extLst xmlns:a="http://schemas.openxmlformats.org/drawingml/2006/main">
              <a:ext uri="{FF2B5EF4-FFF2-40B4-BE49-F238E27FC236}">
                <a16:creationId xmlns:a16="http://schemas.microsoft.com/office/drawing/2014/main" id="{6EBF9B62-4E50-4081-8DE9-4C8D1DE7B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95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FCFE349D-3F59-4A6D-BDD7-69BD25B86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952750"/>
            <a:ext cx="152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12A46"/>
                </a:solidFill>
              </a:defRPr>
            </a:pPr>
            <a:r>
              <a:rPr sz="1200" b="1">
                <a:solidFill>
                  <a:srgbClr val="112A46"/>
                </a:solidFill>
              </a:rPr>
              <a:t>3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EB37D571-F400-40BB-9164-98B904E93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48050"/>
            <a:ext cx="1733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12A46"/>
                </a:solidFill>
              </a:defRPr>
            </a:pPr>
            <a:r>
              <a:rPr sz="1575" b="1">
                <a:solidFill>
                  <a:srgbClr val="112A46"/>
                </a:solidFill>
              </a:rPr>
              <a:t>分析与聚类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F8D379B8-D02A-43E6-BFC3-D70B08829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0525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D7186"/>
                </a:solidFill>
              </a:defRPr>
            </a:pPr>
            <a:r>
              <a:rPr sz="1200" b="0">
                <a:solidFill>
                  <a:srgbClr val="5D7186"/>
                </a:solidFill>
              </a:rPr>
              <a:t>爆款结构、话题、</a:t>
            </a:r>
          </a:p>
          <a:p xmlns:a="http://schemas.openxmlformats.org/drawingml/2006/main">
            <a:pPr>
              <a:buNone/>
              <a:defRPr sz="1200" b="0">
                <a:solidFill>
                  <a:srgbClr val="5D7186"/>
                </a:solidFill>
              </a:defRPr>
            </a:pPr>
            <a:r>
              <a:rPr sz="1200" b="0">
                <a:solidFill>
                  <a:srgbClr val="5D7186"/>
                </a:solidFill>
              </a:rPr>
              <a:t>情绪、痛点、SOV</a:t>
            </a:r>
          </a:p>
        </p:txBody>
      </p:sp>
      <p:sp>
        <p:nvSpPr>
          <p:cNvPr id="22" name="右箭头 21">
            <a:extLst xmlns:a="http://schemas.openxmlformats.org/drawingml/2006/main">
              <a:ext uri="{FF2B5EF4-FFF2-40B4-BE49-F238E27FC236}">
                <a16:creationId xmlns:a16="http://schemas.microsoft.com/office/drawing/2014/main" id="{05EE7092-BE68-49B5-80C8-30383AB0E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543300"/>
            <a:ext cx="257175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D8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圆角矩形 22">
            <a:extLst xmlns:a="http://schemas.openxmlformats.org/drawingml/2006/main">
              <a:ext uri="{FF2B5EF4-FFF2-40B4-BE49-F238E27FC236}">
                <a16:creationId xmlns:a16="http://schemas.microsoft.com/office/drawing/2014/main" id="{AD06D79E-923F-46C2-BDF8-FAE394268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686050"/>
            <a:ext cx="228600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FEAFF"/>
          </a:solidFill>
          <a:ln xmlns:a="http://schemas.openxmlformats.org/drawingml/2006/main" w="9525">
            <a:solidFill>
              <a:srgbClr val="D7E4ED"/>
            </a:solidFill>
            <a:prstDash val="solid"/>
          </a:ln>
        </p:spPr>
      </p:sp>
      <p:sp>
        <p:nvSpPr>
          <p:cNvPr id="24" name="椭圆 23">
            <a:extLst xmlns:a="http://schemas.openxmlformats.org/drawingml/2006/main">
              <a:ext uri="{FF2B5EF4-FFF2-40B4-BE49-F238E27FC236}">
                <a16:creationId xmlns:a16="http://schemas.microsoft.com/office/drawing/2014/main" id="{FBF48DA2-5C86-4001-B099-1BD65616D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895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48030263-F64D-4D1F-BD3F-7FE76A89B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952750"/>
            <a:ext cx="152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12A46"/>
                </a:solidFill>
              </a:defRPr>
            </a:pPr>
            <a:r>
              <a:rPr sz="1200" b="1">
                <a:solidFill>
                  <a:srgbClr val="112A46"/>
                </a:solidFill>
              </a:rPr>
              <a:t>4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D8741F90-90A1-484F-83E2-66D368DE8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448050"/>
            <a:ext cx="1733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12A46"/>
                </a:solidFill>
              </a:defRPr>
            </a:pPr>
            <a:r>
              <a:rPr sz="1575" b="1">
                <a:solidFill>
                  <a:srgbClr val="112A46"/>
                </a:solidFill>
              </a:rPr>
              <a:t>图表与行动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1C8E2C6F-5333-45B0-BDC3-1029E4E7E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90525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D7186"/>
                </a:solidFill>
              </a:defRPr>
            </a:pPr>
            <a:r>
              <a:rPr sz="1200" b="0">
                <a:solidFill>
                  <a:srgbClr val="5D7186"/>
                </a:solidFill>
              </a:rPr>
              <a:t>周报、选题库、</a:t>
            </a:r>
          </a:p>
          <a:p xmlns:a="http://schemas.openxmlformats.org/drawingml/2006/main">
            <a:pPr>
              <a:buNone/>
              <a:defRPr sz="1200" b="0">
                <a:solidFill>
                  <a:srgbClr val="5D7186"/>
                </a:solidFill>
              </a:defRPr>
            </a:pPr>
            <a:r>
              <a:rPr sz="1200" b="0">
                <a:solidFill>
                  <a:srgbClr val="5D7186"/>
                </a:solidFill>
              </a:rPr>
              <a:t>圆形信息图、复盘</a:t>
            </a:r>
          </a:p>
        </p:txBody>
      </p:sp>
      <p:sp>
        <p:nvSpPr>
          <p:cNvPr id="28" name="圆角矩形 27">
            <a:extLst xmlns:a="http://schemas.openxmlformats.org/drawingml/2006/main">
              <a:ext uri="{FF2B5EF4-FFF2-40B4-BE49-F238E27FC236}">
                <a16:creationId xmlns:a16="http://schemas.microsoft.com/office/drawing/2014/main" id="{4DFD1342-8D82-49C7-A4EF-18F69E6E8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429250"/>
            <a:ext cx="9944100" cy="457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12A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7AB920E7-CB32-4AD7-9214-07FA47D82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56260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AI 的价值：帮你做归类、对比和表达；人的价值：提出正确问题，并验证数据边界。</a:t>
            </a:r>
          </a:p>
        </p:txBody>
      </p:sp>
    </p:spTree>
    <p:extLst>
      <p:ext uri="{BB962C8B-B14F-4D97-AF65-F5344CB8AC3E}">
        <p14:creationId xmlns:p14="http://schemas.microsoft.com/office/powerpoint/2010/main" val="95054679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9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75816287-804D-4F85-ACDC-0AAA1235E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F8B7B"/>
                </a:solidFill>
              </a:defRPr>
            </a:pPr>
            <a:r>
              <a:rPr sz="1050" b="1">
                <a:solidFill>
                  <a:srgbClr val="FF8B7B"/>
                </a:solidFill>
              </a:rPr>
              <a:t>RECOMMENDATION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2AA67566-640B-406E-B4EE-2A344E79D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112A46"/>
                </a:solidFill>
              </a:defRPr>
            </a:pPr>
            <a:r>
              <a:rPr sz="2625" b="1">
                <a:solidFill>
                  <a:srgbClr val="112A46"/>
                </a:solidFill>
              </a:rPr>
              <a:t>社媒 Skill：从“小红书内容研究”开始，逐步扩展为全域周报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F2BFA47-A574-4369-A74E-EA2883A81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D7186"/>
                </a:solidFill>
              </a:defRPr>
            </a:pPr>
            <a:r>
              <a:rPr sz="1350" b="0">
                <a:solidFill>
                  <a:srgbClr val="5D7186"/>
                </a:solidFill>
              </a:rPr>
              <a:t>开源 Skill 适合灵活研究；稳定数据应优先来自官方接口或专业数据服务。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E424C63-3711-4BF8-96A4-C3D952EAE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圆角矩形 4">
            <a:extLst xmlns:a="http://schemas.openxmlformats.org/drawingml/2006/main">
              <a:ext uri="{FF2B5EF4-FFF2-40B4-BE49-F238E27FC236}">
                <a16:creationId xmlns:a16="http://schemas.microsoft.com/office/drawing/2014/main" id="{019BDE09-9E8D-451A-A973-9DCCD6371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28875"/>
            <a:ext cx="3048000" cy="2647950"/>
          </a:xfrm>
          <a:prstGeom xmlns:a="http://schemas.openxmlformats.org/drawingml/2006/main" prst="roundRect">
            <a:avLst>
              <a:gd name="adj" fmla="val 57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D"/>
            </a:solidFill>
            <a:prstDash val="solid"/>
          </a:ln>
        </p:spPr>
      </p:sp>
      <p:sp>
        <p:nvSpPr>
          <p:cNvPr id="6" name="圆角矩形 5">
            <a:extLst xmlns:a="http://schemas.openxmlformats.org/drawingml/2006/main">
              <a:ext uri="{FF2B5EF4-FFF2-40B4-BE49-F238E27FC236}">
                <a16:creationId xmlns:a16="http://schemas.microsoft.com/office/drawing/2014/main" id="{E9699BF9-C226-4330-8909-4ABCE89F9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647950"/>
            <a:ext cx="4953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C67ED7A5-3AD6-42E0-8ED9-8157019D5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7146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12A46"/>
                </a:solidFill>
              </a:defRPr>
            </a:pPr>
            <a:r>
              <a:rPr sz="1050" b="1">
                <a:solidFill>
                  <a:srgbClr val="112A46"/>
                </a:solidFill>
              </a:rPr>
              <a:t>①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D381CF53-D9F6-429E-A331-D2969DDE7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20992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12A46"/>
                </a:solidFill>
              </a:defRPr>
            </a:pPr>
            <a:r>
              <a:rPr sz="1725" b="1">
                <a:solidFill>
                  <a:srgbClr val="112A46"/>
                </a:solidFill>
              </a:rPr>
              <a:t>内容发现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F8897BC3-94BA-4D2B-9744-8AC05C524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6861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8334F"/>
                </a:solidFill>
              </a:defRPr>
            </a:pPr>
            <a:r>
              <a:rPr sz="1425" b="1">
                <a:solidFill>
                  <a:srgbClr val="18334F"/>
                </a:solidFill>
              </a:rPr>
              <a:t>xhs-cli / redbook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D0E194E5-3519-430B-B10F-7856D2CF7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171950"/>
            <a:ext cx="2333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D7186"/>
                </a:solidFill>
              </a:defRPr>
            </a:pPr>
            <a:r>
              <a:rPr sz="1200" b="0">
                <a:solidFill>
                  <a:srgbClr val="5D7186"/>
                </a:solidFill>
              </a:rPr>
              <a:t>关键词搜索、笔记阅读、</a:t>
            </a:r>
          </a:p>
          <a:p xmlns:a="http://schemas.openxmlformats.org/drawingml/2006/main">
            <a:pPr>
              <a:buNone/>
              <a:defRPr sz="1200" b="0">
                <a:solidFill>
                  <a:srgbClr val="5D7186"/>
                </a:solidFill>
              </a:defRPr>
            </a:pPr>
            <a:r>
              <a:rPr sz="1200" b="0">
                <a:solidFill>
                  <a:srgbClr val="5D7186"/>
                </a:solidFill>
              </a:rPr>
              <a:t>爆文与竞品拆解</a:t>
            </a:r>
          </a:p>
        </p:txBody>
      </p:sp>
      <p:sp>
        <p:nvSpPr>
          <p:cNvPr id="11" name="圆角矩形 10">
            <a:extLst xmlns:a="http://schemas.openxmlformats.org/drawingml/2006/main">
              <a:ext uri="{FF2B5EF4-FFF2-40B4-BE49-F238E27FC236}">
                <a16:creationId xmlns:a16="http://schemas.microsoft.com/office/drawing/2014/main" id="{FC070544-ECE8-4D52-92E8-82D67DA0C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428875"/>
            <a:ext cx="3048000" cy="2647950"/>
          </a:xfrm>
          <a:prstGeom xmlns:a="http://schemas.openxmlformats.org/drawingml/2006/main" prst="roundRect">
            <a:avLst>
              <a:gd name="adj" fmla="val 57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D"/>
            </a:solidFill>
            <a:prstDash val="solid"/>
          </a:ln>
        </p:spPr>
      </p:sp>
      <p:sp>
        <p:nvSpPr>
          <p:cNvPr id="12" name="圆角矩形 11">
            <a:extLst xmlns:a="http://schemas.openxmlformats.org/drawingml/2006/main">
              <a:ext uri="{FF2B5EF4-FFF2-40B4-BE49-F238E27FC236}">
                <a16:creationId xmlns:a16="http://schemas.microsoft.com/office/drawing/2014/main" id="{FD05BAB2-EE7A-4E7E-AD72-21519AF49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647950"/>
            <a:ext cx="4953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7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599A11A6-F876-4E07-B5AE-F9F1DE467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7146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12A46"/>
                </a:solidFill>
              </a:defRPr>
            </a:pPr>
            <a:r>
              <a:rPr sz="1050" b="1">
                <a:solidFill>
                  <a:srgbClr val="112A46"/>
                </a:solidFill>
              </a:rPr>
              <a:t>②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6AB0FD25-2EC2-4C9D-B67A-E14CFE2F3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0992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12A46"/>
                </a:solidFill>
              </a:defRPr>
            </a:pPr>
            <a:r>
              <a:rPr sz="1725" b="1">
                <a:solidFill>
                  <a:srgbClr val="112A46"/>
                </a:solidFill>
              </a:rPr>
              <a:t>数据来源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0BEA156F-8276-40C1-A691-2AD6BF855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6861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8334F"/>
                </a:solidFill>
              </a:defRPr>
            </a:pPr>
            <a:r>
              <a:rPr sz="1425" b="1">
                <a:solidFill>
                  <a:srgbClr val="18334F"/>
                </a:solidFill>
              </a:rPr>
              <a:t>官方 API / 数据平台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6EE4DAC6-D524-4153-BC4D-92E8D448E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171950"/>
            <a:ext cx="2333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D7186"/>
                </a:solidFill>
              </a:defRPr>
            </a:pPr>
            <a:r>
              <a:rPr sz="1200" b="0">
                <a:solidFill>
                  <a:srgbClr val="5D7186"/>
                </a:solidFill>
              </a:rPr>
              <a:t>已授权账号数据、</a:t>
            </a:r>
          </a:p>
          <a:p xmlns:a="http://schemas.openxmlformats.org/drawingml/2006/main">
            <a:pPr>
              <a:buNone/>
              <a:defRPr sz="1200" b="0">
                <a:solidFill>
                  <a:srgbClr val="5D7186"/>
                </a:solidFill>
              </a:defRPr>
            </a:pPr>
            <a:r>
              <a:rPr sz="1200" b="0">
                <a:solidFill>
                  <a:srgbClr val="5D7186"/>
                </a:solidFill>
              </a:rPr>
              <a:t>跨平台监测与导出</a:t>
            </a:r>
          </a:p>
        </p:txBody>
      </p:sp>
      <p:sp>
        <p:nvSpPr>
          <p:cNvPr id="17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1FEC0561-6016-45CE-9536-92C484B53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428875"/>
            <a:ext cx="3048000" cy="2647950"/>
          </a:xfrm>
          <a:prstGeom xmlns:a="http://schemas.openxmlformats.org/drawingml/2006/main" prst="roundRect">
            <a:avLst>
              <a:gd name="adj" fmla="val 57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D"/>
            </a:solidFill>
            <a:prstDash val="solid"/>
          </a:ln>
        </p:spPr>
      </p:sp>
      <p:sp>
        <p:nvSpPr>
          <p:cNvPr id="18" name="圆角矩形 17">
            <a:extLst xmlns:a="http://schemas.openxmlformats.org/drawingml/2006/main">
              <a:ext uri="{FF2B5EF4-FFF2-40B4-BE49-F238E27FC236}">
                <a16:creationId xmlns:a16="http://schemas.microsoft.com/office/drawing/2014/main" id="{249D43A3-D181-48BF-A3A9-FB7254AB5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647950"/>
            <a:ext cx="4953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E3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17AD7E95-FFDA-4C63-9D61-0AD66F40A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7146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12A46"/>
                </a:solidFill>
              </a:defRPr>
            </a:pPr>
            <a:r>
              <a:rPr sz="1050" b="1">
                <a:solidFill>
                  <a:srgbClr val="112A46"/>
                </a:solidFill>
              </a:rPr>
              <a:t>③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2AC50C84-6620-4540-A8F9-8FD1A3E94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20992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12A46"/>
                </a:solidFill>
              </a:defRPr>
            </a:pPr>
            <a:r>
              <a:rPr sz="1725" b="1">
                <a:solidFill>
                  <a:srgbClr val="112A46"/>
                </a:solidFill>
              </a:rPr>
              <a:t>自建分析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DF4BED89-752E-473F-81BD-DF6FF0700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6861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8334F"/>
                </a:solidFill>
              </a:defRPr>
            </a:pPr>
            <a:r>
              <a:rPr sz="1425" b="1">
                <a:solidFill>
                  <a:srgbClr val="18334F"/>
                </a:solidFill>
              </a:rPr>
              <a:t>social-weekly-report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0B852BCF-2AD9-4221-8367-DAB6FAAF0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4171950"/>
            <a:ext cx="2333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D7186"/>
                </a:solidFill>
              </a:defRPr>
            </a:pPr>
            <a:r>
              <a:rPr sz="1200" b="0">
                <a:solidFill>
                  <a:srgbClr val="5D7186"/>
                </a:solidFill>
              </a:rPr>
              <a:t>CSV/Excel → 洞察、</a:t>
            </a:r>
          </a:p>
          <a:p xmlns:a="http://schemas.openxmlformats.org/drawingml/2006/main">
            <a:pPr>
              <a:buNone/>
              <a:defRPr sz="1200" b="0">
                <a:solidFill>
                  <a:srgbClr val="5D7186"/>
                </a:solidFill>
              </a:defRPr>
            </a:pPr>
            <a:r>
              <a:rPr sz="1200" b="0">
                <a:solidFill>
                  <a:srgbClr val="5D7186"/>
                </a:solidFill>
              </a:rPr>
              <a:t>图表、选题与周报</a:t>
            </a:r>
          </a:p>
        </p:txBody>
      </p:sp>
      <p:sp>
        <p:nvSpPr>
          <p:cNvPr id="23" name="圆角矩形 22">
            <a:extLst xmlns:a="http://schemas.openxmlformats.org/drawingml/2006/main">
              <a:ext uri="{FF2B5EF4-FFF2-40B4-BE49-F238E27FC236}">
                <a16:creationId xmlns:a16="http://schemas.microsoft.com/office/drawing/2014/main" id="{18BB9CEA-E21F-4055-8490-2411E3A25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67350"/>
            <a:ext cx="10477500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E3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EDDFC6C4-9982-46DD-AA8B-2920B6DFD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610225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12A46"/>
                </a:solidFill>
              </a:defRPr>
            </a:pPr>
            <a:r>
              <a:rPr sz="1275" b="1">
                <a:solidFill>
                  <a:srgbClr val="112A46"/>
                </a:solidFill>
              </a:rPr>
              <a:t>边界提醒：第三方采集可能涉及账号登录、平台规则和数据合规；建议低频研究、可追溯、先获得授权。</a:t>
            </a:r>
          </a:p>
        </p:txBody>
      </p:sp>
    </p:spTree>
    <p:extLst>
      <p:ext uri="{BB962C8B-B14F-4D97-AF65-F5344CB8AC3E}">
        <p14:creationId xmlns:p14="http://schemas.microsoft.com/office/powerpoint/2010/main" val="107435573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12A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4FCF6505-D50C-442A-869D-DCC86F39F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FD86E"/>
                </a:solidFill>
              </a:defRPr>
            </a:pPr>
            <a:r>
              <a:rPr sz="1050" b="1">
                <a:solidFill>
                  <a:srgbClr val="FFD86E"/>
                </a:solidFill>
              </a:rPr>
              <a:t>START SMALL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B717784A-7B42-432A-A64D-5D1A80D9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7810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FFFFFF"/>
                </a:solidFill>
              </a:defRPr>
            </a:pPr>
            <a:r>
              <a:rPr sz="3225" b="1">
                <a:solidFill>
                  <a:srgbClr val="FFFFFF"/>
                </a:solidFill>
              </a:rPr>
              <a:t>从三个小 Skill 开始，</a:t>
            </a:r>
          </a:p>
          <a:p xmlns:a="http://schemas.openxmlformats.org/drawingml/2006/main">
            <a:pPr>
              <a:buNone/>
              <a:defRPr sz="3225" b="1">
                <a:solidFill>
                  <a:srgbClr val="FFFFFF"/>
                </a:solidFill>
              </a:defRPr>
            </a:pPr>
            <a:r>
              <a:rPr sz="3225" b="1">
                <a:solidFill>
                  <a:srgbClr val="FFFFFF"/>
                </a:solidFill>
              </a:rPr>
              <a:t>把学习变成自己的工作流</a:t>
            </a:r>
          </a:p>
        </p:txBody>
      </p:sp>
      <p:sp>
        <p:nvSpPr>
          <p:cNvPr id="3" name="圆角矩形 2">
            <a:extLst xmlns:a="http://schemas.openxmlformats.org/drawingml/2006/main">
              <a:ext uri="{FF2B5EF4-FFF2-40B4-BE49-F238E27FC236}">
                <a16:creationId xmlns:a16="http://schemas.microsoft.com/office/drawing/2014/main" id="{CC5AF30D-FF26-4E8A-AC39-EB6CA6CA2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3143250" cy="1905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A3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71790318-0E9D-43E6-B616-02533AC92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40042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D86E"/>
                </a:solidFill>
              </a:defRPr>
            </a:pPr>
            <a:r>
              <a:rPr sz="1350" b="1">
                <a:solidFill>
                  <a:srgbClr val="FFD86E"/>
                </a:solidFill>
              </a:rPr>
              <a:t>01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B3F2EDEC-AB30-48B2-9B86-D36CD7A51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8481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infographic-designer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46CBB37-B782-43C6-A85D-982D2B5EC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3434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CAD9E4"/>
                </a:solidFill>
              </a:defRPr>
            </a:pPr>
            <a:r>
              <a:rPr sz="1200" b="0">
                <a:solidFill>
                  <a:srgbClr val="CAD9E4"/>
                </a:solidFill>
              </a:rPr>
              <a:t>把数据或提纲变成</a:t>
            </a:r>
          </a:p>
          <a:p xmlns:a="http://schemas.openxmlformats.org/drawingml/2006/main">
            <a:pPr>
              <a:buNone/>
              <a:defRPr sz="1200" b="0">
                <a:solidFill>
                  <a:srgbClr val="CAD9E4"/>
                </a:solidFill>
              </a:defRPr>
            </a:pPr>
            <a:r>
              <a:rPr sz="1200" b="0">
                <a:solidFill>
                  <a:srgbClr val="CAD9E4"/>
                </a:solidFill>
              </a:rPr>
              <a:t>环形图、循环图、信息长图</a:t>
            </a:r>
          </a:p>
        </p:txBody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15E94B48-334C-40F4-888F-56962B928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190875"/>
            <a:ext cx="3143250" cy="1905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249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3EB40D0F-7BF9-459C-BC81-CCB1F785B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40042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D86E"/>
                </a:solidFill>
              </a:defRPr>
            </a:pPr>
            <a:r>
              <a:rPr sz="1350" b="1">
                <a:solidFill>
                  <a:srgbClr val="FFD86E"/>
                </a:solidFill>
              </a:rPr>
              <a:t>02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70EA276-ACAD-4D8B-9B17-2A9108746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8481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xhs-content-breakdown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66033FA2-2393-4435-AD19-BA10C7A83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3434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CAD9E4"/>
                </a:solidFill>
              </a:defRPr>
            </a:pPr>
            <a:r>
              <a:rPr sz="1200" b="0">
                <a:solidFill>
                  <a:srgbClr val="CAD9E4"/>
                </a:solidFill>
              </a:rPr>
              <a:t>把爆文拆成标题、封面、</a:t>
            </a:r>
          </a:p>
          <a:p xmlns:a="http://schemas.openxmlformats.org/drawingml/2006/main">
            <a:pPr>
              <a:buNone/>
              <a:defRPr sz="1200" b="0">
                <a:solidFill>
                  <a:srgbClr val="CAD9E4"/>
                </a:solidFill>
              </a:defRPr>
            </a:pPr>
            <a:r>
              <a:rPr sz="1200" b="0">
                <a:solidFill>
                  <a:srgbClr val="CAD9E4"/>
                </a:solidFill>
              </a:rPr>
              <a:t>结构、评论痛点与选题</a:t>
            </a:r>
          </a:p>
        </p:txBody>
      </p:sp>
      <p:sp>
        <p:nvSpPr>
          <p:cNvPr id="11" name="圆角矩形 10">
            <a:extLst xmlns:a="http://schemas.openxmlformats.org/drawingml/2006/main">
              <a:ext uri="{FF2B5EF4-FFF2-40B4-BE49-F238E27FC236}">
                <a16:creationId xmlns:a16="http://schemas.microsoft.com/office/drawing/2014/main" id="{5C5F9801-7252-4AA7-BAA7-36E96521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190875"/>
            <a:ext cx="3143250" cy="1905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A3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B8DD7EB0-9C12-4A48-9A15-87E73CFD5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40042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D86E"/>
                </a:solidFill>
              </a:defRPr>
            </a:pPr>
            <a:r>
              <a:rPr sz="1350" b="1">
                <a:solidFill>
                  <a:srgbClr val="FFD86E"/>
                </a:solidFill>
              </a:rPr>
              <a:t>03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C1EAEE76-997A-40A0-825B-ACF79FC93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8481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social-weekly-report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3A71C38A-143D-429C-ACE1-26CB6D459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43434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CAD9E4"/>
                </a:solidFill>
              </a:defRPr>
            </a:pPr>
            <a:r>
              <a:rPr sz="1200" b="0">
                <a:solidFill>
                  <a:srgbClr val="CAD9E4"/>
                </a:solidFill>
              </a:rPr>
              <a:t>把每周数据变成</a:t>
            </a:r>
          </a:p>
          <a:p xmlns:a="http://schemas.openxmlformats.org/drawingml/2006/main">
            <a:pPr>
              <a:buNone/>
              <a:defRPr sz="1200" b="0">
                <a:solidFill>
                  <a:srgbClr val="CAD9E4"/>
                </a:solidFill>
              </a:defRPr>
            </a:pPr>
            <a:r>
              <a:rPr sz="1200" b="0">
                <a:solidFill>
                  <a:srgbClr val="CAD9E4"/>
                </a:solidFill>
              </a:rPr>
              <a:t>图表、洞察与下周行动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4AA27935-C668-41FF-B39B-08D9DFEF2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第一步建议：挑一个你每周真的会重复做的任务，先把它写成 Skill。</a:t>
            </a:r>
          </a:p>
        </p:txBody>
      </p:sp>
    </p:spTree>
    <p:extLst>
      <p:ext uri="{BB962C8B-B14F-4D97-AF65-F5344CB8AC3E}">
        <p14:creationId xmlns:p14="http://schemas.microsoft.com/office/powerpoint/2010/main" val="3550484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2026-07-28T14:16:15.7850000Z</dcterms:created>
  <dcterms:modified xsi:type="dcterms:W3CDTF">2026-07-28T14:16:15.7850000Z</dcterms:modified>
</coreProperties>
</file>