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7143750" cy="6858000"/>
          </a:xfrm>
          <a:prstGeom prst="rect">
            <a:avLst/>
          </a:prstGeom>
          <a:solidFill>
            <a:srgbClr val="07100B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7429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常州夜校 · 第一课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61925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5100" b="1">
                <a:solidFill>
                  <a:srgbClr val="F5F8EE"/>
                </a:solidFill>
              </a:defRPr>
            </a:pPr>
            <a:r>
              <a:rPr sz="5100" b="1">
                <a:solidFill>
                  <a:srgbClr val="F5F8EE"/>
                </a:solidFill>
              </a:rPr>
              <a:t>Vibe Coding</a:t>
            </a:r>
            <a:endParaRPr sz="5100" b="1">
              <a:solidFill>
                <a:srgbClr val="F5F8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253365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650" b="1">
                <a:solidFill>
                  <a:srgbClr val="D8FF3E"/>
                </a:solidFill>
              </a:defRPr>
            </a:pPr>
            <a:r>
              <a:rPr sz="4650" b="1">
                <a:solidFill>
                  <a:srgbClr val="D8FF3E"/>
                </a:solidFill>
              </a:rPr>
              <a:t>从 0 到 1</a:t>
            </a:r>
            <a:endParaRPr sz="4650" b="1">
              <a:solidFill>
                <a:srgbClr val="D8FF3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3619500"/>
            <a:ext cx="4953000" cy="28575"/>
          </a:xfrm>
          <a:prstGeom prst="rect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92430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A5B79C"/>
                </a:solidFill>
              </a:defRPr>
            </a:pPr>
            <a:r>
              <a:rPr sz="1800" b="0">
                <a:solidFill>
                  <a:srgbClr val="A5B79C"/>
                </a:solidFill>
              </a:rPr>
              <a:t>AI 提效 · 工具选择 · 第一个可验证作品</a:t>
            </a:r>
            <a:endParaRPr sz="1800" b="0">
              <a:solidFill>
                <a:srgbClr val="A5B79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5876925"/>
            <a:ext cx="561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START WITH VIBES.  FINISH WITH EVIDENCE.</a:t>
            </a:r>
            <a:endParaRPr sz="1050" b="1">
              <a:solidFill>
                <a:srgbClr val="6F816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TIANWEI AI LAB · AI TO IMPACT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02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天微 AI 实验室，专注让 AI 真正落地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752600"/>
            <a:ext cx="19050" cy="36195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1790700"/>
            <a:ext cx="123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200" b="1">
                <a:solidFill>
                  <a:srgbClr val="D8FF3E"/>
                </a:solidFill>
              </a:defRPr>
            </a:pPr>
            <a:r>
              <a:rPr sz="4200" b="1">
                <a:solidFill>
                  <a:srgbClr val="D8FF3E"/>
                </a:solidFill>
              </a:rPr>
              <a:t>01</a:t>
            </a:r>
            <a:endParaRPr sz="4200" b="1">
              <a:solidFill>
                <a:srgbClr val="D8FF3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7241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F5F8EE"/>
                </a:solidFill>
              </a:defRPr>
            </a:pPr>
            <a:r>
              <a:rPr sz="2400" b="1">
                <a:solidFill>
                  <a:srgbClr val="F5F8EE"/>
                </a:solidFill>
              </a:rPr>
              <a:t>使命</a:t>
            </a:r>
            <a:endParaRPr sz="2400" b="1">
              <a:solidFill>
                <a:srgbClr val="F5F8E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9650" y="3467100"/>
            <a:ext cx="2762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A5B79C"/>
                </a:solidFill>
              </a:defRPr>
            </a:pPr>
            <a:r>
              <a:rPr sz="1575" b="0">
                <a:solidFill>
                  <a:srgbClr val="A5B79C"/>
                </a:solidFill>
              </a:rPr>
              <a:t>推动AI在企业真实场景中落地，让技术转化为可衡量的业务价值。</a:t>
            </a:r>
            <a:endParaRPr sz="1575" b="0">
              <a:solidFill>
                <a:srgbClr val="A5B79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162425" y="1752600"/>
            <a:ext cx="19050" cy="36195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91025" y="1790700"/>
            <a:ext cx="123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200" b="1">
                <a:solidFill>
                  <a:srgbClr val="D8FF3E"/>
                </a:solidFill>
              </a:defRPr>
            </a:pPr>
            <a:r>
              <a:rPr sz="4200" b="1">
                <a:solidFill>
                  <a:srgbClr val="D8FF3E"/>
                </a:solidFill>
              </a:rPr>
              <a:t>02</a:t>
            </a:r>
            <a:endParaRPr sz="4200" b="1">
              <a:solidFill>
                <a:srgbClr val="D8FF3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91025" y="27241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F5F8EE"/>
                </a:solidFill>
              </a:defRPr>
            </a:pPr>
            <a:r>
              <a:rPr sz="2400" b="1">
                <a:solidFill>
                  <a:srgbClr val="F5F8EE"/>
                </a:solidFill>
              </a:rPr>
              <a:t>愿景</a:t>
            </a:r>
            <a:endParaRPr sz="2400" b="1">
              <a:solidFill>
                <a:srgbClr val="F5F8E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91025" y="3467100"/>
            <a:ext cx="2762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A5B79C"/>
                </a:solidFill>
              </a:defRPr>
            </a:pPr>
            <a:r>
              <a:rPr sz="1575" b="0">
                <a:solidFill>
                  <a:srgbClr val="A5B79C"/>
                </a:solidFill>
              </a:rPr>
              <a:t>成为最懂AI落地的实践型实验室，持续拓展人与组织的能力边界。</a:t>
            </a:r>
            <a:endParaRPr sz="1575" b="0">
              <a:solidFill>
                <a:srgbClr val="A5B79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43800" y="1752600"/>
            <a:ext cx="19050" cy="36195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772400" y="1790700"/>
            <a:ext cx="123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200" b="1">
                <a:solidFill>
                  <a:srgbClr val="D8FF3E"/>
                </a:solidFill>
              </a:defRPr>
            </a:pPr>
            <a:r>
              <a:rPr sz="4200" b="1">
                <a:solidFill>
                  <a:srgbClr val="D8FF3E"/>
                </a:solidFill>
              </a:rPr>
              <a:t>03</a:t>
            </a:r>
            <a:endParaRPr sz="4200" b="1">
              <a:solidFill>
                <a:srgbClr val="D8FF3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772400" y="27241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F5F8EE"/>
                </a:solidFill>
              </a:defRPr>
            </a:pPr>
            <a:r>
              <a:rPr sz="2400" b="1">
                <a:solidFill>
                  <a:srgbClr val="F5F8EE"/>
                </a:solidFill>
              </a:rPr>
              <a:t>价值观</a:t>
            </a:r>
            <a:endParaRPr sz="2400" b="1">
              <a:solidFill>
                <a:srgbClr val="F5F8E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72400" y="3467100"/>
            <a:ext cx="2762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A5B79C"/>
                </a:solidFill>
              </a:defRPr>
            </a:pPr>
            <a:r>
              <a:rPr sz="1575" b="0">
                <a:solidFill>
                  <a:srgbClr val="A5B79C"/>
                </a:solidFill>
              </a:rPr>
              <a:t>实践为先、开放分享、持续探索、对结果负责。</a:t>
            </a:r>
            <a:endParaRPr sz="1575" b="0">
              <a:solidFill>
                <a:srgbClr val="A5B79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5810250"/>
            <a:ext cx="1038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2FF7A"/>
                </a:solidFill>
              </a:defRPr>
            </a:pPr>
            <a:r>
              <a:rPr sz="1875" b="1">
                <a:solidFill>
                  <a:srgbClr val="F2FF7A"/>
                </a:solidFill>
              </a:rPr>
              <a:t>研究 AI 企业落地｜探索 AI 能力边界｜分享前沿 AI 技术</a:t>
            </a:r>
            <a:endParaRPr sz="1875" b="1">
              <a:solidFill>
                <a:srgbClr val="F2FF7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03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AI 能让原型出现得很快，但“能跑”还不是终点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185737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5400" b="1">
                <a:solidFill>
                  <a:srgbClr val="D8FF3E"/>
                </a:solidFill>
              </a:defRPr>
            </a:pPr>
            <a:r>
              <a:rPr sz="5400" b="1">
                <a:solidFill>
                  <a:srgbClr val="D8FF3E"/>
                </a:solidFill>
              </a:rPr>
              <a:t>能跑</a:t>
            </a:r>
            <a:endParaRPr sz="5400" b="1">
              <a:solidFill>
                <a:srgbClr val="D8FF3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810125" y="19431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950" b="1">
                <a:solidFill>
                  <a:srgbClr val="6F816C"/>
                </a:solidFill>
              </a:defRPr>
            </a:pPr>
            <a:r>
              <a:rPr sz="4950" b="1">
                <a:solidFill>
                  <a:srgbClr val="6F816C"/>
                </a:solidFill>
              </a:rPr>
              <a:t>≠</a:t>
            </a:r>
            <a:endParaRPr sz="4950" b="1">
              <a:solidFill>
                <a:srgbClr val="6F816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81750" y="185737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5400" b="1">
                <a:solidFill>
                  <a:srgbClr val="F5F8EE"/>
                </a:solidFill>
              </a:defRPr>
            </a:pPr>
            <a:r>
              <a:rPr sz="5400" b="1">
                <a:solidFill>
                  <a:srgbClr val="F5F8EE"/>
                </a:solidFill>
              </a:rPr>
              <a:t>可靠</a:t>
            </a:r>
            <a:endParaRPr sz="5400" b="1">
              <a:solidFill>
                <a:srgbClr val="F5F8E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143250"/>
            <a:ext cx="106299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3562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D8FF3E"/>
                </a:solidFill>
              </a:defRPr>
            </a:pPr>
            <a:r>
              <a:rPr sz="1650" b="1">
                <a:solidFill>
                  <a:srgbClr val="D8FF3E"/>
                </a:solidFill>
              </a:rPr>
              <a:t>原型阶段</a:t>
            </a:r>
            <a:endParaRPr sz="1650" b="1">
              <a:solidFill>
                <a:srgbClr val="D8FF3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39624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5F8EE"/>
                </a:solidFill>
              </a:defRPr>
            </a:pPr>
            <a:r>
              <a:rPr sz="2250" b="1">
                <a:solidFill>
                  <a:srgbClr val="F5F8EE"/>
                </a:solidFill>
              </a:rPr>
              <a:t>先把想法变成可见结果</a:t>
            </a:r>
            <a:endParaRPr sz="2250" b="1">
              <a:solidFill>
                <a:srgbClr val="F5F8E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44958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A5B79C"/>
                </a:solidFill>
              </a:defRPr>
            </a:pPr>
            <a:r>
              <a:rPr sz="1425" b="0">
                <a:solidFill>
                  <a:srgbClr val="A5B79C"/>
                </a:solidFill>
              </a:rPr>
              <a:t>自然语言、快速反馈、小步试错</a:t>
            </a:r>
            <a:endParaRPr sz="1425" b="0">
              <a:solidFill>
                <a:srgbClr val="A5B79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3562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2FF7A"/>
                </a:solidFill>
              </a:defRPr>
            </a:pPr>
            <a:r>
              <a:rPr sz="1650" b="1">
                <a:solidFill>
                  <a:srgbClr val="F2FF7A"/>
                </a:solidFill>
              </a:rPr>
              <a:t>真实交付</a:t>
            </a:r>
            <a:endParaRPr sz="1650" b="1">
              <a:solidFill>
                <a:srgbClr val="F2FF7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0" y="3962400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5F8EE"/>
                </a:solidFill>
              </a:defRPr>
            </a:pPr>
            <a:r>
              <a:rPr sz="2250" b="1">
                <a:solidFill>
                  <a:srgbClr val="F5F8EE"/>
                </a:solidFill>
              </a:rPr>
              <a:t>再用证据证明它值得信任</a:t>
            </a:r>
            <a:endParaRPr sz="2250" b="1">
              <a:solidFill>
                <a:srgbClr val="F5F8E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44958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A5B79C"/>
                </a:solidFill>
              </a:defRPr>
            </a:pPr>
            <a:r>
              <a:rPr sz="1425" b="0">
                <a:solidFill>
                  <a:srgbClr val="A5B79C"/>
                </a:solidFill>
              </a:rPr>
              <a:t>测试、安全、维护、版本记录</a:t>
            </a:r>
            <a:endParaRPr sz="1425" b="0">
              <a:solidFill>
                <a:srgbClr val="A5B79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5686425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CFF6B"/>
                </a:solidFill>
              </a:defRPr>
            </a:pPr>
            <a:r>
              <a:rPr sz="1800" b="1">
                <a:solidFill>
                  <a:srgbClr val="7CFF6B"/>
                </a:solidFill>
              </a:rPr>
              <a:t>这节课的主线：先跨过门槛，再建立边界。</a:t>
            </a:r>
            <a:endParaRPr sz="1800" b="1">
              <a:solidFill>
                <a:srgbClr val="7CFF6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04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Vibe Coding 不是突然出现的：自然语言先成为了开发接口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19200" y="3067050"/>
            <a:ext cx="9572625" cy="381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190625" y="2990850"/>
            <a:ext cx="190500" cy="1905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14425" y="18097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D8FF3E"/>
                </a:solidFill>
              </a:defRPr>
            </a:pPr>
            <a:r>
              <a:rPr sz="1650" b="1">
                <a:solidFill>
                  <a:srgbClr val="D8FF3E"/>
                </a:solidFill>
              </a:rPr>
              <a:t>2023.01</a:t>
            </a:r>
            <a:endParaRPr sz="1650" b="1">
              <a:solidFill>
                <a:srgbClr val="D8FF3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" y="2190750"/>
            <a:ext cx="219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F8EE"/>
                </a:solidFill>
              </a:defRPr>
            </a:pPr>
            <a:r>
              <a:rPr sz="1650" b="1">
                <a:solidFill>
                  <a:srgbClr val="F5F8EE"/>
                </a:solidFill>
              </a:rPr>
              <a:t>英语成为“新编程语言”</a:t>
            </a:r>
            <a:endParaRPr sz="1650" b="1">
              <a:solidFill>
                <a:srgbClr val="F5F8E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14425" y="3476625"/>
            <a:ext cx="223837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Karpathy 预言自然语言将成为新的编程入口。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3952875" y="2990850"/>
            <a:ext cx="190500" cy="1905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76675" y="18097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D8FF3E"/>
                </a:solidFill>
              </a:defRPr>
            </a:pPr>
            <a:r>
              <a:rPr sz="1650" b="1">
                <a:solidFill>
                  <a:srgbClr val="D8FF3E"/>
                </a:solidFill>
              </a:rPr>
              <a:t>2025.02</a:t>
            </a:r>
            <a:endParaRPr sz="1650" b="1">
              <a:solidFill>
                <a:srgbClr val="D8FF3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76675" y="2190750"/>
            <a:ext cx="219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F8EE"/>
                </a:solidFill>
              </a:defRPr>
            </a:pPr>
            <a:r>
              <a:rPr sz="1650" b="1">
                <a:solidFill>
                  <a:srgbClr val="F5F8EE"/>
                </a:solidFill>
              </a:rPr>
              <a:t>Vibe Coding 被命名</a:t>
            </a:r>
            <a:endParaRPr sz="1650" b="1">
              <a:solidFill>
                <a:srgbClr val="F5F8E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76675" y="3476625"/>
            <a:ext cx="223837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顺着感觉、观察结果，甚至暂时忘记代码存在。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6715125" y="2990850"/>
            <a:ext cx="190500" cy="1905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38925" y="18097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D8FF3E"/>
                </a:solidFill>
              </a:defRPr>
            </a:pPr>
            <a:r>
              <a:rPr sz="1650" b="1">
                <a:solidFill>
                  <a:srgbClr val="D8FF3E"/>
                </a:solidFill>
              </a:rPr>
              <a:t>2025.03</a:t>
            </a:r>
            <a:endParaRPr sz="1650" b="1">
              <a:solidFill>
                <a:srgbClr val="D8FF3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38925" y="2190750"/>
            <a:ext cx="219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F8EE"/>
                </a:solidFill>
              </a:defRPr>
            </a:pPr>
            <a:r>
              <a:rPr sz="1650" b="1">
                <a:solidFill>
                  <a:srgbClr val="F5F8EE"/>
                </a:solidFill>
              </a:rPr>
              <a:t>陌生技术栈也能快速启动</a:t>
            </a:r>
            <a:endParaRPr sz="1650" b="1">
              <a:solidFill>
                <a:srgbClr val="F5F8E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38925" y="3476625"/>
            <a:ext cx="223837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他用 AI 在约一小时内让 iOS App 跑到真机。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9477375" y="2990850"/>
            <a:ext cx="190500" cy="190500"/>
          </a:xfrm>
          <a:prstGeom prst="ellipse">
            <a:avLst/>
          </a:prstGeom>
          <a:solidFill>
            <a:srgbClr val="F2FF7A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401175" y="18097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2FF7A"/>
                </a:solidFill>
              </a:defRPr>
            </a:pPr>
            <a:r>
              <a:rPr sz="1650" b="1">
                <a:solidFill>
                  <a:srgbClr val="F2FF7A"/>
                </a:solidFill>
              </a:rPr>
              <a:t>2025.04</a:t>
            </a:r>
            <a:endParaRPr sz="1650" b="1">
              <a:solidFill>
                <a:srgbClr val="F2FF7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401175" y="2190750"/>
            <a:ext cx="219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F8EE"/>
                </a:solidFill>
              </a:defRPr>
            </a:pPr>
            <a:r>
              <a:rPr sz="1650" b="1">
                <a:solidFill>
                  <a:srgbClr val="F5F8EE"/>
                </a:solidFill>
              </a:rPr>
              <a:t>专业代码必须收紧控制</a:t>
            </a:r>
            <a:endParaRPr sz="1650" b="1">
              <a:solidFill>
                <a:srgbClr val="F5F8E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01175" y="3476625"/>
            <a:ext cx="223837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上下文、小步修改、审查、测试、提交。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6191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F816C"/>
                </a:solidFill>
              </a:defRPr>
            </a:pPr>
            <a:r>
              <a:rPr sz="975" b="0">
                <a:solidFill>
                  <a:srgbClr val="6F816C"/>
                </a:solidFill>
              </a:rPr>
              <a:t>[1] [2] [3]</a:t>
            </a:r>
            <a:endParaRPr sz="975" b="0">
              <a:solidFill>
                <a:srgbClr val="6F816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05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关键边界不在“有没有 AI”，而在“人是否仍然理解并负责”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562100"/>
            <a:ext cx="5048250" cy="4048125"/>
          </a:xfrm>
          <a:prstGeom prst="roundRect">
            <a:avLst>
              <a:gd name="adj" fmla="val 2824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981700" y="1562100"/>
            <a:ext cx="5524500" cy="4048125"/>
          </a:xfrm>
          <a:prstGeom prst="roundRect">
            <a:avLst>
              <a:gd name="adj" fmla="val 2824"/>
            </a:avLst>
          </a:prstGeom>
          <a:solidFill>
            <a:srgbClr val="152C20"/>
          </a:solidFill>
          <a:ln w="9525">
            <a:solidFill>
              <a:srgbClr val="D8FF3E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1943100"/>
            <a:ext cx="266700" cy="28575"/>
          </a:xfrm>
          <a:prstGeom prst="rect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81125" y="18669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D8FF3E"/>
                </a:solidFill>
              </a:defRPr>
            </a:pPr>
            <a:r>
              <a:rPr sz="1200" b="1">
                <a:solidFill>
                  <a:srgbClr val="D8FF3E"/>
                </a:solidFill>
              </a:rPr>
              <a:t>VIBE CODING · 原义</a:t>
            </a:r>
            <a:endParaRPr sz="1200" b="1">
              <a:solidFill>
                <a:srgbClr val="D8FF3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0125" y="2343150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F5F8EE"/>
                </a:solidFill>
              </a:defRPr>
            </a:pPr>
            <a:r>
              <a:rPr sz="2550" b="1">
                <a:solidFill>
                  <a:srgbClr val="F5F8EE"/>
                </a:solidFill>
              </a:rPr>
              <a:t>只盯结果，</a:t>
            </a:r>
            <a:endParaRPr sz="2550" b="1">
              <a:solidFill>
                <a:srgbClr val="F5F8EE"/>
              </a:solidFill>
            </a:endParaRPr>
          </a:p>
          <a:p>
            <a:pPr algn="l">
              <a:buNone/>
              <a:defRPr sz="2550" b="1">
                <a:solidFill>
                  <a:srgbClr val="F5F8EE"/>
                </a:solidFill>
              </a:defRPr>
            </a:pPr>
            <a:r>
              <a:rPr sz="2550" b="1">
                <a:solidFill>
                  <a:srgbClr val="F5F8EE"/>
                </a:solidFill>
              </a:rPr>
              <a:t>代码退到视野之外</a:t>
            </a:r>
            <a:endParaRPr sz="2550" b="1">
              <a:solidFill>
                <a:srgbClr val="F5F8EE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19175" y="37052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28725" y="361950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连续描述修改，快速试错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019175" y="42195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28725" y="413385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适合低风险、短生命周期原型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019175" y="47339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28725" y="464820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失败时容易陷入“继续问 AI”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34125" y="1943100"/>
            <a:ext cx="266700" cy="28575"/>
          </a:xfrm>
          <a:prstGeom prst="rect">
            <a:avLst/>
          </a:prstGeom>
          <a:solidFill>
            <a:srgbClr val="F2FF7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715125" y="18669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2FF7A"/>
                </a:solidFill>
              </a:defRPr>
            </a:pPr>
            <a:r>
              <a:rPr sz="1200" b="1">
                <a:solidFill>
                  <a:srgbClr val="F2FF7A"/>
                </a:solidFill>
              </a:rPr>
              <a:t>AI 辅助软件开发</a:t>
            </a:r>
            <a:endParaRPr sz="1200" b="1">
              <a:solidFill>
                <a:srgbClr val="F2FF7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34125" y="2343150"/>
            <a:ext cx="447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F5F8EE"/>
                </a:solidFill>
              </a:defRPr>
            </a:pPr>
            <a:r>
              <a:rPr sz="2550" b="1">
                <a:solidFill>
                  <a:srgbClr val="F5F8EE"/>
                </a:solidFill>
              </a:rPr>
              <a:t>AI 写得再多，</a:t>
            </a:r>
            <a:endParaRPr sz="2550" b="1">
              <a:solidFill>
                <a:srgbClr val="F5F8EE"/>
              </a:solidFill>
            </a:endParaRPr>
          </a:p>
          <a:p>
            <a:pPr algn="l">
              <a:buNone/>
              <a:defRPr sz="2550" b="1">
                <a:solidFill>
                  <a:srgbClr val="F5F8EE"/>
                </a:solidFill>
              </a:defRPr>
            </a:pPr>
            <a:r>
              <a:rPr sz="2550" b="1">
                <a:solidFill>
                  <a:srgbClr val="F5F8EE"/>
                </a:solidFill>
              </a:rPr>
              <a:t>人仍要审查与解释</a:t>
            </a:r>
            <a:endParaRPr sz="2550" b="1">
              <a:solidFill>
                <a:srgbClr val="F5F8EE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353175" y="37052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62725" y="3619500"/>
            <a:ext cx="4057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一次只做一个可验证变化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353175" y="42195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562725" y="4133850"/>
            <a:ext cx="4057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阅读关键代码、测试边界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353175" y="47339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562725" y="4648200"/>
            <a:ext cx="4057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对上线与维护承担责任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43000" y="59245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CFF6B"/>
                </a:solidFill>
              </a:defRPr>
            </a:pPr>
            <a:r>
              <a:rPr sz="1350" b="1">
                <a:solidFill>
                  <a:srgbClr val="7CFF6B"/>
                </a:solidFill>
              </a:rPr>
              <a:t>Simon Willison：如果你审查、测试、理解并能解释它，那仍然是软件开发。</a:t>
            </a:r>
            <a:endParaRPr sz="1350" b="1">
              <a:solidFill>
                <a:srgbClr val="7CFF6B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63436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F816C"/>
                </a:solidFill>
              </a:defRPr>
            </a:pPr>
            <a:r>
              <a:rPr sz="975" b="0">
                <a:solidFill>
                  <a:srgbClr val="6F816C"/>
                </a:solidFill>
              </a:rPr>
              <a:t>[2] [4]</a:t>
            </a:r>
            <a:endParaRPr sz="975" b="0">
              <a:solidFill>
                <a:srgbClr val="6F816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06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AI 降低了语法门槛，却放大了三种人的能力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752600"/>
            <a:ext cx="19050" cy="36195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1790700"/>
            <a:ext cx="123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200" b="1">
                <a:solidFill>
                  <a:srgbClr val="D8FF3E"/>
                </a:solidFill>
              </a:defRPr>
            </a:pPr>
            <a:r>
              <a:rPr sz="4200" b="1">
                <a:solidFill>
                  <a:srgbClr val="D8FF3E"/>
                </a:solidFill>
              </a:rPr>
              <a:t>01</a:t>
            </a:r>
            <a:endParaRPr sz="4200" b="1">
              <a:solidFill>
                <a:srgbClr val="D8FF3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7241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F5F8EE"/>
                </a:solidFill>
              </a:defRPr>
            </a:pPr>
            <a:r>
              <a:rPr sz="2400" b="1">
                <a:solidFill>
                  <a:srgbClr val="F5F8EE"/>
                </a:solidFill>
              </a:rPr>
              <a:t>描述需求</a:t>
            </a:r>
            <a:endParaRPr sz="2400" b="1">
              <a:solidFill>
                <a:srgbClr val="F5F8E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9650" y="3467100"/>
            <a:ext cx="2762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A5B79C"/>
                </a:solidFill>
              </a:defRPr>
            </a:pPr>
            <a:r>
              <a:rPr sz="1575" b="0">
                <a:solidFill>
                  <a:srgbClr val="A5B79C"/>
                </a:solidFill>
              </a:rPr>
              <a:t>把模糊愿望说成用户、输入、输出、约束与验收。</a:t>
            </a:r>
            <a:endParaRPr sz="1575" b="0">
              <a:solidFill>
                <a:srgbClr val="A5B79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162425" y="1752600"/>
            <a:ext cx="19050" cy="36195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91025" y="1790700"/>
            <a:ext cx="123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200" b="1">
                <a:solidFill>
                  <a:srgbClr val="D8FF3E"/>
                </a:solidFill>
              </a:defRPr>
            </a:pPr>
            <a:r>
              <a:rPr sz="4200" b="1">
                <a:solidFill>
                  <a:srgbClr val="D8FF3E"/>
                </a:solidFill>
              </a:rPr>
              <a:t>02</a:t>
            </a:r>
            <a:endParaRPr sz="4200" b="1">
              <a:solidFill>
                <a:srgbClr val="D8FF3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91025" y="27241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F5F8EE"/>
                </a:solidFill>
              </a:defRPr>
            </a:pPr>
            <a:r>
              <a:rPr sz="2400" b="1">
                <a:solidFill>
                  <a:srgbClr val="F5F8EE"/>
                </a:solidFill>
              </a:rPr>
              <a:t>验证结果</a:t>
            </a:r>
            <a:endParaRPr sz="2400" b="1">
              <a:solidFill>
                <a:srgbClr val="F5F8E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91025" y="3467100"/>
            <a:ext cx="2762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A5B79C"/>
                </a:solidFill>
              </a:defRPr>
            </a:pPr>
            <a:r>
              <a:rPr sz="1575" b="0">
                <a:solidFill>
                  <a:srgbClr val="A5B79C"/>
                </a:solidFill>
              </a:rPr>
              <a:t>不只看界面；检查数据、错误路径、权限与测试证据。</a:t>
            </a:r>
            <a:endParaRPr sz="1575" b="0">
              <a:solidFill>
                <a:srgbClr val="A5B79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43800" y="1752600"/>
            <a:ext cx="19050" cy="36195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772400" y="1790700"/>
            <a:ext cx="123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200" b="1">
                <a:solidFill>
                  <a:srgbClr val="D8FF3E"/>
                </a:solidFill>
              </a:defRPr>
            </a:pPr>
            <a:r>
              <a:rPr sz="4200" b="1">
                <a:solidFill>
                  <a:srgbClr val="D8FF3E"/>
                </a:solidFill>
              </a:rPr>
              <a:t>03</a:t>
            </a:r>
            <a:endParaRPr sz="4200" b="1">
              <a:solidFill>
                <a:srgbClr val="D8FF3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772400" y="27241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F5F8EE"/>
                </a:solidFill>
              </a:defRPr>
            </a:pPr>
            <a:r>
              <a:rPr sz="2400" b="1">
                <a:solidFill>
                  <a:srgbClr val="F5F8EE"/>
                </a:solidFill>
              </a:rPr>
              <a:t>迭代优化</a:t>
            </a:r>
            <a:endParaRPr sz="2400" b="1">
              <a:solidFill>
                <a:srgbClr val="F5F8E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72400" y="3467100"/>
            <a:ext cx="2762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A5B79C"/>
                </a:solidFill>
              </a:defRPr>
            </a:pPr>
            <a:r>
              <a:rPr sz="1575" b="0">
                <a:solidFill>
                  <a:srgbClr val="A5B79C"/>
                </a:solidFill>
              </a:rPr>
              <a:t>一次改一件事，保留稳定版本，失败时能退回。</a:t>
            </a:r>
            <a:endParaRPr sz="1575" b="0">
              <a:solidFill>
                <a:srgbClr val="A5B79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5810250"/>
            <a:ext cx="1038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2FF7A"/>
                </a:solidFill>
              </a:defRPr>
            </a:pPr>
            <a:r>
              <a:rPr sz="1875" b="1">
                <a:solidFill>
                  <a:srgbClr val="F2FF7A"/>
                </a:solidFill>
              </a:rPr>
              <a:t>真正稀缺的，不再只是敲代码的速度，而是判断什么值得做、什么算完成。</a:t>
            </a:r>
            <a:endParaRPr sz="1875" b="1">
              <a:solidFill>
                <a:srgbClr val="F2FF7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07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客户端负责体验，服务器负责规则、数据与安全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448300" y="3057525"/>
            <a:ext cx="1295400" cy="762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91200" y="2743200"/>
            <a:ext cx="66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D8FF3E"/>
                </a:solidFill>
              </a:defRPr>
            </a:pPr>
            <a:r>
              <a:rPr sz="2550" b="1">
                <a:solidFill>
                  <a:srgbClr val="D8FF3E"/>
                </a:solidFill>
              </a:rPr>
              <a:t>⇄</a:t>
            </a:r>
            <a:endParaRPr sz="2550" b="1">
              <a:solidFill>
                <a:srgbClr val="D8FF3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67350" y="33528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HTTPS · JSON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1676400"/>
            <a:ext cx="4629150" cy="3810000"/>
          </a:xfrm>
          <a:prstGeom prst="roundRect">
            <a:avLst>
              <a:gd name="adj" fmla="val 3000"/>
            </a:avLst>
          </a:prstGeom>
          <a:solidFill>
            <a:srgbClr val="152C20"/>
          </a:solidFill>
          <a:ln w="9525">
            <a:solidFill>
              <a:srgbClr val="D8FF3E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877050" y="1676400"/>
            <a:ext cx="4629150" cy="3810000"/>
          </a:xfrm>
          <a:prstGeom prst="roundRect">
            <a:avLst>
              <a:gd name="adj" fmla="val 3000"/>
            </a:avLst>
          </a:prstGeom>
          <a:solidFill>
            <a:srgbClr val="102219"/>
          </a:solidFill>
          <a:ln w="9525">
            <a:solidFill>
              <a:srgbClr val="F2FF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2076450"/>
            <a:ext cx="266700" cy="28575"/>
          </a:xfrm>
          <a:prstGeom prst="rect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09700" y="20002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D8FF3E"/>
                </a:solidFill>
              </a:defRPr>
            </a:pPr>
            <a:r>
              <a:rPr sz="1200" b="1">
                <a:solidFill>
                  <a:srgbClr val="D8FF3E"/>
                </a:solidFill>
              </a:rPr>
              <a:t>CLIENT · 客户端</a:t>
            </a:r>
            <a:endParaRPr sz="1200" b="1">
              <a:solidFill>
                <a:srgbClr val="D8FF3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24574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F5F8EE"/>
                </a:solidFill>
              </a:defRPr>
            </a:pPr>
            <a:r>
              <a:rPr sz="2325" b="1">
                <a:solidFill>
                  <a:srgbClr val="F5F8EE"/>
                </a:solidFill>
              </a:rPr>
              <a:t>运行在用户设备上</a:t>
            </a:r>
            <a:endParaRPr sz="2325" b="1">
              <a:solidFill>
                <a:srgbClr val="F5F8EE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47750" y="33051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57300" y="3219450"/>
            <a:ext cx="348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展示界面，收集点击与输入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47750" y="38385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3752850"/>
            <a:ext cx="348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做即时校验，渲染返回结果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047750" y="43719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4286250"/>
            <a:ext cx="348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浏览器、桌面 App、手机 App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28700" y="49530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D8FF3E"/>
                </a:solidFill>
              </a:defRPr>
            </a:pPr>
            <a:r>
              <a:rPr sz="1500" b="1">
                <a:solidFill>
                  <a:srgbClr val="D8FF3E"/>
                </a:solidFill>
              </a:rPr>
              <a:t>不能保存第三方长期密钥</a:t>
            </a:r>
            <a:endParaRPr sz="1500" b="1">
              <a:solidFill>
                <a:srgbClr val="D8FF3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19950" y="2076450"/>
            <a:ext cx="266700" cy="28575"/>
          </a:xfrm>
          <a:prstGeom prst="rect">
            <a:avLst/>
          </a:prstGeom>
          <a:solidFill>
            <a:srgbClr val="F2FF7A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00950" y="20002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2FF7A"/>
                </a:solidFill>
              </a:defRPr>
            </a:pPr>
            <a:r>
              <a:rPr sz="1200" b="1">
                <a:solidFill>
                  <a:srgbClr val="F2FF7A"/>
                </a:solidFill>
              </a:rPr>
              <a:t>SERVER · 服务器</a:t>
            </a:r>
            <a:endParaRPr sz="1200" b="1">
              <a:solidFill>
                <a:srgbClr val="F2FF7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19950" y="24574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F5F8EE"/>
                </a:solidFill>
              </a:defRPr>
            </a:pPr>
            <a:r>
              <a:rPr sz="2325" b="1">
                <a:solidFill>
                  <a:srgbClr val="F5F8EE"/>
                </a:solidFill>
              </a:rPr>
              <a:t>运行在受控环境中</a:t>
            </a:r>
            <a:endParaRPr sz="2325" b="1">
              <a:solidFill>
                <a:srgbClr val="F5F8EE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7239000" y="33051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3219450"/>
            <a:ext cx="348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鉴权、业务规则与权限判断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239000" y="38385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3752850"/>
            <a:ext cx="348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访问数据库、模型与外部服务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7239000" y="43719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48550" y="4286250"/>
            <a:ext cx="348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保存密钥，限流、日志与审计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219950" y="49530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FF7A"/>
                </a:solidFill>
              </a:defRPr>
            </a:pPr>
            <a:r>
              <a:rPr sz="1500" b="1">
                <a:solidFill>
                  <a:srgbClr val="F2FF7A"/>
                </a:solidFill>
              </a:rPr>
              <a:t>对数据和成本承担控制责任</a:t>
            </a:r>
            <a:endParaRPr sz="1500" b="1">
              <a:solidFill>
                <a:srgbClr val="F2FF7A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57250" y="59055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7CFF6B"/>
                </a:solidFill>
              </a:defRPr>
            </a:pPr>
            <a:r>
              <a:rPr sz="1800" b="1">
                <a:solidFill>
                  <a:srgbClr val="7CFF6B"/>
                </a:solidFill>
              </a:rPr>
              <a:t>客户端决定“怎么用”，服务器决定“能不能做、怎么安全地做”。</a:t>
            </a:r>
            <a:endParaRPr sz="1800" b="1">
              <a:solidFill>
                <a:srgbClr val="7CFF6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08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一次点击如何穿过客户端、API 与服务器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287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CFF6B"/>
                </a:solidFill>
              </a:defRPr>
            </a:pPr>
            <a:r>
              <a:rPr sz="1875" b="1">
                <a:solidFill>
                  <a:srgbClr val="7CFF6B"/>
                </a:solidFill>
              </a:rPr>
              <a:t>API 是一份可执行的沟通契约：按格式请求，按格式返回。</a:t>
            </a:r>
            <a:endParaRPr sz="1875" b="1">
              <a:solidFill>
                <a:srgbClr val="7CFF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43150" y="3124200"/>
            <a:ext cx="400050" cy="762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400300" y="291465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D8FF3E"/>
                </a:solidFill>
              </a:defRPr>
            </a:pPr>
            <a:r>
              <a:rPr sz="2250" b="1">
                <a:solidFill>
                  <a:srgbClr val="D8FF3E"/>
                </a:solidFill>
              </a:rPr>
              <a:t>›</a:t>
            </a:r>
            <a:endParaRPr sz="2250" b="1">
              <a:solidFill>
                <a:srgbClr val="D8FF3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14850" y="3124200"/>
            <a:ext cx="400050" cy="762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572000" y="291465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D8FF3E"/>
                </a:solidFill>
              </a:defRPr>
            </a:pPr>
            <a:r>
              <a:rPr sz="2250" b="1">
                <a:solidFill>
                  <a:srgbClr val="D8FF3E"/>
                </a:solidFill>
              </a:rPr>
              <a:t>›</a:t>
            </a:r>
            <a:endParaRPr sz="2250" b="1">
              <a:solidFill>
                <a:srgbClr val="D8FF3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3124200"/>
            <a:ext cx="400050" cy="762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743700" y="291465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D8FF3E"/>
                </a:solidFill>
              </a:defRPr>
            </a:pPr>
            <a:r>
              <a:rPr sz="2250" b="1">
                <a:solidFill>
                  <a:srgbClr val="D8FF3E"/>
                </a:solidFill>
              </a:rPr>
              <a:t>›</a:t>
            </a:r>
            <a:endParaRPr sz="2250" b="1">
              <a:solidFill>
                <a:srgbClr val="D8FF3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858250" y="3124200"/>
            <a:ext cx="400050" cy="7620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15400" y="291465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D8FF3E"/>
                </a:solidFill>
              </a:defRPr>
            </a:pPr>
            <a:r>
              <a:rPr sz="2250" b="1">
                <a:solidFill>
                  <a:srgbClr val="D8FF3E"/>
                </a:solidFill>
              </a:rPr>
              <a:t>›</a:t>
            </a:r>
            <a:endParaRPr sz="2250" b="1">
              <a:solidFill>
                <a:srgbClr val="D8FF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85800" y="2133600"/>
            <a:ext cx="1771650" cy="2514600"/>
          </a:xfrm>
          <a:prstGeom prst="roundRect">
            <a:avLst>
              <a:gd name="adj" fmla="val 6452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234315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D8FF3E"/>
                </a:solidFill>
              </a:defRPr>
            </a:pPr>
            <a:r>
              <a:rPr sz="1725" b="1">
                <a:solidFill>
                  <a:srgbClr val="D8FF3E"/>
                </a:solidFill>
              </a:rPr>
              <a:t>01</a:t>
            </a:r>
            <a:endParaRPr sz="1725" b="1">
              <a:solidFill>
                <a:srgbClr val="D8FF3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281940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客户端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34766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CFF6B"/>
                </a:solidFill>
              </a:defRPr>
            </a:pPr>
            <a:r>
              <a:rPr sz="1350" b="1">
                <a:solidFill>
                  <a:srgbClr val="7CFF6B"/>
                </a:solidFill>
              </a:rPr>
              <a:t>收集输入</a:t>
            </a:r>
            <a:endParaRPr sz="1350" b="1">
              <a:solidFill>
                <a:srgbClr val="7CFF6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3943350"/>
            <a:ext cx="138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按钮、表单、文件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857500" y="2133600"/>
            <a:ext cx="1771650" cy="2514600"/>
          </a:xfrm>
          <a:prstGeom prst="roundRect">
            <a:avLst>
              <a:gd name="adj" fmla="val 6452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048000" y="234315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D8FF3E"/>
                </a:solidFill>
              </a:defRPr>
            </a:pPr>
            <a:r>
              <a:rPr sz="1725" b="1">
                <a:solidFill>
                  <a:srgbClr val="D8FF3E"/>
                </a:solidFill>
              </a:rPr>
              <a:t>02</a:t>
            </a:r>
            <a:endParaRPr sz="1725" b="1">
              <a:solidFill>
                <a:srgbClr val="D8FF3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048000" y="281940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API 请求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048000" y="34766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CFF6B"/>
                </a:solidFill>
              </a:defRPr>
            </a:pPr>
            <a:r>
              <a:rPr sz="1350" b="1">
                <a:solidFill>
                  <a:srgbClr val="7CFF6B"/>
                </a:solidFill>
              </a:rPr>
              <a:t>发出 Request</a:t>
            </a:r>
            <a:endParaRPr sz="1350" b="1">
              <a:solidFill>
                <a:srgbClr val="7CFF6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048000" y="3943350"/>
            <a:ext cx="138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地址 + 方法 + 数据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5029200" y="2133600"/>
            <a:ext cx="1771650" cy="2514600"/>
          </a:xfrm>
          <a:prstGeom prst="roundRect">
            <a:avLst>
              <a:gd name="adj" fmla="val 6452"/>
            </a:avLst>
          </a:prstGeom>
          <a:solidFill>
            <a:srgbClr val="152C20"/>
          </a:solidFill>
          <a:ln w="9525">
            <a:solidFill>
              <a:srgbClr val="F2FF7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219700" y="234315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2FF7A"/>
                </a:solidFill>
              </a:defRPr>
            </a:pPr>
            <a:r>
              <a:rPr sz="1725" b="1">
                <a:solidFill>
                  <a:srgbClr val="F2FF7A"/>
                </a:solidFill>
              </a:rPr>
              <a:t>03</a:t>
            </a:r>
            <a:endParaRPr sz="1725" b="1">
              <a:solidFill>
                <a:srgbClr val="F2FF7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219700" y="281940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服务器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219700" y="34766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CFF6B"/>
                </a:solidFill>
              </a:defRPr>
            </a:pPr>
            <a:r>
              <a:rPr sz="1350" b="1">
                <a:solidFill>
                  <a:srgbClr val="7CFF6B"/>
                </a:solidFill>
              </a:rPr>
              <a:t>鉴权与业务</a:t>
            </a:r>
            <a:endParaRPr sz="1350" b="1">
              <a:solidFill>
                <a:srgbClr val="7CFF6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19700" y="3943350"/>
            <a:ext cx="138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身份、规则、权限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200900" y="2133600"/>
            <a:ext cx="1771650" cy="2514600"/>
          </a:xfrm>
          <a:prstGeom prst="roundRect">
            <a:avLst>
              <a:gd name="adj" fmla="val 6452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391400" y="234315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D8FF3E"/>
                </a:solidFill>
              </a:defRPr>
            </a:pPr>
            <a:r>
              <a:rPr sz="1725" b="1">
                <a:solidFill>
                  <a:srgbClr val="D8FF3E"/>
                </a:solidFill>
              </a:rPr>
              <a:t>04</a:t>
            </a:r>
            <a:endParaRPr sz="1725" b="1">
              <a:solidFill>
                <a:srgbClr val="D8FF3E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391400" y="281940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资源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391400" y="34766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CFF6B"/>
                </a:solidFill>
              </a:defRPr>
            </a:pPr>
            <a:r>
              <a:rPr sz="1350" b="1">
                <a:solidFill>
                  <a:srgbClr val="7CFF6B"/>
                </a:solidFill>
              </a:rPr>
              <a:t>执行真实能力</a:t>
            </a:r>
            <a:endParaRPr sz="1350" b="1">
              <a:solidFill>
                <a:srgbClr val="7CFF6B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391400" y="3943350"/>
            <a:ext cx="138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模型、数据库、工具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9372600" y="2133600"/>
            <a:ext cx="1771650" cy="2514600"/>
          </a:xfrm>
          <a:prstGeom prst="roundRect">
            <a:avLst>
              <a:gd name="adj" fmla="val 6452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563100" y="234315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D8FF3E"/>
                </a:solidFill>
              </a:defRPr>
            </a:pPr>
            <a:r>
              <a:rPr sz="1725" b="1">
                <a:solidFill>
                  <a:srgbClr val="D8FF3E"/>
                </a:solidFill>
              </a:rPr>
              <a:t>05</a:t>
            </a:r>
            <a:endParaRPr sz="1725" b="1">
              <a:solidFill>
                <a:srgbClr val="D8FF3E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63100" y="281940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API 响应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563100" y="34766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CFF6B"/>
                </a:solidFill>
              </a:defRPr>
            </a:pPr>
            <a:r>
              <a:rPr sz="1350" b="1">
                <a:solidFill>
                  <a:srgbClr val="7CFF6B"/>
                </a:solidFill>
              </a:rPr>
              <a:t>返回 Response</a:t>
            </a:r>
            <a:endParaRPr sz="1350" b="1">
              <a:solidFill>
                <a:srgbClr val="7CFF6B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63100" y="3943350"/>
            <a:ext cx="138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A5B79C"/>
                </a:solidFill>
              </a:defRPr>
            </a:pPr>
            <a:r>
              <a:rPr sz="1275" b="0">
                <a:solidFill>
                  <a:srgbClr val="A5B79C"/>
                </a:solidFill>
              </a:rPr>
              <a:t>状态 + 数据 + 错误</a:t>
            </a:r>
            <a:endParaRPr sz="1275" b="0">
              <a:solidFill>
                <a:srgbClr val="A5B79C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685800" y="5095875"/>
            <a:ext cx="10820400" cy="781050"/>
          </a:xfrm>
          <a:prstGeom prst="roundRect">
            <a:avLst>
              <a:gd name="adj" fmla="val 14634"/>
            </a:avLst>
          </a:prstGeom>
          <a:solidFill>
            <a:srgbClr val="152C20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52500" y="53149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D8FF3E"/>
                </a:solidFill>
              </a:defRPr>
            </a:pPr>
            <a:r>
              <a:rPr sz="1575" b="1">
                <a:solidFill>
                  <a:srgbClr val="D8FF3E"/>
                </a:solidFill>
              </a:rPr>
              <a:t>Request</a:t>
            </a:r>
            <a:endParaRPr sz="1575" b="1">
              <a:solidFill>
                <a:srgbClr val="D8FF3E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143125" y="53149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5F8EE"/>
                </a:solidFill>
              </a:defRPr>
            </a:pPr>
            <a:r>
              <a:rPr sz="1500" b="0">
                <a:solidFill>
                  <a:srgbClr val="F5F8EE"/>
                </a:solidFill>
              </a:rPr>
              <a:t>“请处理什么”</a:t>
            </a:r>
            <a:endParaRPr sz="1500" b="0">
              <a:solidFill>
                <a:srgbClr val="F5F8EE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000625" y="531495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2FF7A"/>
                </a:solidFill>
              </a:defRPr>
            </a:pPr>
            <a:r>
              <a:rPr sz="1575" b="1">
                <a:solidFill>
                  <a:srgbClr val="F2FF7A"/>
                </a:solidFill>
              </a:rPr>
              <a:t>Response</a:t>
            </a:r>
            <a:endParaRPr sz="1575" b="1">
              <a:solidFill>
                <a:srgbClr val="F2FF7A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334125" y="53149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5F8EE"/>
                </a:solidFill>
              </a:defRPr>
            </a:pPr>
            <a:r>
              <a:rPr sz="1500" b="0">
                <a:solidFill>
                  <a:srgbClr val="F5F8EE"/>
                </a:solidFill>
              </a:rPr>
              <a:t>“处理结果是什么，是否出错”</a:t>
            </a:r>
            <a:endParaRPr sz="1500" b="0">
              <a:solidFill>
                <a:srgbClr val="F5F8E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09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AI 提效从每个人手里的重复工作开始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478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7CFF6B"/>
                </a:solidFill>
              </a:defRPr>
            </a:pPr>
            <a:r>
              <a:rPr sz="2025" b="1">
                <a:solidFill>
                  <a:srgbClr val="7CFF6B"/>
                </a:solidFill>
              </a:rPr>
              <a:t>让 AI 处理“可描述、可检查、可重复”的环节</a:t>
            </a:r>
            <a:endParaRPr sz="2025" b="1">
              <a:solidFill>
                <a:srgbClr val="7CFF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1431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D8FF3E"/>
                </a:solidFill>
              </a:defRPr>
            </a:pPr>
            <a:r>
              <a:rPr sz="1575" b="1">
                <a:solidFill>
                  <a:srgbClr val="D8FF3E"/>
                </a:solidFill>
              </a:rPr>
              <a:t>01</a:t>
            </a:r>
            <a:endParaRPr sz="1575" b="1">
              <a:solidFill>
                <a:srgbClr val="D8FF3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71625" y="21431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文档与邮件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38625" y="21431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起草、润色、摘要；发送前核对事实与承诺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600325"/>
            <a:ext cx="1009650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8289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D8FF3E"/>
                </a:solidFill>
              </a:defRPr>
            </a:pPr>
            <a:r>
              <a:rPr sz="1575" b="1">
                <a:solidFill>
                  <a:srgbClr val="D8FF3E"/>
                </a:solidFill>
              </a:rPr>
              <a:t>02</a:t>
            </a:r>
            <a:endParaRPr sz="1575" b="1">
              <a:solidFill>
                <a:srgbClr val="D8FF3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71625" y="28289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Excel 与数据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38625" y="28289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公式、清洗、统计；用小样本回查计算口径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286125"/>
            <a:ext cx="1009650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35147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D8FF3E"/>
                </a:solidFill>
              </a:defRPr>
            </a:pPr>
            <a:r>
              <a:rPr sz="1575" b="1">
                <a:solidFill>
                  <a:srgbClr val="D8FF3E"/>
                </a:solidFill>
              </a:rPr>
              <a:t>03</a:t>
            </a:r>
            <a:endParaRPr sz="1575" b="1">
              <a:solidFill>
                <a:srgbClr val="D8FF3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71625" y="35147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PPT 与表达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38625" y="35147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大纲、内容压缩、图表；先确认数据来源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3971925"/>
            <a:ext cx="1009650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42005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D8FF3E"/>
                </a:solidFill>
              </a:defRPr>
            </a:pPr>
            <a:r>
              <a:rPr sz="1575" b="1">
                <a:solidFill>
                  <a:srgbClr val="D8FF3E"/>
                </a:solidFill>
              </a:rPr>
              <a:t>04</a:t>
            </a:r>
            <a:endParaRPr sz="1575" b="1">
              <a:solidFill>
                <a:srgbClr val="D8FF3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71625" y="42005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市场调研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238625" y="42005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竞品框架、资料整理；区分事实、宣传与推断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4657725"/>
            <a:ext cx="1009650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8200" y="48863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D8FF3E"/>
                </a:solidFill>
              </a:defRPr>
            </a:pPr>
            <a:r>
              <a:rPr sz="1575" b="1">
                <a:solidFill>
                  <a:srgbClr val="D8FF3E"/>
                </a:solidFill>
              </a:rPr>
              <a:t>05</a:t>
            </a:r>
            <a:endParaRPr sz="1575" b="1">
              <a:solidFill>
                <a:srgbClr val="D8FF3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571625" y="48863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项目管理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238625" y="48863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任务拆解、进展汇报；负责人和日期由人确认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" y="5343525"/>
            <a:ext cx="1009650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10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选工具先看工作入口，不要先问“谁最聪明”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676400"/>
            <a:ext cx="2476500" cy="3714750"/>
          </a:xfrm>
          <a:prstGeom prst="roundRect">
            <a:avLst>
              <a:gd name="adj" fmla="val 4615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943100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6F816C"/>
                </a:solidFill>
              </a:defRPr>
            </a:pPr>
            <a:r>
              <a:rPr sz="1125" b="1">
                <a:solidFill>
                  <a:srgbClr val="6F816C"/>
                </a:solidFill>
              </a:rPr>
              <a:t>IDE-FIRST</a:t>
            </a:r>
            <a:endParaRPr sz="1125" b="1">
              <a:solidFill>
                <a:srgbClr val="6F816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400300"/>
            <a:ext cx="2019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F5F8EE"/>
                </a:solidFill>
              </a:defRPr>
            </a:pPr>
            <a:r>
              <a:rPr sz="2025" b="1">
                <a:solidFill>
                  <a:srgbClr val="F5F8EE"/>
                </a:solidFill>
              </a:rPr>
              <a:t>边看代码边协作</a:t>
            </a:r>
            <a:endParaRPr sz="2025" b="1">
              <a:solidFill>
                <a:srgbClr val="F5F8E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276600"/>
            <a:ext cx="20193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600450"/>
            <a:ext cx="2019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Cursor</a:t>
            </a:r>
            <a:endParaRPr sz="1500" b="0">
              <a:solidFill>
                <a:srgbClr val="A5B79C"/>
              </a:solidFill>
            </a:endParaRPr>
          </a:p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GitHub Copilot</a:t>
            </a:r>
            <a:endParaRPr sz="1500" b="0">
              <a:solidFill>
                <a:srgbClr val="A5B79C"/>
              </a:solidFill>
            </a:endParaRPr>
          </a:p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通义灵码</a:t>
            </a:r>
            <a:endParaRPr sz="1500" b="0">
              <a:solidFill>
                <a:srgbClr val="A5B79C"/>
              </a:solidFill>
            </a:endParaRPr>
          </a:p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文心快码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81375" y="1676400"/>
            <a:ext cx="2476500" cy="3714750"/>
          </a:xfrm>
          <a:prstGeom prst="roundRect">
            <a:avLst>
              <a:gd name="adj" fmla="val 4615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609975" y="1943100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6F816C"/>
                </a:solidFill>
              </a:defRPr>
            </a:pPr>
            <a:r>
              <a:rPr sz="1125" b="1">
                <a:solidFill>
                  <a:srgbClr val="6F816C"/>
                </a:solidFill>
              </a:rPr>
              <a:t>TERMINAL-FIRST</a:t>
            </a:r>
            <a:endParaRPr sz="1125" b="1">
              <a:solidFill>
                <a:srgbClr val="6F816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09975" y="2400300"/>
            <a:ext cx="2019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F5F8EE"/>
                </a:solidFill>
              </a:defRPr>
            </a:pPr>
            <a:r>
              <a:rPr sz="2025" b="1">
                <a:solidFill>
                  <a:srgbClr val="F5F8EE"/>
                </a:solidFill>
              </a:rPr>
              <a:t>直接操作真实仓库</a:t>
            </a:r>
            <a:endParaRPr sz="2025" b="1">
              <a:solidFill>
                <a:srgbClr val="F5F8E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09975" y="3276600"/>
            <a:ext cx="20193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09975" y="3600450"/>
            <a:ext cx="2019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Claude Code</a:t>
            </a:r>
            <a:endParaRPr sz="1500" b="0">
              <a:solidFill>
                <a:srgbClr val="A5B79C"/>
              </a:solidFill>
            </a:endParaRPr>
          </a:p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Codex CLI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76950" y="1676400"/>
            <a:ext cx="2476500" cy="3714750"/>
          </a:xfrm>
          <a:prstGeom prst="roundRect">
            <a:avLst>
              <a:gd name="adj" fmla="val 4615"/>
            </a:avLst>
          </a:prstGeom>
          <a:solidFill>
            <a:srgbClr val="152C20"/>
          </a:solidFill>
          <a:ln w="9525">
            <a:solidFill>
              <a:srgbClr val="D8FF3E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05550" y="1943100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D8FF3E"/>
                </a:solidFill>
              </a:defRPr>
            </a:pPr>
            <a:r>
              <a:rPr sz="1125" b="1">
                <a:solidFill>
                  <a:srgbClr val="D8FF3E"/>
                </a:solidFill>
              </a:rPr>
              <a:t>TASK-FIRST</a:t>
            </a:r>
            <a:endParaRPr sz="1125" b="1">
              <a:solidFill>
                <a:srgbClr val="D8FF3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05550" y="2400300"/>
            <a:ext cx="2019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F5F8EE"/>
                </a:solidFill>
              </a:defRPr>
            </a:pPr>
            <a:r>
              <a:rPr sz="2025" b="1">
                <a:solidFill>
                  <a:srgbClr val="F5F8EE"/>
                </a:solidFill>
              </a:rPr>
              <a:t>按任务委派与审查</a:t>
            </a:r>
            <a:endParaRPr sz="2025" b="1">
              <a:solidFill>
                <a:srgbClr val="F5F8E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05550" y="3276600"/>
            <a:ext cx="2019300" cy="19050"/>
          </a:xfrm>
          <a:prstGeom prst="rect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3600450"/>
            <a:ext cx="2019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Codex app</a:t>
            </a:r>
            <a:endParaRPr sz="1500" b="0">
              <a:solidFill>
                <a:srgbClr val="A5B79C"/>
              </a:solidFill>
            </a:endParaRPr>
          </a:p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Cursor Background Agents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772525" y="1676400"/>
            <a:ext cx="2733675" cy="3714750"/>
          </a:xfrm>
          <a:prstGeom prst="roundRect">
            <a:avLst>
              <a:gd name="adj" fmla="val 4181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001125" y="1943100"/>
            <a:ext cx="22764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6F816C"/>
                </a:solidFill>
              </a:defRPr>
            </a:pPr>
            <a:r>
              <a:rPr sz="1125" b="1">
                <a:solidFill>
                  <a:srgbClr val="6F816C"/>
                </a:solidFill>
              </a:rPr>
              <a:t>GITHUB-FIRST</a:t>
            </a:r>
            <a:endParaRPr sz="1125" b="1">
              <a:solidFill>
                <a:srgbClr val="6F816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01125" y="2400300"/>
            <a:ext cx="22764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F5F8EE"/>
                </a:solidFill>
              </a:defRPr>
            </a:pPr>
            <a:r>
              <a:rPr sz="2025" b="1">
                <a:solidFill>
                  <a:srgbClr val="F5F8EE"/>
                </a:solidFill>
              </a:rPr>
              <a:t>围绕 Issue 与 PR</a:t>
            </a:r>
            <a:endParaRPr sz="2025" b="1">
              <a:solidFill>
                <a:srgbClr val="F5F8E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01125" y="3276600"/>
            <a:ext cx="2276475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001125" y="3600450"/>
            <a:ext cx="22764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GitHub Copilot cloud agent</a:t>
            </a:r>
            <a:endParaRPr sz="1500" b="0">
              <a:solidFill>
                <a:srgbClr val="A5B79C"/>
              </a:solidFill>
            </a:endParaRPr>
          </a:p>
          <a:p>
            <a:pPr algn="l">
              <a:buNone/>
              <a:defRPr sz="1500" b="0">
                <a:solidFill>
                  <a:srgbClr val="A5B79C"/>
                </a:solidFill>
              </a:defRPr>
            </a:pPr>
            <a:r>
              <a:rPr sz="1500" b="0">
                <a:solidFill>
                  <a:srgbClr val="A5B79C"/>
                </a:solidFill>
              </a:rPr>
              <a:t>Claude / Codex integrations</a:t>
            </a:r>
            <a:endParaRPr sz="1500" b="0">
              <a:solidFill>
                <a:srgbClr val="A5B79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8102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2FF7A"/>
                </a:solidFill>
              </a:defRPr>
            </a:pPr>
            <a:r>
              <a:rPr sz="1650" b="1">
                <a:solidFill>
                  <a:srgbClr val="F2FF7A"/>
                </a:solidFill>
              </a:rPr>
              <a:t>模型会变，价格会变；入口、权限、版本记录和团队流程才决定它是否适合你。</a:t>
            </a:r>
            <a:endParaRPr sz="1650" b="1">
              <a:solidFill>
                <a:srgbClr val="F2FF7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11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Claude Code、Cursor、Codex：三个入口，三种协作节奏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619250"/>
            <a:ext cx="3371850" cy="4000500"/>
          </a:xfrm>
          <a:prstGeom prst="roundRect">
            <a:avLst>
              <a:gd name="adj" fmla="val 3390"/>
            </a:avLst>
          </a:prstGeom>
          <a:solidFill>
            <a:srgbClr val="102219"/>
          </a:solidFill>
          <a:ln w="9525">
            <a:solidFill>
              <a:srgbClr val="7CFF6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943100"/>
            <a:ext cx="280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F5F8EE"/>
                </a:solidFill>
              </a:defRPr>
            </a:pPr>
            <a:r>
              <a:rPr sz="2325" b="1">
                <a:solidFill>
                  <a:srgbClr val="F5F8EE"/>
                </a:solidFill>
              </a:rPr>
              <a:t>Claude Code</a:t>
            </a:r>
            <a:endParaRPr sz="2325" b="1">
              <a:solidFill>
                <a:srgbClr val="F5F8E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4574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7CFF6B"/>
                </a:solidFill>
              </a:defRPr>
            </a:pPr>
            <a:r>
              <a:rPr sz="1275" b="1">
                <a:solidFill>
                  <a:srgbClr val="7CFF6B"/>
                </a:solidFill>
              </a:rPr>
              <a:t>终端深度</a:t>
            </a:r>
            <a:endParaRPr sz="1275" b="1">
              <a:solidFill>
                <a:srgbClr val="7CFF6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2952750"/>
            <a:ext cx="283845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971550" y="33051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321945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终端起家，也进入 IDE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971550" y="38576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377190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权限、上下文与命令控制细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71550" y="44100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432435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适合愿意在仓库中持续引导的人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971550" y="49625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81100" y="487680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F816C"/>
                </a:solidFill>
              </a:defRPr>
            </a:pPr>
            <a:r>
              <a:rPr sz="1350" b="0">
                <a:solidFill>
                  <a:srgbClr val="6F816C"/>
                </a:solidFill>
              </a:rPr>
              <a:t>提醒：终端与权限学习成本更高</a:t>
            </a:r>
            <a:endParaRPr sz="1350" b="0">
              <a:solidFill>
                <a:srgbClr val="6F816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295775" y="1619250"/>
            <a:ext cx="3371850" cy="4000500"/>
          </a:xfrm>
          <a:prstGeom prst="roundRect">
            <a:avLst>
              <a:gd name="adj" fmla="val 3390"/>
            </a:avLst>
          </a:prstGeom>
          <a:solidFill>
            <a:srgbClr val="102219"/>
          </a:solidFill>
          <a:ln w="9525">
            <a:solidFill>
              <a:srgbClr val="D8FF3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562475" y="1943100"/>
            <a:ext cx="280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F5F8EE"/>
                </a:solidFill>
              </a:defRPr>
            </a:pPr>
            <a:r>
              <a:rPr sz="2325" b="1">
                <a:solidFill>
                  <a:srgbClr val="F5F8EE"/>
                </a:solidFill>
              </a:rPr>
              <a:t>Cursor</a:t>
            </a:r>
            <a:endParaRPr sz="2325" b="1">
              <a:solidFill>
                <a:srgbClr val="F5F8E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62475" y="24574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编辑器共创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562475" y="2952750"/>
            <a:ext cx="283845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4581525" y="33051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91075" y="321945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AI-first IDE，差异可见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4581525" y="38576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791075" y="377190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Agent 可跨文件编辑并运行命令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4581525" y="44100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791075" y="432435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适合仍想边写边审查的人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4581525" y="49625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791075" y="487680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F816C"/>
                </a:solidFill>
              </a:defRPr>
            </a:pPr>
            <a:r>
              <a:rPr sz="1350" b="0">
                <a:solidFill>
                  <a:srgbClr val="6F816C"/>
                </a:solidFill>
              </a:rPr>
              <a:t>提醒：后台 Agent 需关注网络权限</a:t>
            </a:r>
            <a:endParaRPr sz="1350" b="0">
              <a:solidFill>
                <a:srgbClr val="6F816C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905750" y="1619250"/>
            <a:ext cx="3371850" cy="4000500"/>
          </a:xfrm>
          <a:prstGeom prst="roundRect">
            <a:avLst>
              <a:gd name="adj" fmla="val 3390"/>
            </a:avLst>
          </a:prstGeom>
          <a:solidFill>
            <a:srgbClr val="102219"/>
          </a:solidFill>
          <a:ln w="9525">
            <a:solidFill>
              <a:srgbClr val="F2FF7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72450" y="1943100"/>
            <a:ext cx="280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F5F8EE"/>
                </a:solidFill>
              </a:defRPr>
            </a:pPr>
            <a:r>
              <a:rPr sz="2325" b="1">
                <a:solidFill>
                  <a:srgbClr val="F5F8EE"/>
                </a:solidFill>
              </a:rPr>
              <a:t>Codex</a:t>
            </a:r>
            <a:endParaRPr sz="2325" b="1">
              <a:solidFill>
                <a:srgbClr val="F5F8EE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72450" y="24574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2FF7A"/>
                </a:solidFill>
              </a:defRPr>
            </a:pPr>
            <a:r>
              <a:rPr sz="1275" b="1">
                <a:solidFill>
                  <a:srgbClr val="F2FF7A"/>
                </a:solidFill>
              </a:rPr>
              <a:t>任务委派</a:t>
            </a:r>
            <a:endParaRPr sz="1275" b="1">
              <a:solidFill>
                <a:srgbClr val="F2FF7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172450" y="2952750"/>
            <a:ext cx="283845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8191500" y="33051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01050" y="321945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App / CLI / IDE / Cloud 多入口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8191500" y="38576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401050" y="377190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多线程与 worktree 支持并行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8191500" y="44100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401050" y="432435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适合按任务交付与审查的人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8191500" y="49625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401050" y="4876800"/>
            <a:ext cx="2609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F816C"/>
                </a:solidFill>
              </a:defRPr>
            </a:pPr>
            <a:r>
              <a:rPr sz="1350" b="0">
                <a:solidFill>
                  <a:srgbClr val="6F816C"/>
                </a:solidFill>
              </a:rPr>
              <a:t>提醒：审批与沙盒是安全边界</a:t>
            </a:r>
            <a:endParaRPr sz="1350" b="0">
              <a:solidFill>
                <a:srgbClr val="6F816C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61912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F816C"/>
                </a:solidFill>
              </a:defRPr>
            </a:pPr>
            <a:r>
              <a:rPr sz="975" b="0">
                <a:solidFill>
                  <a:srgbClr val="6F816C"/>
                </a:solidFill>
              </a:rPr>
              <a:t>[5] [6] [7]</a:t>
            </a:r>
            <a:endParaRPr sz="975" b="0">
              <a:solidFill>
                <a:srgbClr val="6F816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429375" cy="6858000"/>
          </a:xfrm>
          <a:prstGeom prst="rect">
            <a:avLst/>
          </a:prstGeom>
          <a:solidFill>
            <a:srgbClr val="07100B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0" y="1028700"/>
            <a:ext cx="4686300" cy="4762500"/>
          </a:xfrm>
          <a:prstGeom prst="roundRect">
            <a:avLst>
              <a:gd name="adj" fmla="val 2439"/>
            </a:avLst>
          </a:prstGeom>
          <a:solidFill>
            <a:srgbClr val="0B1810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723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D8FF3E"/>
                </a:solidFill>
              </a:defRPr>
            </a:pPr>
            <a:r>
              <a:rPr sz="1200" b="1">
                <a:solidFill>
                  <a:srgbClr val="D8FF3E"/>
                </a:solidFill>
              </a:rPr>
              <a:t>LESSON 01</a:t>
            </a:r>
            <a:endParaRPr sz="1200" b="1">
              <a:solidFill>
                <a:srgbClr val="D8FF3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47800"/>
            <a:ext cx="5143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>
                <a:solidFill>
                  <a:srgbClr val="F5F8EE"/>
                </a:solidFill>
              </a:defRPr>
            </a:pPr>
            <a:r>
              <a:rPr sz="3600" b="1">
                <a:solidFill>
                  <a:srgbClr val="F5F8EE"/>
                </a:solidFill>
              </a:rPr>
              <a:t>第一课统一使用</a:t>
            </a:r>
            <a:endParaRPr sz="3600" b="1">
              <a:solidFill>
                <a:srgbClr val="F5F8EE"/>
              </a:solidFill>
            </a:endParaRPr>
          </a:p>
          <a:p>
            <a:pPr algn="l">
              <a:buNone/>
              <a:defRPr sz="3600" b="1">
                <a:solidFill>
                  <a:srgbClr val="F5F8EE"/>
                </a:solidFill>
              </a:defRPr>
            </a:pPr>
            <a:r>
              <a:rPr sz="3600" b="1">
                <a:solidFill>
                  <a:srgbClr val="F5F8EE"/>
                </a:solidFill>
              </a:rPr>
              <a:t>Codex app</a:t>
            </a:r>
            <a:endParaRPr sz="36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3238500"/>
            <a:ext cx="4953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0">
                <a:solidFill>
                  <a:srgbClr val="A5B79C"/>
                </a:solidFill>
              </a:defRPr>
            </a:pPr>
            <a:r>
              <a:rPr sz="1875" b="0">
                <a:solidFill>
                  <a:srgbClr val="A5B79C"/>
                </a:solidFill>
              </a:rPr>
              <a:t>不是因为“绝对最好”，</a:t>
            </a:r>
            <a:endParaRPr sz="1875" b="0">
              <a:solidFill>
                <a:srgbClr val="A5B79C"/>
              </a:solidFill>
            </a:endParaRPr>
          </a:p>
          <a:p>
            <a:pPr algn="l">
              <a:buNone/>
              <a:defRPr sz="1875" b="0">
                <a:solidFill>
                  <a:srgbClr val="A5B79C"/>
                </a:solidFill>
              </a:defRPr>
            </a:pPr>
            <a:r>
              <a:rPr sz="1875" b="0">
                <a:solidFill>
                  <a:srgbClr val="A5B79C"/>
                </a:solidFill>
              </a:rPr>
              <a:t>而是因为它更适合第一次完整交付。</a:t>
            </a:r>
            <a:endParaRPr sz="1875" b="0">
              <a:solidFill>
                <a:srgbClr val="A5B79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0" y="137160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D8FF3E"/>
                </a:solidFill>
              </a:defRPr>
            </a:pPr>
            <a:r>
              <a:rPr sz="2625" b="1">
                <a:solidFill>
                  <a:srgbClr val="D8FF3E"/>
                </a:solidFill>
              </a:rPr>
              <a:t>01</a:t>
            </a:r>
            <a:endParaRPr sz="2625" b="1">
              <a:solidFill>
                <a:srgbClr val="D8FF3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48625" y="13716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可视化审查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48625" y="180975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文件、差异、结果都在同一条任务里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2752725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D8FF3E"/>
                </a:solidFill>
              </a:defRPr>
            </a:pPr>
            <a:r>
              <a:rPr sz="2625" b="1">
                <a:solidFill>
                  <a:srgbClr val="D8FF3E"/>
                </a:solidFill>
              </a:rPr>
              <a:t>02</a:t>
            </a:r>
            <a:endParaRPr sz="2625" b="1">
              <a:solidFill>
                <a:srgbClr val="D8FF3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48625" y="27527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独立工作区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48625" y="3190875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只让 AI 在练习目录内操作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0" y="41338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D8FF3E"/>
                </a:solidFill>
              </a:defRPr>
            </a:pPr>
            <a:r>
              <a:rPr sz="2625" b="1">
                <a:solidFill>
                  <a:srgbClr val="D8FF3E"/>
                </a:solidFill>
              </a:rPr>
              <a:t>03</a:t>
            </a:r>
            <a:endParaRPr sz="2625" b="1">
              <a:solidFill>
                <a:srgbClr val="D8FF3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48625" y="41338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8EE"/>
                </a:solidFill>
              </a:defRPr>
            </a:pPr>
            <a:r>
              <a:rPr sz="1875" b="1">
                <a:solidFill>
                  <a:srgbClr val="F5F8EE"/>
                </a:solidFill>
              </a:rPr>
              <a:t>从资料到作品</a:t>
            </a:r>
            <a:endParaRPr sz="1875" b="1">
              <a:solidFill>
                <a:srgbClr val="F5F8E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48625" y="457200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不只写代码，也能整理文档与验证结果</a:t>
            </a:r>
            <a:endParaRPr sz="1350" b="0">
              <a:solidFill>
                <a:srgbClr val="A5B79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13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一次完整的课堂实践，要经历五个可验证步骤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52675" y="2990850"/>
            <a:ext cx="438150" cy="1714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390775" y="2838450"/>
            <a:ext cx="361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>
                <a:solidFill>
                  <a:srgbClr val="D8FF3E"/>
                </a:solidFill>
              </a:defRPr>
            </a:pPr>
            <a:r>
              <a:rPr sz="2025" b="1">
                <a:solidFill>
                  <a:srgbClr val="D8FF3E"/>
                </a:solidFill>
              </a:rPr>
              <a:t>→</a:t>
            </a:r>
            <a:endParaRPr sz="2025" b="1">
              <a:solidFill>
                <a:srgbClr val="D8FF3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600575" y="2990850"/>
            <a:ext cx="438150" cy="1714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38675" y="2838450"/>
            <a:ext cx="361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>
                <a:solidFill>
                  <a:srgbClr val="D8FF3E"/>
                </a:solidFill>
              </a:defRPr>
            </a:pPr>
            <a:r>
              <a:rPr sz="2025" b="1">
                <a:solidFill>
                  <a:srgbClr val="D8FF3E"/>
                </a:solidFill>
              </a:rPr>
              <a:t>→</a:t>
            </a:r>
            <a:endParaRPr sz="2025" b="1">
              <a:solidFill>
                <a:srgbClr val="D8FF3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48475" y="2990850"/>
            <a:ext cx="438150" cy="1714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86575" y="2838450"/>
            <a:ext cx="361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>
                <a:solidFill>
                  <a:srgbClr val="D8FF3E"/>
                </a:solidFill>
              </a:defRPr>
            </a:pPr>
            <a:r>
              <a:rPr sz="2025" b="1">
                <a:solidFill>
                  <a:srgbClr val="D8FF3E"/>
                </a:solidFill>
              </a:rPr>
              <a:t>→</a:t>
            </a:r>
            <a:endParaRPr sz="2025" b="1">
              <a:solidFill>
                <a:srgbClr val="D8FF3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096375" y="2990850"/>
            <a:ext cx="438150" cy="1714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34475" y="2838450"/>
            <a:ext cx="361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>
                <a:solidFill>
                  <a:srgbClr val="D8FF3E"/>
                </a:solidFill>
              </a:defRPr>
            </a:pPr>
            <a:r>
              <a:rPr sz="2025" b="1">
                <a:solidFill>
                  <a:srgbClr val="D8FF3E"/>
                </a:solidFill>
              </a:rPr>
              <a:t>→</a:t>
            </a:r>
            <a:endParaRPr sz="2025" b="1">
              <a:solidFill>
                <a:srgbClr val="D8FF3E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04850" y="2133600"/>
            <a:ext cx="1809750" cy="2238375"/>
          </a:xfrm>
          <a:prstGeom prst="roundRect">
            <a:avLst>
              <a:gd name="adj" fmla="val 6316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5350" y="23622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D8FF3E"/>
                </a:solidFill>
              </a:defRPr>
            </a:pPr>
            <a:r>
              <a:rPr sz="2175" b="1">
                <a:solidFill>
                  <a:srgbClr val="D8FF3E"/>
                </a:solidFill>
              </a:rPr>
              <a:t>01</a:t>
            </a:r>
            <a:endParaRPr sz="2175" b="1">
              <a:solidFill>
                <a:srgbClr val="D8FF3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5350" y="29527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5F8EE"/>
                </a:solidFill>
              </a:defRPr>
            </a:pPr>
            <a:r>
              <a:rPr sz="2250" b="1">
                <a:solidFill>
                  <a:srgbClr val="F5F8EE"/>
                </a:solidFill>
              </a:rPr>
              <a:t>描述</a:t>
            </a:r>
            <a:endParaRPr sz="2250" b="1">
              <a:solidFill>
                <a:srgbClr val="F5F8E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95350" y="36195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用户 / 输入 / 输出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952750" y="2133600"/>
            <a:ext cx="1809750" cy="2238375"/>
          </a:xfrm>
          <a:prstGeom prst="roundRect">
            <a:avLst>
              <a:gd name="adj" fmla="val 6316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143250" y="23622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D8FF3E"/>
                </a:solidFill>
              </a:defRPr>
            </a:pPr>
            <a:r>
              <a:rPr sz="2175" b="1">
                <a:solidFill>
                  <a:srgbClr val="D8FF3E"/>
                </a:solidFill>
              </a:rPr>
              <a:t>02</a:t>
            </a:r>
            <a:endParaRPr sz="2175" b="1">
              <a:solidFill>
                <a:srgbClr val="D8FF3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143250" y="29527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5F8EE"/>
                </a:solidFill>
              </a:defRPr>
            </a:pPr>
            <a:r>
              <a:rPr sz="2250" b="1">
                <a:solidFill>
                  <a:srgbClr val="F5F8EE"/>
                </a:solidFill>
              </a:rPr>
              <a:t>计划</a:t>
            </a:r>
            <a:endParaRPr sz="2250" b="1">
              <a:solidFill>
                <a:srgbClr val="F5F8E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143250" y="36195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先看方案与文件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200650" y="2133600"/>
            <a:ext cx="1809750" cy="2238375"/>
          </a:xfrm>
          <a:prstGeom prst="roundRect">
            <a:avLst>
              <a:gd name="adj" fmla="val 6316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391150" y="23622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D8FF3E"/>
                </a:solidFill>
              </a:defRPr>
            </a:pPr>
            <a:r>
              <a:rPr sz="2175" b="1">
                <a:solidFill>
                  <a:srgbClr val="D8FF3E"/>
                </a:solidFill>
              </a:rPr>
              <a:t>03</a:t>
            </a:r>
            <a:endParaRPr sz="2175" b="1">
              <a:solidFill>
                <a:srgbClr val="D8FF3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91150" y="29527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5F8EE"/>
                </a:solidFill>
              </a:defRPr>
            </a:pPr>
            <a:r>
              <a:rPr sz="2250" b="1">
                <a:solidFill>
                  <a:srgbClr val="F5F8EE"/>
                </a:solidFill>
              </a:rPr>
              <a:t>实现</a:t>
            </a:r>
            <a:endParaRPr sz="2250" b="1">
              <a:solidFill>
                <a:srgbClr val="F5F8E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91150" y="36195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一次只做一件事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448550" y="2133600"/>
            <a:ext cx="1809750" cy="2238375"/>
          </a:xfrm>
          <a:prstGeom prst="roundRect">
            <a:avLst>
              <a:gd name="adj" fmla="val 6316"/>
            </a:avLst>
          </a:prstGeom>
          <a:solidFill>
            <a:srgbClr val="152C20"/>
          </a:solidFill>
          <a:ln w="9525">
            <a:solidFill>
              <a:srgbClr val="F2FF7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639050" y="23622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F2FF7A"/>
                </a:solidFill>
              </a:defRPr>
            </a:pPr>
            <a:r>
              <a:rPr sz="2175" b="1">
                <a:solidFill>
                  <a:srgbClr val="F2FF7A"/>
                </a:solidFill>
              </a:rPr>
              <a:t>04</a:t>
            </a:r>
            <a:endParaRPr sz="2175" b="1">
              <a:solidFill>
                <a:srgbClr val="F2FF7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39050" y="29527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5F8EE"/>
                </a:solidFill>
              </a:defRPr>
            </a:pPr>
            <a:r>
              <a:rPr sz="2250" b="1">
                <a:solidFill>
                  <a:srgbClr val="F5F8EE"/>
                </a:solidFill>
              </a:rPr>
              <a:t>验证</a:t>
            </a:r>
            <a:endParaRPr sz="2250" b="1">
              <a:solidFill>
                <a:srgbClr val="F5F8EE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39050" y="36195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样例 / 错误 / 边界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696450" y="2133600"/>
            <a:ext cx="1809750" cy="2238375"/>
          </a:xfrm>
          <a:prstGeom prst="roundRect">
            <a:avLst>
              <a:gd name="adj" fmla="val 6316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886950" y="23622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D8FF3E"/>
                </a:solidFill>
              </a:defRPr>
            </a:pPr>
            <a:r>
              <a:rPr sz="2175" b="1">
                <a:solidFill>
                  <a:srgbClr val="D8FF3E"/>
                </a:solidFill>
              </a:rPr>
              <a:t>05</a:t>
            </a:r>
            <a:endParaRPr sz="2175" b="1">
              <a:solidFill>
                <a:srgbClr val="D8FF3E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886950" y="29527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5F8EE"/>
                </a:solidFill>
              </a:defRPr>
            </a:pPr>
            <a:r>
              <a:rPr sz="2250" b="1">
                <a:solidFill>
                  <a:srgbClr val="F5F8EE"/>
                </a:solidFill>
              </a:rPr>
              <a:t>解释</a:t>
            </a:r>
            <a:endParaRPr sz="2250" b="1">
              <a:solidFill>
                <a:srgbClr val="F5F8E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886950" y="36195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说清数据如何流动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23900" y="50958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7CFF6B"/>
                </a:solidFill>
              </a:defRPr>
            </a:pPr>
            <a:r>
              <a:rPr sz="1725" b="1">
                <a:solidFill>
                  <a:srgbClr val="7CFF6B"/>
                </a:solidFill>
              </a:rPr>
              <a:t>推荐演示：CSV 字段统计器 — 无登录、无支付、无敏感数据，输入输出清楚且容易人工核验。</a:t>
            </a:r>
            <a:endParaRPr sz="1725" b="1">
              <a:solidFill>
                <a:srgbClr val="7CFF6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14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好提示词不是更长，而是把“完成”说清楚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1714500"/>
            <a:ext cx="266700" cy="28575"/>
          </a:xfrm>
          <a:prstGeom prst="rect">
            <a:avLst/>
          </a:prstGeom>
          <a:solidFill>
            <a:srgbClr val="6F816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90625" y="16383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6F816C"/>
                </a:solidFill>
              </a:defRPr>
            </a:pPr>
            <a:r>
              <a:rPr sz="1200" b="1">
                <a:solidFill>
                  <a:srgbClr val="6F816C"/>
                </a:solidFill>
              </a:rPr>
              <a:t>模糊愿望</a:t>
            </a:r>
            <a:endParaRPr sz="1200" b="1">
              <a:solidFill>
                <a:srgbClr val="6F816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25" y="213360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A5B79C"/>
                </a:solidFill>
              </a:defRPr>
            </a:pPr>
            <a:r>
              <a:rPr sz="2400" b="1">
                <a:solidFill>
                  <a:srgbClr val="A5B79C"/>
                </a:solidFill>
              </a:rPr>
              <a:t>“帮我做一个</a:t>
            </a:r>
            <a:endParaRPr sz="2400" b="1">
              <a:solidFill>
                <a:srgbClr val="A5B79C"/>
              </a:solidFill>
            </a:endParaRPr>
          </a:p>
          <a:p>
            <a:pPr algn="l">
              <a:buNone/>
              <a:defRPr sz="2400" b="1">
                <a:solidFill>
                  <a:srgbClr val="A5B79C"/>
                </a:solidFill>
              </a:defRPr>
            </a:pPr>
            <a:r>
              <a:rPr sz="2400" b="1">
                <a:solidFill>
                  <a:srgbClr val="A5B79C"/>
                </a:solidFill>
              </a:rPr>
              <a:t>处理 CSV 的工具。”</a:t>
            </a:r>
            <a:endParaRPr sz="2400" b="1">
              <a:solidFill>
                <a:srgbClr val="A5B79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9625" y="3619500"/>
            <a:ext cx="3905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6F816C"/>
                </a:solidFill>
              </a:defRPr>
            </a:pPr>
            <a:r>
              <a:rPr sz="1650" b="0">
                <a:solidFill>
                  <a:srgbClr val="6F816C"/>
                </a:solidFill>
              </a:rPr>
              <a:t>AI 必须猜：给谁用？</a:t>
            </a:r>
            <a:endParaRPr sz="1650" b="0">
              <a:solidFill>
                <a:srgbClr val="6F816C"/>
              </a:solidFill>
            </a:endParaRPr>
          </a:p>
          <a:p>
            <a:pPr algn="l">
              <a:buNone/>
              <a:defRPr sz="1650" b="0">
                <a:solidFill>
                  <a:srgbClr val="6F816C"/>
                </a:solidFill>
              </a:defRPr>
            </a:pPr>
            <a:r>
              <a:rPr sz="1650" b="0">
                <a:solidFill>
                  <a:srgbClr val="6F816C"/>
                </a:solidFill>
              </a:rPr>
              <a:t>输入什么？输出什么？</a:t>
            </a:r>
            <a:endParaRPr sz="1650" b="0">
              <a:solidFill>
                <a:srgbClr val="6F816C"/>
              </a:solidFill>
            </a:endParaRPr>
          </a:p>
          <a:p>
            <a:pPr algn="l">
              <a:buNone/>
              <a:defRPr sz="1650" b="0">
                <a:solidFill>
                  <a:srgbClr val="6F816C"/>
                </a:solidFill>
              </a:defRPr>
            </a:pPr>
            <a:r>
              <a:rPr sz="1650" b="0">
                <a:solidFill>
                  <a:srgbClr val="6F816C"/>
                </a:solidFill>
              </a:rPr>
              <a:t>错了怎么办？</a:t>
            </a:r>
            <a:endParaRPr sz="1650" b="0">
              <a:solidFill>
                <a:srgbClr val="6F816C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048250" y="1476375"/>
            <a:ext cx="6457950" cy="4238625"/>
          </a:xfrm>
          <a:prstGeom prst="roundRect">
            <a:avLst>
              <a:gd name="adj" fmla="val 2697"/>
            </a:avLst>
          </a:prstGeom>
          <a:solidFill>
            <a:srgbClr val="152C20"/>
          </a:solidFill>
          <a:ln w="9525">
            <a:solidFill>
              <a:srgbClr val="D8FF3E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381625" y="1828800"/>
            <a:ext cx="266700" cy="28575"/>
          </a:xfrm>
          <a:prstGeom prst="rect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62625" y="1752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D8FF3E"/>
                </a:solidFill>
              </a:defRPr>
            </a:pPr>
            <a:r>
              <a:rPr sz="1200" b="1">
                <a:solidFill>
                  <a:srgbClr val="D8FF3E"/>
                </a:solidFill>
              </a:rPr>
              <a:t>可验证任务</a:t>
            </a:r>
            <a:endParaRPr sz="1200" b="1">
              <a:solidFill>
                <a:srgbClr val="D8FF3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81625" y="22669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01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24550" y="2247900"/>
            <a:ext cx="509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5F8EE"/>
                </a:solidFill>
              </a:defRPr>
            </a:pPr>
            <a:r>
              <a:rPr sz="1425" b="0">
                <a:solidFill>
                  <a:srgbClr val="F5F8EE"/>
                </a:solidFill>
              </a:rPr>
              <a:t>给不会编程的办公室同事做一个本地 CSV 检查工具。</a:t>
            </a:r>
            <a:endParaRPr sz="1425" b="0">
              <a:solidFill>
                <a:srgbClr val="F5F8E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81625" y="285750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02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24550" y="2838450"/>
            <a:ext cx="509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5F8EE"/>
                </a:solidFill>
              </a:defRPr>
            </a:pPr>
            <a:r>
              <a:rPr sz="1425" b="0">
                <a:solidFill>
                  <a:srgbClr val="F5F8EE"/>
                </a:solidFill>
              </a:rPr>
              <a:t>输出：总行数、重复行数、每列空值数，并生成 Markdown 报告。</a:t>
            </a:r>
            <a:endParaRPr sz="1425" b="0">
              <a:solidFill>
                <a:srgbClr val="F5F8E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81625" y="34480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03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24550" y="3429000"/>
            <a:ext cx="509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5F8EE"/>
                </a:solidFill>
              </a:defRPr>
            </a:pPr>
            <a:r>
              <a:rPr sz="1425" b="0">
                <a:solidFill>
                  <a:srgbClr val="F5F8EE"/>
                </a:solidFill>
              </a:rPr>
              <a:t>约束：不联网、不覆盖原文件；错误时给出中文提示。</a:t>
            </a:r>
            <a:endParaRPr sz="1425" b="0">
              <a:solidFill>
                <a:srgbClr val="F5F8E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81625" y="403860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04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924550" y="4019550"/>
            <a:ext cx="509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5F8EE"/>
                </a:solidFill>
              </a:defRPr>
            </a:pPr>
            <a:r>
              <a:rPr sz="1425" b="0">
                <a:solidFill>
                  <a:srgbClr val="F5F8EE"/>
                </a:solidFill>
              </a:rPr>
              <a:t>验收：用正常、空文件、含重复和空值三组样例验证。</a:t>
            </a:r>
            <a:endParaRPr sz="1425" b="0">
              <a:solidFill>
                <a:srgbClr val="F5F8E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81625" y="46291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05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24550" y="4610100"/>
            <a:ext cx="509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5F8EE"/>
                </a:solidFill>
              </a:defRPr>
            </a:pPr>
            <a:r>
              <a:rPr sz="1425" b="0">
                <a:solidFill>
                  <a:srgbClr val="F5F8EE"/>
                </a:solidFill>
              </a:rPr>
              <a:t>先给计划；确认后实现；最后解释文件作用和仍有的限制。</a:t>
            </a:r>
            <a:endParaRPr sz="1425" b="0">
              <a:solidFill>
                <a:srgbClr val="F5F8E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15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第一课只做低风险作品：边界越清楚，学习越自由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581150"/>
            <a:ext cx="5191125" cy="4095750"/>
          </a:xfrm>
          <a:prstGeom prst="roundRect">
            <a:avLst>
              <a:gd name="adj" fmla="val 2791"/>
            </a:avLst>
          </a:prstGeom>
          <a:solidFill>
            <a:srgbClr val="152C20"/>
          </a:solidFill>
          <a:ln w="9525">
            <a:solidFill>
              <a:srgbClr val="D8FF3E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124575" y="1581150"/>
            <a:ext cx="5381625" cy="4095750"/>
          </a:xfrm>
          <a:prstGeom prst="roundRect">
            <a:avLst>
              <a:gd name="adj" fmla="val 2791"/>
            </a:avLst>
          </a:prstGeom>
          <a:solidFill>
            <a:srgbClr val="102219"/>
          </a:solidFill>
          <a:ln w="9525">
            <a:solidFill>
              <a:srgbClr val="FFCF5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1952625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D8FF3E"/>
                </a:solidFill>
              </a:defRPr>
            </a:pPr>
            <a:r>
              <a:rPr sz="2325" b="1">
                <a:solidFill>
                  <a:srgbClr val="D8FF3E"/>
                </a:solidFill>
              </a:rPr>
              <a:t>✓ 现在就能做</a:t>
            </a:r>
            <a:endParaRPr sz="2325" b="1">
              <a:solidFill>
                <a:srgbClr val="D8FF3E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066800" y="28098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272415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本地待办清单或番茄钟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66800" y="34004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76350" y="331470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CSV 去重与字段统计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066800" y="39909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390525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文件重命名预览器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066800" y="45815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76350" y="449580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单页作品展示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1952625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FFCF59"/>
                </a:solidFill>
              </a:defRPr>
            </a:pPr>
            <a:r>
              <a:rPr sz="2325" b="1">
                <a:solidFill>
                  <a:srgbClr val="FFCF59"/>
                </a:solidFill>
              </a:rPr>
              <a:t>× 暂时不要做</a:t>
            </a:r>
            <a:endParaRPr sz="2325" b="1">
              <a:solidFill>
                <a:srgbClr val="FFCF59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543675" y="28098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753225" y="2724150"/>
            <a:ext cx="41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用户账号、权限与支付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543675" y="34004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53225" y="3314700"/>
            <a:ext cx="41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医疗 / 法律 / 财务决策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543675" y="399097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753225" y="3905250"/>
            <a:ext cx="41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真实客户或学生数据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543675" y="4581525"/>
            <a:ext cx="76200" cy="76200"/>
          </a:xfrm>
          <a:prstGeom prst="ellipse">
            <a:avLst/>
          </a:prstGeom>
          <a:solidFill>
            <a:srgbClr val="D8FF3E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753225" y="4495800"/>
            <a:ext cx="41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F5F8EE"/>
                </a:solidFill>
              </a:defRPr>
            </a:pPr>
            <a:r>
              <a:rPr sz="1575" b="0">
                <a:solidFill>
                  <a:srgbClr val="F5F8EE"/>
                </a:solidFill>
              </a:rPr>
              <a:t>自动群发与公开数据库写入</a:t>
            </a:r>
            <a:endParaRPr sz="1575" b="0">
              <a:solidFill>
                <a:srgbClr val="F5F8E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60198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F2FF7A"/>
                </a:solidFill>
              </a:defRPr>
            </a:pPr>
            <a:r>
              <a:rPr sz="1725" b="1">
                <a:solidFill>
                  <a:srgbClr val="F2FF7A"/>
                </a:solidFill>
              </a:rPr>
              <a:t>红线：不共享验证码，不提交 API Key，不让 AI 自行扩大权限。</a:t>
            </a:r>
            <a:endParaRPr sz="1725" b="1">
              <a:solidFill>
                <a:srgbClr val="F2FF7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16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从“能做出来”到“能长期交付”，后续课程逐层加能力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1695450"/>
            <a:ext cx="3333750" cy="1581150"/>
          </a:xfrm>
          <a:prstGeom prst="roundRect">
            <a:avLst>
              <a:gd name="adj" fmla="val 7229"/>
            </a:avLst>
          </a:prstGeom>
          <a:solidFill>
            <a:srgbClr val="152C20"/>
          </a:solidFill>
          <a:ln w="9525">
            <a:solidFill>
              <a:srgbClr val="D8FF3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9050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D8FF3E"/>
                </a:solidFill>
              </a:defRPr>
            </a:pPr>
            <a:r>
              <a:rPr sz="2250" b="1">
                <a:solidFill>
                  <a:srgbClr val="D8FF3E"/>
                </a:solidFill>
              </a:rPr>
              <a:t>01</a:t>
            </a:r>
            <a:endParaRPr sz="2250" b="1">
              <a:solidFill>
                <a:srgbClr val="D8FF3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43050" y="19240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概念与第一个作品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43050" y="2486025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D8FF3E"/>
                </a:solidFill>
              </a:defRPr>
            </a:pPr>
            <a:r>
              <a:rPr sz="1350" b="0">
                <a:solidFill>
                  <a:srgbClr val="D8FF3E"/>
                </a:solidFill>
              </a:rPr>
              <a:t>今天</a:t>
            </a:r>
            <a:endParaRPr sz="1350" b="0">
              <a:solidFill>
                <a:srgbClr val="D8FF3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43400" y="1695450"/>
            <a:ext cx="3333750" cy="1581150"/>
          </a:xfrm>
          <a:prstGeom prst="roundRect">
            <a:avLst>
              <a:gd name="adj" fmla="val 7229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52950" y="19050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6F816C"/>
                </a:solidFill>
              </a:defRPr>
            </a:pPr>
            <a:r>
              <a:rPr sz="2250" b="1">
                <a:solidFill>
                  <a:srgbClr val="6F816C"/>
                </a:solidFill>
              </a:rPr>
              <a:t>02</a:t>
            </a:r>
            <a:endParaRPr sz="2250" b="1">
              <a:solidFill>
                <a:srgbClr val="6F816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181600" y="19240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需求说明与验收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81600" y="2486025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把愿望说清楚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981950" y="1695450"/>
            <a:ext cx="3333750" cy="1581150"/>
          </a:xfrm>
          <a:prstGeom prst="roundRect">
            <a:avLst>
              <a:gd name="adj" fmla="val 7229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91500" y="19050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6F816C"/>
                </a:solidFill>
              </a:defRPr>
            </a:pPr>
            <a:r>
              <a:rPr sz="2250" b="1">
                <a:solidFill>
                  <a:srgbClr val="6F816C"/>
                </a:solidFill>
              </a:rPr>
              <a:t>03</a:t>
            </a:r>
            <a:endParaRPr sz="2250" b="1">
              <a:solidFill>
                <a:srgbClr val="6F816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820150" y="19240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本地 Web 小应用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20150" y="2486025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界面 + 交互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04850" y="3648075"/>
            <a:ext cx="3333750" cy="1581150"/>
          </a:xfrm>
          <a:prstGeom prst="roundRect">
            <a:avLst>
              <a:gd name="adj" fmla="val 7229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14400" y="385762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6F816C"/>
                </a:solidFill>
              </a:defRPr>
            </a:pPr>
            <a:r>
              <a:rPr sz="2250" b="1">
                <a:solidFill>
                  <a:srgbClr val="6F816C"/>
                </a:solidFill>
              </a:rPr>
              <a:t>04</a:t>
            </a:r>
            <a:endParaRPr sz="2250" b="1">
              <a:solidFill>
                <a:srgbClr val="6F816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43050" y="3876675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调试、测试与 Git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43050" y="44386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能发现，也能回退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343400" y="3648075"/>
            <a:ext cx="3333750" cy="1581150"/>
          </a:xfrm>
          <a:prstGeom prst="roundRect">
            <a:avLst>
              <a:gd name="adj" fmla="val 7229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552950" y="385762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6F816C"/>
                </a:solidFill>
              </a:defRPr>
            </a:pPr>
            <a:r>
              <a:rPr sz="2250" b="1">
                <a:solidFill>
                  <a:srgbClr val="6F816C"/>
                </a:solidFill>
              </a:rPr>
              <a:t>05</a:t>
            </a:r>
            <a:endParaRPr sz="2250" b="1">
              <a:solidFill>
                <a:srgbClr val="6F816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81600" y="3876675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API、数据库与密钥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181600" y="44386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连接真实能力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981950" y="3648075"/>
            <a:ext cx="3333750" cy="1581150"/>
          </a:xfrm>
          <a:prstGeom prst="roundRect">
            <a:avLst>
              <a:gd name="adj" fmla="val 7229"/>
            </a:avLst>
          </a:prstGeom>
          <a:solidFill>
            <a:srgbClr val="102219"/>
          </a:solidFill>
          <a:ln w="9525">
            <a:solidFill>
              <a:srgbClr val="285039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91500" y="385762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6F816C"/>
                </a:solidFill>
              </a:defRPr>
            </a:pPr>
            <a:r>
              <a:rPr sz="2250" b="1">
                <a:solidFill>
                  <a:srgbClr val="6F816C"/>
                </a:solidFill>
              </a:rPr>
              <a:t>06</a:t>
            </a:r>
            <a:endParaRPr sz="2250" b="1">
              <a:solidFill>
                <a:srgbClr val="6F816C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20150" y="3876675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5F8EE"/>
                </a:solidFill>
              </a:defRPr>
            </a:pPr>
            <a:r>
              <a:rPr sz="1725" b="1">
                <a:solidFill>
                  <a:srgbClr val="F5F8EE"/>
                </a:solidFill>
              </a:rPr>
              <a:t>部署、监控与费用</a:t>
            </a:r>
            <a:endParaRPr sz="1725" b="1">
              <a:solidFill>
                <a:srgbClr val="F5F8EE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820150" y="44386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5B79C"/>
                </a:solidFill>
              </a:defRPr>
            </a:pPr>
            <a:r>
              <a:rPr sz="1350" b="0">
                <a:solidFill>
                  <a:srgbClr val="A5B79C"/>
                </a:solidFill>
              </a:rPr>
              <a:t>面对真实用户</a:t>
            </a:r>
            <a:endParaRPr sz="1350" b="0">
              <a:solidFill>
                <a:srgbClr val="A5B79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4850" y="5905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CFF6B"/>
                </a:solidFill>
              </a:defRPr>
            </a:pPr>
            <a:r>
              <a:rPr sz="1800" b="1">
                <a:solidFill>
                  <a:srgbClr val="7CFF6B"/>
                </a:solidFill>
              </a:rPr>
              <a:t>每一层都保留上一层的速度，但增加新的证据和责任。</a:t>
            </a:r>
            <a:endParaRPr sz="1800" b="1">
              <a:solidFill>
                <a:srgbClr val="7CFF6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7100B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1009650"/>
            <a:ext cx="581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F5F8EE"/>
                </a:solidFill>
              </a:defRPr>
            </a:pPr>
            <a:r>
              <a:rPr sz="4350" b="1">
                <a:solidFill>
                  <a:srgbClr val="F5F8EE"/>
                </a:solidFill>
              </a:rPr>
              <a:t>START WITH VIBES</a:t>
            </a:r>
            <a:endParaRPr sz="4350" b="1">
              <a:solidFill>
                <a:srgbClr val="F5F8E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857375"/>
            <a:ext cx="638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>
                <a:solidFill>
                  <a:srgbClr val="D8FF3E"/>
                </a:solidFill>
              </a:defRPr>
            </a:pPr>
            <a:r>
              <a:rPr sz="3900" b="1">
                <a:solidFill>
                  <a:srgbClr val="D8FF3E"/>
                </a:solidFill>
              </a:rPr>
              <a:t>FINISH WITH EVIDENCE</a:t>
            </a:r>
            <a:endParaRPr sz="3900" b="1">
              <a:solidFill>
                <a:srgbClr val="D8FF3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95275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0">
                <a:solidFill>
                  <a:srgbClr val="A5B79C"/>
                </a:solidFill>
              </a:defRPr>
            </a:pPr>
            <a:r>
              <a:rPr sz="2025" b="0">
                <a:solidFill>
                  <a:srgbClr val="A5B79C"/>
                </a:solidFill>
              </a:rPr>
              <a:t>先让想法出现，再证明它值得信任。</a:t>
            </a:r>
            <a:endParaRPr sz="2025" b="0">
              <a:solidFill>
                <a:srgbClr val="A5B79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9814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01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14450" y="39338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F8EE"/>
                </a:solidFill>
              </a:defRPr>
            </a:pPr>
            <a:r>
              <a:rPr sz="1650" b="1">
                <a:solidFill>
                  <a:srgbClr val="F5F8EE"/>
                </a:solidFill>
              </a:rPr>
              <a:t>我到底想解决什么？</a:t>
            </a:r>
            <a:endParaRPr sz="1650" b="1">
              <a:solidFill>
                <a:srgbClr val="F5F8E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5720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02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14450" y="45243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F8EE"/>
                </a:solidFill>
              </a:defRPr>
            </a:pPr>
            <a:r>
              <a:rPr sz="1650" b="1">
                <a:solidFill>
                  <a:srgbClr val="F5F8EE"/>
                </a:solidFill>
              </a:rPr>
              <a:t>什么结果才算完成？</a:t>
            </a:r>
            <a:endParaRPr sz="1650" b="1">
              <a:solidFill>
                <a:srgbClr val="F5F8E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5162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D8FF3E"/>
                </a:solidFill>
              </a:defRPr>
            </a:pPr>
            <a:r>
              <a:rPr sz="1275" b="1">
                <a:solidFill>
                  <a:srgbClr val="D8FF3E"/>
                </a:solidFill>
              </a:rPr>
              <a:t>03</a:t>
            </a:r>
            <a:endParaRPr sz="1275" b="1">
              <a:solidFill>
                <a:srgbClr val="D8FF3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14450" y="51149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F8EE"/>
                </a:solidFill>
              </a:defRPr>
            </a:pPr>
            <a:r>
              <a:rPr sz="1650" b="1">
                <a:solidFill>
                  <a:srgbClr val="F5F8EE"/>
                </a:solidFill>
              </a:rPr>
              <a:t>我用什么证据相信它？</a:t>
            </a:r>
            <a:endParaRPr sz="1650" b="1">
              <a:solidFill>
                <a:srgbClr val="F5F8E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8FF3E"/>
                </a:solidFill>
              </a:defRPr>
            </a:pPr>
            <a:r>
              <a:rPr sz="1050" b="1">
                <a:solidFill>
                  <a:srgbClr val="D8FF3E"/>
                </a:solidFill>
              </a:rPr>
              <a:t>VIBE CODING · 0→1 NIGHT SCHOOL</a:t>
            </a:r>
            <a:endParaRPr sz="1050" b="1">
              <a:solidFill>
                <a:srgbClr val="D8FF3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2857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F816C"/>
                </a:solidFill>
              </a:defRPr>
            </a:pPr>
            <a:r>
              <a:rPr sz="1050" b="1">
                <a:solidFill>
                  <a:srgbClr val="6F816C"/>
                </a:solidFill>
              </a:rPr>
              <a:t>18</a:t>
            </a:r>
            <a:endParaRPr sz="1050" b="1">
              <a:solidFill>
                <a:srgbClr val="6F81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5F8EE"/>
                </a:solidFill>
              </a:defRPr>
            </a:pPr>
            <a:r>
              <a:rPr sz="3000" b="1">
                <a:solidFill>
                  <a:srgbClr val="F5F8EE"/>
                </a:solidFill>
              </a:rPr>
              <a:t>原始出处与官方资料</a:t>
            </a:r>
            <a:endParaRPr sz="3000" b="1">
              <a:solidFill>
                <a:srgbClr val="F5F8E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62100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695450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[1] Karpathy, 2023 — The hottest new programming language is English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x.com/karpathy/status/1617979122625712128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428875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562225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[2] Karpathy, 2025 — Vibe Coding 命名帖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x.com/karpathy/status/1886192184808149383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295650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3429000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[3] Karpathy, 2025 — 专业 AI 辅助编程工作节奏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x.com/karpathy/status/1915581920022585597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4162425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295775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[4] Simon Willison — Not all AI-assisted programming is vibe coding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simonwillison.net/2025/Mar/19/vibe-coding/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5029200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162550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A5B79C"/>
                </a:solidFill>
              </a:defRPr>
            </a:pPr>
            <a:r>
              <a:rPr sz="1200" b="0">
                <a:solidFill>
                  <a:srgbClr val="A5B79C"/>
                </a:solidFill>
              </a:rPr>
              <a:t>OpenAI 2015 成立公告 — Karpathy 为 founding member</a:t>
            </a:r>
            <a:endParaRPr sz="1200" b="0">
              <a:solidFill>
                <a:srgbClr val="A5B79C"/>
              </a:solidFill>
            </a:endParaRPr>
          </a:p>
          <a:p>
            <a:pPr algn="l">
              <a:buNone/>
              <a:defRPr sz="1200" b="0">
                <a:solidFill>
                  <a:srgbClr val="A5B79C"/>
                </a:solidFill>
              </a:defRPr>
            </a:pPr>
            <a:r>
              <a:rPr sz="1200" b="0">
                <a:solidFill>
                  <a:srgbClr val="A5B79C"/>
                </a:solidFill>
              </a:rPr>
              <a:t>openai.com/index/introducing-openai/</a:t>
            </a:r>
            <a:endParaRPr sz="1200" b="0">
              <a:solidFill>
                <a:srgbClr val="A5B79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62700" y="1562100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1695450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[5] Anthropic — Claude Code getting started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docs.anthropic.com/en/docs/claude-code/getting-started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62700" y="2428875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62700" y="2562225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[6] Cursor — Agent modes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docs.cursor.com/agent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62700" y="3295650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62700" y="3429000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[7] OpenAI — Codex product &amp; Codex app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openai.com/codex/ · openai.com/index/introducing-the-codex-app/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62700" y="4162425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362700" y="4295775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GitHub — Copilot cloud agent</a:t>
            </a:r>
            <a:endParaRPr sz="1200" b="0">
              <a:solidFill>
                <a:srgbClr val="F5F8EE"/>
              </a:solidFill>
            </a:endParaRPr>
          </a:p>
          <a:p>
            <a:pPr algn="l">
              <a:buNone/>
              <a:defRPr sz="1200" b="0">
                <a:solidFill>
                  <a:srgbClr val="F5F8EE"/>
                </a:solidFill>
              </a:defRPr>
            </a:pPr>
            <a:r>
              <a:rPr sz="1200" b="0">
                <a:solidFill>
                  <a:srgbClr val="F5F8EE"/>
                </a:solidFill>
              </a:rPr>
              <a:t>docs.github.com/.../about-cloud-agent</a:t>
            </a:r>
            <a:endParaRPr sz="1200" b="0">
              <a:solidFill>
                <a:srgbClr val="F5F8E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362700" y="5029200"/>
            <a:ext cx="4857750" cy="9525"/>
          </a:xfrm>
          <a:prstGeom prst="rect">
            <a:avLst/>
          </a:prstGeom>
          <a:solidFill>
            <a:srgbClr val="285039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362700" y="5162550"/>
            <a:ext cx="481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A5B79C"/>
                </a:solidFill>
              </a:defRPr>
            </a:pPr>
            <a:r>
              <a:rPr sz="1200" b="0">
                <a:solidFill>
                  <a:srgbClr val="A5B79C"/>
                </a:solidFill>
              </a:rPr>
              <a:t>完整资料索引</a:t>
            </a:r>
            <a:endParaRPr sz="1200" b="0">
              <a:solidFill>
                <a:srgbClr val="A5B79C"/>
              </a:solidFill>
            </a:endParaRPr>
          </a:p>
          <a:p>
            <a:pPr algn="l">
              <a:buNone/>
              <a:defRPr sz="1200" b="0">
                <a:solidFill>
                  <a:srgbClr val="A5B79C"/>
                </a:solidFill>
              </a:defRPr>
            </a:pPr>
            <a:r>
              <a:rPr sz="1200" b="0">
                <a:solidFill>
                  <a:srgbClr val="A5B79C"/>
                </a:solidFill>
              </a:rPr>
              <a:t>课程文件夹 / 第一课 / 03-X推文与原始出处.md</a:t>
            </a:r>
            <a:endParaRPr sz="1200" b="0">
              <a:solidFill>
                <a:srgbClr val="A5B79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19125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6F816C"/>
                </a:solidFill>
              </a:defRPr>
            </a:pPr>
            <a:r>
              <a:rPr sz="1050" b="0">
                <a:solidFill>
                  <a:srgbClr val="6F816C"/>
                </a:solidFill>
              </a:rPr>
              <a:t>核验日期：2026-07-10 · 产品能力会持续变化，授课前请复查官方页面。</a:t>
            </a:r>
            <a:endParaRPr sz="1050" b="0">
              <a:solidFill>
                <a:srgbClr val="6F816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4194</Words>
  <Application>WPS 演示</Application>
  <PresentationFormat>Converted Presentation</PresentationFormat>
  <Paragraphs>609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leon</cp:lastModifiedBy>
  <cp:revision>1</cp:revision>
  <dcterms:created xsi:type="dcterms:W3CDTF">2026-07-15T03:13:50Z</dcterms:created>
  <dcterms:modified xsi:type="dcterms:W3CDTF">2026-07-15T03:13:50Z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5C0B2DA810381E24EEFA566A9050C27A_43</vt:lpwstr>
  </property>
  <property fmtid="{D5CDD505-2E9C-101B-9397-08002B2CF9AE}" pid="3" name="KSOProductBuildVer">
    <vt:lpwstr>2052-12.1.26026.26026</vt:lpwstr>
  </property>
</Properties>
</file>