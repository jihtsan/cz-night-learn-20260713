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4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be8230aa4340af" /><Relationship Type="http://schemas.openxmlformats.org/officeDocument/2006/relationships/extended-properties" Target="/docProps/app.xml" Id="R0f2ba839c0e543d9" /><Relationship Type="http://schemas.openxmlformats.org/officeDocument/2006/relationships/officeDocument" Target="/ppt/presentation.xml" Id="Rf6c3428520314e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8f03d055174c13"/>
  </p:sldMasterIdLst>
  <p:notesMasterIdLst>
    <p:notesMasterId xmlns:r="http://schemas.openxmlformats.org/officeDocument/2006/relationships" r:id="Rcc5f417cc4d543e1"/>
  </p:notesMasterIdLst>
  <p:sldIdLst>
    <p:sldId xmlns:r="http://schemas.openxmlformats.org/officeDocument/2006/relationships" id="256" r:id="R0a20b31b9bb04609"/>
    <p:sldId xmlns:r="http://schemas.openxmlformats.org/officeDocument/2006/relationships" id="257" r:id="Rd49a81ebf74a45ec"/>
    <p:sldId xmlns:r="http://schemas.openxmlformats.org/officeDocument/2006/relationships" id="258" r:id="R6e76ca95f5a14ec1"/>
    <p:sldId xmlns:r="http://schemas.openxmlformats.org/officeDocument/2006/relationships" id="259" r:id="R7a813bcd7f124515"/>
    <p:sldId xmlns:r="http://schemas.openxmlformats.org/officeDocument/2006/relationships" id="260" r:id="R31a6ffda42c14b9c"/>
    <p:sldId xmlns:r="http://schemas.openxmlformats.org/officeDocument/2006/relationships" id="261" r:id="R0fc8cd0a5948409f"/>
    <p:sldId xmlns:r="http://schemas.openxmlformats.org/officeDocument/2006/relationships" id="262" r:id="Rskillplaceholder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c86d815ff241f7" /><Relationship Type="http://schemas.openxmlformats.org/officeDocument/2006/relationships/slideMaster" Target="/ppt/slideMasters/slideMaster1.xml" Id="Rc28f03d055174c13" /><Relationship Type="http://schemas.openxmlformats.org/officeDocument/2006/relationships/notesMaster" Target="/ppt/notesMasters/notesMaster1.xml" Id="Rcc5f417cc4d543e1" /><Relationship Type="http://schemas.openxmlformats.org/officeDocument/2006/relationships/presProps" Target="/ppt/presProps.xml" Id="R3292f43933b943ce" /><Relationship Type="http://schemas.openxmlformats.org/officeDocument/2006/relationships/tableStyles" Target="/ppt/tableStyles.xml" Id="R691a1b2d338447a0" /><Relationship Type="http://schemas.openxmlformats.org/officeDocument/2006/relationships/slide" Target="/ppt/slides/slide1.xml" Id="R3b688659defb4fa8" /><Relationship Type="http://schemas.openxmlformats.org/officeDocument/2006/relationships/slide" Target="/ppt/slides/slide2.xml" Id="R8c76c9d6556a4152" /><Relationship Type="http://schemas.openxmlformats.org/officeDocument/2006/relationships/slide" Target="/ppt/slides/slide3.xml" Id="Rf96fb78e79c24ac4" /><Relationship Type="http://schemas.openxmlformats.org/officeDocument/2006/relationships/slide" Target="/ppt/slides/slide4.xml" Id="Rf0c396fe852245a3" /><Relationship Type="http://schemas.openxmlformats.org/officeDocument/2006/relationships/slide" Target="/ppt/slides/slide5.xml" Id="R66b3d7e2e9da47a5" /><Relationship Type="http://schemas.openxmlformats.org/officeDocument/2006/relationships/slide" Target="/ppt/slides/slide6.xml" Id="R2ffe31f612f34d9e" /><Relationship Type="http://schemas.openxmlformats.org/officeDocument/2006/relationships/slide" Target="/ppt/slides/slide7.xml" Id="R5b9fcdff44a34880" /><Relationship Type="http://schemas.openxmlformats.org/officeDocument/2006/relationships/slide" Target="/ppt/slides/slide8.xml" Id="Rbc28ee9837084b0e" /><Relationship Type="http://schemas.openxmlformats.org/officeDocument/2006/relationships/slide" Target="/ppt/slides/slide9.xml" Id="R04981f98b7964d7d" /><Relationship Type="http://schemas.openxmlformats.org/officeDocument/2006/relationships/slide" Target="/ppt/slides/slide10.xml" Id="Ra8cf622f8abb4824" /><Relationship Type="http://schemas.openxmlformats.org/officeDocument/2006/relationships/slide" Target="/ppt/slides/slide11.xml" Id="R7b4bff2fdade48f7" /><Relationship Type="http://schemas.openxmlformats.org/officeDocument/2006/relationships/slide" Target="/ppt/slides/slide12.xml" Id="R4584e44713aa4e23" /><Relationship Type="http://schemas.openxmlformats.org/officeDocument/2006/relationships/slide" Target="/ppt/slides/slide13.xml" Id="R1ac7ad1eebb440bc" /><Relationship Type="http://schemas.openxmlformats.org/officeDocument/2006/relationships/slide" Target="/ppt/slides/slide14.xml" Id="R10f46d14b9264c2f" /><Relationship Type="http://schemas.openxmlformats.org/officeDocument/2006/relationships/slide" Target="/ppt/slides/slide15.xml" Id="Rbf50d9bde8be4fe8" /><Relationship Type="http://schemas.openxmlformats.org/officeDocument/2006/relationships/slide" Target="/ppt/slides/slide16.xml" Id="R456df421c34d4736" /><Relationship Type="http://schemas.openxmlformats.org/officeDocument/2006/relationships/slide" Target="/ppt/slides/slide17.xml" Id="R92371c2676ca4201" /><Relationship Type="http://schemas.openxmlformats.org/officeDocument/2006/relationships/slide" Target="/ppt/slides/slide18.xml" Id="R0fa17a454cae4d49" /><Relationship Type="http://schemas.openxmlformats.org/officeDocument/2006/relationships/slide" Target="/ppt/slides/slide19.xml" Id="R036eae1224ca4b26" /><Relationship Type="http://schemas.openxmlformats.org/officeDocument/2006/relationships/slide" Target="/ppt/slides/slide20.xml" Id="R38024e1f10e942f6" /><Relationship Type="http://schemas.openxmlformats.org/officeDocument/2006/relationships/slide" Target="/ppt/slides/slide21.xml" Id="R3719ff6fcb3a4ae4" /><Relationship Type="http://schemas.openxmlformats.org/officeDocument/2006/relationships/slide" Target="/ppt/slides/slide22.xml" Id="R61ab97da3c754c7c" /><Relationship Type="http://schemas.openxmlformats.org/officeDocument/2006/relationships/slide" Target="/ppt/slides/slide23.xml" Id="R55d709c27e714c5d" /><Relationship Type="http://schemas.openxmlformats.org/officeDocument/2006/relationships/slide" Target="/ppt/slides/slide24.xml" Id="Re4f60f577c4946b0" /><Relationship Type="http://schemas.openxmlformats.org/officeDocument/2006/relationships/slide" Target="/ppt/slides/slide25.xml" Id="Rf7e1bec659e84d6d" /><Relationship Type="http://schemas.openxmlformats.org/officeDocument/2006/relationships/slide" Target="/ppt/slides/slide26.xml" Id="Re58361193495494d" /><Relationship Type="http://schemas.openxmlformats.org/officeDocument/2006/relationships/slide" Target="/ppt/slides/slide27.xml" Id="Rcf2b7bd5536b409a" /><Relationship Type="http://schemas.openxmlformats.org/officeDocument/2006/relationships/slide" Target="/ppt/slides/slide28.xml" Id="R057d5d92adec4952" /><Relationship Type="http://schemas.openxmlformats.org/officeDocument/2006/relationships/slide" Target="/ppt/slides/slide29.xml" Id="Racf6daabaa3b4bb0" /><Relationship Type="http://schemas.openxmlformats.org/officeDocument/2006/relationships/slide" Target="/ppt/slides/slide30.xml" Id="R1f6200c9683f4790" /><Relationship Type="http://schemas.openxmlformats.org/officeDocument/2006/relationships/slide" Target="/ppt/slides/slide31.xml" Id="R698faab8c9ea4a8c" /><Relationship Type="http://schemas.openxmlformats.org/officeDocument/2006/relationships/slide" Target="/ppt/slides/slide32.xml" Id="R0a20b31b9bb04609" /><Relationship Type="http://schemas.openxmlformats.org/officeDocument/2006/relationships/slide" Target="/ppt/slides/slide33.xml" Id="Rd49a81ebf74a45ec" /><Relationship Type="http://schemas.openxmlformats.org/officeDocument/2006/relationships/slide" Target="/ppt/slides/slide34.xml" Id="R6e76ca95f5a14ec1" /><Relationship Type="http://schemas.openxmlformats.org/officeDocument/2006/relationships/slide" Target="/ppt/slides/slide35.xml" Id="R7a813bcd7f124515" /><Relationship Type="http://schemas.openxmlformats.org/officeDocument/2006/relationships/slide" Target="/ppt/slides/slide36.xml" Id="R31a6ffda42c14b9c" /><Relationship Type="http://schemas.openxmlformats.org/officeDocument/2006/relationships/slide" Target="/ppt/slides/slide37.xml" Id="R0fc8cd0a5948409f" /><Relationship Type="http://schemas.openxmlformats.org/officeDocument/2006/relationships/slide" Target="/ppt/slides/slide38.xml" Id="Rc3e20275db8449b3" /><Relationship Type="http://schemas.openxmlformats.org/officeDocument/2006/relationships/slide" Target="/ppt/slides/slide42.xml" Id="Rskillplaceholder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212fc015c649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0" dist="228600" dir="5400000">
              <a:srgbClr val="0A84FF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9950f9c979467d" /><Relationship Type="http://schemas.openxmlformats.org/officeDocument/2006/relationships/notesMaster" Target="/ppt/notesMasters/notesMaster1.xml" Id="R670eb6ea73534f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03a8b450004194" /><Relationship Type="http://schemas.openxmlformats.org/officeDocument/2006/relationships/notesMaster" Target="/ppt/notesMasters/notesMaster1.xml" Id="R0deb909ff8cc4b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74b8dd4a0d469a" /><Relationship Type="http://schemas.openxmlformats.org/officeDocument/2006/relationships/notesMaster" Target="/ppt/notesMasters/notesMaster1.xml" Id="R3881f95230164a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acda6b60224823" /><Relationship Type="http://schemas.openxmlformats.org/officeDocument/2006/relationships/notesMaster" Target="/ppt/notesMasters/notesMaster1.xml" Id="Radd0fad0d65b4b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0988ef6c9941a2" /><Relationship Type="http://schemas.openxmlformats.org/officeDocument/2006/relationships/notesMaster" Target="/ppt/notesMasters/notesMaster1.xml" Id="R92c67f4414f84c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7bf49970964789" /><Relationship Type="http://schemas.openxmlformats.org/officeDocument/2006/relationships/notesMaster" Target="/ppt/notesMasters/notesMaster1.xml" Id="Ra80bbd7cde6042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9602ea30354f26" /><Relationship Type="http://schemas.openxmlformats.org/officeDocument/2006/relationships/notesMaster" Target="/ppt/notesMasters/notesMaster1.xml" Id="Re714111b05d547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e8d180e9954faf" /><Relationship Type="http://schemas.openxmlformats.org/officeDocument/2006/relationships/notesMaster" Target="/ppt/notesMasters/notesMaster1.xml" Id="R72945f428fd84f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78ebf6cf64452d" /><Relationship Type="http://schemas.openxmlformats.org/officeDocument/2006/relationships/notesMaster" Target="/ppt/notesMasters/notesMaster1.xml" Id="R05e58693b9a54e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e4682c16a040ea" /><Relationship Type="http://schemas.openxmlformats.org/officeDocument/2006/relationships/notesMaster" Target="/ppt/notesMasters/notesMaster1.xml" Id="R312729ef2efc4c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41f8a260614e37" /><Relationship Type="http://schemas.openxmlformats.org/officeDocument/2006/relationships/notesMaster" Target="/ppt/notesMasters/notesMaster1.xml" Id="R8709f168f6294e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0d765c7d47464d" /><Relationship Type="http://schemas.openxmlformats.org/officeDocument/2006/relationships/notesMaster" Target="/ppt/notesMasters/notesMaster1.xml" Id="Rc0aca8f253124b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503e0e6f8a49ea" /><Relationship Type="http://schemas.openxmlformats.org/officeDocument/2006/relationships/notesMaster" Target="/ppt/notesMasters/notesMaster1.xml" Id="R3ef4025d69cc496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778353ae304244" /><Relationship Type="http://schemas.openxmlformats.org/officeDocument/2006/relationships/notesMaster" Target="/ppt/notesMasters/notesMaster1.xml" Id="R0ae710b1df8c413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608788fc464cc6" /><Relationship Type="http://schemas.openxmlformats.org/officeDocument/2006/relationships/notesMaster" Target="/ppt/notesMasters/notesMaster1.xml" Id="R5f7e3511667445d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659807a26804ae3" /><Relationship Type="http://schemas.openxmlformats.org/officeDocument/2006/relationships/notesMaster" Target="/ppt/notesMasters/notesMaster1.xml" Id="R56c9f38dc6ea41e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b9bf70eb3e14d55" /><Relationship Type="http://schemas.openxmlformats.org/officeDocument/2006/relationships/notesMaster" Target="/ppt/notesMasters/notesMaster1.xml" Id="R9e3883545f5a462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9b2c337dedb4fc2" /><Relationship Type="http://schemas.openxmlformats.org/officeDocument/2006/relationships/notesMaster" Target="/ppt/notesMasters/notesMaster1.xml" Id="R563f62aa28154a7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4ac55ad6d34497" /><Relationship Type="http://schemas.openxmlformats.org/officeDocument/2006/relationships/notesMaster" Target="/ppt/notesMasters/notesMaster1.xml" Id="Rda629a338f0241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7ba16a5c3c84d29" /><Relationship Type="http://schemas.openxmlformats.org/officeDocument/2006/relationships/notesMaster" Target="/ppt/notesMasters/notesMaster1.xml" Id="Rb56b35d44bd347e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d128f1f6e584a7f" /><Relationship Type="http://schemas.openxmlformats.org/officeDocument/2006/relationships/notesMaster" Target="/ppt/notesMasters/notesMaster1.xml" Id="R2684490be905431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2ffed720b634ee6" /><Relationship Type="http://schemas.openxmlformats.org/officeDocument/2006/relationships/notesMaster" Target="/ppt/notesMasters/notesMaster1.xml" Id="R2d93e6601b0a466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02965224283455a" /><Relationship Type="http://schemas.openxmlformats.org/officeDocument/2006/relationships/notesMaster" Target="/ppt/notesMasters/notesMaster1.xml" Id="R4d7e4e3e7c9b47a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40de8d5ce2e43c9" /><Relationship Type="http://schemas.openxmlformats.org/officeDocument/2006/relationships/notesMaster" Target="/ppt/notesMasters/notesMaster1.xml" Id="R36d6431a79454cd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495d660ed9740d7" /><Relationship Type="http://schemas.openxmlformats.org/officeDocument/2006/relationships/notesMaster" Target="/ppt/notesMasters/notesMaster1.xml" Id="Ra90ef194da25447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8698e3209d64fb9" /><Relationship Type="http://schemas.openxmlformats.org/officeDocument/2006/relationships/notesMaster" Target="/ppt/notesMasters/notesMaster1.xml" Id="R9953ca6677d740c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8cebb0cd22d4d32" /><Relationship Type="http://schemas.openxmlformats.org/officeDocument/2006/relationships/notesMaster" Target="/ppt/notesMasters/notesMaster1.xml" Id="R550fb9c4bb95499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9dc0ba75e094742" /><Relationship Type="http://schemas.openxmlformats.org/officeDocument/2006/relationships/notesMaster" Target="/ppt/notesMasters/notesMaster1.xml" Id="Rc953ad99f2e744b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27ce2d320f24e5d" /><Relationship Type="http://schemas.openxmlformats.org/officeDocument/2006/relationships/notesMaster" Target="/ppt/notesMasters/notesMaster1.xml" Id="Re0a30f5d79f34eb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f5c4ab7d23c4c08" /><Relationship Type="http://schemas.openxmlformats.org/officeDocument/2006/relationships/notesMaster" Target="/ppt/notesMasters/notesMaster1.xml" Id="R6104163b679347b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78f643c2f3e4613" /><Relationship Type="http://schemas.openxmlformats.org/officeDocument/2006/relationships/notesMaster" Target="/ppt/notesMasters/notesMaster1.xml" Id="Rc8fd46bc967e41e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e84955c0b9d425a" /><Relationship Type="http://schemas.openxmlformats.org/officeDocument/2006/relationships/notesMaster" Target="/ppt/notesMasters/notesMaster1.xml" Id="Rcd8400a063a7420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5a9da9944654fe0" /><Relationship Type="http://schemas.openxmlformats.org/officeDocument/2006/relationships/notesMaster" Target="/ppt/notesMasters/notesMaster1.xml" Id="R3026cb5b4ed84af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6b5cae4ebfd4c46" /><Relationship Type="http://schemas.openxmlformats.org/officeDocument/2006/relationships/notesMaster" Target="/ppt/notesMasters/notesMaster1.xml" Id="R3c4f2e792a5049f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5767a8b73d848c9" /><Relationship Type="http://schemas.openxmlformats.org/officeDocument/2006/relationships/notesMaster" Target="/ppt/notesMasters/notesMaster1.xml" Id="R90784d0b0fe5418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df10e0fb0c843e5" /><Relationship Type="http://schemas.openxmlformats.org/officeDocument/2006/relationships/notesMaster" Target="/ppt/notesMasters/notesMaster1.xml" Id="R8d18eeada5ed4ec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1c68bd478294647" /><Relationship Type="http://schemas.openxmlformats.org/officeDocument/2006/relationships/notesMaster" Target="/ppt/notesMasters/notesMaster1.xml" Id="R5d865599349d4b6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12e5152f174439e" /><Relationship Type="http://schemas.openxmlformats.org/officeDocument/2006/relationships/notesMaster" Target="/ppt/notesMasters/notesMaster1.xml" Id="R4699d66af57841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0～1分钟｜开场</a:t>
            </a:r>
          </a:p>
          <a:p xmlns:a="http://schemas.openxmlformats.org/drawingml/2006/main">
            <a:r>
              <a:t>先问学员：你是否曾经只说‘帮我做一个文件’，却得到一份看起来完整、实际不能用的结果？</a:t>
            </a:r>
          </a:p>
          <a:p xmlns:a="http://schemas.openxmlformats.org/drawingml/2006/main">
            <a:r>
              <a:t>说明今天学的是一条完整工作链，而不是零散的软件按钮。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1～3分钟｜成果预览</a:t>
            </a:r>
          </a:p>
          <a:p xmlns:a="http://schemas.openxmlformats.org/drawingml/2006/main">
            <a:r>
              <a:t>快速展示四个终点，不解释软件细节。</a:t>
            </a:r>
          </a:p>
          <a:p xmlns:a="http://schemas.openxmlformats.org/drawingml/2006/main">
            <a:r>
              <a:t>强调Excel是数据载体，PPT是表达结论的交付物，真正起点是业务问题。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3～5分钟｜课程路线</a:t>
            </a:r>
          </a:p>
          <a:p xmlns:a="http://schemas.openxmlformats.org/drawingml/2006/main">
            <a:r>
              <a:t>让学员只记住三个动作：先商讨、再生成、后校验。</a:t>
            </a:r>
          </a:p>
          <a:p xmlns:a="http://schemas.openxmlformats.org/drawingml/2006/main">
            <a:r>
              <a:t>过渡：要学会交任务，先理解AI为什么需要提示词。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5分钟｜进入第一部分</a:t>
            </a:r>
          </a:p>
          <a:p xmlns:a="http://schemas.openxmlformats.org/drawingml/2006/main">
            <a:r>
              <a:t>这一部分控制在20分钟。</a:t>
            </a:r>
          </a:p>
          <a:p xmlns:a="http://schemas.openxmlformats.org/drawingml/2006/main">
            <a:r>
              <a:t>不讲模型数学原理，只建立能够指导办公实践的正确认知。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5～8分钟｜大海与游泳者</a:t>
            </a:r>
          </a:p>
          <a:p xmlns:a="http://schemas.openxmlformats.org/drawingml/2006/main">
            <a:r>
              <a:t>先不解释技术，直接问：如果只说‘你游过去吧’，还缺什么？</a:t>
            </a:r>
          </a:p>
          <a:p xmlns:a="http://schemas.openxmlformats.org/drawingml/2006/main">
            <a:r>
              <a:t>引导学员说出起点、目的地、路线、时间、风险和带回来的东西。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8～10分钟｜视觉对照</a:t>
            </a:r>
          </a:p>
          <a:p xmlns:a="http://schemas.openxmlformats.org/drawingml/2006/main">
            <a:r>
              <a:t>左侧代表‘帮我做一个PPT’，右侧代表说清楚对象、目标、路线和验收。</a:t>
            </a:r>
          </a:p>
          <a:p xmlns:a="http://schemas.openxmlformats.org/drawingml/2006/main">
            <a:r>
              <a:t>提醒：提示词提高命中率，但不会自动保证数字和结论正确。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10～12分钟｜上下文窗口</a:t>
            </a:r>
          </a:p>
          <a:p xmlns:a="http://schemas.openxmlformats.org/drawingml/2006/main">
            <a:r>
              <a:t>不要说‘Token里面装什么’，要说‘上下文窗口里装什么’。</a:t>
            </a:r>
          </a:p>
          <a:p xmlns:a="http://schemas.openxmlformats.org/drawingml/2006/main">
            <a:r>
              <a:t>指出系统指令、当前输入、历史对话、文件、工具结果等会共同占用空间。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12～14分钟｜Token</a:t>
            </a:r>
          </a:p>
          <a:p xmlns:a="http://schemas.openxmlformats.org/drawingml/2006/main">
            <a:r>
              <a:t>不要讲固定的中文字数换算；不同Tokenizer会有差异。</a:t>
            </a:r>
          </a:p>
          <a:p xmlns:a="http://schemas.openxmlformats.org/drawingml/2006/main">
            <a:r>
              <a:t>教学重点：把有限上下文优先留给目标、事实和验收标准。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14～16分钟｜动态上下文包</a:t>
            </a:r>
          </a:p>
          <a:p xmlns:a="http://schemas.openxmlformats.org/drawingml/2006/main">
            <a:r>
              <a:t>用‘桌面上摆着的资料’做比喻。</a:t>
            </a:r>
          </a:p>
          <a:p xmlns:a="http://schemas.openxmlformats.org/drawingml/2006/main">
            <a:r>
              <a:t>不展开指令优先级和精确上下文数字。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16～18分钟｜Skill与AGENTS.md</a:t>
            </a:r>
          </a:p>
          <a:p xmlns:a="http://schemas.openxmlformats.org/drawingml/2006/main">
            <a:r>
              <a:t>只讲区别和使用场景，不讲Skill开发、目录和配置。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18～21分钟｜Codex工具循环</a:t>
            </a:r>
          </a:p>
          <a:p xmlns:a="http://schemas.openxmlformats.org/drawingml/2006/main">
            <a:r>
              <a:t>沿图讲：收到问题→思考计划→调用工具→查看结果→再次判断→最终输出。</a:t>
            </a:r>
          </a:p>
          <a:p xmlns:a="http://schemas.openxmlformats.org/drawingml/2006/main">
            <a:r>
              <a:t>口头补充两层：开始前会收集项目规则、Skill和文件；部分工具操作需要权限确认。</a:t>
            </a:r>
          </a:p>
          <a:p xmlns:a="http://schemas.openxmlformats.org/drawingml/2006/main">
            <a:r>
              <a:t>过渡：知道AI怎样执行后，再把提示词写成一份真正可用的工作说明书。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21～22分钟｜定义</a:t>
            </a:r>
          </a:p>
          <a:p xmlns:a="http://schemas.openxmlformats.org/drawingml/2006/main">
            <a:r>
              <a:t>提示词不必一次完美，可以先写一版、让AI追问、补充信息、再确认。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22～23分钟｜六段式提示词</a:t>
            </a:r>
          </a:p>
          <a:p xmlns:a="http://schemas.openxmlformats.org/drawingml/2006/main">
            <a:r>
              <a:t>强调这是新手检查清单，不是唯一公式。</a:t>
            </a:r>
          </a:p>
          <a:p xmlns:a="http://schemas.openxmlformats.org/drawingml/2006/main">
            <a:r>
              <a:t>快速口头拆解‘帮我做一个销售PPT’缺少的六类信息。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23～24分钟｜快速练习</a:t>
            </a:r>
          </a:p>
          <a:p xmlns:a="http://schemas.openxmlformats.org/drawingml/2006/main">
            <a:r>
              <a:t>请学员口头说出一项缺失信息。</a:t>
            </a:r>
          </a:p>
          <a:p xmlns:a="http://schemas.openxmlformats.org/drawingml/2006/main">
            <a:r>
              <a:t>不要在此处展开完整答案，下一页揭晓。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24～25分钟｜参考答案</a:t>
            </a:r>
          </a:p>
          <a:p xmlns:a="http://schemas.openxmlformats.org/drawingml/2006/main">
            <a:r>
              <a:t>逐段对应六段式结构。</a:t>
            </a:r>
          </a:p>
          <a:p xmlns:a="http://schemas.openxmlformats.org/drawingml/2006/main">
            <a:r>
              <a:t>强调不是因为文字更多，而是新增信息真正改变了AI的工作方式。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25分钟｜进入需求商讨与固化</a:t>
            </a:r>
          </a:p>
          <a:p xmlns:a="http://schemas.openxmlformats.org/drawingml/2006/main">
            <a:r>
              <a:t>这一部分15分钟。</a:t>
            </a:r>
          </a:p>
          <a:p xmlns:a="http://schemas.openxmlformats.org/drawingml/2006/main">
            <a:r>
              <a:t>先完成两道对照练习，再解释为什么用Markdown。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25～26分钟｜练习说明</a:t>
            </a:r>
          </a:p>
          <a:p xmlns:a="http://schemas.openxmlformats.org/drawingml/2006/main">
            <a:r>
              <a:t>两组各完成一题。先不要展示参考答案。</a:t>
            </a:r>
          </a:p>
          <a:p xmlns:a="http://schemas.openxmlformats.org/drawingml/2006/main">
            <a:r>
              <a:t>每组需要说出至少3项缺失信息。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26～27分钟｜A组讨论</a:t>
            </a:r>
          </a:p>
          <a:p xmlns:a="http://schemas.openxmlformats.org/drawingml/2006/main">
            <a:r>
              <a:t>给学员约1分钟口头补充。</a:t>
            </a:r>
          </a:p>
          <a:p xmlns:a="http://schemas.openxmlformats.org/drawingml/2006/main">
            <a:r>
              <a:t>不要把‘写得更长’当答案，要指出新增信息如何改变调研范围和输出。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27～28分钟｜揭晓</a:t>
            </a:r>
          </a:p>
          <a:p xmlns:a="http://schemas.openxmlformats.org/drawingml/2006/main">
            <a:r>
              <a:t>请B组指出：这个参考版本仍然可以补什么？</a:t>
            </a:r>
          </a:p>
          <a:p xmlns:a="http://schemas.openxmlformats.org/drawingml/2006/main">
            <a:r>
              <a:t>可能答案：调研时间、样本数量、成功指标、隐私要求和最终决策人。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28～29分钟｜点评</a:t>
            </a:r>
          </a:p>
          <a:p xmlns:a="http://schemas.openxmlformats.org/drawingml/2006/main">
            <a:r>
              <a:t>一句话总结：先证明需求存在，再讨论解决方案。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29～30分钟｜B组讨论</a:t>
            </a:r>
          </a:p>
          <a:p xmlns:a="http://schemas.openxmlformats.org/drawingml/2006/main">
            <a:r>
              <a:t>让B组补充阅读对象、材料范围、输出结构、冲突处理和验收。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30～31分钟｜揭晓</a:t>
            </a:r>
          </a:p>
          <a:p xmlns:a="http://schemas.openxmlformats.org/drawingml/2006/main">
            <a:r>
              <a:t>请A组继续找不足：保密等级、篇幅、排序方式、是否保留原文格式。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31～32分钟｜点评</a:t>
            </a:r>
          </a:p>
          <a:p xmlns:a="http://schemas.openxmlformats.org/drawingml/2006/main">
            <a:r>
              <a:t>重点：所有决定和行动项都要能追溯到原始文档。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32～35分钟｜Markdown与HTML</a:t>
            </a:r>
          </a:p>
          <a:p xmlns:a="http://schemas.openxmlformats.org/drawingml/2006/main">
            <a:r>
              <a:t>准确说法：Markdown通常更省Token，是因为标记轻，不是因为只有Markdown才是文本。</a:t>
            </a:r>
          </a:p>
          <a:p xmlns:a="http://schemas.openxmlformats.org/drawingml/2006/main">
            <a:r>
              <a:t>HTML不是不好，而是更适合内容确认之后的视觉呈现。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35～36分钟｜对照示例</a:t>
            </a:r>
          </a:p>
          <a:p xmlns:a="http://schemas.openxmlformats.org/drawingml/2006/main">
            <a:r>
              <a:t>不讲Tokenizer细节，也不给固定百分比。</a:t>
            </a:r>
          </a:p>
          <a:p xmlns:a="http://schemas.openxmlformats.org/drawingml/2006/main">
            <a:r>
              <a:t>只让学员看到相同信息下，HTML需要更多重复标签。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36～38分钟｜需求商讨</a:t>
            </a:r>
          </a:p>
          <a:p xmlns:a="http://schemas.openxmlformats.org/drawingml/2006/main">
            <a:r>
              <a:t>让学员区分字段、维度、指标和筛选条件。</a:t>
            </a:r>
          </a:p>
          <a:p xmlns:a="http://schemas.openxmlformats.org/drawingml/2006/main">
            <a:r>
              <a:t>可用口诀：按什么看通常是维度；看多少、好不好通常是指标。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38～40分钟｜需求固化</a:t>
            </a:r>
          </a:p>
          <a:p xmlns:a="http://schemas.openxmlformats.org/drawingml/2006/main">
            <a:r>
              <a:t>让学员拍照或复制模板。</a:t>
            </a:r>
          </a:p>
          <a:p xmlns:a="http://schemas.openxmlformats.org/drawingml/2006/main">
            <a:r>
              <a:t>强调：这张需求卡同时是Excel和PPT的上游依据。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40分钟｜进入Excel模块</a:t>
            </a:r>
          </a:p>
          <a:p xmlns:a="http://schemas.openxmlformats.org/drawingml/2006/main">
            <a:r>
              <a:t>这一部分20分钟，重点是流程与校验，不讲基础按钮、宏或VBA。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40～45分钟｜Excel流程</a:t>
            </a:r>
          </a:p>
          <a:p xmlns:a="http://schemas.openxmlformats.org/drawingml/2006/main">
            <a:r>
              <a:t>现场演示时先让AI输出Markdown规划，而不是立即写完整工作簿。</a:t>
            </a:r>
          </a:p>
          <a:p xmlns:a="http://schemas.openxmlformats.org/drawingml/2006/main">
            <a:r>
              <a:t>建议先处理10行样例，确认口径后再生成。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45～53分钟｜现场演示</a:t>
            </a:r>
          </a:p>
          <a:p xmlns:a="http://schemas.openxmlformats.org/drawingml/2006/main">
            <a:r>
              <a:t>让AI先指出空值、日期格式不一致和重复行，并记录处理规则。</a:t>
            </a:r>
          </a:p>
          <a:p xmlns:a="http://schemas.openxmlformats.org/drawingml/2006/main">
            <a:r>
              <a:t>不要立即删除问题数据；先让用户确认处理方式。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53～60分钟｜Excel校验</a:t>
            </a:r>
          </a:p>
          <a:p xmlns:a="http://schemas.openxmlformats.org/drawingml/2006/main">
            <a:r>
              <a:t>现场复算一个指标，例如利润率=(销售额-成本)/销售额。</a:t>
            </a:r>
          </a:p>
          <a:p xmlns:a="http://schemas.openxmlformats.org/drawingml/2006/main">
            <a:r>
              <a:t>生成完成不等于工作完成；AI列出待人工确认项。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60分钟｜进入PPT模块</a:t>
            </a:r>
          </a:p>
          <a:p xmlns:a="http://schemas.openxmlformats.org/drawingml/2006/main">
            <a:r>
              <a:t>从Excel到PPT方案15分钟，生成与检查10分钟。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60～68分钟｜汇报四问</a:t>
            </a:r>
          </a:p>
          <a:p xmlns:a="http://schemas.openxmlformats.org/drawingml/2006/main">
            <a:r>
              <a:t>用一条模拟结论演示：D店未达标→成本/销售结构原因→意味着什么→下一步动作。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68～75分钟｜PPT页面方案</a:t>
            </a:r>
          </a:p>
          <a:p xmlns:a="http://schemas.openxmlformats.org/drawingml/2006/main">
            <a:r>
              <a:t>让学员看到PPT方案本身仍然可以用Markdown确认。</a:t>
            </a:r>
          </a:p>
          <a:p xmlns:a="http://schemas.openxmlformats.org/drawingml/2006/main">
            <a:r>
              <a:t>图表只讲比较、趋势、占比和关系，不展开设计理论。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75～79分钟｜生成PPT</a:t>
            </a:r>
          </a:p>
          <a:p xmlns:a="http://schemas.openxmlformats.org/drawingml/2006/main">
            <a:r>
              <a:t>现场演示生成时，准备完成版文件作为耗时预案。</a:t>
            </a:r>
          </a:p>
          <a:p xmlns:a="http://schemas.openxmlformats.org/drawingml/2006/main">
            <a:r>
              <a:t>不要求学员理解生成脚本和运行环境。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79～83分钟｜PPT检查</a:t>
            </a:r>
          </a:p>
          <a:p xmlns:a="http://schemas.openxmlformats.org/drawingml/2006/main">
            <a:r>
              <a:t>打开完整PPT逐页检查，不只看缩略图。</a:t>
            </a:r>
          </a:p>
          <a:p xmlns:a="http://schemas.openxmlformats.org/drawingml/2006/main">
            <a:r>
              <a:t>所有关键数字回到Excel追溯。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83～85分钟｜演示迭代</a:t>
            </a:r>
          </a:p>
          <a:p xmlns:a="http://schemas.openxmlformats.org/drawingml/2006/main">
            <a:r>
              <a:t>演示一次‘发现问题→修改提示词→重新生成’。</a:t>
            </a:r>
          </a:p>
          <a:p xmlns:a="http://schemas.openxmlformats.org/drawingml/2006/main">
            <a:r>
              <a:t>提醒：用具体反馈，不要只说‘再好看一点’。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85～90分钟｜复盘与迁移</a:t>
            </a:r>
          </a:p>
          <a:p xmlns:a="http://schemas.openxmlformats.org/drawingml/2006/main">
            <a:r>
              <a:t>请全班复述完整工作链。</a:t>
            </a:r>
          </a:p>
          <a:p xmlns:a="http://schemas.openxmlformats.org/drawingml/2006/main">
            <a:r>
              <a:t>结束时不增加新概念，留下课后迁移任务。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d297af12ca40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f4bca3751543bc" /><Relationship Type="http://schemas.openxmlformats.org/officeDocument/2006/relationships/slideLayout" Target="/ppt/slideLayouts/slideLayout1.xml" Id="Re0f092fd3b2345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f092fd3b2345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0" dist="228600" dir="5400000">
              <a:srgbClr val="0A84FF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22af93e7a4f12" /><Relationship Type="http://schemas.openxmlformats.org/officeDocument/2006/relationships/notesSlide" Target="/ppt/notesSlides/notesSlide1.xml" Id="R5c7bbaf78de84d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f2a1e2fe0476c" /><Relationship Type="http://schemas.openxmlformats.org/officeDocument/2006/relationships/notesSlide" Target="/ppt/notesSlides/notesSlide2.xml" Id="Rf745d76d39d245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50d0872b7438d" /><Relationship Type="http://schemas.openxmlformats.org/officeDocument/2006/relationships/notesSlide" Target="/ppt/notesSlides/notesSlide3.xml" Id="Rf034b75d42e041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a579ae69a40b0" /><Relationship Type="http://schemas.openxmlformats.org/officeDocument/2006/relationships/notesSlide" Target="/ppt/notesSlides/notesSlide4.xml" Id="R52ec0aeae6464f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fa45d96cb4568" /><Relationship Type="http://schemas.openxmlformats.org/officeDocument/2006/relationships/image" Target="/ppt/media/image.png" Id="Rc4d63fc079604ec9" /><Relationship Type="http://schemas.openxmlformats.org/officeDocument/2006/relationships/notesSlide" Target="/ppt/notesSlides/notesSlide5.xml" Id="Rcd462d7165df4d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cff94c991437e" /><Relationship Type="http://schemas.openxmlformats.org/officeDocument/2006/relationships/image" Target="/ppt/media/image2.png" Id="R1212edf933a6471b" /><Relationship Type="http://schemas.openxmlformats.org/officeDocument/2006/relationships/notesSlide" Target="/ppt/notesSlides/notesSlide6.xml" Id="R63168708aeec49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02ea603c54386" /><Relationship Type="http://schemas.openxmlformats.org/officeDocument/2006/relationships/image" Target="/ppt/media/image3.png" Id="R8bd5f1ef9f8a41f6" /><Relationship Type="http://schemas.openxmlformats.org/officeDocument/2006/relationships/notesSlide" Target="/ppt/notesSlides/notesSlide7.xml" Id="R867db0bc142844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a6c3d77394f43" /><Relationship Type="http://schemas.openxmlformats.org/officeDocument/2006/relationships/notesSlide" Target="/ppt/notesSlides/notesSlide8.xml" Id="R586163ff06ec43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9f22db7ef4b6b" /><Relationship Type="http://schemas.openxmlformats.org/officeDocument/2006/relationships/notesSlide" Target="/ppt/notesSlides/notesSlide9.xml" Id="R5c089ccdee8f4c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6f31210c74c3b" /><Relationship Type="http://schemas.openxmlformats.org/officeDocument/2006/relationships/notesSlide" Target="/ppt/notesSlides/notesSlide10.xml" Id="Rbe2d1f8048804f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938e8d54b409a" /><Relationship Type="http://schemas.openxmlformats.org/officeDocument/2006/relationships/image" Target="/ppt/media/image4.png" Id="R64237e0807d948e9" /><Relationship Type="http://schemas.openxmlformats.org/officeDocument/2006/relationships/notesSlide" Target="/ppt/notesSlides/notesSlide11.xml" Id="R381ee122883c4f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b8f5536f6476e" /><Relationship Type="http://schemas.openxmlformats.org/officeDocument/2006/relationships/notesSlide" Target="/ppt/notesSlides/notesSlide12.xml" Id="Re2213736eabc48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dad72b0134198" /><Relationship Type="http://schemas.openxmlformats.org/officeDocument/2006/relationships/notesSlide" Target="/ppt/notesSlides/notesSlide13.xml" Id="R43b5dd0f886c47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1e3b3cdce4f93" /><Relationship Type="http://schemas.openxmlformats.org/officeDocument/2006/relationships/notesSlide" Target="/ppt/notesSlides/notesSlide14.xml" Id="R35e0a6dc63074bf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662bbf7614269" /><Relationship Type="http://schemas.openxmlformats.org/officeDocument/2006/relationships/notesSlide" Target="/ppt/notesSlides/notesSlide15.xml" Id="R7f8b7ec73f904a3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c8ef55dd548d9" /><Relationship Type="http://schemas.openxmlformats.org/officeDocument/2006/relationships/notesSlide" Target="/ppt/notesSlides/notesSlide16.xml" Id="R9790c42579e54c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8ddfd67a74960" /><Relationship Type="http://schemas.openxmlformats.org/officeDocument/2006/relationships/notesSlide" Target="/ppt/notesSlides/notesSlide17.xml" Id="R021ea2342f964d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d51af21904a4d" /><Relationship Type="http://schemas.openxmlformats.org/officeDocument/2006/relationships/notesSlide" Target="/ppt/notesSlides/notesSlide18.xml" Id="Rc2e8ad493d5a44c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4afcdcffd40d8" /><Relationship Type="http://schemas.openxmlformats.org/officeDocument/2006/relationships/notesSlide" Target="/ppt/notesSlides/notesSlide19.xml" Id="Rc449fec965864ff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492a104434318" /><Relationship Type="http://schemas.openxmlformats.org/officeDocument/2006/relationships/notesSlide" Target="/ppt/notesSlides/notesSlide20.xml" Id="Re4c345a6eccd46d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05ff4366c488d" /><Relationship Type="http://schemas.openxmlformats.org/officeDocument/2006/relationships/notesSlide" Target="/ppt/notesSlides/notesSlide21.xml" Id="R22e21d6833e5406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80913abe74f94" /><Relationship Type="http://schemas.openxmlformats.org/officeDocument/2006/relationships/notesSlide" Target="/ppt/notesSlides/notesSlide22.xml" Id="R5609d627f9fa478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5c47bb3b847c9" /><Relationship Type="http://schemas.openxmlformats.org/officeDocument/2006/relationships/notesSlide" Target="/ppt/notesSlides/notesSlide23.xml" Id="Rb9b22d6dc62e459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d9724ee684155" /><Relationship Type="http://schemas.openxmlformats.org/officeDocument/2006/relationships/notesSlide" Target="/ppt/notesSlides/notesSlide24.xml" Id="Rb8cb48223c1b4d4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edf96a41b470c" /><Relationship Type="http://schemas.openxmlformats.org/officeDocument/2006/relationships/notesSlide" Target="/ppt/notesSlides/notesSlide25.xml" Id="Rf253e7d70a204a8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69d2ca47c4ea0" /><Relationship Type="http://schemas.openxmlformats.org/officeDocument/2006/relationships/notesSlide" Target="/ppt/notesSlides/notesSlide26.xml" Id="R8f8b46b64b54455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1dd9d965c4335" /><Relationship Type="http://schemas.openxmlformats.org/officeDocument/2006/relationships/notesSlide" Target="/ppt/notesSlides/notesSlide27.xml" Id="R43717a1f1483493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185a640c94cab" /><Relationship Type="http://schemas.openxmlformats.org/officeDocument/2006/relationships/notesSlide" Target="/ppt/notesSlides/notesSlide28.xml" Id="R943f7f563745404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1057f59ee4afb" /><Relationship Type="http://schemas.openxmlformats.org/officeDocument/2006/relationships/notesSlide" Target="/ppt/notesSlides/notesSlide29.xml" Id="Rdf2e4ae0a2ba4bf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ffc214b4749f6" /><Relationship Type="http://schemas.openxmlformats.org/officeDocument/2006/relationships/notesSlide" Target="/ppt/notesSlides/notesSlide30.xml" Id="Rd58328ac97014ea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9b0bc1b444c58" /><Relationship Type="http://schemas.openxmlformats.org/officeDocument/2006/relationships/notesSlide" Target="/ppt/notesSlides/notesSlide31.xml" Id="R5faf51e62dcd4a5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d7240aa514ce6" /><Relationship Type="http://schemas.openxmlformats.org/officeDocument/2006/relationships/notesSlide" Target="/ppt/notesSlides/notesSlide32.xml" Id="R31c0d0fecd114b1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77b167b0c49a1" /><Relationship Type="http://schemas.openxmlformats.org/officeDocument/2006/relationships/notesSlide" Target="/ppt/notesSlides/notesSlide33.xml" Id="R838cb9b0e040416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3d1f228b04cbe" /><Relationship Type="http://schemas.openxmlformats.org/officeDocument/2006/relationships/notesSlide" Target="/ppt/notesSlides/notesSlide34.xml" Id="R8286fb30f9ae44e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c050c5f7147ee" /><Relationship Type="http://schemas.openxmlformats.org/officeDocument/2006/relationships/notesSlide" Target="/ppt/notesSlides/notesSlide35.xml" Id="Rd59c88dbf4d141d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3127ff2454184" /><Relationship Type="http://schemas.openxmlformats.org/officeDocument/2006/relationships/notesSlide" Target="/ppt/notesSlides/notesSlide36.xml" Id="Rbfe4d7473db1424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dd8642d744f35" /><Relationship Type="http://schemas.openxmlformats.org/officeDocument/2006/relationships/notesSlide" Target="/ppt/notesSlides/notesSlide37.xml" Id="R924031409a7949a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fda356d1c4357" /><Relationship Type="http://schemas.openxmlformats.org/officeDocument/2006/relationships/notesSlide" Target="/ppt/notesSlides/notesSlide38.xml" Id="Rac2d2077af7247a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layoutskill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sqsp1sr">
            <a:extLst xmlns:a="http://schemas.openxmlformats.org/drawingml/2006/main">
              <a:ext uri="{FF2B5EF4-FFF2-40B4-BE49-F238E27FC236}">
                <a16:creationId xmlns:a16="http://schemas.microsoft.com/office/drawing/2014/main" id="{9EF84B2A-8DAC-4781-9C12-8715B512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90 分钟 AI 办公课</a:t>
            </a:r>
          </a:p>
        </p:txBody>
      </p:sp>
      <p:sp>
        <p:nvSpPr>
          <p:cNvPr id="2" name="text-0ae1tyl">
            <a:extLst xmlns:a="http://schemas.openxmlformats.org/drawingml/2006/main">
              <a:ext uri="{FF2B5EF4-FFF2-40B4-BE49-F238E27FC236}">
                <a16:creationId xmlns:a16="http://schemas.microsoft.com/office/drawing/2014/main" id="{1A35AC5E-C014-4C6F-942B-F8CF3A65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524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从模糊需求</a:t>
            </a:r>
          </a:p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到可信交付</a:t>
            </a:r>
          </a:p>
        </p:txBody>
      </p:sp>
      <p:sp>
        <p:nvSpPr>
          <p:cNvPr id="3" name="shape-29hs3g2">
            <a:extLst xmlns:a="http://schemas.openxmlformats.org/drawingml/2006/main">
              <a:ext uri="{FF2B5EF4-FFF2-40B4-BE49-F238E27FC236}">
                <a16:creationId xmlns:a16="http://schemas.microsoft.com/office/drawing/2014/main" id="{69AEDD94-7E86-4263-BB83-9CA2BB12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19200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text-qug8f9d">
            <a:extLst xmlns:a="http://schemas.openxmlformats.org/drawingml/2006/main">
              <a:ext uri="{FF2B5EF4-FFF2-40B4-BE49-F238E27FC236}">
                <a16:creationId xmlns:a16="http://schemas.microsoft.com/office/drawing/2014/main" id="{06FAC58C-8D98-4E99-BDA8-6944D993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85950"/>
            <a:ext cx="2057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Prompt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Markdown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Excel · PPT</a:t>
            </a:r>
          </a:p>
        </p:txBody>
      </p:sp>
      <p:sp>
        <p:nvSpPr>
          <p:cNvPr id="5" name="text-g5a71t2">
            <a:extLst xmlns:a="http://schemas.openxmlformats.org/drawingml/2006/main">
              <a:ext uri="{FF2B5EF4-FFF2-40B4-BE49-F238E27FC236}">
                <a16:creationId xmlns:a16="http://schemas.microsoft.com/office/drawing/2014/main" id="{D97FD06F-7161-4915-A667-7262D1C4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1A1A6"/>
                </a:solidFill>
                <a:latin typeface="PingFang SC"/>
                <a:ea typeface="PingFang SC"/>
                <a:cs typeface="PingFang SC"/>
              </a:rPr>
              <a:t>先商讨  ·  再生成  ·  后校验</a:t>
            </a:r>
          </a:p>
        </p:txBody>
      </p:sp>
      <p:sp>
        <p:nvSpPr>
          <p:cNvPr id="6" name="shape-urfwzwt">
            <a:extLst xmlns:a="http://schemas.openxmlformats.org/drawingml/2006/main">
              <a:ext uri="{FF2B5EF4-FFF2-40B4-BE49-F238E27FC236}">
                <a16:creationId xmlns:a16="http://schemas.microsoft.com/office/drawing/2014/main" id="{CEA51746-8185-49E3-91B1-656142B1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524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97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81056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ndqy9s6">
            <a:extLst xmlns:a="http://schemas.openxmlformats.org/drawingml/2006/main">
              <a:ext uri="{FF2B5EF4-FFF2-40B4-BE49-F238E27FC236}">
                <a16:creationId xmlns:a16="http://schemas.microsoft.com/office/drawing/2014/main" id="{C9A31F62-91CB-4744-AB26-6E248BF5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课程结果</a:t>
            </a:r>
          </a:p>
        </p:txBody>
      </p:sp>
      <p:sp>
        <p:nvSpPr>
          <p:cNvPr id="2" name="text-edokp2x">
            <a:extLst xmlns:a="http://schemas.openxmlformats.org/drawingml/2006/main">
              <a:ext uri="{FF2B5EF4-FFF2-40B4-BE49-F238E27FC236}">
                <a16:creationId xmlns:a16="http://schemas.microsoft.com/office/drawing/2014/main" id="{5D77C22A-D4B7-4524-9274-C3B01556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今天带走四个可以继续复用的产物</a:t>
            </a:r>
          </a:p>
        </p:txBody>
      </p:sp>
      <p:sp>
        <p:nvSpPr>
          <p:cNvPr id="3" name="shape-5b61m55">
            <a:extLst xmlns:a="http://schemas.openxmlformats.org/drawingml/2006/main">
              <a:ext uri="{FF2B5EF4-FFF2-40B4-BE49-F238E27FC236}">
                <a16:creationId xmlns:a16="http://schemas.microsoft.com/office/drawing/2014/main" id="{BDFACBF6-504F-4863-B635-8876C951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aan4zjn">
            <a:extLst xmlns:a="http://schemas.openxmlformats.org/drawingml/2006/main">
              <a:ext uri="{FF2B5EF4-FFF2-40B4-BE49-F238E27FC236}">
                <a16:creationId xmlns:a16="http://schemas.microsoft.com/office/drawing/2014/main" id="{5DC54CC5-89B9-4BAF-96DA-219FCD3F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1391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u90fl48">
            <a:extLst xmlns:a="http://schemas.openxmlformats.org/drawingml/2006/main">
              <a:ext uri="{FF2B5EF4-FFF2-40B4-BE49-F238E27FC236}">
                <a16:creationId xmlns:a16="http://schemas.microsoft.com/office/drawing/2014/main" id="{9C642712-8569-4A32-9055-4CB9883E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qx4atcs">
            <a:extLst xmlns:a="http://schemas.openxmlformats.org/drawingml/2006/main">
              <a:ext uri="{FF2B5EF4-FFF2-40B4-BE49-F238E27FC236}">
                <a16:creationId xmlns:a16="http://schemas.microsoft.com/office/drawing/2014/main" id="{A8B08185-9D81-4E4D-B669-BB965A2B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859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结构完整的提示词</a:t>
            </a:r>
          </a:p>
        </p:txBody>
      </p:sp>
      <p:sp>
        <p:nvSpPr>
          <p:cNvPr id="7" name="text-lwul2o5">
            <a:extLst xmlns:a="http://schemas.openxmlformats.org/drawingml/2006/main">
              <a:ext uri="{FF2B5EF4-FFF2-40B4-BE49-F238E27FC236}">
                <a16:creationId xmlns:a16="http://schemas.microsoft.com/office/drawing/2014/main" id="{3D73AC7B-3441-4F86-AC5E-03575D52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说清对象、目标、材料和验收</a:t>
            </a:r>
          </a:p>
        </p:txBody>
      </p:sp>
      <p:sp>
        <p:nvSpPr>
          <p:cNvPr id="8" name="shape-8kpj6iw">
            <a:extLst xmlns:a="http://schemas.openxmlformats.org/drawingml/2006/main">
              <a:ext uri="{FF2B5EF4-FFF2-40B4-BE49-F238E27FC236}">
                <a16:creationId xmlns:a16="http://schemas.microsoft.com/office/drawing/2014/main" id="{EC72929A-5061-4C37-8FE7-58886DB1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8425"/>
            <a:ext cx="11391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text-97vdfcw">
            <a:extLst xmlns:a="http://schemas.openxmlformats.org/drawingml/2006/main">
              <a:ext uri="{FF2B5EF4-FFF2-40B4-BE49-F238E27FC236}">
                <a16:creationId xmlns:a16="http://schemas.microsoft.com/office/drawing/2014/main" id="{48ACDA5C-BA67-4A0A-80DD-A923FF4F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289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text-zle2y28">
            <a:extLst xmlns:a="http://schemas.openxmlformats.org/drawingml/2006/main">
              <a:ext uri="{FF2B5EF4-FFF2-40B4-BE49-F238E27FC236}">
                <a16:creationId xmlns:a16="http://schemas.microsoft.com/office/drawing/2014/main" id="{7083C033-F5D3-4594-A350-7532816D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527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Markdown需求确认单</a:t>
            </a:r>
          </a:p>
        </p:txBody>
      </p:sp>
      <p:sp>
        <p:nvSpPr>
          <p:cNvPr id="11" name="text-i21nfrs">
            <a:extLst xmlns:a="http://schemas.openxmlformats.org/drawingml/2006/main">
              <a:ext uri="{FF2B5EF4-FFF2-40B4-BE49-F238E27FC236}">
                <a16:creationId xmlns:a16="http://schemas.microsoft.com/office/drawing/2014/main" id="{AC8833C2-EC22-43D4-B7DB-F7A72A6D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813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把讨论结果固定成共同依据</a:t>
            </a:r>
          </a:p>
        </p:txBody>
      </p:sp>
      <p:sp>
        <p:nvSpPr>
          <p:cNvPr id="12" name="shape-pter3ps">
            <a:extLst xmlns:a="http://schemas.openxmlformats.org/drawingml/2006/main">
              <a:ext uri="{FF2B5EF4-FFF2-40B4-BE49-F238E27FC236}">
                <a16:creationId xmlns:a16="http://schemas.microsoft.com/office/drawing/2014/main" id="{DC1612BF-2DAF-498F-8727-F033A04A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05225"/>
            <a:ext cx="11391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text-zzdrgbl">
            <a:extLst xmlns:a="http://schemas.openxmlformats.org/drawingml/2006/main">
              <a:ext uri="{FF2B5EF4-FFF2-40B4-BE49-F238E27FC236}">
                <a16:creationId xmlns:a16="http://schemas.microsoft.com/office/drawing/2014/main" id="{8F5A1B9C-F933-412B-B131-FD5F9C1A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957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-ps9ho2l">
            <a:extLst xmlns:a="http://schemas.openxmlformats.org/drawingml/2006/main">
              <a:ext uri="{FF2B5EF4-FFF2-40B4-BE49-F238E27FC236}">
                <a16:creationId xmlns:a16="http://schemas.microsoft.com/office/drawing/2014/main" id="{D61A4F82-75EA-484E-BC64-6153E60E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95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可复核的Excel报表</a:t>
            </a:r>
          </a:p>
        </p:txBody>
      </p:sp>
      <p:sp>
        <p:nvSpPr>
          <p:cNvPr id="15" name="text-ofcyd40">
            <a:extLst xmlns:a="http://schemas.openxmlformats.org/drawingml/2006/main">
              <a:ext uri="{FF2B5EF4-FFF2-40B4-BE49-F238E27FC236}">
                <a16:creationId xmlns:a16="http://schemas.microsoft.com/office/drawing/2014/main" id="{AB976845-C8E4-4F86-886F-8E16EC73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481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包含公式、检查和待确认项</a:t>
            </a:r>
          </a:p>
        </p:txBody>
      </p:sp>
      <p:sp>
        <p:nvSpPr>
          <p:cNvPr id="16" name="shape-ow7i5bc">
            <a:extLst xmlns:a="http://schemas.openxmlformats.org/drawingml/2006/main">
              <a:ext uri="{FF2B5EF4-FFF2-40B4-BE49-F238E27FC236}">
                <a16:creationId xmlns:a16="http://schemas.microsoft.com/office/drawing/2014/main" id="{3430BB7D-AA44-4542-B783-14A254B3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72025"/>
            <a:ext cx="11391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text-z30kys3">
            <a:extLst xmlns:a="http://schemas.openxmlformats.org/drawingml/2006/main">
              <a:ext uri="{FF2B5EF4-FFF2-40B4-BE49-F238E27FC236}">
                <a16:creationId xmlns:a16="http://schemas.microsoft.com/office/drawing/2014/main" id="{0E45F132-27B0-417F-8D83-1A43CA03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text-9b9kvja">
            <a:extLst xmlns:a="http://schemas.openxmlformats.org/drawingml/2006/main">
              <a:ext uri="{FF2B5EF4-FFF2-40B4-BE49-F238E27FC236}">
                <a16:creationId xmlns:a16="http://schemas.microsoft.com/office/drawing/2014/main" id="{EC110274-6F91-4566-AAFB-F3254F68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863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5页以内PPT方案</a:t>
            </a:r>
          </a:p>
        </p:txBody>
      </p:sp>
      <p:sp>
        <p:nvSpPr>
          <p:cNvPr id="19" name="text-plc6ran">
            <a:extLst xmlns:a="http://schemas.openxmlformats.org/drawingml/2006/main">
              <a:ext uri="{FF2B5EF4-FFF2-40B4-BE49-F238E27FC236}">
                <a16:creationId xmlns:a16="http://schemas.microsoft.com/office/drawing/2014/main" id="{1CF3FFD5-30E3-4D41-8802-754F2398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149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一页一个结论，数字可以追溯</a:t>
            </a:r>
          </a:p>
        </p:txBody>
      </p:sp>
      <p:sp>
        <p:nvSpPr>
          <p:cNvPr id="20" name="text-14h15ca">
            <a:extLst xmlns:a="http://schemas.openxmlformats.org/drawingml/2006/main">
              <a:ext uri="{FF2B5EF4-FFF2-40B4-BE49-F238E27FC236}">
                <a16:creationId xmlns:a16="http://schemas.microsoft.com/office/drawing/2014/main" id="{DFA0692F-9DD6-45C6-B3D9-F25AAFFD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开场与成果预览</a:t>
            </a:r>
          </a:p>
        </p:txBody>
      </p:sp>
    </p:spTree>
    <p:extLst>
      <p:ext uri="{BB962C8B-B14F-4D97-AF65-F5344CB8AC3E}">
        <p14:creationId xmlns:p14="http://schemas.microsoft.com/office/powerpoint/2010/main" val="3789070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3kpg016">
            <a:extLst xmlns:a="http://schemas.openxmlformats.org/drawingml/2006/main">
              <a:ext uri="{FF2B5EF4-FFF2-40B4-BE49-F238E27FC236}">
                <a16:creationId xmlns:a16="http://schemas.microsoft.com/office/drawing/2014/main" id="{BB875C73-DEF8-4641-935E-E6FB9431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课程路线</a:t>
            </a:r>
          </a:p>
        </p:txBody>
      </p:sp>
      <p:sp>
        <p:nvSpPr>
          <p:cNvPr id="2" name="text-os7h54s">
            <a:extLst xmlns:a="http://schemas.openxmlformats.org/drawingml/2006/main">
              <a:ext uri="{FF2B5EF4-FFF2-40B4-BE49-F238E27FC236}">
                <a16:creationId xmlns:a16="http://schemas.microsoft.com/office/drawing/2014/main" id="{A4333DD8-87B7-4D7D-806D-6A6A8AAF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一条完整工作链，把模糊想法变成可交付文件</a:t>
            </a:r>
          </a:p>
        </p:txBody>
      </p:sp>
      <p:sp>
        <p:nvSpPr>
          <p:cNvPr id="3" name="shape-md227tw">
            <a:extLst xmlns:a="http://schemas.openxmlformats.org/drawingml/2006/main">
              <a:ext uri="{FF2B5EF4-FFF2-40B4-BE49-F238E27FC236}">
                <a16:creationId xmlns:a16="http://schemas.microsoft.com/office/drawing/2014/main" id="{9DAF03B8-E02F-44E5-8138-2728180F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m253cy5">
            <a:extLst xmlns:a="http://schemas.openxmlformats.org/drawingml/2006/main">
              <a:ext uri="{FF2B5EF4-FFF2-40B4-BE49-F238E27FC236}">
                <a16:creationId xmlns:a16="http://schemas.microsoft.com/office/drawing/2014/main" id="{1C73863F-136C-4FF5-A69E-EF6A9762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4668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137ewtt">
            <a:extLst xmlns:a="http://schemas.openxmlformats.org/drawingml/2006/main">
              <a:ext uri="{FF2B5EF4-FFF2-40B4-BE49-F238E27FC236}">
                <a16:creationId xmlns:a16="http://schemas.microsoft.com/office/drawing/2014/main" id="{36FA672B-AAE4-4CB9-992F-8ADBBB50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text-zbz75ss">
            <a:extLst xmlns:a="http://schemas.openxmlformats.org/drawingml/2006/main">
              <a:ext uri="{FF2B5EF4-FFF2-40B4-BE49-F238E27FC236}">
                <a16:creationId xmlns:a16="http://schemas.microsoft.com/office/drawing/2014/main" id="{C994E67D-5A96-42CE-8944-5EC66B9E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理解AI</a:t>
            </a:r>
          </a:p>
        </p:txBody>
      </p:sp>
      <p:sp>
        <p:nvSpPr>
          <p:cNvPr id="7" name="text-1dostmw">
            <a:extLst xmlns:a="http://schemas.openxmlformats.org/drawingml/2006/main">
              <a:ext uri="{FF2B5EF4-FFF2-40B4-BE49-F238E27FC236}">
                <a16:creationId xmlns:a16="http://schemas.microsoft.com/office/drawing/2014/main" id="{BCE6AB88-9531-4FF0-BEE9-31F7676C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003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8" name="shape-xwuu5w4">
            <a:extLst xmlns:a="http://schemas.openxmlformats.org/drawingml/2006/main">
              <a:ext uri="{FF2B5EF4-FFF2-40B4-BE49-F238E27FC236}">
                <a16:creationId xmlns:a16="http://schemas.microsoft.com/office/drawing/2014/main" id="{6EF51ADB-83F9-4BC3-9C45-18492F0E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76500"/>
            <a:ext cx="14668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text-k4zyn84">
            <a:extLst xmlns:a="http://schemas.openxmlformats.org/drawingml/2006/main">
              <a:ext uri="{FF2B5EF4-FFF2-40B4-BE49-F238E27FC236}">
                <a16:creationId xmlns:a16="http://schemas.microsoft.com/office/drawing/2014/main" id="{E41B4CF1-4C29-46C4-B77A-CE09AA64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text-hy0dw5u">
            <a:extLst xmlns:a="http://schemas.openxmlformats.org/drawingml/2006/main">
              <a:ext uri="{FF2B5EF4-FFF2-40B4-BE49-F238E27FC236}">
                <a16:creationId xmlns:a16="http://schemas.microsoft.com/office/drawing/2014/main" id="{A3EDABE5-8452-41B3-AC70-0EAB29DB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写提示词</a:t>
            </a:r>
          </a:p>
        </p:txBody>
      </p:sp>
      <p:sp>
        <p:nvSpPr>
          <p:cNvPr id="11" name="text-w8ngrw8">
            <a:extLst xmlns:a="http://schemas.openxmlformats.org/drawingml/2006/main">
              <a:ext uri="{FF2B5EF4-FFF2-40B4-BE49-F238E27FC236}">
                <a16:creationId xmlns:a16="http://schemas.microsoft.com/office/drawing/2014/main" id="{A7B00A10-E2E1-49F2-8155-82A67D2C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shape-ltaqhsc">
            <a:extLst xmlns:a="http://schemas.openxmlformats.org/drawingml/2006/main">
              <a:ext uri="{FF2B5EF4-FFF2-40B4-BE49-F238E27FC236}">
                <a16:creationId xmlns:a16="http://schemas.microsoft.com/office/drawing/2014/main" id="{01D35570-2EFC-4C46-9A63-5D827A69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76500"/>
            <a:ext cx="14668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text-760wf7f">
            <a:extLst xmlns:a="http://schemas.openxmlformats.org/drawingml/2006/main">
              <a:ext uri="{FF2B5EF4-FFF2-40B4-BE49-F238E27FC236}">
                <a16:creationId xmlns:a16="http://schemas.microsoft.com/office/drawing/2014/main" id="{5A783144-E86A-4FEC-A5BD-8C1BDD83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text-5w2yi8j">
            <a:extLst xmlns:a="http://schemas.openxmlformats.org/drawingml/2006/main">
              <a:ext uri="{FF2B5EF4-FFF2-40B4-BE49-F238E27FC236}">
                <a16:creationId xmlns:a16="http://schemas.microsoft.com/office/drawing/2014/main" id="{512BD5FD-5506-4C70-B235-F8A7E7E0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确认需求</a:t>
            </a:r>
          </a:p>
        </p:txBody>
      </p:sp>
      <p:sp>
        <p:nvSpPr>
          <p:cNvPr id="15" name="text-z5cpzac">
            <a:extLst xmlns:a="http://schemas.openxmlformats.org/drawingml/2006/main">
              <a:ext uri="{FF2B5EF4-FFF2-40B4-BE49-F238E27FC236}">
                <a16:creationId xmlns:a16="http://schemas.microsoft.com/office/drawing/2014/main" id="{47BFA133-CF29-40D1-954E-804241B3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03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shape-tueeon7">
            <a:extLst xmlns:a="http://schemas.openxmlformats.org/drawingml/2006/main">
              <a:ext uri="{FF2B5EF4-FFF2-40B4-BE49-F238E27FC236}">
                <a16:creationId xmlns:a16="http://schemas.microsoft.com/office/drawing/2014/main" id="{FB1F6CEA-0EFE-498E-B5F4-B16883AF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14668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text-0sm4ghx">
            <a:extLst xmlns:a="http://schemas.openxmlformats.org/drawingml/2006/main">
              <a:ext uri="{FF2B5EF4-FFF2-40B4-BE49-F238E27FC236}">
                <a16:creationId xmlns:a16="http://schemas.microsoft.com/office/drawing/2014/main" id="{803C1919-ABEA-43E8-A891-9F94E07E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8" name="text-2oora6y">
            <a:extLst xmlns:a="http://schemas.openxmlformats.org/drawingml/2006/main">
              <a:ext uri="{FF2B5EF4-FFF2-40B4-BE49-F238E27FC236}">
                <a16:creationId xmlns:a16="http://schemas.microsoft.com/office/drawing/2014/main" id="{BBCE6576-62A7-4FDF-800F-7BC8B6BC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生成Excel</a:t>
            </a:r>
          </a:p>
        </p:txBody>
      </p:sp>
      <p:sp>
        <p:nvSpPr>
          <p:cNvPr id="19" name="text-4eiwbtb">
            <a:extLst xmlns:a="http://schemas.openxmlformats.org/drawingml/2006/main">
              <a:ext uri="{FF2B5EF4-FFF2-40B4-BE49-F238E27FC236}">
                <a16:creationId xmlns:a16="http://schemas.microsoft.com/office/drawing/2014/main" id="{7060B010-B4BD-4017-8628-72B69FE2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003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0" name="shape-r4a80s9">
            <a:extLst xmlns:a="http://schemas.openxmlformats.org/drawingml/2006/main">
              <a:ext uri="{FF2B5EF4-FFF2-40B4-BE49-F238E27FC236}">
                <a16:creationId xmlns:a16="http://schemas.microsoft.com/office/drawing/2014/main" id="{24FBD572-3849-4CDD-AB07-9F1D4C74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76500"/>
            <a:ext cx="14668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text-fsljo9g">
            <a:extLst xmlns:a="http://schemas.openxmlformats.org/drawingml/2006/main">
              <a:ext uri="{FF2B5EF4-FFF2-40B4-BE49-F238E27FC236}">
                <a16:creationId xmlns:a16="http://schemas.microsoft.com/office/drawing/2014/main" id="{CE63FC64-9EA2-430D-B8C0-C2185182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2" name="text-ztrurd1">
            <a:extLst xmlns:a="http://schemas.openxmlformats.org/drawingml/2006/main">
              <a:ext uri="{FF2B5EF4-FFF2-40B4-BE49-F238E27FC236}">
                <a16:creationId xmlns:a16="http://schemas.microsoft.com/office/drawing/2014/main" id="{64F0D4CE-BF32-4A19-AA16-CAA8938B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提炼结论</a:t>
            </a:r>
          </a:p>
        </p:txBody>
      </p:sp>
      <p:sp>
        <p:nvSpPr>
          <p:cNvPr id="23" name="text-wbgijlo">
            <a:extLst xmlns:a="http://schemas.openxmlformats.org/drawingml/2006/main">
              <a:ext uri="{FF2B5EF4-FFF2-40B4-BE49-F238E27FC236}">
                <a16:creationId xmlns:a16="http://schemas.microsoft.com/office/drawing/2014/main" id="{E1E86664-9499-4891-9E8A-0F861F36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003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4" name="shape-depjudp">
            <a:extLst xmlns:a="http://schemas.openxmlformats.org/drawingml/2006/main">
              <a:ext uri="{FF2B5EF4-FFF2-40B4-BE49-F238E27FC236}">
                <a16:creationId xmlns:a16="http://schemas.microsoft.com/office/drawing/2014/main" id="{E4EF43DB-CF2B-484C-B987-196359DD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76500"/>
            <a:ext cx="14668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text-vu0dmio">
            <a:extLst xmlns:a="http://schemas.openxmlformats.org/drawingml/2006/main">
              <a:ext uri="{FF2B5EF4-FFF2-40B4-BE49-F238E27FC236}">
                <a16:creationId xmlns:a16="http://schemas.microsoft.com/office/drawing/2014/main" id="{525B92DB-31F3-492D-9CE1-177B8FFF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26" name="text-aqq6ofy">
            <a:extLst xmlns:a="http://schemas.openxmlformats.org/drawingml/2006/main">
              <a:ext uri="{FF2B5EF4-FFF2-40B4-BE49-F238E27FC236}">
                <a16:creationId xmlns:a16="http://schemas.microsoft.com/office/drawing/2014/main" id="{A0B3702E-7F92-4940-A216-6D0B247F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生成PPT</a:t>
            </a:r>
          </a:p>
        </p:txBody>
      </p:sp>
      <p:sp>
        <p:nvSpPr>
          <p:cNvPr id="27" name="text-xylez5h">
            <a:extLst xmlns:a="http://schemas.openxmlformats.org/drawingml/2006/main">
              <a:ext uri="{FF2B5EF4-FFF2-40B4-BE49-F238E27FC236}">
                <a16:creationId xmlns:a16="http://schemas.microsoft.com/office/drawing/2014/main" id="{603FB46D-5ADB-4C40-84B8-11CECA65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每一步都先确认，再把结果交给下一步。</a:t>
            </a:r>
          </a:p>
        </p:txBody>
      </p:sp>
      <p:sp>
        <p:nvSpPr>
          <p:cNvPr id="28" name="text-d7z3xa9">
            <a:extLst xmlns:a="http://schemas.openxmlformats.org/drawingml/2006/main">
              <a:ext uri="{FF2B5EF4-FFF2-40B4-BE49-F238E27FC236}">
                <a16:creationId xmlns:a16="http://schemas.microsoft.com/office/drawing/2014/main" id="{49F1782A-C83E-4A5C-9F21-2424B40D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开场与成果预览</a:t>
            </a:r>
          </a:p>
        </p:txBody>
      </p:sp>
    </p:spTree>
    <p:extLst>
      <p:ext uri="{BB962C8B-B14F-4D97-AF65-F5344CB8AC3E}">
        <p14:creationId xmlns:p14="http://schemas.microsoft.com/office/powerpoint/2010/main" val="6354268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vpqk1tz">
            <a:extLst xmlns:a="http://schemas.openxmlformats.org/drawingml/2006/main">
              <a:ext uri="{FF2B5EF4-FFF2-40B4-BE49-F238E27FC236}">
                <a16:creationId xmlns:a16="http://schemas.microsoft.com/office/drawing/2014/main" id="{B0F90C30-6A34-4382-93A2-CC65A06F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第一部分</a:t>
            </a:r>
          </a:p>
        </p:txBody>
      </p:sp>
      <p:sp>
        <p:nvSpPr>
          <p:cNvPr id="2" name="text-mauimvf">
            <a:extLst xmlns:a="http://schemas.openxmlformats.org/drawingml/2006/main">
              <a:ext uri="{FF2B5EF4-FFF2-40B4-BE49-F238E27FC236}">
                <a16:creationId xmlns:a16="http://schemas.microsoft.com/office/drawing/2014/main" id="{E6BBA8F5-389C-4570-BCC1-D3EC4654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先理解 AI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怎样接收和完成任务</a:t>
            </a:r>
          </a:p>
        </p:txBody>
      </p:sp>
      <p:sp>
        <p:nvSpPr>
          <p:cNvPr id="3" name="text-wskw06f">
            <a:extLst xmlns:a="http://schemas.openxmlformats.org/drawingml/2006/main">
              <a:ext uri="{FF2B5EF4-FFF2-40B4-BE49-F238E27FC236}">
                <a16:creationId xmlns:a16="http://schemas.microsoft.com/office/drawing/2014/main" id="{BB7E137F-8016-43FB-8EB0-E12514E8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rPr>
              <a:t>提示词给方向，上下文给材料，工具把计划变成行动。</a:t>
            </a:r>
          </a:p>
        </p:txBody>
      </p:sp>
      <p:sp>
        <p:nvSpPr>
          <p:cNvPr id="4" name="shape-vebs5vt">
            <a:extLst xmlns:a="http://schemas.openxmlformats.org/drawingml/2006/main">
              <a:ext uri="{FF2B5EF4-FFF2-40B4-BE49-F238E27FC236}">
                <a16:creationId xmlns:a16="http://schemas.microsoft.com/office/drawing/2014/main" id="{E196B465-0401-438C-89DD-F7650F6C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524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97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5798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8i1w0cc">
            <a:extLst xmlns:a="http://schemas.openxmlformats.org/drawingml/2006/main">
              <a:ext uri="{FF2B5EF4-FFF2-40B4-BE49-F238E27FC236}">
                <a16:creationId xmlns:a16="http://schemas.microsoft.com/office/drawing/2014/main" id="{94298CCB-236B-419E-B39E-376C8EBB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为什么需要提示词</a:t>
            </a:r>
          </a:p>
        </p:txBody>
      </p:sp>
      <p:sp>
        <p:nvSpPr>
          <p:cNvPr id="2" name="text-4s2o2wn">
            <a:extLst xmlns:a="http://schemas.openxmlformats.org/drawingml/2006/main">
              <a:ext uri="{FF2B5EF4-FFF2-40B4-BE49-F238E27FC236}">
                <a16:creationId xmlns:a16="http://schemas.microsoft.com/office/drawing/2014/main" id="{60F3882B-22E0-4D8E-BB2A-F6857074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大模型会很多，但它不知道你这次想去哪里</a:t>
            </a:r>
          </a:p>
        </p:txBody>
      </p:sp>
      <p:sp>
        <p:nvSpPr>
          <p:cNvPr id="3" name="shape-tl9pwbj">
            <a:extLst xmlns:a="http://schemas.openxmlformats.org/drawingml/2006/main">
              <a:ext uri="{FF2B5EF4-FFF2-40B4-BE49-F238E27FC236}">
                <a16:creationId xmlns:a16="http://schemas.microsoft.com/office/drawing/2014/main" id="{509DC306-0077-407C-90E9-46B13B9A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8lq3w8s">
            <a:extLst xmlns:a="http://schemas.openxmlformats.org/drawingml/2006/main">
              <a:ext uri="{FF2B5EF4-FFF2-40B4-BE49-F238E27FC236}">
                <a16:creationId xmlns:a16="http://schemas.microsoft.com/office/drawing/2014/main" id="{AA7B7CC2-3254-4A33-B6E9-921E461F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9530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p8yxc8n">
            <a:extLst xmlns:a="http://schemas.openxmlformats.org/drawingml/2006/main">
              <a:ext uri="{FF2B5EF4-FFF2-40B4-BE49-F238E27FC236}">
                <a16:creationId xmlns:a16="http://schemas.microsoft.com/office/drawing/2014/main" id="{775768FC-CD5E-486D-900B-5FE5E288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38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知识和表达方式像一片大海。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没有目的地、路线和安全要求，AI只能根据有限信息猜测你的意图。</a:t>
            </a:r>
          </a:p>
        </p:txBody>
      </p:sp>
      <p:sp>
        <p:nvSpPr>
          <p:cNvPr id="6" name="text-cb6jdpj">
            <a:extLst xmlns:a="http://schemas.openxmlformats.org/drawingml/2006/main">
              <a:ext uri="{FF2B5EF4-FFF2-40B4-BE49-F238E27FC236}">
                <a16:creationId xmlns:a16="http://schemas.microsoft.com/office/drawing/2014/main" id="{DF33490C-F83E-4A4B-B18F-EEE1882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提示词的作用：</a:t>
            </a:r>
          </a:p>
          <a:p xmlns:a="http://schemas.openxmlformats.org/drawingml/2006/main">
            <a:pPr algn="l">
              <a:defRPr sz="2175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把可能性收束成任务。</a:t>
            </a:r>
          </a:p>
        </p:txBody>
      </p:sp>
      <p:sp>
        <p:nvSpPr>
          <p:cNvPr id="7" name="shape-jk4ujgd">
            <a:extLst xmlns:a="http://schemas.openxmlformats.org/drawingml/2006/main">
              <a:ext uri="{FF2B5EF4-FFF2-40B4-BE49-F238E27FC236}">
                <a16:creationId xmlns:a16="http://schemas.microsoft.com/office/drawing/2014/main" id="{3D03A7CE-200C-40EA-9FC5-D38AF18A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62100"/>
            <a:ext cx="57150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63fc079604ec9"/>
          <a:srcRect xmlns:a="http://schemas.openxmlformats.org/drawingml/2006/main" l="10077" t="0" r="100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676400"/>
            <a:ext cx="5486400" cy="3867150"/>
          </a:xfrm>
          <a:prstGeom xmlns:a="http://schemas.openxmlformats.org/drawingml/2006/main" prst="roundRect">
            <a:avLst/>
          </a:prstGeom>
        </p:spPr>
      </p:pic>
      <p:sp>
        <p:nvSpPr>
          <p:cNvPr id="9" name="text-kck9o1a">
            <a:extLst xmlns:a="http://schemas.openxmlformats.org/drawingml/2006/main">
              <a:ext uri="{FF2B5EF4-FFF2-40B4-BE49-F238E27FC236}">
                <a16:creationId xmlns:a16="http://schemas.microsoft.com/office/drawing/2014/main" id="{1CF4B10A-45B0-42C3-9A20-748231F8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18376289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b30bymy">
            <a:extLst xmlns:a="http://schemas.openxmlformats.org/drawingml/2006/main">
              <a:ext uri="{FF2B5EF4-FFF2-40B4-BE49-F238E27FC236}">
                <a16:creationId xmlns:a16="http://schemas.microsoft.com/office/drawing/2014/main" id="{78B5E641-F0CA-4761-9B2A-E0B5423C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提示词改变工作方向</a:t>
            </a:r>
          </a:p>
        </p:txBody>
      </p:sp>
      <p:sp>
        <p:nvSpPr>
          <p:cNvPr id="2" name="text-w9muzar">
            <a:extLst xmlns:a="http://schemas.openxmlformats.org/drawingml/2006/main">
              <a:ext uri="{FF2B5EF4-FFF2-40B4-BE49-F238E27FC236}">
                <a16:creationId xmlns:a16="http://schemas.microsoft.com/office/drawing/2014/main" id="{A9A5171E-ED71-4EBE-96B1-FE42CB0E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同一片海，模糊指令与明确路线会走向不同结果</a:t>
            </a:r>
          </a:p>
        </p:txBody>
      </p:sp>
      <p:sp>
        <p:nvSpPr>
          <p:cNvPr id="3" name="shape-37ujoqa">
            <a:extLst xmlns:a="http://schemas.openxmlformats.org/drawingml/2006/main">
              <a:ext uri="{FF2B5EF4-FFF2-40B4-BE49-F238E27FC236}">
                <a16:creationId xmlns:a16="http://schemas.microsoft.com/office/drawing/2014/main" id="{7306E246-DC28-4682-A82D-353C7BA1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wjiduhi">
            <a:extLst xmlns:a="http://schemas.openxmlformats.org/drawingml/2006/main">
              <a:ext uri="{FF2B5EF4-FFF2-40B4-BE49-F238E27FC236}">
                <a16:creationId xmlns:a16="http://schemas.microsoft.com/office/drawing/2014/main" id="{9A8E5852-0978-4508-9B31-CC951064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438275"/>
            <a:ext cx="8324850" cy="4781550"/>
          </a:xfrm>
          <a:prstGeom xmlns:a="http://schemas.openxmlformats.org/drawingml/2006/main" prst="roundRect">
            <a:avLst>
              <a:gd name="adj" fmla="val 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2edf933a6471b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47875" y="1552575"/>
            <a:ext cx="8096250" cy="4552950"/>
          </a:xfrm>
          <a:prstGeom xmlns:a="http://schemas.openxmlformats.org/drawingml/2006/main" prst="roundRect">
            <a:avLst/>
          </a:prstGeom>
        </p:spPr>
      </p:pic>
      <p:sp>
        <p:nvSpPr>
          <p:cNvPr id="6" name="text-5ejw5gl">
            <a:extLst xmlns:a="http://schemas.openxmlformats.org/drawingml/2006/main">
              <a:ext uri="{FF2B5EF4-FFF2-40B4-BE49-F238E27FC236}">
                <a16:creationId xmlns:a16="http://schemas.microsoft.com/office/drawing/2014/main" id="{9415314A-CE30-44B4-B467-4874012A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5873851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g5augnc">
            <a:extLst xmlns:a="http://schemas.openxmlformats.org/drawingml/2006/main">
              <a:ext uri="{FF2B5EF4-FFF2-40B4-BE49-F238E27FC236}">
                <a16:creationId xmlns:a16="http://schemas.microsoft.com/office/drawing/2014/main" id="{8979072B-C49A-4615-92F6-7E586F93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以256K为例</a:t>
            </a:r>
          </a:p>
        </p:txBody>
      </p:sp>
      <p:sp>
        <p:nvSpPr>
          <p:cNvPr id="2" name="text-whk1uk9">
            <a:extLst xmlns:a="http://schemas.openxmlformats.org/drawingml/2006/main">
              <a:ext uri="{FF2B5EF4-FFF2-40B4-BE49-F238E27FC236}">
                <a16:creationId xmlns:a16="http://schemas.microsoft.com/office/drawing/2014/main" id="{904218DD-1291-4C0F-AE44-30101FFF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上下文窗口装的是模型这一次能够参考的信息</a:t>
            </a:r>
          </a:p>
        </p:txBody>
      </p:sp>
      <p:sp>
        <p:nvSpPr>
          <p:cNvPr id="3" name="shape-y4anz6b">
            <a:extLst xmlns:a="http://schemas.openxmlformats.org/drawingml/2006/main">
              <a:ext uri="{FF2B5EF4-FFF2-40B4-BE49-F238E27FC236}">
                <a16:creationId xmlns:a16="http://schemas.microsoft.com/office/drawing/2014/main" id="{64A69B7C-0A18-4C6E-9BFC-6C7947A1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5fps8ad">
            <a:extLst xmlns:a="http://schemas.openxmlformats.org/drawingml/2006/main">
              <a:ext uri="{FF2B5EF4-FFF2-40B4-BE49-F238E27FC236}">
                <a16:creationId xmlns:a16="http://schemas.microsoft.com/office/drawing/2014/main" id="{DBAE1AC3-A034-4938-9B50-3782F956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438275"/>
            <a:ext cx="8324850" cy="4781550"/>
          </a:xfrm>
          <a:prstGeom xmlns:a="http://schemas.openxmlformats.org/drawingml/2006/main" prst="roundRect">
            <a:avLst>
              <a:gd name="adj" fmla="val 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5f1ef9f8a41f6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47875" y="1552575"/>
            <a:ext cx="8096250" cy="4552950"/>
          </a:xfrm>
          <a:prstGeom xmlns:a="http://schemas.openxmlformats.org/drawingml/2006/main" prst="roundRect">
            <a:avLst/>
          </a:prstGeom>
        </p:spPr>
      </p:pic>
      <p:sp>
        <p:nvSpPr>
          <p:cNvPr id="6" name="text-byxf78n">
            <a:extLst xmlns:a="http://schemas.openxmlformats.org/drawingml/2006/main">
              <a:ext uri="{FF2B5EF4-FFF2-40B4-BE49-F238E27FC236}">
                <a16:creationId xmlns:a16="http://schemas.microsoft.com/office/drawing/2014/main" id="{C4745E58-4992-4BF7-9CB3-84EBC91F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4837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256K仅为示例；不同模型与产品的上下文和最大输出规格不同。</a:t>
            </a:r>
          </a:p>
        </p:txBody>
      </p:sp>
      <p:sp>
        <p:nvSpPr>
          <p:cNvPr id="7" name="text-296uct3">
            <a:extLst xmlns:a="http://schemas.openxmlformats.org/drawingml/2006/main">
              <a:ext uri="{FF2B5EF4-FFF2-40B4-BE49-F238E27FC236}">
                <a16:creationId xmlns:a16="http://schemas.microsoft.com/office/drawing/2014/main" id="{E10C4E90-AC62-4A8E-BC47-BA801853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17011226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gs2hfn4">
            <a:extLst xmlns:a="http://schemas.openxmlformats.org/drawingml/2006/main">
              <a:ext uri="{FF2B5EF4-FFF2-40B4-BE49-F238E27FC236}">
                <a16:creationId xmlns:a16="http://schemas.microsoft.com/office/drawing/2014/main" id="{87BED01E-F71C-4F5E-9DA3-B049B68B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两个概念不要混淆</a:t>
            </a:r>
          </a:p>
        </p:txBody>
      </p:sp>
      <p:sp>
        <p:nvSpPr>
          <p:cNvPr id="2" name="text-3osm5gx">
            <a:extLst xmlns:a="http://schemas.openxmlformats.org/drawingml/2006/main">
              <a:ext uri="{FF2B5EF4-FFF2-40B4-BE49-F238E27FC236}">
                <a16:creationId xmlns:a16="http://schemas.microsoft.com/office/drawing/2014/main" id="{CF7D398E-B33E-483C-9BF9-06C9186C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Token 是计量单位，不是资料盒子</a:t>
            </a:r>
          </a:p>
        </p:txBody>
      </p:sp>
      <p:sp>
        <p:nvSpPr>
          <p:cNvPr id="3" name="shape-z2taeme">
            <a:extLst xmlns:a="http://schemas.openxmlformats.org/drawingml/2006/main">
              <a:ext uri="{FF2B5EF4-FFF2-40B4-BE49-F238E27FC236}">
                <a16:creationId xmlns:a16="http://schemas.microsoft.com/office/drawing/2014/main" id="{10ABD37D-DBB0-4ACB-B57A-CB8FE983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wom2p43">
            <a:extLst xmlns:a="http://schemas.openxmlformats.org/drawingml/2006/main">
              <a:ext uri="{FF2B5EF4-FFF2-40B4-BE49-F238E27FC236}">
                <a16:creationId xmlns:a16="http://schemas.microsoft.com/office/drawing/2014/main" id="{0948808D-B82E-47D7-B716-30CB6E81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4483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jdtrjw8">
            <a:extLst xmlns:a="http://schemas.openxmlformats.org/drawingml/2006/main">
              <a:ext uri="{FF2B5EF4-FFF2-40B4-BE49-F238E27FC236}">
                <a16:creationId xmlns:a16="http://schemas.microsoft.com/office/drawing/2014/main" id="{5EEAF2FC-E269-4403-8947-7667E5F4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38300"/>
            <a:ext cx="54483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text-w9rchb2">
            <a:extLst xmlns:a="http://schemas.openxmlformats.org/drawingml/2006/main">
              <a:ext uri="{FF2B5EF4-FFF2-40B4-BE49-F238E27FC236}">
                <a16:creationId xmlns:a16="http://schemas.microsoft.com/office/drawing/2014/main" id="{1D595B77-37B8-4329-8A9C-E7D7589C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Token 负责计量</a:t>
            </a:r>
          </a:p>
        </p:txBody>
      </p:sp>
      <p:sp>
        <p:nvSpPr>
          <p:cNvPr id="7" name="text-eru4068">
            <a:extLst xmlns:a="http://schemas.openxmlformats.org/drawingml/2006/main">
              <a:ext uri="{FF2B5EF4-FFF2-40B4-BE49-F238E27FC236}">
                <a16:creationId xmlns:a16="http://schemas.microsoft.com/office/drawing/2014/main" id="{C55901E5-776E-4996-BBB3-48699A71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9149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文本会被拆成模型处理的单位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输入、历史、文件片段和工具结果都会消耗上下文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Token数量会影响容量、速度和成本</a:t>
            </a:r>
          </a:p>
        </p:txBody>
      </p:sp>
      <p:sp>
        <p:nvSpPr>
          <p:cNvPr id="8" name="text-jdy5tds">
            <a:extLst xmlns:a="http://schemas.openxmlformats.org/drawingml/2006/main">
              <a:ext uri="{FF2B5EF4-FFF2-40B4-BE49-F238E27FC236}">
                <a16:creationId xmlns:a16="http://schemas.microsoft.com/office/drawing/2014/main" id="{CD90A7E1-005F-45F5-B2FE-FF43FF82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859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上下文窗口负责容纳</a:t>
            </a:r>
          </a:p>
        </p:txBody>
      </p:sp>
      <p:sp>
        <p:nvSpPr>
          <p:cNvPr id="9" name="text-7fwck6r">
            <a:extLst xmlns:a="http://schemas.openxmlformats.org/drawingml/2006/main">
              <a:ext uri="{FF2B5EF4-FFF2-40B4-BE49-F238E27FC236}">
                <a16:creationId xmlns:a16="http://schemas.microsoft.com/office/drawing/2014/main" id="{94C12610-9FEF-465B-B9A4-7B6C58D0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76500"/>
            <a:ext cx="49149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模型当前能够参考的信息集合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内容太多时，重要信息可能被噪声淹没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长对话可能通过摘要或压缩继续工作</a:t>
            </a:r>
          </a:p>
        </p:txBody>
      </p:sp>
      <p:sp>
        <p:nvSpPr>
          <p:cNvPr id="10" name="text-y5plkdh">
            <a:extLst xmlns:a="http://schemas.openxmlformats.org/drawingml/2006/main">
              <a:ext uri="{FF2B5EF4-FFF2-40B4-BE49-F238E27FC236}">
                <a16:creationId xmlns:a16="http://schemas.microsoft.com/office/drawing/2014/main" id="{081D7B5B-DCC6-4F21-B739-1283CA4D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7446087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ti9a45g">
            <a:extLst xmlns:a="http://schemas.openxmlformats.org/drawingml/2006/main">
              <a:ext uri="{FF2B5EF4-FFF2-40B4-BE49-F238E27FC236}">
                <a16:creationId xmlns:a16="http://schemas.microsoft.com/office/drawing/2014/main" id="{B9B9A0CE-FF12-4930-ADE0-7D8457DF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用户输入只是其中一层</a:t>
            </a:r>
          </a:p>
        </p:txBody>
      </p:sp>
      <p:sp>
        <p:nvSpPr>
          <p:cNvPr id="2" name="text-cf8t00s">
            <a:extLst xmlns:a="http://schemas.openxmlformats.org/drawingml/2006/main">
              <a:ext uri="{FF2B5EF4-FFF2-40B4-BE49-F238E27FC236}">
                <a16:creationId xmlns:a16="http://schemas.microsoft.com/office/drawing/2014/main" id="{63036A90-4F22-4057-BA76-6ADC8675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AI 的实际工作依据，是一个动态上下文包</a:t>
            </a:r>
          </a:p>
        </p:txBody>
      </p:sp>
      <p:sp>
        <p:nvSpPr>
          <p:cNvPr id="3" name="shape-o2s2tnw">
            <a:extLst xmlns:a="http://schemas.openxmlformats.org/drawingml/2006/main">
              <a:ext uri="{FF2B5EF4-FFF2-40B4-BE49-F238E27FC236}">
                <a16:creationId xmlns:a16="http://schemas.microsoft.com/office/drawing/2014/main" id="{86611F76-3766-4E94-B294-AF99DD73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y4vl33y">
            <a:extLst xmlns:a="http://schemas.openxmlformats.org/drawingml/2006/main">
              <a:ext uri="{FF2B5EF4-FFF2-40B4-BE49-F238E27FC236}">
                <a16:creationId xmlns:a16="http://schemas.microsoft.com/office/drawing/2014/main" id="{75114FFF-B7FA-41CD-8324-6899BAD5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3962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nvy778m">
            <a:extLst xmlns:a="http://schemas.openxmlformats.org/drawingml/2006/main">
              <a:ext uri="{FF2B5EF4-FFF2-40B4-BE49-F238E27FC236}">
                <a16:creationId xmlns:a16="http://schemas.microsoft.com/office/drawing/2014/main" id="{1CC1BF21-9C98-4A83-BC83-AF4A806C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lcibwtg">
            <a:extLst xmlns:a="http://schemas.openxmlformats.org/drawingml/2006/main">
              <a:ext uri="{FF2B5EF4-FFF2-40B4-BE49-F238E27FC236}">
                <a16:creationId xmlns:a16="http://schemas.microsoft.com/office/drawing/2014/main" id="{67ADCCA1-EE03-44C7-B56C-D5455ABF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平台与项目规则</a:t>
            </a:r>
          </a:p>
        </p:txBody>
      </p:sp>
      <p:sp>
        <p:nvSpPr>
          <p:cNvPr id="7" name="text-2dgrriv">
            <a:extLst xmlns:a="http://schemas.openxmlformats.org/drawingml/2006/main">
              <a:ext uri="{FF2B5EF4-FFF2-40B4-BE49-F238E27FC236}">
                <a16:creationId xmlns:a16="http://schemas.microsoft.com/office/drawing/2014/main" id="{919B9FDC-4E46-4D84-9B99-F4EF0F43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85925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系统边界、权限、AGENTS.md 和当前环境</a:t>
            </a:r>
          </a:p>
        </p:txBody>
      </p:sp>
      <p:sp>
        <p:nvSpPr>
          <p:cNvPr id="8" name="shape-agopdfu">
            <a:extLst xmlns:a="http://schemas.openxmlformats.org/drawingml/2006/main">
              <a:ext uri="{FF2B5EF4-FFF2-40B4-BE49-F238E27FC236}">
                <a16:creationId xmlns:a16="http://schemas.microsoft.com/office/drawing/2014/main" id="{749684D8-7108-4412-87E9-48D3BDFC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x37acpv">
            <a:extLst xmlns:a="http://schemas.openxmlformats.org/drawingml/2006/main">
              <a:ext uri="{FF2B5EF4-FFF2-40B4-BE49-F238E27FC236}">
                <a16:creationId xmlns:a16="http://schemas.microsoft.com/office/drawing/2014/main" id="{2D71F9A8-C953-4F62-A073-88F6AB39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text-31yph8g">
            <a:extLst xmlns:a="http://schemas.openxmlformats.org/drawingml/2006/main">
              <a:ext uri="{FF2B5EF4-FFF2-40B4-BE49-F238E27FC236}">
                <a16:creationId xmlns:a16="http://schemas.microsoft.com/office/drawing/2014/main" id="{931799FB-376F-4789-906F-92F856F3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193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当前任务信息</a:t>
            </a:r>
          </a:p>
        </p:txBody>
      </p:sp>
      <p:sp>
        <p:nvSpPr>
          <p:cNvPr id="11" name="text-wne84jq">
            <a:extLst xmlns:a="http://schemas.openxmlformats.org/drawingml/2006/main">
              <a:ext uri="{FF2B5EF4-FFF2-40B4-BE49-F238E27FC236}">
                <a16:creationId xmlns:a16="http://schemas.microsoft.com/office/drawing/2014/main" id="{CE1BD626-E110-4025-AF2D-703FB5A9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38425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对话历史、当前提示词、已确认决定和可能的摘要</a:t>
            </a:r>
          </a:p>
        </p:txBody>
      </p:sp>
      <p:sp>
        <p:nvSpPr>
          <p:cNvPr id="12" name="shape-v28szuu">
            <a:extLst xmlns:a="http://schemas.openxmlformats.org/drawingml/2006/main">
              <a:ext uri="{FF2B5EF4-FFF2-40B4-BE49-F238E27FC236}">
                <a16:creationId xmlns:a16="http://schemas.microsoft.com/office/drawing/2014/main" id="{95CAA3EA-002A-40CC-B827-C10AF87F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31qomys">
            <a:extLst xmlns:a="http://schemas.openxmlformats.org/drawingml/2006/main">
              <a:ext uri="{FF2B5EF4-FFF2-40B4-BE49-F238E27FC236}">
                <a16:creationId xmlns:a16="http://schemas.microsoft.com/office/drawing/2014/main" id="{C66691DD-7A43-4F87-86B1-6269FF27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-7himcwa">
            <a:extLst xmlns:a="http://schemas.openxmlformats.org/drawingml/2006/main">
              <a:ext uri="{FF2B5EF4-FFF2-40B4-BE49-F238E27FC236}">
                <a16:creationId xmlns:a16="http://schemas.microsoft.com/office/drawing/2014/main" id="{3056CFB5-6699-4D9E-BC22-4C389620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按需加载材料</a:t>
            </a:r>
          </a:p>
        </p:txBody>
      </p:sp>
      <p:sp>
        <p:nvSpPr>
          <p:cNvPr id="15" name="text-115zcvv">
            <a:extLst xmlns:a="http://schemas.openxmlformats.org/drawingml/2006/main">
              <a:ext uri="{FF2B5EF4-FFF2-40B4-BE49-F238E27FC236}">
                <a16:creationId xmlns:a16="http://schemas.microsoft.com/office/drawing/2014/main" id="{000D32E1-DF30-41FF-BFFA-A4D06309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590925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完整Skill、参考资料、上传文件和检索内容</a:t>
            </a:r>
          </a:p>
        </p:txBody>
      </p:sp>
      <p:sp>
        <p:nvSpPr>
          <p:cNvPr id="16" name="shape-sqjm802">
            <a:extLst xmlns:a="http://schemas.openxmlformats.org/drawingml/2006/main">
              <a:ext uri="{FF2B5EF4-FFF2-40B4-BE49-F238E27FC236}">
                <a16:creationId xmlns:a16="http://schemas.microsoft.com/office/drawing/2014/main" id="{3D338589-80E1-4097-857A-0B05F79C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brhzk6q">
            <a:extLst xmlns:a="http://schemas.openxmlformats.org/drawingml/2006/main">
              <a:ext uri="{FF2B5EF4-FFF2-40B4-BE49-F238E27FC236}">
                <a16:creationId xmlns:a16="http://schemas.microsoft.com/office/drawing/2014/main" id="{7B4DE4F7-F4CD-48C7-8294-0FACB71E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text-4fk2j30">
            <a:extLst xmlns:a="http://schemas.openxmlformats.org/drawingml/2006/main">
              <a:ext uri="{FF2B5EF4-FFF2-40B4-BE49-F238E27FC236}">
                <a16:creationId xmlns:a16="http://schemas.microsoft.com/office/drawing/2014/main" id="{15E81E1E-4C58-4F37-921B-32771F57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243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执行过程结果</a:t>
            </a:r>
          </a:p>
        </p:txBody>
      </p:sp>
      <p:sp>
        <p:nvSpPr>
          <p:cNvPr id="19" name="text-zkyhr1n">
            <a:extLst xmlns:a="http://schemas.openxmlformats.org/drawingml/2006/main">
              <a:ext uri="{FF2B5EF4-FFF2-40B4-BE49-F238E27FC236}">
                <a16:creationId xmlns:a16="http://schemas.microsoft.com/office/drawing/2014/main" id="{D25FBF53-BFE9-44D1-9CE2-BAFDF482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543425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工具返回的数据、文件状态、错误和检查结果</a:t>
            </a:r>
          </a:p>
        </p:txBody>
      </p:sp>
      <p:sp>
        <p:nvSpPr>
          <p:cNvPr id="20" name="text-ia27s9d">
            <a:extLst xmlns:a="http://schemas.openxmlformats.org/drawingml/2006/main">
              <a:ext uri="{FF2B5EF4-FFF2-40B4-BE49-F238E27FC236}">
                <a16:creationId xmlns:a16="http://schemas.microsoft.com/office/drawing/2014/main" id="{7BA5EA56-874D-4BB5-B383-71116E1D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16866826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89dpaan">
            <a:extLst xmlns:a="http://schemas.openxmlformats.org/drawingml/2006/main">
              <a:ext uri="{FF2B5EF4-FFF2-40B4-BE49-F238E27FC236}">
                <a16:creationId xmlns:a16="http://schemas.microsoft.com/office/drawing/2014/main" id="{CB81A546-4880-4431-9998-765D6F97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Codex工作台</a:t>
            </a:r>
          </a:p>
        </p:txBody>
      </p:sp>
      <p:sp>
        <p:nvSpPr>
          <p:cNvPr id="2" name="text-aurbfcy">
            <a:extLst xmlns:a="http://schemas.openxmlformats.org/drawingml/2006/main">
              <a:ext uri="{FF2B5EF4-FFF2-40B4-BE49-F238E27FC236}">
                <a16:creationId xmlns:a16="http://schemas.microsoft.com/office/drawing/2014/main" id="{E843E221-449F-456F-8D62-BBB24AFA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四种信息分别解决“做什么、怎么做、长期规则和真正执行”</a:t>
            </a:r>
          </a:p>
        </p:txBody>
      </p:sp>
      <p:sp>
        <p:nvSpPr>
          <p:cNvPr id="3" name="shape-0w6y59n">
            <a:extLst xmlns:a="http://schemas.openxmlformats.org/drawingml/2006/main">
              <a:ext uri="{FF2B5EF4-FFF2-40B4-BE49-F238E27FC236}">
                <a16:creationId xmlns:a16="http://schemas.microsoft.com/office/drawing/2014/main" id="{7F366F73-117B-4385-BB30-BD864CB1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tsh5zlw">
            <a:extLst xmlns:a="http://schemas.openxmlformats.org/drawingml/2006/main">
              <a:ext uri="{FF2B5EF4-FFF2-40B4-BE49-F238E27FC236}">
                <a16:creationId xmlns:a16="http://schemas.microsoft.com/office/drawing/2014/main" id="{306C006C-E1FA-4EE8-89FC-6F3530FD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" name="text-ld0b4t3">
            <a:extLst xmlns:a="http://schemas.openxmlformats.org/drawingml/2006/main">
              <a:ext uri="{FF2B5EF4-FFF2-40B4-BE49-F238E27FC236}">
                <a16:creationId xmlns:a16="http://schemas.microsoft.com/office/drawing/2014/main" id="{08EA1E7C-F346-46AF-A916-786B28DB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8764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概念</a:t>
            </a:r>
          </a:p>
        </p:txBody>
      </p:sp>
      <p:sp>
        <p:nvSpPr>
          <p:cNvPr id="6" name="shape-seukn00">
            <a:extLst xmlns:a="http://schemas.openxmlformats.org/drawingml/2006/main">
              <a:ext uri="{FF2B5EF4-FFF2-40B4-BE49-F238E27FC236}">
                <a16:creationId xmlns:a16="http://schemas.microsoft.com/office/drawing/2014/main" id="{4DFF1F26-48F9-4768-8EF2-BD6AE195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0975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" name="text-lx7tz5h">
            <a:extLst xmlns:a="http://schemas.openxmlformats.org/drawingml/2006/main">
              <a:ext uri="{FF2B5EF4-FFF2-40B4-BE49-F238E27FC236}">
                <a16:creationId xmlns:a16="http://schemas.microsoft.com/office/drawing/2014/main" id="{F16742D8-9657-40DB-88E1-2D72B3C0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876425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解决的问题</a:t>
            </a:r>
          </a:p>
        </p:txBody>
      </p:sp>
      <p:sp>
        <p:nvSpPr>
          <p:cNvPr id="8" name="shape-daqh6yl">
            <a:extLst xmlns:a="http://schemas.openxmlformats.org/drawingml/2006/main">
              <a:ext uri="{FF2B5EF4-FFF2-40B4-BE49-F238E27FC236}">
                <a16:creationId xmlns:a16="http://schemas.microsoft.com/office/drawing/2014/main" id="{FCADDC18-F329-4E2B-AEF3-68402290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9" name="text-j9dil4x">
            <a:extLst xmlns:a="http://schemas.openxmlformats.org/drawingml/2006/main">
              <a:ext uri="{FF2B5EF4-FFF2-40B4-BE49-F238E27FC236}">
                <a16:creationId xmlns:a16="http://schemas.microsoft.com/office/drawing/2014/main" id="{93C3DF3F-AC8A-4983-BCDF-71B8E93D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8764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新员工比喻</a:t>
            </a:r>
          </a:p>
        </p:txBody>
      </p:sp>
      <p:sp>
        <p:nvSpPr>
          <p:cNvPr id="10" name="shape-ty8boli">
            <a:extLst xmlns:a="http://schemas.openxmlformats.org/drawingml/2006/main">
              <a:ext uri="{FF2B5EF4-FFF2-40B4-BE49-F238E27FC236}">
                <a16:creationId xmlns:a16="http://schemas.microsoft.com/office/drawing/2014/main" id="{4FBF05E5-7AC5-49D6-9E51-AE257AD0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289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1" name="text-w40h4d9">
            <a:extLst xmlns:a="http://schemas.openxmlformats.org/drawingml/2006/main">
              <a:ext uri="{FF2B5EF4-FFF2-40B4-BE49-F238E27FC236}">
                <a16:creationId xmlns:a16="http://schemas.microsoft.com/office/drawing/2014/main" id="{49297C6F-E8C8-4275-9910-465311CD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69557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Prompt</a:t>
            </a:r>
          </a:p>
        </p:txBody>
      </p:sp>
      <p:sp>
        <p:nvSpPr>
          <p:cNvPr id="12" name="shape-p5jfcrz">
            <a:extLst xmlns:a="http://schemas.openxmlformats.org/drawingml/2006/main">
              <a:ext uri="{FF2B5EF4-FFF2-40B4-BE49-F238E27FC236}">
                <a16:creationId xmlns:a16="http://schemas.microsoft.com/office/drawing/2014/main" id="{AD882D21-D2DC-4041-AEC3-3D926F7C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289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3" name="text-l51161k">
            <a:extLst xmlns:a="http://schemas.openxmlformats.org/drawingml/2006/main">
              <a:ext uri="{FF2B5EF4-FFF2-40B4-BE49-F238E27FC236}">
                <a16:creationId xmlns:a16="http://schemas.microsoft.com/office/drawing/2014/main" id="{0A0A82EA-79EC-4163-A523-84279B0B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95575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这一次做什么</a:t>
            </a:r>
          </a:p>
        </p:txBody>
      </p:sp>
      <p:sp>
        <p:nvSpPr>
          <p:cNvPr id="14" name="shape-8prwh21">
            <a:extLst xmlns:a="http://schemas.openxmlformats.org/drawingml/2006/main">
              <a:ext uri="{FF2B5EF4-FFF2-40B4-BE49-F238E27FC236}">
                <a16:creationId xmlns:a16="http://schemas.microsoft.com/office/drawing/2014/main" id="{CB0FC6E0-4CF0-42CA-B11A-46ED1F0F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289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5" name="text-k632rny">
            <a:extLst xmlns:a="http://schemas.openxmlformats.org/drawingml/2006/main">
              <a:ext uri="{FF2B5EF4-FFF2-40B4-BE49-F238E27FC236}">
                <a16:creationId xmlns:a16="http://schemas.microsoft.com/office/drawing/2014/main" id="{606D4630-9904-4B54-A5DB-078DB152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69557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任务单</a:t>
            </a:r>
          </a:p>
        </p:txBody>
      </p:sp>
      <p:sp>
        <p:nvSpPr>
          <p:cNvPr id="16" name="shape-thtj64v">
            <a:extLst xmlns:a="http://schemas.openxmlformats.org/drawingml/2006/main">
              <a:ext uri="{FF2B5EF4-FFF2-40B4-BE49-F238E27FC236}">
                <a16:creationId xmlns:a16="http://schemas.microsoft.com/office/drawing/2014/main" id="{EC95F886-EA22-4FD7-BB62-4A004DB1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480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7" name="text-hh3nehh">
            <a:extLst xmlns:a="http://schemas.openxmlformats.org/drawingml/2006/main">
              <a:ext uri="{FF2B5EF4-FFF2-40B4-BE49-F238E27FC236}">
                <a16:creationId xmlns:a16="http://schemas.microsoft.com/office/drawing/2014/main" id="{3C85E477-5762-49C4-AD0D-7F09BA03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5147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Skill</a:t>
            </a:r>
          </a:p>
        </p:txBody>
      </p:sp>
      <p:sp>
        <p:nvSpPr>
          <p:cNvPr id="18" name="shape-yl5v5pt">
            <a:extLst xmlns:a="http://schemas.openxmlformats.org/drawingml/2006/main">
              <a:ext uri="{FF2B5EF4-FFF2-40B4-BE49-F238E27FC236}">
                <a16:creationId xmlns:a16="http://schemas.microsoft.com/office/drawing/2014/main" id="{72DB36B0-915C-4062-978C-60FA0AA0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4805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9" name="text-byseo33">
            <a:extLst xmlns:a="http://schemas.openxmlformats.org/drawingml/2006/main">
              <a:ext uri="{FF2B5EF4-FFF2-40B4-BE49-F238E27FC236}">
                <a16:creationId xmlns:a16="http://schemas.microsoft.com/office/drawing/2014/main" id="{9BAE16A1-2E30-4F4B-A1B9-7385212E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514725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这一类任务怎样做</a:t>
            </a:r>
          </a:p>
        </p:txBody>
      </p:sp>
      <p:sp>
        <p:nvSpPr>
          <p:cNvPr id="20" name="shape-e1rzntl">
            <a:extLst xmlns:a="http://schemas.openxmlformats.org/drawingml/2006/main">
              <a:ext uri="{FF2B5EF4-FFF2-40B4-BE49-F238E27FC236}">
                <a16:creationId xmlns:a16="http://schemas.microsoft.com/office/drawing/2014/main" id="{2B6437CA-CAB3-45B8-BF96-9584B5F7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480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1" name="text-glxo2i9">
            <a:extLst xmlns:a="http://schemas.openxmlformats.org/drawingml/2006/main">
              <a:ext uri="{FF2B5EF4-FFF2-40B4-BE49-F238E27FC236}">
                <a16:creationId xmlns:a16="http://schemas.microsoft.com/office/drawing/2014/main" id="{6B1FBC44-C324-4F1B-91BF-B56B76B9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5147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岗位SOP</a:t>
            </a:r>
          </a:p>
        </p:txBody>
      </p:sp>
      <p:sp>
        <p:nvSpPr>
          <p:cNvPr id="22" name="shape-86w6w4o">
            <a:extLst xmlns:a="http://schemas.openxmlformats.org/drawingml/2006/main">
              <a:ext uri="{FF2B5EF4-FFF2-40B4-BE49-F238E27FC236}">
                <a16:creationId xmlns:a16="http://schemas.microsoft.com/office/drawing/2014/main" id="{95E45513-2A21-48E4-A9C1-C723CCFA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672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3" name="text-5ltz3wm">
            <a:extLst xmlns:a="http://schemas.openxmlformats.org/drawingml/2006/main">
              <a:ext uri="{FF2B5EF4-FFF2-40B4-BE49-F238E27FC236}">
                <a16:creationId xmlns:a16="http://schemas.microsoft.com/office/drawing/2014/main" id="{8C435BFA-F458-4547-BFF5-A1B8DDD9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33387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AGENTS.md</a:t>
            </a:r>
          </a:p>
        </p:txBody>
      </p:sp>
      <p:sp>
        <p:nvSpPr>
          <p:cNvPr id="24" name="shape-5vvnr1b">
            <a:extLst xmlns:a="http://schemas.openxmlformats.org/drawingml/2006/main">
              <a:ext uri="{FF2B5EF4-FFF2-40B4-BE49-F238E27FC236}">
                <a16:creationId xmlns:a16="http://schemas.microsoft.com/office/drawing/2014/main" id="{34850594-F901-4704-851D-E2A7CC64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2672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5" name="text-x1qm967">
            <a:extLst xmlns:a="http://schemas.openxmlformats.org/drawingml/2006/main">
              <a:ext uri="{FF2B5EF4-FFF2-40B4-BE49-F238E27FC236}">
                <a16:creationId xmlns:a16="http://schemas.microsoft.com/office/drawing/2014/main" id="{65F6E915-BB00-488A-9F2F-C6B5316F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333875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这个项目长期遵守什么</a:t>
            </a:r>
          </a:p>
        </p:txBody>
      </p:sp>
      <p:sp>
        <p:nvSpPr>
          <p:cNvPr id="26" name="shape-wwufjxx">
            <a:extLst xmlns:a="http://schemas.openxmlformats.org/drawingml/2006/main">
              <a:ext uri="{FF2B5EF4-FFF2-40B4-BE49-F238E27FC236}">
                <a16:creationId xmlns:a16="http://schemas.microsoft.com/office/drawing/2014/main" id="{EA9E45E2-2F60-4EBA-B5C8-54576330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672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7" name="text-0m9uk8k">
            <a:extLst xmlns:a="http://schemas.openxmlformats.org/drawingml/2006/main">
              <a:ext uri="{FF2B5EF4-FFF2-40B4-BE49-F238E27FC236}">
                <a16:creationId xmlns:a16="http://schemas.microsoft.com/office/drawing/2014/main" id="{1B172AA2-4F85-4A4E-AD6F-80F1D09C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3387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项目员工手册</a:t>
            </a:r>
          </a:p>
        </p:txBody>
      </p:sp>
      <p:sp>
        <p:nvSpPr>
          <p:cNvPr id="28" name="shape-qztcpyt">
            <a:extLst xmlns:a="http://schemas.openxmlformats.org/drawingml/2006/main">
              <a:ext uri="{FF2B5EF4-FFF2-40B4-BE49-F238E27FC236}">
                <a16:creationId xmlns:a16="http://schemas.microsoft.com/office/drawing/2014/main" id="{8A3F0F7A-134E-495D-B594-3DBE940F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863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9" name="text-ks6utic">
            <a:extLst xmlns:a="http://schemas.openxmlformats.org/drawingml/2006/main">
              <a:ext uri="{FF2B5EF4-FFF2-40B4-BE49-F238E27FC236}">
                <a16:creationId xmlns:a16="http://schemas.microsoft.com/office/drawing/2014/main" id="{16716945-04EC-41CA-9243-8E97EB60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1530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Tool</a:t>
            </a:r>
          </a:p>
        </p:txBody>
      </p:sp>
      <p:sp>
        <p:nvSpPr>
          <p:cNvPr id="30" name="shape-knmgq47">
            <a:extLst xmlns:a="http://schemas.openxmlformats.org/drawingml/2006/main">
              <a:ext uri="{FF2B5EF4-FFF2-40B4-BE49-F238E27FC236}">
                <a16:creationId xmlns:a16="http://schemas.microsoft.com/office/drawing/2014/main" id="{40EF0C40-052C-45F4-8754-B1743142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08635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1" name="text-da8cx4f">
            <a:extLst xmlns:a="http://schemas.openxmlformats.org/drawingml/2006/main">
              <a:ext uri="{FF2B5EF4-FFF2-40B4-BE49-F238E27FC236}">
                <a16:creationId xmlns:a16="http://schemas.microsoft.com/office/drawing/2014/main" id="{9C6BE87A-0C2C-4FD7-88E2-AD03F4F3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153025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真正读取、修改或生成</a:t>
            </a:r>
          </a:p>
        </p:txBody>
      </p:sp>
      <p:sp>
        <p:nvSpPr>
          <p:cNvPr id="32" name="shape-3dn1yyt">
            <a:extLst xmlns:a="http://schemas.openxmlformats.org/drawingml/2006/main">
              <a:ext uri="{FF2B5EF4-FFF2-40B4-BE49-F238E27FC236}">
                <a16:creationId xmlns:a16="http://schemas.microsoft.com/office/drawing/2014/main" id="{E152CE47-E1F5-4A93-8988-4F6E2162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863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3" name="text-k020a62">
            <a:extLst xmlns:a="http://schemas.openxmlformats.org/drawingml/2006/main">
              <a:ext uri="{FF2B5EF4-FFF2-40B4-BE49-F238E27FC236}">
                <a16:creationId xmlns:a16="http://schemas.microsoft.com/office/drawing/2014/main" id="{7BE79CE8-B685-429B-B32D-02C9DFFB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1530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软件、设备和双手</a:t>
            </a:r>
          </a:p>
        </p:txBody>
      </p:sp>
      <p:sp>
        <p:nvSpPr>
          <p:cNvPr id="34" name="text-0jadwtk">
            <a:extLst xmlns:a="http://schemas.openxmlformats.org/drawingml/2006/main">
              <a:ext uri="{FF2B5EF4-FFF2-40B4-BE49-F238E27FC236}">
                <a16:creationId xmlns:a16="http://schemas.microsoft.com/office/drawing/2014/main" id="{3A3CB554-C5A5-4DEA-9829-6BCA3CC0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139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稳定的项目规则不要只藏在一条旧对话里。</a:t>
            </a:r>
          </a:p>
        </p:txBody>
      </p:sp>
      <p:sp>
        <p:nvSpPr>
          <p:cNvPr id="35" name="text-axa2m9m">
            <a:extLst xmlns:a="http://schemas.openxmlformats.org/drawingml/2006/main">
              <a:ext uri="{FF2B5EF4-FFF2-40B4-BE49-F238E27FC236}">
                <a16:creationId xmlns:a16="http://schemas.microsoft.com/office/drawing/2014/main" id="{78EB1E0B-6735-4E7E-B14B-C21683BC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5369751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koywqp5">
            <a:extLst xmlns:a="http://schemas.openxmlformats.org/drawingml/2006/main">
              <a:ext uri="{FF2B5EF4-FFF2-40B4-BE49-F238E27FC236}">
                <a16:creationId xmlns:a16="http://schemas.microsoft.com/office/drawing/2014/main" id="{C376AB3F-D082-4EB1-A99F-B7BF0321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Agent不是一次回答</a:t>
            </a:r>
          </a:p>
        </p:txBody>
      </p:sp>
      <p:sp>
        <p:nvSpPr>
          <p:cNvPr id="2" name="text-u0gw14n">
            <a:extLst xmlns:a="http://schemas.openxmlformats.org/drawingml/2006/main">
              <a:ext uri="{FF2B5EF4-FFF2-40B4-BE49-F238E27FC236}">
                <a16:creationId xmlns:a16="http://schemas.microsoft.com/office/drawing/2014/main" id="{D7490F4D-009F-4E94-8761-B53E0723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Codex 会根据工具结果，反复判断下一步</a:t>
            </a:r>
          </a:p>
        </p:txBody>
      </p:sp>
      <p:sp>
        <p:nvSpPr>
          <p:cNvPr id="3" name="shape-lr4boja">
            <a:extLst xmlns:a="http://schemas.openxmlformats.org/drawingml/2006/main">
              <a:ext uri="{FF2B5EF4-FFF2-40B4-BE49-F238E27FC236}">
                <a16:creationId xmlns:a16="http://schemas.microsoft.com/office/drawing/2014/main" id="{448DE88D-13E4-46D8-A6F9-3C32387B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jknld9q">
            <a:extLst xmlns:a="http://schemas.openxmlformats.org/drawingml/2006/main">
              <a:ext uri="{FF2B5EF4-FFF2-40B4-BE49-F238E27FC236}">
                <a16:creationId xmlns:a16="http://schemas.microsoft.com/office/drawing/2014/main" id="{FFEFCAE5-889D-4EC3-AFE2-C171B9A1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438275"/>
            <a:ext cx="8324850" cy="4781550"/>
          </a:xfrm>
          <a:prstGeom xmlns:a="http://schemas.openxmlformats.org/drawingml/2006/main" prst="roundRect">
            <a:avLst>
              <a:gd name="adj" fmla="val 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37e0807d948e9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47875" y="1552575"/>
            <a:ext cx="8096250" cy="4552950"/>
          </a:xfrm>
          <a:prstGeom xmlns:a="http://schemas.openxmlformats.org/drawingml/2006/main" prst="roundRect">
            <a:avLst/>
          </a:prstGeom>
        </p:spPr>
      </p:pic>
      <p:sp>
        <p:nvSpPr>
          <p:cNvPr id="6" name="text-fe246in">
            <a:extLst xmlns:a="http://schemas.openxmlformats.org/drawingml/2006/main">
              <a:ext uri="{FF2B5EF4-FFF2-40B4-BE49-F238E27FC236}">
                <a16:creationId xmlns:a16="http://schemas.microsoft.com/office/drawing/2014/main" id="{6084403E-A794-48CD-9B0A-7151CD10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2960787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faxlwd4">
            <a:extLst xmlns:a="http://schemas.openxmlformats.org/drawingml/2006/main">
              <a:ext uri="{FF2B5EF4-FFF2-40B4-BE49-F238E27FC236}">
                <a16:creationId xmlns:a16="http://schemas.microsoft.com/office/drawing/2014/main" id="{A957367C-3A7F-408D-9642-E4680084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核心定义</a:t>
            </a:r>
          </a:p>
        </p:txBody>
      </p:sp>
      <p:sp>
        <p:nvSpPr>
          <p:cNvPr id="2" name="text-98af95q">
            <a:extLst xmlns:a="http://schemas.openxmlformats.org/drawingml/2006/main">
              <a:ext uri="{FF2B5EF4-FFF2-40B4-BE49-F238E27FC236}">
                <a16:creationId xmlns:a16="http://schemas.microsoft.com/office/drawing/2014/main" id="{F4356038-7029-4785-B512-E011B992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提示词不是神奇口令，而是一份工作说明书</a:t>
            </a:r>
          </a:p>
        </p:txBody>
      </p:sp>
      <p:sp>
        <p:nvSpPr>
          <p:cNvPr id="3" name="shape-43lf7oi">
            <a:extLst xmlns:a="http://schemas.openxmlformats.org/drawingml/2006/main">
              <a:ext uri="{FF2B5EF4-FFF2-40B4-BE49-F238E27FC236}">
                <a16:creationId xmlns:a16="http://schemas.microsoft.com/office/drawing/2014/main" id="{5DE2B492-A3D8-4E75-B0F9-657E50E7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cvmkwhs">
            <a:extLst xmlns:a="http://schemas.openxmlformats.org/drawingml/2006/main">
              <a:ext uri="{FF2B5EF4-FFF2-40B4-BE49-F238E27FC236}">
                <a16:creationId xmlns:a16="http://schemas.microsoft.com/office/drawing/2014/main" id="{7BDE59FE-8EE8-42C5-905E-241F4EF6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它至少帮助 AI 回答四个问题</a:t>
            </a:r>
          </a:p>
        </p:txBody>
      </p:sp>
      <p:sp>
        <p:nvSpPr>
          <p:cNvPr id="5" name="shape-glmeedp">
            <a:extLst xmlns:a="http://schemas.openxmlformats.org/drawingml/2006/main">
              <a:ext uri="{FF2B5EF4-FFF2-40B4-BE49-F238E27FC236}">
                <a16:creationId xmlns:a16="http://schemas.microsoft.com/office/drawing/2014/main" id="{5AEF9C23-1A29-47EF-B058-A20BA32A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5334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text-ppf089c">
            <a:extLst xmlns:a="http://schemas.openxmlformats.org/drawingml/2006/main">
              <a:ext uri="{FF2B5EF4-FFF2-40B4-BE49-F238E27FC236}">
                <a16:creationId xmlns:a16="http://schemas.microsoft.com/office/drawing/2014/main" id="{301C3B23-A1DC-48F7-BB8F-9A8DBD2D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为什么做？</a:t>
            </a:r>
          </a:p>
        </p:txBody>
      </p:sp>
      <p:sp>
        <p:nvSpPr>
          <p:cNvPr id="7" name="shape-7pms0kl">
            <a:extLst xmlns:a="http://schemas.openxmlformats.org/drawingml/2006/main">
              <a:ext uri="{FF2B5EF4-FFF2-40B4-BE49-F238E27FC236}">
                <a16:creationId xmlns:a16="http://schemas.microsoft.com/office/drawing/2014/main" id="{7FAE3583-E69B-47D3-81CF-4D861621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28875"/>
            <a:ext cx="5334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xt-uy8pshf">
            <a:extLst xmlns:a="http://schemas.openxmlformats.org/drawingml/2006/main">
              <a:ext uri="{FF2B5EF4-FFF2-40B4-BE49-F238E27FC236}">
                <a16:creationId xmlns:a16="http://schemas.microsoft.com/office/drawing/2014/main" id="{E0FD20BE-8AA1-4492-B076-AA7D4C17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根据什么做？</a:t>
            </a:r>
          </a:p>
        </p:txBody>
      </p:sp>
      <p:sp>
        <p:nvSpPr>
          <p:cNvPr id="9" name="shape-2en9nel">
            <a:extLst xmlns:a="http://schemas.openxmlformats.org/drawingml/2006/main">
              <a:ext uri="{FF2B5EF4-FFF2-40B4-BE49-F238E27FC236}">
                <a16:creationId xmlns:a16="http://schemas.microsoft.com/office/drawing/2014/main" id="{297BEEC3-A5CE-498B-8387-44020B02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5334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-kmu7i4z">
            <a:extLst xmlns:a="http://schemas.openxmlformats.org/drawingml/2006/main">
              <a:ext uri="{FF2B5EF4-FFF2-40B4-BE49-F238E27FC236}">
                <a16:creationId xmlns:a16="http://schemas.microsoft.com/office/drawing/2014/main" id="{73472A0B-DC1A-41F3-A165-00319FF4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交付成什么？</a:t>
            </a:r>
          </a:p>
        </p:txBody>
      </p:sp>
      <p:sp>
        <p:nvSpPr>
          <p:cNvPr id="11" name="shape-ha6n250">
            <a:extLst xmlns:a="http://schemas.openxmlformats.org/drawingml/2006/main">
              <a:ext uri="{FF2B5EF4-FFF2-40B4-BE49-F238E27FC236}">
                <a16:creationId xmlns:a16="http://schemas.microsoft.com/office/drawing/2014/main" id="{3538DBE2-3CC1-4FB1-AAF5-382B9E82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57625"/>
            <a:ext cx="5334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text-21dv8ys">
            <a:extLst xmlns:a="http://schemas.openxmlformats.org/drawingml/2006/main">
              <a:ext uri="{FF2B5EF4-FFF2-40B4-BE49-F238E27FC236}">
                <a16:creationId xmlns:a16="http://schemas.microsoft.com/office/drawing/2014/main" id="{40EE157A-942B-442B-8827-1FDE4157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怎样才算完成？</a:t>
            </a:r>
          </a:p>
        </p:txBody>
      </p:sp>
      <p:sp>
        <p:nvSpPr>
          <p:cNvPr id="13" name="text-djnznh2">
            <a:extLst xmlns:a="http://schemas.openxmlformats.org/drawingml/2006/main">
              <a:ext uri="{FF2B5EF4-FFF2-40B4-BE49-F238E27FC236}">
                <a16:creationId xmlns:a16="http://schemas.microsoft.com/office/drawing/2014/main" id="{704900FC-DE6D-499B-AA43-8930989A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写得长不等于写得好；真正有用的信息必须改变 AI 的判断。</a:t>
            </a:r>
          </a:p>
        </p:txBody>
      </p:sp>
      <p:sp>
        <p:nvSpPr>
          <p:cNvPr id="14" name="text-8k012tl">
            <a:extLst xmlns:a="http://schemas.openxmlformats.org/drawingml/2006/main">
              <a:ext uri="{FF2B5EF4-FFF2-40B4-BE49-F238E27FC236}">
                <a16:creationId xmlns:a16="http://schemas.microsoft.com/office/drawing/2014/main" id="{7E47ECBF-FC90-4DE9-A549-AB3299D9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13547774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o4n7gd8">
            <a:extLst xmlns:a="http://schemas.openxmlformats.org/drawingml/2006/main">
              <a:ext uri="{FF2B5EF4-FFF2-40B4-BE49-F238E27FC236}">
                <a16:creationId xmlns:a16="http://schemas.microsoft.com/office/drawing/2014/main" id="{23E46BCD-0905-44CC-8B85-35932C1E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提示词检查清单</a:t>
            </a:r>
          </a:p>
        </p:txBody>
      </p:sp>
      <p:sp>
        <p:nvSpPr>
          <p:cNvPr id="2" name="text-ig4x7ea">
            <a:extLst xmlns:a="http://schemas.openxmlformats.org/drawingml/2006/main">
              <a:ext uri="{FF2B5EF4-FFF2-40B4-BE49-F238E27FC236}">
                <a16:creationId xmlns:a16="http://schemas.microsoft.com/office/drawing/2014/main" id="{451ADE89-BF60-4D78-9D07-C83ED8EB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六段式结构，让新手不容易漏掉关键条件</a:t>
            </a:r>
          </a:p>
        </p:txBody>
      </p:sp>
      <p:sp>
        <p:nvSpPr>
          <p:cNvPr id="3" name="shape-koj4g5z">
            <a:extLst xmlns:a="http://schemas.openxmlformats.org/drawingml/2006/main">
              <a:ext uri="{FF2B5EF4-FFF2-40B4-BE49-F238E27FC236}">
                <a16:creationId xmlns:a16="http://schemas.microsoft.com/office/drawing/2014/main" id="{BF297666-B09B-466A-A464-F9C588F4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wx4xxzu">
            <a:extLst xmlns:a="http://schemas.openxmlformats.org/drawingml/2006/main">
              <a:ext uri="{FF2B5EF4-FFF2-40B4-BE49-F238E27FC236}">
                <a16:creationId xmlns:a16="http://schemas.microsoft.com/office/drawing/2014/main" id="{EA410F42-5B9B-4B6C-B5C1-6FB88AC2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42900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tcut62t">
            <a:extLst xmlns:a="http://schemas.openxmlformats.org/drawingml/2006/main">
              <a:ext uri="{FF2B5EF4-FFF2-40B4-BE49-F238E27FC236}">
                <a16:creationId xmlns:a16="http://schemas.microsoft.com/office/drawing/2014/main" id="{AAB2386B-2D88-47CD-8A38-D5FA6EC3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角色</a:t>
            </a:r>
          </a:p>
        </p:txBody>
      </p:sp>
      <p:sp>
        <p:nvSpPr>
          <p:cNvPr id="6" name="text-90gi5z8">
            <a:extLst xmlns:a="http://schemas.openxmlformats.org/drawingml/2006/main">
              <a:ext uri="{FF2B5EF4-FFF2-40B4-BE49-F238E27FC236}">
                <a16:creationId xmlns:a16="http://schemas.microsoft.com/office/drawing/2014/main" id="{D8340091-6D72-46BD-91EB-163C2B7F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用什么视角思考</a:t>
            </a:r>
          </a:p>
        </p:txBody>
      </p:sp>
      <p:sp>
        <p:nvSpPr>
          <p:cNvPr id="7" name="shape-8f2j51l">
            <a:extLst xmlns:a="http://schemas.openxmlformats.org/drawingml/2006/main">
              <a:ext uri="{FF2B5EF4-FFF2-40B4-BE49-F238E27FC236}">
                <a16:creationId xmlns:a16="http://schemas.microsoft.com/office/drawing/2014/main" id="{DC6B497C-F9F4-4080-BBC6-94FC491D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14500"/>
            <a:ext cx="342900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xt-k3slzdt">
            <a:extLst xmlns:a="http://schemas.openxmlformats.org/drawingml/2006/main">
              <a:ext uri="{FF2B5EF4-FFF2-40B4-BE49-F238E27FC236}">
                <a16:creationId xmlns:a16="http://schemas.microsoft.com/office/drawing/2014/main" id="{18297FAD-4023-41CA-A656-D3337B41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9812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背景</a:t>
            </a:r>
          </a:p>
        </p:txBody>
      </p:sp>
      <p:sp>
        <p:nvSpPr>
          <p:cNvPr id="9" name="text-yb2q00k">
            <a:extLst xmlns:a="http://schemas.openxmlformats.org/drawingml/2006/main">
              <a:ext uri="{FF2B5EF4-FFF2-40B4-BE49-F238E27FC236}">
                <a16:creationId xmlns:a16="http://schemas.microsoft.com/office/drawing/2014/main" id="{85381091-7420-42BF-90B8-89BD9B2D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5527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给谁用，为什么做</a:t>
            </a:r>
          </a:p>
        </p:txBody>
      </p:sp>
      <p:sp>
        <p:nvSpPr>
          <p:cNvPr id="10" name="shape-fs5qpdx">
            <a:extLst xmlns:a="http://schemas.openxmlformats.org/drawingml/2006/main">
              <a:ext uri="{FF2B5EF4-FFF2-40B4-BE49-F238E27FC236}">
                <a16:creationId xmlns:a16="http://schemas.microsoft.com/office/drawing/2014/main" id="{24EE76AA-2361-4F17-8F77-4C3C6E98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42900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-2o9vn1n">
            <a:extLst xmlns:a="http://schemas.openxmlformats.org/drawingml/2006/main">
              <a:ext uri="{FF2B5EF4-FFF2-40B4-BE49-F238E27FC236}">
                <a16:creationId xmlns:a16="http://schemas.microsoft.com/office/drawing/2014/main" id="{D7E59255-28D0-4B7D-B47D-16B395B2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任务</a:t>
            </a:r>
          </a:p>
        </p:txBody>
      </p:sp>
      <p:sp>
        <p:nvSpPr>
          <p:cNvPr id="12" name="text-o97od1t">
            <a:extLst xmlns:a="http://schemas.openxmlformats.org/drawingml/2006/main">
              <a:ext uri="{FF2B5EF4-FFF2-40B4-BE49-F238E27FC236}">
                <a16:creationId xmlns:a16="http://schemas.microsoft.com/office/drawing/2014/main" id="{D832F2E1-92B0-413E-996E-40A24454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具体完成哪些工作</a:t>
            </a:r>
          </a:p>
        </p:txBody>
      </p:sp>
      <p:sp>
        <p:nvSpPr>
          <p:cNvPr id="13" name="shape-dqwje05">
            <a:extLst xmlns:a="http://schemas.openxmlformats.org/drawingml/2006/main">
              <a:ext uri="{FF2B5EF4-FFF2-40B4-BE49-F238E27FC236}">
                <a16:creationId xmlns:a16="http://schemas.microsoft.com/office/drawing/2014/main" id="{96496C79-9F5C-49FB-A455-3A597522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342900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text-1s8718c">
            <a:extLst xmlns:a="http://schemas.openxmlformats.org/drawingml/2006/main">
              <a:ext uri="{FF2B5EF4-FFF2-40B4-BE49-F238E27FC236}">
                <a16:creationId xmlns:a16="http://schemas.microsoft.com/office/drawing/2014/main" id="{CAAC59FE-875C-4FF4-9D55-305EBD55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38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5" name="text-8c1wnvl">
            <a:extLst xmlns:a="http://schemas.openxmlformats.org/drawingml/2006/main">
              <a:ext uri="{FF2B5EF4-FFF2-40B4-BE49-F238E27FC236}">
                <a16:creationId xmlns:a16="http://schemas.microsoft.com/office/drawing/2014/main" id="{57EF00CF-1322-4EA2-A614-231F0FC5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可以使用哪些事实</a:t>
            </a:r>
          </a:p>
        </p:txBody>
      </p:sp>
      <p:sp>
        <p:nvSpPr>
          <p:cNvPr id="16" name="shape-k5q15k2">
            <a:extLst xmlns:a="http://schemas.openxmlformats.org/drawingml/2006/main">
              <a:ext uri="{FF2B5EF4-FFF2-40B4-BE49-F238E27FC236}">
                <a16:creationId xmlns:a16="http://schemas.microsoft.com/office/drawing/2014/main" id="{2F02FBA5-FD9E-45F0-9FE7-C75593B0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67125"/>
            <a:ext cx="342900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text-3bf130h">
            <a:extLst xmlns:a="http://schemas.openxmlformats.org/drawingml/2006/main">
              <a:ext uri="{FF2B5EF4-FFF2-40B4-BE49-F238E27FC236}">
                <a16:creationId xmlns:a16="http://schemas.microsoft.com/office/drawing/2014/main" id="{4071622B-55A0-41C2-8C44-E589C18B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9338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18" name="text-l6tznz5">
            <a:extLst xmlns:a="http://schemas.openxmlformats.org/drawingml/2006/main">
              <a:ext uri="{FF2B5EF4-FFF2-40B4-BE49-F238E27FC236}">
                <a16:creationId xmlns:a16="http://schemas.microsoft.com/office/drawing/2014/main" id="{5725555F-6FA7-43F0-9CEB-B77EC863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5053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格式、结构和规模</a:t>
            </a:r>
          </a:p>
        </p:txBody>
      </p:sp>
      <p:sp>
        <p:nvSpPr>
          <p:cNvPr id="19" name="shape-mx7u9r9">
            <a:extLst xmlns:a="http://schemas.openxmlformats.org/drawingml/2006/main">
              <a:ext uri="{FF2B5EF4-FFF2-40B4-BE49-F238E27FC236}">
                <a16:creationId xmlns:a16="http://schemas.microsoft.com/office/drawing/2014/main" id="{B924F9ED-881B-4A7E-8002-7160A2CE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67125"/>
            <a:ext cx="342900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text-xpodmx9">
            <a:extLst xmlns:a="http://schemas.openxmlformats.org/drawingml/2006/main">
              <a:ext uri="{FF2B5EF4-FFF2-40B4-BE49-F238E27FC236}">
                <a16:creationId xmlns:a16="http://schemas.microsoft.com/office/drawing/2014/main" id="{29E6E727-77F1-484E-BCD1-D5B8BFD4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338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约束与检查</a:t>
            </a:r>
          </a:p>
        </p:txBody>
      </p:sp>
      <p:sp>
        <p:nvSpPr>
          <p:cNvPr id="21" name="text-uw99c3d">
            <a:extLst xmlns:a="http://schemas.openxmlformats.org/drawingml/2006/main">
              <a:ext uri="{FF2B5EF4-FFF2-40B4-BE49-F238E27FC236}">
                <a16:creationId xmlns:a16="http://schemas.microsoft.com/office/drawing/2014/main" id="{93176C45-6867-4E80-9C7E-84AEC2E4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053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不能做什么，怎样验收</a:t>
            </a:r>
          </a:p>
        </p:txBody>
      </p:sp>
      <p:sp>
        <p:nvSpPr>
          <p:cNvPr id="22" name="text-iu38x7w">
            <a:extLst xmlns:a="http://schemas.openxmlformats.org/drawingml/2006/main">
              <a:ext uri="{FF2B5EF4-FFF2-40B4-BE49-F238E27FC236}">
                <a16:creationId xmlns:a16="http://schemas.microsoft.com/office/drawing/2014/main" id="{882CD6CB-612D-4CCA-A981-AB716B33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5231747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ohd1rci">
            <a:extLst xmlns:a="http://schemas.openxmlformats.org/drawingml/2006/main">
              <a:ext uri="{FF2B5EF4-FFF2-40B4-BE49-F238E27FC236}">
                <a16:creationId xmlns:a16="http://schemas.microsoft.com/office/drawing/2014/main" id="{9FBD0370-9056-4B5E-837C-3FDA492B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30秒快速练习</a:t>
            </a:r>
          </a:p>
        </p:txBody>
      </p:sp>
      <p:sp>
        <p:nvSpPr>
          <p:cNvPr id="2" name="text-k77z8qn">
            <a:extLst xmlns:a="http://schemas.openxmlformats.org/drawingml/2006/main">
              <a:ext uri="{FF2B5EF4-FFF2-40B4-BE49-F238E27FC236}">
                <a16:creationId xmlns:a16="http://schemas.microsoft.com/office/drawing/2014/main" id="{C07AEE5E-9703-4E23-BB84-3617A7AC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“帮我根据销售数据做一个 PPT”还缺什么？</a:t>
            </a:r>
          </a:p>
        </p:txBody>
      </p:sp>
      <p:sp>
        <p:nvSpPr>
          <p:cNvPr id="3" name="shape-3uy9r7q">
            <a:extLst xmlns:a="http://schemas.openxmlformats.org/drawingml/2006/main">
              <a:ext uri="{FF2B5EF4-FFF2-40B4-BE49-F238E27FC236}">
                <a16:creationId xmlns:a16="http://schemas.microsoft.com/office/drawing/2014/main" id="{A4ADADAC-6821-4011-A7D4-981CE0CF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d33udyn">
            <a:extLst xmlns:a="http://schemas.openxmlformats.org/drawingml/2006/main">
              <a:ext uri="{FF2B5EF4-FFF2-40B4-BE49-F238E27FC236}">
                <a16:creationId xmlns:a16="http://schemas.microsoft.com/office/drawing/2014/main" id="{33BC8969-2B03-4BEF-BA35-50C3CC1D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9334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text-f9jp4ef">
            <a:extLst xmlns:a="http://schemas.openxmlformats.org/drawingml/2006/main">
              <a:ext uri="{FF2B5EF4-FFF2-40B4-BE49-F238E27FC236}">
                <a16:creationId xmlns:a16="http://schemas.microsoft.com/office/drawing/2014/main" id="{AA827C7B-5ECA-48FB-9CC8-2AB63140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47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帮我根据销售数据做一个 PPT。</a:t>
            </a:r>
          </a:p>
        </p:txBody>
      </p:sp>
      <p:sp>
        <p:nvSpPr>
          <p:cNvPr id="6" name="text-p47utnr">
            <a:extLst xmlns:a="http://schemas.openxmlformats.org/drawingml/2006/main">
              <a:ext uri="{FF2B5EF4-FFF2-40B4-BE49-F238E27FC236}">
                <a16:creationId xmlns:a16="http://schemas.microsoft.com/office/drawing/2014/main" id="{267E92DA-60F8-495B-8F91-F8F97EEB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请至少补充：汇报对象 · 业务目标 · 数据材料 · 输出规模 · 禁止事项 · 检查要求</a:t>
            </a:r>
          </a:p>
        </p:txBody>
      </p:sp>
      <p:sp>
        <p:nvSpPr>
          <p:cNvPr id="7" name="text-xfd6muv">
            <a:extLst xmlns:a="http://schemas.openxmlformats.org/drawingml/2006/main">
              <a:ext uri="{FF2B5EF4-FFF2-40B4-BE49-F238E27FC236}">
                <a16:creationId xmlns:a16="http://schemas.microsoft.com/office/drawing/2014/main" id="{67A32BE9-FA1E-4C13-8ABF-0CCED738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1984256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cuxdk92">
            <a:extLst xmlns:a="http://schemas.openxmlformats.org/drawingml/2006/main">
              <a:ext uri="{FF2B5EF4-FFF2-40B4-BE49-F238E27FC236}">
                <a16:creationId xmlns:a16="http://schemas.microsoft.com/office/drawing/2014/main" id="{EE309521-AEB6-41AB-B122-93EA7979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参考版本</a:t>
            </a:r>
          </a:p>
        </p:txBody>
      </p:sp>
      <p:sp>
        <p:nvSpPr>
          <p:cNvPr id="2" name="text-9qo8rbq">
            <a:extLst xmlns:a="http://schemas.openxmlformats.org/drawingml/2006/main">
              <a:ext uri="{FF2B5EF4-FFF2-40B4-BE49-F238E27FC236}">
                <a16:creationId xmlns:a16="http://schemas.microsoft.com/office/drawing/2014/main" id="{8005231C-0DFC-4EF2-BB6C-ACC8BE21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高完成度提示词，把猜测变成可执行任务</a:t>
            </a:r>
          </a:p>
        </p:txBody>
      </p:sp>
      <p:sp>
        <p:nvSpPr>
          <p:cNvPr id="3" name="shape-6qhfonx">
            <a:extLst xmlns:a="http://schemas.openxmlformats.org/drawingml/2006/main">
              <a:ext uri="{FF2B5EF4-FFF2-40B4-BE49-F238E27FC236}">
                <a16:creationId xmlns:a16="http://schemas.microsoft.com/office/drawing/2014/main" id="{2102EFF1-437D-4CAD-BDD2-8EE2EF36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ikll3id">
            <a:extLst xmlns:a="http://schemas.openxmlformats.org/drawingml/2006/main">
              <a:ext uri="{FF2B5EF4-FFF2-40B4-BE49-F238E27FC236}">
                <a16:creationId xmlns:a16="http://schemas.microsoft.com/office/drawing/2014/main" id="{C77F5552-D5B9-417B-A8F8-F93F3384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ag22gxe">
            <a:extLst xmlns:a="http://schemas.openxmlformats.org/drawingml/2006/main">
              <a:ext uri="{FF2B5EF4-FFF2-40B4-BE49-F238E27FC236}">
                <a16:creationId xmlns:a16="http://schemas.microsoft.com/office/drawing/2014/main" id="{91CC4FFA-AAF2-4163-BCB0-81155C34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E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thbple8">
            <a:extLst xmlns:a="http://schemas.openxmlformats.org/drawingml/2006/main">
              <a:ext uri="{FF2B5EF4-FFF2-40B4-BE49-F238E27FC236}">
                <a16:creationId xmlns:a16="http://schemas.microsoft.com/office/drawing/2014/main" id="{A13B284A-C445-4EC4-BFCB-BC9839E7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角色与目标</a:t>
            </a:r>
          </a:p>
        </p:txBody>
      </p:sp>
      <p:sp>
        <p:nvSpPr>
          <p:cNvPr id="7" name="text-x41y5ay">
            <a:extLst xmlns:a="http://schemas.openxmlformats.org/drawingml/2006/main">
              <a:ext uri="{FF2B5EF4-FFF2-40B4-BE49-F238E27FC236}">
                <a16:creationId xmlns:a16="http://schemas.microsoft.com/office/drawing/2014/main" id="{CFEA88B3-F5CD-4705-8D24-E13EACC4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907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你是一名经营数据分析顾问。请根据6月门店销售数据，为区域经理设计月度经营汇报，识别优秀门店和重点问题。</a:t>
            </a:r>
          </a:p>
        </p:txBody>
      </p:sp>
      <p:sp>
        <p:nvSpPr>
          <p:cNvPr id="8" name="shape-e6lxug6">
            <a:extLst xmlns:a="http://schemas.openxmlformats.org/drawingml/2006/main">
              <a:ext uri="{FF2B5EF4-FFF2-40B4-BE49-F238E27FC236}">
                <a16:creationId xmlns:a16="http://schemas.microsoft.com/office/drawing/2014/main" id="{DB443776-4C62-415F-A7C0-0CF814C5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hape-mrneqpx">
            <a:extLst xmlns:a="http://schemas.openxmlformats.org/drawingml/2006/main">
              <a:ext uri="{FF2B5EF4-FFF2-40B4-BE49-F238E27FC236}">
                <a16:creationId xmlns:a16="http://schemas.microsoft.com/office/drawing/2014/main" id="{BCA41705-E000-4481-984F-64195DD5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tyjiqy0">
            <a:extLst xmlns:a="http://schemas.openxmlformats.org/drawingml/2006/main">
              <a:ext uri="{FF2B5EF4-FFF2-40B4-BE49-F238E27FC236}">
                <a16:creationId xmlns:a16="http://schemas.microsoft.com/office/drawing/2014/main" id="{D814EC6A-5476-487F-A8EB-46427EBC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步骤与输出</a:t>
            </a:r>
          </a:p>
        </p:txBody>
      </p:sp>
      <p:sp>
        <p:nvSpPr>
          <p:cNvPr id="11" name="text-nlg88bs">
            <a:extLst xmlns:a="http://schemas.openxmlformats.org/drawingml/2006/main">
              <a:ext uri="{FF2B5EF4-FFF2-40B4-BE49-F238E27FC236}">
                <a16:creationId xmlns:a16="http://schemas.microsoft.com/office/drawing/2014/main" id="{30D35B83-F82F-43F4-97DD-DBE6C162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76575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重点分析销售额、利润率和目标完成率。先用Markdown输出不超过5页的页面方案，经确认后再生成PPT。</a:t>
            </a:r>
          </a:p>
        </p:txBody>
      </p:sp>
      <p:sp>
        <p:nvSpPr>
          <p:cNvPr id="12" name="shape-3cgcy7z">
            <a:extLst xmlns:a="http://schemas.openxmlformats.org/drawingml/2006/main">
              <a:ext uri="{FF2B5EF4-FFF2-40B4-BE49-F238E27FC236}">
                <a16:creationId xmlns:a16="http://schemas.microsoft.com/office/drawing/2014/main" id="{217B6734-6BD1-4683-A257-D9E5352C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hape-x584fyp">
            <a:extLst xmlns:a="http://schemas.openxmlformats.org/drawingml/2006/main">
              <a:ext uri="{FF2B5EF4-FFF2-40B4-BE49-F238E27FC236}">
                <a16:creationId xmlns:a16="http://schemas.microsoft.com/office/drawing/2014/main" id="{DF235D48-FC5C-475B-A191-F1E0D870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xoq1orn">
            <a:extLst xmlns:a="http://schemas.openxmlformats.org/drawingml/2006/main">
              <a:ext uri="{FF2B5EF4-FFF2-40B4-BE49-F238E27FC236}">
                <a16:creationId xmlns:a16="http://schemas.microsoft.com/office/drawing/2014/main" id="{A1F72873-73A0-459E-9745-0DA46340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rPr>
              <a:t>边界与检查</a:t>
            </a:r>
          </a:p>
        </p:txBody>
      </p:sp>
      <p:sp>
        <p:nvSpPr>
          <p:cNvPr id="15" name="text-6t1d7wy">
            <a:extLst xmlns:a="http://schemas.openxmlformats.org/drawingml/2006/main">
              <a:ext uri="{FF2B5EF4-FFF2-40B4-BE49-F238E27FC236}">
                <a16:creationId xmlns:a16="http://schemas.microsoft.com/office/drawing/2014/main" id="{7E0FA4BA-68A8-4A95-8F97-26CF5759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624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不得编造缺失数据；所有结论必须追溯到原始数据；信息不足时先提出不超过5个关键问题。</a:t>
            </a:r>
          </a:p>
        </p:txBody>
      </p:sp>
      <p:sp>
        <p:nvSpPr>
          <p:cNvPr id="16" name="text-g1daw5o">
            <a:extLst xmlns:a="http://schemas.openxmlformats.org/drawingml/2006/main">
              <a:ext uri="{FF2B5EF4-FFF2-40B4-BE49-F238E27FC236}">
                <a16:creationId xmlns:a16="http://schemas.microsoft.com/office/drawing/2014/main" id="{AF7A4EE7-ACAE-4003-9CAA-5CA457CF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16730223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vdat47o">
            <a:extLst xmlns:a="http://schemas.openxmlformats.org/drawingml/2006/main">
              <a:ext uri="{FF2B5EF4-FFF2-40B4-BE49-F238E27FC236}">
                <a16:creationId xmlns:a16="http://schemas.microsoft.com/office/drawing/2014/main" id="{904E738E-D180-449C-B7C4-ADAE0D1B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第二部分</a:t>
            </a:r>
          </a:p>
        </p:txBody>
      </p:sp>
      <p:sp>
        <p:nvSpPr>
          <p:cNvPr id="2" name="text-ufirtpg">
            <a:extLst xmlns:a="http://schemas.openxmlformats.org/drawingml/2006/main">
              <a:ext uri="{FF2B5EF4-FFF2-40B4-BE49-F238E27FC236}">
                <a16:creationId xmlns:a16="http://schemas.microsoft.com/office/drawing/2014/main" id="{8E2F238F-F254-4BDB-AF9B-2F047B94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先商讨，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再生成</a:t>
            </a:r>
          </a:p>
        </p:txBody>
      </p:sp>
      <p:sp>
        <p:nvSpPr>
          <p:cNvPr id="3" name="text-kfz8bga">
            <a:extLst xmlns:a="http://schemas.openxmlformats.org/drawingml/2006/main">
              <a:ext uri="{FF2B5EF4-FFF2-40B4-BE49-F238E27FC236}">
                <a16:creationId xmlns:a16="http://schemas.microsoft.com/office/drawing/2014/main" id="{F27A756C-7FBB-4650-A978-D2BABC37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rPr>
              <a:t>用提示词发现缺口，用 Markdown 把双方理解固定下来。</a:t>
            </a:r>
          </a:p>
        </p:txBody>
      </p:sp>
      <p:sp>
        <p:nvSpPr>
          <p:cNvPr id="4" name="shape-1s6wvvx">
            <a:extLst xmlns:a="http://schemas.openxmlformats.org/drawingml/2006/main">
              <a:ext uri="{FF2B5EF4-FFF2-40B4-BE49-F238E27FC236}">
                <a16:creationId xmlns:a16="http://schemas.microsoft.com/office/drawing/2014/main" id="{E9388B0D-2BA1-433E-B920-AC0864A8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524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97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841304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zvl0fsh">
            <a:extLst xmlns:a="http://schemas.openxmlformats.org/drawingml/2006/main">
              <a:ext uri="{FF2B5EF4-FFF2-40B4-BE49-F238E27FC236}">
                <a16:creationId xmlns:a16="http://schemas.microsoft.com/office/drawing/2014/main" id="{ACD4565D-B29D-4FBE-9E69-356A41E7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两组课堂练习</a:t>
            </a:r>
          </a:p>
        </p:txBody>
      </p:sp>
      <p:sp>
        <p:nvSpPr>
          <p:cNvPr id="2" name="text-pwn8u1x">
            <a:extLst xmlns:a="http://schemas.openxmlformats.org/drawingml/2006/main">
              <a:ext uri="{FF2B5EF4-FFF2-40B4-BE49-F238E27FC236}">
                <a16:creationId xmlns:a16="http://schemas.microsoft.com/office/drawing/2014/main" id="{D6674A12-75C1-4AB7-A4EE-31838F43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先看 Bad Prompt，再补缺口，最后挑参考答案的不足</a:t>
            </a:r>
          </a:p>
        </p:txBody>
      </p:sp>
      <p:sp>
        <p:nvSpPr>
          <p:cNvPr id="3" name="shape-stvw7r0">
            <a:extLst xmlns:a="http://schemas.openxmlformats.org/drawingml/2006/main">
              <a:ext uri="{FF2B5EF4-FFF2-40B4-BE49-F238E27FC236}">
                <a16:creationId xmlns:a16="http://schemas.microsoft.com/office/drawing/2014/main" id="{3963CF4A-FED8-4572-A5E9-39CA6A4E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09fdvdk">
            <a:extLst xmlns:a="http://schemas.openxmlformats.org/drawingml/2006/main">
              <a:ext uri="{FF2B5EF4-FFF2-40B4-BE49-F238E27FC236}">
                <a16:creationId xmlns:a16="http://schemas.microsoft.com/office/drawing/2014/main" id="{BDDD35C2-0907-4B31-994B-ADA6DC09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9yol066">
            <a:extLst xmlns:a="http://schemas.openxmlformats.org/drawingml/2006/main">
              <a:ext uri="{FF2B5EF4-FFF2-40B4-BE49-F238E27FC236}">
                <a16:creationId xmlns:a16="http://schemas.microsoft.com/office/drawing/2014/main" id="{85989193-7429-463E-8694-778AA0DD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zl2vxpv">
            <a:extLst xmlns:a="http://schemas.openxmlformats.org/drawingml/2006/main">
              <a:ext uri="{FF2B5EF4-FFF2-40B4-BE49-F238E27FC236}">
                <a16:creationId xmlns:a16="http://schemas.microsoft.com/office/drawing/2014/main" id="{1A00DD13-C63C-4EF2-98E5-484C6F18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分组</a:t>
            </a:r>
          </a:p>
        </p:txBody>
      </p:sp>
      <p:sp>
        <p:nvSpPr>
          <p:cNvPr id="7" name="text-kqvo60a">
            <a:extLst xmlns:a="http://schemas.openxmlformats.org/drawingml/2006/main">
              <a:ext uri="{FF2B5EF4-FFF2-40B4-BE49-F238E27FC236}">
                <a16:creationId xmlns:a16="http://schemas.microsoft.com/office/drawing/2014/main" id="{3382A4E9-C8B4-4410-9148-D5D68619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A组需求调研</a:t>
            </a:r>
          </a:p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B组文档整理</a:t>
            </a:r>
          </a:p>
        </p:txBody>
      </p:sp>
      <p:sp>
        <p:nvSpPr>
          <p:cNvPr id="8" name="text-59wt99u">
            <a:extLst xmlns:a="http://schemas.openxmlformats.org/drawingml/2006/main">
              <a:ext uri="{FF2B5EF4-FFF2-40B4-BE49-F238E27FC236}">
                <a16:creationId xmlns:a16="http://schemas.microsoft.com/office/drawing/2014/main" id="{51C29943-8F4C-48F5-AF84-A5D9CB1A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shape-abh16xc">
            <a:extLst xmlns:a="http://schemas.openxmlformats.org/drawingml/2006/main">
              <a:ext uri="{FF2B5EF4-FFF2-40B4-BE49-F238E27FC236}">
                <a16:creationId xmlns:a16="http://schemas.microsoft.com/office/drawing/2014/main" id="{6E125877-2E54-4855-BF38-DD84AC57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-5zjzql0">
            <a:extLst xmlns:a="http://schemas.openxmlformats.org/drawingml/2006/main">
              <a:ext uri="{FF2B5EF4-FFF2-40B4-BE49-F238E27FC236}">
                <a16:creationId xmlns:a16="http://schemas.microsoft.com/office/drawing/2014/main" id="{BE787137-553A-4744-8604-8A5027BF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-a5vu22o">
            <a:extLst xmlns:a="http://schemas.openxmlformats.org/drawingml/2006/main">
              <a:ext uri="{FF2B5EF4-FFF2-40B4-BE49-F238E27FC236}">
                <a16:creationId xmlns:a16="http://schemas.microsoft.com/office/drawing/2014/main" id="{CF0AE5F2-FAA0-4FCD-BB3D-010A4C1A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补充</a:t>
            </a:r>
          </a:p>
        </p:txBody>
      </p:sp>
      <p:sp>
        <p:nvSpPr>
          <p:cNvPr id="12" name="text-1qr5te7">
            <a:extLst xmlns:a="http://schemas.openxmlformats.org/drawingml/2006/main">
              <a:ext uri="{FF2B5EF4-FFF2-40B4-BE49-F238E27FC236}">
                <a16:creationId xmlns:a16="http://schemas.microsoft.com/office/drawing/2014/main" id="{3471BC71-19B1-44AA-A064-77710593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找出目标、材料、输出和边界</a:t>
            </a:r>
          </a:p>
        </p:txBody>
      </p:sp>
      <p:sp>
        <p:nvSpPr>
          <p:cNvPr id="13" name="text-0l8dopu">
            <a:extLst xmlns:a="http://schemas.openxmlformats.org/drawingml/2006/main">
              <a:ext uri="{FF2B5EF4-FFF2-40B4-BE49-F238E27FC236}">
                <a16:creationId xmlns:a16="http://schemas.microsoft.com/office/drawing/2014/main" id="{13C595BE-E585-44B3-A56B-6F464E89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shape-fpq4f29">
            <a:extLst xmlns:a="http://schemas.openxmlformats.org/drawingml/2006/main">
              <a:ext uri="{FF2B5EF4-FFF2-40B4-BE49-F238E27FC236}">
                <a16:creationId xmlns:a16="http://schemas.microsoft.com/office/drawing/2014/main" id="{42DC992B-077D-4FC4-9793-C27E721E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text-hm7enk1">
            <a:extLst xmlns:a="http://schemas.openxmlformats.org/drawingml/2006/main">
              <a:ext uri="{FF2B5EF4-FFF2-40B4-BE49-F238E27FC236}">
                <a16:creationId xmlns:a16="http://schemas.microsoft.com/office/drawing/2014/main" id="{65894C36-1ACD-4BC5-9864-63DC819E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6k9ymaw">
            <a:extLst xmlns:a="http://schemas.openxmlformats.org/drawingml/2006/main">
              <a:ext uri="{FF2B5EF4-FFF2-40B4-BE49-F238E27FC236}">
                <a16:creationId xmlns:a16="http://schemas.microsoft.com/office/drawing/2014/main" id="{BE6078F7-54A8-4CEB-96D4-E2DBB548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对照</a:t>
            </a:r>
          </a:p>
        </p:txBody>
      </p:sp>
      <p:sp>
        <p:nvSpPr>
          <p:cNvPr id="17" name="text-l243ien">
            <a:extLst xmlns:a="http://schemas.openxmlformats.org/drawingml/2006/main">
              <a:ext uri="{FF2B5EF4-FFF2-40B4-BE49-F238E27FC236}">
                <a16:creationId xmlns:a16="http://schemas.microsoft.com/office/drawing/2014/main" id="{44190EDD-13E7-4B20-AB09-8A7372FA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参考Prompt新增了什么</a:t>
            </a:r>
          </a:p>
        </p:txBody>
      </p:sp>
      <p:sp>
        <p:nvSpPr>
          <p:cNvPr id="18" name="text-18c85i3">
            <a:extLst xmlns:a="http://schemas.openxmlformats.org/drawingml/2006/main">
              <a:ext uri="{FF2B5EF4-FFF2-40B4-BE49-F238E27FC236}">
                <a16:creationId xmlns:a16="http://schemas.microsoft.com/office/drawing/2014/main" id="{1ACD6154-8799-4A40-B4F3-0AD06C0D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shape-ogygk5t">
            <a:extLst xmlns:a="http://schemas.openxmlformats.org/drawingml/2006/main">
              <a:ext uri="{FF2B5EF4-FFF2-40B4-BE49-F238E27FC236}">
                <a16:creationId xmlns:a16="http://schemas.microsoft.com/office/drawing/2014/main" id="{3D5EE038-B1DC-4FCD-A179-67F9A444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text-qgn0pym">
            <a:extLst xmlns:a="http://schemas.openxmlformats.org/drawingml/2006/main">
              <a:ext uri="{FF2B5EF4-FFF2-40B4-BE49-F238E27FC236}">
                <a16:creationId xmlns:a16="http://schemas.microsoft.com/office/drawing/2014/main" id="{80029022-B8E7-4E45-9DE1-13674CA7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text-65ychci">
            <a:extLst xmlns:a="http://schemas.openxmlformats.org/drawingml/2006/main">
              <a:ext uri="{FF2B5EF4-FFF2-40B4-BE49-F238E27FC236}">
                <a16:creationId xmlns:a16="http://schemas.microsoft.com/office/drawing/2014/main" id="{B1955752-0A6A-4886-B457-DFEB58B4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继续追问</a:t>
            </a:r>
          </a:p>
        </p:txBody>
      </p:sp>
      <p:sp>
        <p:nvSpPr>
          <p:cNvPr id="22" name="text-u8loowi">
            <a:extLst xmlns:a="http://schemas.openxmlformats.org/drawingml/2006/main">
              <a:ext uri="{FF2B5EF4-FFF2-40B4-BE49-F238E27FC236}">
                <a16:creationId xmlns:a16="http://schemas.microsoft.com/office/drawing/2014/main" id="{AC432649-06F6-467F-936E-FDD2726E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真实工作还缺哪些条件</a:t>
            </a:r>
          </a:p>
        </p:txBody>
      </p:sp>
      <p:sp>
        <p:nvSpPr>
          <p:cNvPr id="23" name="text-tdrpt1n">
            <a:extLst xmlns:a="http://schemas.openxmlformats.org/drawingml/2006/main">
              <a:ext uri="{FF2B5EF4-FFF2-40B4-BE49-F238E27FC236}">
                <a16:creationId xmlns:a16="http://schemas.microsoft.com/office/drawing/2014/main" id="{4A8B9CD2-12CD-4ADE-B3EF-10CC8B51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139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评价标准：新增信息是否会改变 AI 的工作结果？</a:t>
            </a:r>
          </a:p>
        </p:txBody>
      </p:sp>
      <p:sp>
        <p:nvSpPr>
          <p:cNvPr id="24" name="text-1r4xwch">
            <a:extLst xmlns:a="http://schemas.openxmlformats.org/drawingml/2006/main">
              <a:ext uri="{FF2B5EF4-FFF2-40B4-BE49-F238E27FC236}">
                <a16:creationId xmlns:a16="http://schemas.microsoft.com/office/drawing/2014/main" id="{2119DEAB-E8CA-46BE-81C9-689B8EB5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需求商讨与Markdown固化</a:t>
            </a:r>
          </a:p>
        </p:txBody>
      </p:sp>
    </p:spTree>
    <p:extLst>
      <p:ext uri="{BB962C8B-B14F-4D97-AF65-F5344CB8AC3E}">
        <p14:creationId xmlns:p14="http://schemas.microsoft.com/office/powerpoint/2010/main" val="11741360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lcy5mq0">
            <a:extLst xmlns:a="http://schemas.openxmlformats.org/drawingml/2006/main">
              <a:ext uri="{FF2B5EF4-FFF2-40B4-BE49-F238E27FC236}">
                <a16:creationId xmlns:a16="http://schemas.microsoft.com/office/drawing/2014/main" id="{AE8F4B84-D376-4CA9-8367-79034BDB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Bad Prompt</a:t>
            </a:r>
          </a:p>
        </p:txBody>
      </p:sp>
      <p:sp>
        <p:nvSpPr>
          <p:cNvPr id="2" name="text-ycyuvo2">
            <a:extLst xmlns:a="http://schemas.openxmlformats.org/drawingml/2006/main">
              <a:ext uri="{FF2B5EF4-FFF2-40B4-BE49-F238E27FC236}">
                <a16:creationId xmlns:a16="http://schemas.microsoft.com/office/drawing/2014/main" id="{DA9263A3-C577-4EA6-9D0C-9094C9E3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题目一｜需求调研</a:t>
            </a:r>
          </a:p>
        </p:txBody>
      </p:sp>
      <p:sp>
        <p:nvSpPr>
          <p:cNvPr id="3" name="shape-wzjbk9y">
            <a:extLst xmlns:a="http://schemas.openxmlformats.org/drawingml/2006/main">
              <a:ext uri="{FF2B5EF4-FFF2-40B4-BE49-F238E27FC236}">
                <a16:creationId xmlns:a16="http://schemas.microsoft.com/office/drawing/2014/main" id="{0FB2C0E6-2387-4229-A385-33516DD9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eoxau5e">
            <a:extLst xmlns:a="http://schemas.openxmlformats.org/drawingml/2006/main">
              <a:ext uri="{FF2B5EF4-FFF2-40B4-BE49-F238E27FC236}">
                <a16:creationId xmlns:a16="http://schemas.microsoft.com/office/drawing/2014/main" id="{E5808710-46F5-4978-A8B4-23673E68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9334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4F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text-zank1ms">
            <a:extLst xmlns:a="http://schemas.openxmlformats.org/drawingml/2006/main">
              <a:ext uri="{FF2B5EF4-FFF2-40B4-BE49-F238E27FC236}">
                <a16:creationId xmlns:a16="http://schemas.microsoft.com/office/drawing/2014/main" id="{EB31B9BD-5A6C-4DF5-9C3A-2D83A3A9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帮我调研一下员工报销流程的需求。</a:t>
            </a:r>
          </a:p>
        </p:txBody>
      </p:sp>
      <p:sp>
        <p:nvSpPr>
          <p:cNvPr id="6" name="text-k6bybnd">
            <a:extLst xmlns:a="http://schemas.openxmlformats.org/drawingml/2006/main">
              <a:ext uri="{FF2B5EF4-FFF2-40B4-BE49-F238E27FC236}">
                <a16:creationId xmlns:a16="http://schemas.microsoft.com/office/drawing/2014/main" id="{1B85D751-8137-49B4-8653-9AE98103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它缺少：调研目标？涉及角色？已有材料？调研范围？输出结构？证据要求？</a:t>
            </a:r>
          </a:p>
        </p:txBody>
      </p:sp>
      <p:sp>
        <p:nvSpPr>
          <p:cNvPr id="7" name="text-wpgkulv">
            <a:extLst xmlns:a="http://schemas.openxmlformats.org/drawingml/2006/main">
              <a:ext uri="{FF2B5EF4-FFF2-40B4-BE49-F238E27FC236}">
                <a16:creationId xmlns:a16="http://schemas.microsoft.com/office/drawing/2014/main" id="{95A328F3-A5C6-404C-BC0C-12F38FC0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</p:spTree>
    <p:extLst>
      <p:ext uri="{BB962C8B-B14F-4D97-AF65-F5344CB8AC3E}">
        <p14:creationId xmlns:p14="http://schemas.microsoft.com/office/powerpoint/2010/main" val="15154200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i895lhp">
            <a:extLst xmlns:a="http://schemas.openxmlformats.org/drawingml/2006/main">
              <a:ext uri="{FF2B5EF4-FFF2-40B4-BE49-F238E27FC236}">
                <a16:creationId xmlns:a16="http://schemas.microsoft.com/office/drawing/2014/main" id="{00B2C6CF-8A5E-4C8D-B7F7-E80E8833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相对较好的Prompt</a:t>
            </a:r>
          </a:p>
        </p:txBody>
      </p:sp>
      <p:sp>
        <p:nvSpPr>
          <p:cNvPr id="2" name="text-qpo33hk">
            <a:extLst xmlns:a="http://schemas.openxmlformats.org/drawingml/2006/main">
              <a:ext uri="{FF2B5EF4-FFF2-40B4-BE49-F238E27FC236}">
                <a16:creationId xmlns:a16="http://schemas.microsoft.com/office/drawing/2014/main" id="{FFF3CD93-A498-40B3-8B07-94A6B394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需求调研参考版本：先问清，再整理，不凭空解决</a:t>
            </a:r>
          </a:p>
        </p:txBody>
      </p:sp>
      <p:sp>
        <p:nvSpPr>
          <p:cNvPr id="3" name="shape-wmu0njc">
            <a:extLst xmlns:a="http://schemas.openxmlformats.org/drawingml/2006/main">
              <a:ext uri="{FF2B5EF4-FFF2-40B4-BE49-F238E27FC236}">
                <a16:creationId xmlns:a16="http://schemas.microsoft.com/office/drawing/2014/main" id="{317651A3-1E93-4A1A-BED4-519D66FD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3ttcpkg">
            <a:extLst xmlns:a="http://schemas.openxmlformats.org/drawingml/2006/main">
              <a:ext uri="{FF2B5EF4-FFF2-40B4-BE49-F238E27FC236}">
                <a16:creationId xmlns:a16="http://schemas.microsoft.com/office/drawing/2014/main" id="{E3157823-5A32-43B0-B29C-124CBFD2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b6loucf">
            <a:extLst xmlns:a="http://schemas.openxmlformats.org/drawingml/2006/main">
              <a:ext uri="{FF2B5EF4-FFF2-40B4-BE49-F238E27FC236}">
                <a16:creationId xmlns:a16="http://schemas.microsoft.com/office/drawing/2014/main" id="{EA8CD406-5152-4911-8391-CFEC4A5A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E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9pohcmz">
            <a:extLst xmlns:a="http://schemas.openxmlformats.org/drawingml/2006/main">
              <a:ext uri="{FF2B5EF4-FFF2-40B4-BE49-F238E27FC236}">
                <a16:creationId xmlns:a16="http://schemas.microsoft.com/office/drawing/2014/main" id="{08663D8C-CCD8-4F03-A5A9-CFD8A8C9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02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背景与材料</a:t>
            </a:r>
          </a:p>
        </p:txBody>
      </p:sp>
      <p:sp>
        <p:nvSpPr>
          <p:cNvPr id="7" name="text-fqkz9p5">
            <a:extLst xmlns:a="http://schemas.openxmlformats.org/drawingml/2006/main">
              <a:ext uri="{FF2B5EF4-FFF2-40B4-BE49-F238E27FC236}">
                <a16:creationId xmlns:a16="http://schemas.microsoft.com/office/drawing/2014/main" id="{4E66BCBA-D0D7-4797-AC59-0E969FB2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你是一名业务分析师。公司准备优化员工报销流程，使用对象包括员工、部门负责人和财务人员。依据现行流程、访谈记录和常见问题开展调研。</a:t>
            </a:r>
          </a:p>
        </p:txBody>
      </p:sp>
      <p:sp>
        <p:nvSpPr>
          <p:cNvPr id="8" name="shape-x9cvd72">
            <a:extLst xmlns:a="http://schemas.openxmlformats.org/drawingml/2006/main">
              <a:ext uri="{FF2B5EF4-FFF2-40B4-BE49-F238E27FC236}">
                <a16:creationId xmlns:a16="http://schemas.microsoft.com/office/drawing/2014/main" id="{599AA3CC-F626-48B3-8974-38E3919F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hape-1bzmnlw">
            <a:extLst xmlns:a="http://schemas.openxmlformats.org/drawingml/2006/main">
              <a:ext uri="{FF2B5EF4-FFF2-40B4-BE49-F238E27FC236}">
                <a16:creationId xmlns:a16="http://schemas.microsoft.com/office/drawing/2014/main" id="{DA1158D8-846E-49D3-83DF-2D87F7A7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5pojm0b">
            <a:extLst xmlns:a="http://schemas.openxmlformats.org/drawingml/2006/main">
              <a:ext uri="{FF2B5EF4-FFF2-40B4-BE49-F238E27FC236}">
                <a16:creationId xmlns:a16="http://schemas.microsoft.com/office/drawing/2014/main" id="{B0732580-3F8C-46AC-AA0B-E85B9F80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步骤与输出</a:t>
            </a:r>
          </a:p>
        </p:txBody>
      </p:sp>
      <p:sp>
        <p:nvSpPr>
          <p:cNvPr id="11" name="text-fmxvj0w">
            <a:extLst xmlns:a="http://schemas.openxmlformats.org/drawingml/2006/main">
              <a:ext uri="{FF2B5EF4-FFF2-40B4-BE49-F238E27FC236}">
                <a16:creationId xmlns:a16="http://schemas.microsoft.com/office/drawing/2014/main" id="{D750DA53-C31B-4096-AE29-566A4EFA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289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先不要给解决方案。检查材料并提出不超过5个关键问题；确认后用Markdown整理现状、角色、痛点、目标、需求、优先级和待确认项。</a:t>
            </a:r>
          </a:p>
        </p:txBody>
      </p:sp>
      <p:sp>
        <p:nvSpPr>
          <p:cNvPr id="12" name="shape-2c0r93b">
            <a:extLst xmlns:a="http://schemas.openxmlformats.org/drawingml/2006/main">
              <a:ext uri="{FF2B5EF4-FFF2-40B4-BE49-F238E27FC236}">
                <a16:creationId xmlns:a16="http://schemas.microsoft.com/office/drawing/2014/main" id="{F0F5871F-970B-42AD-BD56-C57CE0A4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hape-n40qm2s">
            <a:extLst xmlns:a="http://schemas.openxmlformats.org/drawingml/2006/main">
              <a:ext uri="{FF2B5EF4-FFF2-40B4-BE49-F238E27FC236}">
                <a16:creationId xmlns:a16="http://schemas.microsoft.com/office/drawing/2014/main" id="{C6423177-59C0-48E4-96AB-D48ABC36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y77wd4i">
            <a:extLst xmlns:a="http://schemas.openxmlformats.org/drawingml/2006/main">
              <a:ext uri="{FF2B5EF4-FFF2-40B4-BE49-F238E27FC236}">
                <a16:creationId xmlns:a16="http://schemas.microsoft.com/office/drawing/2014/main" id="{C3CB4AA0-9F61-4241-B30A-1F255816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rPr>
              <a:t>证据与边界</a:t>
            </a:r>
          </a:p>
        </p:txBody>
      </p:sp>
      <p:sp>
        <p:nvSpPr>
          <p:cNvPr id="15" name="text-440smjh">
            <a:extLst xmlns:a="http://schemas.openxmlformats.org/drawingml/2006/main">
              <a:ext uri="{FF2B5EF4-FFF2-40B4-BE49-F238E27FC236}">
                <a16:creationId xmlns:a16="http://schemas.microsoft.com/office/drawing/2014/main" id="{DA02D5B3-704F-4BFC-8057-A7768570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14825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只能使用已提供材料；冲突单独列出；没有证据的信息标记为‘待确认’；每条需求必须能追溯到材料。</a:t>
            </a:r>
          </a:p>
        </p:txBody>
      </p:sp>
      <p:sp>
        <p:nvSpPr>
          <p:cNvPr id="16" name="text-cmy5r6w">
            <a:extLst xmlns:a="http://schemas.openxmlformats.org/drawingml/2006/main">
              <a:ext uri="{FF2B5EF4-FFF2-40B4-BE49-F238E27FC236}">
                <a16:creationId xmlns:a16="http://schemas.microsoft.com/office/drawing/2014/main" id="{D63628D6-DB55-4FAB-98AD-BE0AF4C9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</p:spTree>
    <p:extLst>
      <p:ext uri="{BB962C8B-B14F-4D97-AF65-F5344CB8AC3E}">
        <p14:creationId xmlns:p14="http://schemas.microsoft.com/office/powerpoint/2010/main" val="16191307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pywvdh1">
            <a:extLst xmlns:a="http://schemas.openxmlformats.org/drawingml/2006/main">
              <a:ext uri="{FF2B5EF4-FFF2-40B4-BE49-F238E27FC236}">
                <a16:creationId xmlns:a16="http://schemas.microsoft.com/office/drawing/2014/main" id="{D8D96A0D-0EBA-48DC-979F-EAEF9611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教师点评</a:t>
            </a:r>
          </a:p>
        </p:txBody>
      </p:sp>
      <p:sp>
        <p:nvSpPr>
          <p:cNvPr id="2" name="text-dg2vrzl">
            <a:extLst xmlns:a="http://schemas.openxmlformats.org/drawingml/2006/main">
              <a:ext uri="{FF2B5EF4-FFF2-40B4-BE49-F238E27FC236}">
                <a16:creationId xmlns:a16="http://schemas.microsoft.com/office/drawing/2014/main" id="{45D58EE0-850B-4760-A775-CFE5F744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需求调研Prompt的关键，不是直接给答案</a:t>
            </a:r>
          </a:p>
        </p:txBody>
      </p:sp>
      <p:sp>
        <p:nvSpPr>
          <p:cNvPr id="3" name="shape-vr3rihy">
            <a:extLst xmlns:a="http://schemas.openxmlformats.org/drawingml/2006/main">
              <a:ext uri="{FF2B5EF4-FFF2-40B4-BE49-F238E27FC236}">
                <a16:creationId xmlns:a16="http://schemas.microsoft.com/office/drawing/2014/main" id="{87BE3A7C-207F-4FE6-B36E-E2950486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dcsbyed">
            <a:extLst xmlns:a="http://schemas.openxmlformats.org/drawingml/2006/main">
              <a:ext uri="{FF2B5EF4-FFF2-40B4-BE49-F238E27FC236}">
                <a16:creationId xmlns:a16="http://schemas.microsoft.com/office/drawing/2014/main" id="{9B7F1629-930C-4821-979D-79F4CD9F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3962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rxlzfac">
            <a:extLst xmlns:a="http://schemas.openxmlformats.org/drawingml/2006/main">
              <a:ext uri="{FF2B5EF4-FFF2-40B4-BE49-F238E27FC236}">
                <a16:creationId xmlns:a16="http://schemas.microsoft.com/office/drawing/2014/main" id="{1517D5BA-55F2-4DD0-867D-A7082A12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zoezqwy">
            <a:extLst xmlns:a="http://schemas.openxmlformats.org/drawingml/2006/main">
              <a:ext uri="{FF2B5EF4-FFF2-40B4-BE49-F238E27FC236}">
                <a16:creationId xmlns:a16="http://schemas.microsoft.com/office/drawing/2014/main" id="{0DAFAA38-2EB0-45BD-A6E0-08F5979D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7" name="text-2jhjk7w">
            <a:extLst xmlns:a="http://schemas.openxmlformats.org/drawingml/2006/main">
              <a:ext uri="{FF2B5EF4-FFF2-40B4-BE49-F238E27FC236}">
                <a16:creationId xmlns:a16="http://schemas.microsoft.com/office/drawing/2014/main" id="{0A7E9191-E60A-40FA-8A88-1F87CAA9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85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为什么调研，准备推动什么变化</a:t>
            </a:r>
          </a:p>
        </p:txBody>
      </p:sp>
      <p:sp>
        <p:nvSpPr>
          <p:cNvPr id="8" name="shape-lwyz5ih">
            <a:extLst xmlns:a="http://schemas.openxmlformats.org/drawingml/2006/main">
              <a:ext uri="{FF2B5EF4-FFF2-40B4-BE49-F238E27FC236}">
                <a16:creationId xmlns:a16="http://schemas.microsoft.com/office/drawing/2014/main" id="{A4385591-AD00-442A-AA0C-7C16EEB9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jsq7f2h">
            <a:extLst xmlns:a="http://schemas.openxmlformats.org/drawingml/2006/main">
              <a:ext uri="{FF2B5EF4-FFF2-40B4-BE49-F238E27FC236}">
                <a16:creationId xmlns:a16="http://schemas.microsoft.com/office/drawing/2014/main" id="{FC260B17-1A90-404F-8798-41C47312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text-yzx61sz">
            <a:extLst xmlns:a="http://schemas.openxmlformats.org/drawingml/2006/main">
              <a:ext uri="{FF2B5EF4-FFF2-40B4-BE49-F238E27FC236}">
                <a16:creationId xmlns:a16="http://schemas.microsoft.com/office/drawing/2014/main" id="{309A7E9B-DB09-4162-8DB3-49EEE613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角色</a:t>
            </a:r>
          </a:p>
        </p:txBody>
      </p:sp>
      <p:sp>
        <p:nvSpPr>
          <p:cNvPr id="11" name="text-u8evhpa">
            <a:extLst xmlns:a="http://schemas.openxmlformats.org/drawingml/2006/main">
              <a:ext uri="{FF2B5EF4-FFF2-40B4-BE49-F238E27FC236}">
                <a16:creationId xmlns:a16="http://schemas.microsoft.com/office/drawing/2014/main" id="{3C3EA5E9-7C84-4F97-A3F1-A8E5C76C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47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谁使用流程，谁审批，谁承担后续工作</a:t>
            </a:r>
          </a:p>
        </p:txBody>
      </p:sp>
      <p:sp>
        <p:nvSpPr>
          <p:cNvPr id="12" name="shape-c5tovhv">
            <a:extLst xmlns:a="http://schemas.openxmlformats.org/drawingml/2006/main">
              <a:ext uri="{FF2B5EF4-FFF2-40B4-BE49-F238E27FC236}">
                <a16:creationId xmlns:a16="http://schemas.microsoft.com/office/drawing/2014/main" id="{3AA91E83-00AD-402F-AE90-631646C3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rf6emyu">
            <a:extLst xmlns:a="http://schemas.openxmlformats.org/drawingml/2006/main">
              <a:ext uri="{FF2B5EF4-FFF2-40B4-BE49-F238E27FC236}">
                <a16:creationId xmlns:a16="http://schemas.microsoft.com/office/drawing/2014/main" id="{08C5F715-1456-43D6-949C-68F30818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-33z4doe">
            <a:extLst xmlns:a="http://schemas.openxmlformats.org/drawingml/2006/main">
              <a:ext uri="{FF2B5EF4-FFF2-40B4-BE49-F238E27FC236}">
                <a16:creationId xmlns:a16="http://schemas.microsoft.com/office/drawing/2014/main" id="{B3BF8BB5-4838-4CD8-8A69-769DCA4D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90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5" name="text-hxjscoe">
            <a:extLst xmlns:a="http://schemas.openxmlformats.org/drawingml/2006/main">
              <a:ext uri="{FF2B5EF4-FFF2-40B4-BE49-F238E27FC236}">
                <a16:creationId xmlns:a16="http://schemas.microsoft.com/office/drawing/2014/main" id="{39899EB3-74D2-42DD-95B2-CB862D42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09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现行流程、访谈、问题记录和相关制度</a:t>
            </a:r>
          </a:p>
        </p:txBody>
      </p:sp>
      <p:sp>
        <p:nvSpPr>
          <p:cNvPr id="16" name="shape-nqa02mo">
            <a:extLst xmlns:a="http://schemas.openxmlformats.org/drawingml/2006/main">
              <a:ext uri="{FF2B5EF4-FFF2-40B4-BE49-F238E27FC236}">
                <a16:creationId xmlns:a16="http://schemas.microsoft.com/office/drawing/2014/main" id="{5D806C2B-B554-429E-9BB9-708841A3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86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arlyi2p">
            <a:extLst xmlns:a="http://schemas.openxmlformats.org/drawingml/2006/main">
              <a:ext uri="{FF2B5EF4-FFF2-40B4-BE49-F238E27FC236}">
                <a16:creationId xmlns:a16="http://schemas.microsoft.com/office/drawing/2014/main" id="{87A4EE89-492E-491B-B530-866D70B5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text-v45be9w">
            <a:extLst xmlns:a="http://schemas.openxmlformats.org/drawingml/2006/main">
              <a:ext uri="{FF2B5EF4-FFF2-40B4-BE49-F238E27FC236}">
                <a16:creationId xmlns:a16="http://schemas.microsoft.com/office/drawing/2014/main" id="{67B4A2FB-AD0B-4DEC-A2A3-A891B81F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52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9" name="text-8qpsrmz">
            <a:extLst xmlns:a="http://schemas.openxmlformats.org/drawingml/2006/main">
              <a:ext uri="{FF2B5EF4-FFF2-40B4-BE49-F238E27FC236}">
                <a16:creationId xmlns:a16="http://schemas.microsoft.com/office/drawing/2014/main" id="{FFB09A56-887C-4F08-B385-20DE8D61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71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需求从哪里来，冲突如何保留，未知如何标记</a:t>
            </a:r>
          </a:p>
        </p:txBody>
      </p:sp>
      <p:sp>
        <p:nvSpPr>
          <p:cNvPr id="20" name="shape-m6msher">
            <a:extLst xmlns:a="http://schemas.openxmlformats.org/drawingml/2006/main">
              <a:ext uri="{FF2B5EF4-FFF2-40B4-BE49-F238E27FC236}">
                <a16:creationId xmlns:a16="http://schemas.microsoft.com/office/drawing/2014/main" id="{88B192D5-7690-4B7D-B4D1-B23E9A78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wje8ik5">
            <a:extLst xmlns:a="http://schemas.openxmlformats.org/drawingml/2006/main">
              <a:ext uri="{FF2B5EF4-FFF2-40B4-BE49-F238E27FC236}">
                <a16:creationId xmlns:a16="http://schemas.microsoft.com/office/drawing/2014/main" id="{1A809D93-BA68-40D1-AC1F-29F5D6D3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2" name="text-0xjsqk6">
            <a:extLst xmlns:a="http://schemas.openxmlformats.org/drawingml/2006/main">
              <a:ext uri="{FF2B5EF4-FFF2-40B4-BE49-F238E27FC236}">
                <a16:creationId xmlns:a16="http://schemas.microsoft.com/office/drawing/2014/main" id="{60102F3A-5CD9-4252-9508-BA6C9392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14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23" name="text-r1c5kxj">
            <a:extLst xmlns:a="http://schemas.openxmlformats.org/drawingml/2006/main">
              <a:ext uri="{FF2B5EF4-FFF2-40B4-BE49-F238E27FC236}">
                <a16:creationId xmlns:a16="http://schemas.microsoft.com/office/drawing/2014/main" id="{8AE621A5-AAB6-483D-97A6-B9984804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733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现状、痛点、需求、优先级和待确认项</a:t>
            </a:r>
          </a:p>
        </p:txBody>
      </p:sp>
      <p:sp>
        <p:nvSpPr>
          <p:cNvPr id="24" name="text-p5y3qmj">
            <a:extLst xmlns:a="http://schemas.openxmlformats.org/drawingml/2006/main">
              <a:ext uri="{FF2B5EF4-FFF2-40B4-BE49-F238E27FC236}">
                <a16:creationId xmlns:a16="http://schemas.microsoft.com/office/drawing/2014/main" id="{0505B3BD-3337-4D89-A864-51B55F14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</p:spTree>
    <p:extLst>
      <p:ext uri="{BB962C8B-B14F-4D97-AF65-F5344CB8AC3E}">
        <p14:creationId xmlns:p14="http://schemas.microsoft.com/office/powerpoint/2010/main" val="1040714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v3clufa">
            <a:extLst xmlns:a="http://schemas.openxmlformats.org/drawingml/2006/main">
              <a:ext uri="{FF2B5EF4-FFF2-40B4-BE49-F238E27FC236}">
                <a16:creationId xmlns:a16="http://schemas.microsoft.com/office/drawing/2014/main" id="{471D6C97-E701-4D74-88E8-EE2E2CB0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Bad Prompt</a:t>
            </a:r>
          </a:p>
        </p:txBody>
      </p:sp>
      <p:sp>
        <p:nvSpPr>
          <p:cNvPr id="2" name="text-jfejtuj">
            <a:extLst xmlns:a="http://schemas.openxmlformats.org/drawingml/2006/main">
              <a:ext uri="{FF2B5EF4-FFF2-40B4-BE49-F238E27FC236}">
                <a16:creationId xmlns:a16="http://schemas.microsoft.com/office/drawing/2014/main" id="{E046BA92-A07D-411D-82AF-265A7273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题目二｜文档整理</a:t>
            </a:r>
          </a:p>
        </p:txBody>
      </p:sp>
      <p:sp>
        <p:nvSpPr>
          <p:cNvPr id="3" name="shape-macfd8w">
            <a:extLst xmlns:a="http://schemas.openxmlformats.org/drawingml/2006/main">
              <a:ext uri="{FF2B5EF4-FFF2-40B4-BE49-F238E27FC236}">
                <a16:creationId xmlns:a16="http://schemas.microsoft.com/office/drawing/2014/main" id="{88F8502A-4197-4494-AE07-EEE05850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z7n3j7w">
            <a:extLst xmlns:a="http://schemas.openxmlformats.org/drawingml/2006/main">
              <a:ext uri="{FF2B5EF4-FFF2-40B4-BE49-F238E27FC236}">
                <a16:creationId xmlns:a16="http://schemas.microsoft.com/office/drawing/2014/main" id="{9040265A-FD1B-4AA5-8E67-FBA087DC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9334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4F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text-5lvc4s8">
            <a:extLst xmlns:a="http://schemas.openxmlformats.org/drawingml/2006/main">
              <a:ext uri="{FF2B5EF4-FFF2-40B4-BE49-F238E27FC236}">
                <a16:creationId xmlns:a16="http://schemas.microsoft.com/office/drawing/2014/main" id="{0D956A40-5B03-40BC-9C9A-648A0855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帮我把这些会议文档整理一下。</a:t>
            </a:r>
          </a:p>
        </p:txBody>
      </p:sp>
      <p:sp>
        <p:nvSpPr>
          <p:cNvPr id="6" name="text-iklkkw8">
            <a:extLst xmlns:a="http://schemas.openxmlformats.org/drawingml/2006/main">
              <a:ext uri="{FF2B5EF4-FFF2-40B4-BE49-F238E27FC236}">
                <a16:creationId xmlns:a16="http://schemas.microsoft.com/office/drawing/2014/main" id="{F277ECD1-5361-442E-9CF0-ADBC5BF7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“整理”是摘要、分类、改写、合并，还是提取行动项？</a:t>
            </a:r>
          </a:p>
        </p:txBody>
      </p:sp>
      <p:sp>
        <p:nvSpPr>
          <p:cNvPr id="7" name="text-kxzi5zc">
            <a:extLst xmlns:a="http://schemas.openxmlformats.org/drawingml/2006/main">
              <a:ext uri="{FF2B5EF4-FFF2-40B4-BE49-F238E27FC236}">
                <a16:creationId xmlns:a16="http://schemas.microsoft.com/office/drawing/2014/main" id="{ED25FBBC-C65B-41E9-AB90-C3BB455C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</p:spTree>
    <p:extLst>
      <p:ext uri="{BB962C8B-B14F-4D97-AF65-F5344CB8AC3E}">
        <p14:creationId xmlns:p14="http://schemas.microsoft.com/office/powerpoint/2010/main" val="3047916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o6m064b">
            <a:extLst xmlns:a="http://schemas.openxmlformats.org/drawingml/2006/main">
              <a:ext uri="{FF2B5EF4-FFF2-40B4-BE49-F238E27FC236}">
                <a16:creationId xmlns:a16="http://schemas.microsoft.com/office/drawing/2014/main" id="{B8D4E621-D895-4CC3-B9E2-68BAEC87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相对较好的Prompt</a:t>
            </a:r>
          </a:p>
        </p:txBody>
      </p:sp>
      <p:sp>
        <p:nvSpPr>
          <p:cNvPr id="2" name="text-paevrt5">
            <a:extLst xmlns:a="http://schemas.openxmlformats.org/drawingml/2006/main">
              <a:ext uri="{FF2B5EF4-FFF2-40B4-BE49-F238E27FC236}">
                <a16:creationId xmlns:a16="http://schemas.microsoft.com/office/drawing/2014/main" id="{20A7357B-66C9-4115-91FB-3F5907EC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文档整理参考版本：让决定、行动和来源一眼可查</a:t>
            </a:r>
          </a:p>
        </p:txBody>
      </p:sp>
      <p:sp>
        <p:nvSpPr>
          <p:cNvPr id="3" name="shape-pzlqbo1">
            <a:extLst xmlns:a="http://schemas.openxmlformats.org/drawingml/2006/main">
              <a:ext uri="{FF2B5EF4-FFF2-40B4-BE49-F238E27FC236}">
                <a16:creationId xmlns:a16="http://schemas.microsoft.com/office/drawing/2014/main" id="{BE473817-D5FE-43A3-96C0-CE2BF9AB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9ya0d6e">
            <a:extLst xmlns:a="http://schemas.openxmlformats.org/drawingml/2006/main">
              <a:ext uri="{FF2B5EF4-FFF2-40B4-BE49-F238E27FC236}">
                <a16:creationId xmlns:a16="http://schemas.microsoft.com/office/drawing/2014/main" id="{1A0B4930-6754-4C7D-85DB-CF6BC7FF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zytvovs">
            <a:extLst xmlns:a="http://schemas.openxmlformats.org/drawingml/2006/main">
              <a:ext uri="{FF2B5EF4-FFF2-40B4-BE49-F238E27FC236}">
                <a16:creationId xmlns:a16="http://schemas.microsoft.com/office/drawing/2014/main" id="{9600A377-E0AA-4F6B-B23A-9BA5D105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E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jx0niyv">
            <a:extLst xmlns:a="http://schemas.openxmlformats.org/drawingml/2006/main">
              <a:ext uri="{FF2B5EF4-FFF2-40B4-BE49-F238E27FC236}">
                <a16:creationId xmlns:a16="http://schemas.microsoft.com/office/drawing/2014/main" id="{CA88C8D4-9E7C-4D85-8FDB-2F3F0DFE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02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用途与材料</a:t>
            </a:r>
          </a:p>
        </p:txBody>
      </p:sp>
      <p:sp>
        <p:nvSpPr>
          <p:cNvPr id="7" name="text-fw4m3jt">
            <a:extLst xmlns:a="http://schemas.openxmlformats.org/drawingml/2006/main">
              <a:ext uri="{FF2B5EF4-FFF2-40B4-BE49-F238E27FC236}">
                <a16:creationId xmlns:a16="http://schemas.microsoft.com/office/drawing/2014/main" id="{9E4DB99C-DBA0-4E66-A847-41514B46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你是一名项目助理。附件包含项目启动会纪要、会后邮件和行动项清单。整理成供项目组确认的Markdown项目摘要。</a:t>
            </a:r>
          </a:p>
        </p:txBody>
      </p:sp>
      <p:sp>
        <p:nvSpPr>
          <p:cNvPr id="8" name="shape-8tkfy6o">
            <a:extLst xmlns:a="http://schemas.openxmlformats.org/drawingml/2006/main">
              <a:ext uri="{FF2B5EF4-FFF2-40B4-BE49-F238E27FC236}">
                <a16:creationId xmlns:a16="http://schemas.microsoft.com/office/drawing/2014/main" id="{8B27E4A9-1533-434C-9565-E2B64391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hape-w3qi3uc">
            <a:extLst xmlns:a="http://schemas.openxmlformats.org/drawingml/2006/main">
              <a:ext uri="{FF2B5EF4-FFF2-40B4-BE49-F238E27FC236}">
                <a16:creationId xmlns:a16="http://schemas.microsoft.com/office/drawing/2014/main" id="{799478F6-1900-420A-9EB8-D664585F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fybzupp">
            <a:extLst xmlns:a="http://schemas.openxmlformats.org/drawingml/2006/main">
              <a:ext uri="{FF2B5EF4-FFF2-40B4-BE49-F238E27FC236}">
                <a16:creationId xmlns:a16="http://schemas.microsoft.com/office/drawing/2014/main" id="{6F3D1D26-BFE7-41FF-A9B0-DEC1D53F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处理与输出</a:t>
            </a:r>
          </a:p>
        </p:txBody>
      </p:sp>
      <p:sp>
        <p:nvSpPr>
          <p:cNvPr id="11" name="text-1xnxr0x">
            <a:extLst xmlns:a="http://schemas.openxmlformats.org/drawingml/2006/main">
              <a:ext uri="{FF2B5EF4-FFF2-40B4-BE49-F238E27FC236}">
                <a16:creationId xmlns:a16="http://schemas.microsoft.com/office/drawing/2014/main" id="{27EC9147-F763-484F-BD17-81F0F289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289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识别材料名称、日期和来源；合并重复信息，不擅自合并冲突说法。输出背景、决定、行动项、风险、未决问题和冲突。</a:t>
            </a:r>
          </a:p>
        </p:txBody>
      </p:sp>
      <p:sp>
        <p:nvSpPr>
          <p:cNvPr id="12" name="shape-lixiinb">
            <a:extLst xmlns:a="http://schemas.openxmlformats.org/drawingml/2006/main">
              <a:ext uri="{FF2B5EF4-FFF2-40B4-BE49-F238E27FC236}">
                <a16:creationId xmlns:a16="http://schemas.microsoft.com/office/drawing/2014/main" id="{BE5DEAE0-9481-4CCA-8DA9-2F1EFC87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hape-fc8iexl">
            <a:extLst xmlns:a="http://schemas.openxmlformats.org/drawingml/2006/main">
              <a:ext uri="{FF2B5EF4-FFF2-40B4-BE49-F238E27FC236}">
                <a16:creationId xmlns:a16="http://schemas.microsoft.com/office/drawing/2014/main" id="{EB31607A-5E72-4C12-B03C-2198358F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adpn7pp">
            <a:extLst xmlns:a="http://schemas.openxmlformats.org/drawingml/2006/main">
              <a:ext uri="{FF2B5EF4-FFF2-40B4-BE49-F238E27FC236}">
                <a16:creationId xmlns:a16="http://schemas.microsoft.com/office/drawing/2014/main" id="{07194848-F712-4BAD-886D-D8F82CB5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rPr>
              <a:t>边界与检查</a:t>
            </a:r>
          </a:p>
        </p:txBody>
      </p:sp>
      <p:sp>
        <p:nvSpPr>
          <p:cNvPr id="15" name="text-r6bat4a">
            <a:extLst xmlns:a="http://schemas.openxmlformats.org/drawingml/2006/main">
              <a:ext uri="{FF2B5EF4-FFF2-40B4-BE49-F238E27FC236}">
                <a16:creationId xmlns:a16="http://schemas.microsoft.com/office/drawing/2014/main" id="{15B6FDC1-BFE6-4554-9C63-205FF832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14825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行动项包含任务、负责人、截止日期和来源。原文缺失时写‘待确认’，不要推测；检查是否遗漏负责人、日期或承诺。</a:t>
            </a:r>
          </a:p>
        </p:txBody>
      </p:sp>
      <p:sp>
        <p:nvSpPr>
          <p:cNvPr id="16" name="text-bxn872u">
            <a:extLst xmlns:a="http://schemas.openxmlformats.org/drawingml/2006/main">
              <a:ext uri="{FF2B5EF4-FFF2-40B4-BE49-F238E27FC236}">
                <a16:creationId xmlns:a16="http://schemas.microsoft.com/office/drawing/2014/main" id="{DB008BFE-0B95-402A-B432-46B3197A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</p:spTree>
    <p:extLst>
      <p:ext uri="{BB962C8B-B14F-4D97-AF65-F5344CB8AC3E}">
        <p14:creationId xmlns:p14="http://schemas.microsoft.com/office/powerpoint/2010/main" val="189694667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ub22knz">
            <a:extLst xmlns:a="http://schemas.openxmlformats.org/drawingml/2006/main">
              <a:ext uri="{FF2B5EF4-FFF2-40B4-BE49-F238E27FC236}">
                <a16:creationId xmlns:a16="http://schemas.microsoft.com/office/drawing/2014/main" id="{DD832F71-A967-43DA-971A-755C29B4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教师点评</a:t>
            </a:r>
          </a:p>
        </p:txBody>
      </p:sp>
      <p:sp>
        <p:nvSpPr>
          <p:cNvPr id="2" name="text-z87mss3">
            <a:extLst xmlns:a="http://schemas.openxmlformats.org/drawingml/2006/main">
              <a:ext uri="{FF2B5EF4-FFF2-40B4-BE49-F238E27FC236}">
                <a16:creationId xmlns:a16="http://schemas.microsoft.com/office/drawing/2014/main" id="{ACB1D8CB-1D9E-4B5A-944A-615BBB57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“整理”必须被定义，结果才可验收</a:t>
            </a:r>
          </a:p>
        </p:txBody>
      </p:sp>
      <p:sp>
        <p:nvSpPr>
          <p:cNvPr id="3" name="shape-u3twgmw">
            <a:extLst xmlns:a="http://schemas.openxmlformats.org/drawingml/2006/main">
              <a:ext uri="{FF2B5EF4-FFF2-40B4-BE49-F238E27FC236}">
                <a16:creationId xmlns:a16="http://schemas.microsoft.com/office/drawing/2014/main" id="{AC09E797-D815-4D3B-AF8D-52D019F8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yvxmstt">
            <a:extLst xmlns:a="http://schemas.openxmlformats.org/drawingml/2006/main">
              <a:ext uri="{FF2B5EF4-FFF2-40B4-BE49-F238E27FC236}">
                <a16:creationId xmlns:a16="http://schemas.microsoft.com/office/drawing/2014/main" id="{76990BD2-E3C9-44FA-9C2F-9B3034C9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4483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riet3j1">
            <a:extLst xmlns:a="http://schemas.openxmlformats.org/drawingml/2006/main">
              <a:ext uri="{FF2B5EF4-FFF2-40B4-BE49-F238E27FC236}">
                <a16:creationId xmlns:a16="http://schemas.microsoft.com/office/drawing/2014/main" id="{A9EF8211-0080-4140-927B-5C46D2FC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38300"/>
            <a:ext cx="54483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text-sen7f13">
            <a:extLst xmlns:a="http://schemas.openxmlformats.org/drawingml/2006/main">
              <a:ext uri="{FF2B5EF4-FFF2-40B4-BE49-F238E27FC236}">
                <a16:creationId xmlns:a16="http://schemas.microsoft.com/office/drawing/2014/main" id="{1EDBB443-FEBD-46EB-ABD8-3206315D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505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D95050"/>
                </a:solidFill>
                <a:latin typeface="PingFang SC"/>
                <a:ea typeface="PingFang SC"/>
                <a:cs typeface="PingFang SC"/>
              </a:rPr>
              <a:t>Bad Prompt 留下的猜测</a:t>
            </a:r>
          </a:p>
        </p:txBody>
      </p:sp>
      <p:sp>
        <p:nvSpPr>
          <p:cNvPr id="7" name="text-ovafey5">
            <a:extLst xmlns:a="http://schemas.openxmlformats.org/drawingml/2006/main">
              <a:ext uri="{FF2B5EF4-FFF2-40B4-BE49-F238E27FC236}">
                <a16:creationId xmlns:a16="http://schemas.microsoft.com/office/drawing/2014/main" id="{7D374EF6-4BE7-4B2A-871F-9FC6CFCA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9149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给谁看？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整理成什么？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重复内容怎样处理？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冲突内容保留还是合并？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谁、何时、做什么如何呈现？</a:t>
            </a:r>
          </a:p>
        </p:txBody>
      </p:sp>
      <p:sp>
        <p:nvSpPr>
          <p:cNvPr id="8" name="text-zdr3zcp">
            <a:extLst xmlns:a="http://schemas.openxmlformats.org/drawingml/2006/main">
              <a:ext uri="{FF2B5EF4-FFF2-40B4-BE49-F238E27FC236}">
                <a16:creationId xmlns:a16="http://schemas.microsoft.com/office/drawing/2014/main" id="{51B1BBFD-3692-468C-8F41-BA410AC5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859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8B5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E8B57"/>
                </a:solidFill>
                <a:latin typeface="PingFang SC"/>
                <a:ea typeface="PingFang SC"/>
                <a:cs typeface="PingFang SC"/>
              </a:rPr>
              <a:t>相对较好的Prompt给出的规则</a:t>
            </a:r>
          </a:p>
        </p:txBody>
      </p:sp>
      <p:sp>
        <p:nvSpPr>
          <p:cNvPr id="9" name="text-dj7650b">
            <a:extLst xmlns:a="http://schemas.openxmlformats.org/drawingml/2006/main">
              <a:ext uri="{FF2B5EF4-FFF2-40B4-BE49-F238E27FC236}">
                <a16:creationId xmlns:a16="http://schemas.microsoft.com/office/drawing/2014/main" id="{B7B50627-81B7-4157-A3DD-290F91B9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76500"/>
            <a:ext cx="49149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明确阅读对象与用途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列出材料类型和来源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指定摘要结构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保留冲突与未知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用行动项表格完成检查</a:t>
            </a:r>
          </a:p>
        </p:txBody>
      </p:sp>
      <p:sp>
        <p:nvSpPr>
          <p:cNvPr id="10" name="text-br6oebm">
            <a:extLst xmlns:a="http://schemas.openxmlformats.org/drawingml/2006/main">
              <a:ext uri="{FF2B5EF4-FFF2-40B4-BE49-F238E27FC236}">
                <a16:creationId xmlns:a16="http://schemas.microsoft.com/office/drawing/2014/main" id="{58374872-95CC-4449-AEF1-D9A463B7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</p:spTree>
    <p:extLst>
      <p:ext uri="{BB962C8B-B14F-4D97-AF65-F5344CB8AC3E}">
        <p14:creationId xmlns:p14="http://schemas.microsoft.com/office/powerpoint/2010/main" val="5029920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3ax24rg">
            <a:extLst xmlns:a="http://schemas.openxmlformats.org/drawingml/2006/main">
              <a:ext uri="{FF2B5EF4-FFF2-40B4-BE49-F238E27FC236}">
                <a16:creationId xmlns:a16="http://schemas.microsoft.com/office/drawing/2014/main" id="{228120CA-D4BC-4EB3-ACB3-58C1C5B4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为什么需求阶段先用Markdown</a:t>
            </a:r>
          </a:p>
        </p:txBody>
      </p:sp>
      <p:sp>
        <p:nvSpPr>
          <p:cNvPr id="2" name="text-mk6hvlz">
            <a:extLst xmlns:a="http://schemas.openxmlformats.org/drawingml/2006/main">
              <a:ext uri="{FF2B5EF4-FFF2-40B4-BE49-F238E27FC236}">
                <a16:creationId xmlns:a16="http://schemas.microsoft.com/office/drawing/2014/main" id="{520D4680-8E15-4BD2-95DF-B2ADA0D1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Markdown 与 HTML 都是文本，但适合不同阶段</a:t>
            </a:r>
          </a:p>
        </p:txBody>
      </p:sp>
      <p:sp>
        <p:nvSpPr>
          <p:cNvPr id="3" name="shape-7o8kopj">
            <a:extLst xmlns:a="http://schemas.openxmlformats.org/drawingml/2006/main">
              <a:ext uri="{FF2B5EF4-FFF2-40B4-BE49-F238E27FC236}">
                <a16:creationId xmlns:a16="http://schemas.microsoft.com/office/drawing/2014/main" id="{E35BC4DD-C8DB-482C-B03E-EA312CDB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siystgk">
            <a:extLst xmlns:a="http://schemas.openxmlformats.org/drawingml/2006/main">
              <a:ext uri="{FF2B5EF4-FFF2-40B4-BE49-F238E27FC236}">
                <a16:creationId xmlns:a16="http://schemas.microsoft.com/office/drawing/2014/main" id="{F206B2D1-899C-4BE5-8D94-A29748F4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4483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vd4737r">
            <a:extLst xmlns:a="http://schemas.openxmlformats.org/drawingml/2006/main">
              <a:ext uri="{FF2B5EF4-FFF2-40B4-BE49-F238E27FC236}">
                <a16:creationId xmlns:a16="http://schemas.microsoft.com/office/drawing/2014/main" id="{034B2A03-6E73-4334-B071-F335E2E5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38300"/>
            <a:ext cx="54483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text-1wb72kk">
            <a:extLst xmlns:a="http://schemas.openxmlformats.org/drawingml/2006/main">
              <a:ext uri="{FF2B5EF4-FFF2-40B4-BE49-F238E27FC236}">
                <a16:creationId xmlns:a16="http://schemas.microsoft.com/office/drawing/2014/main" id="{467683B0-E720-4AA6-970B-706DA2D4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Markdown：内容与结构</a:t>
            </a:r>
          </a:p>
        </p:txBody>
      </p:sp>
      <p:sp>
        <p:nvSpPr>
          <p:cNvPr id="7" name="text-wpvkdr3">
            <a:extLst xmlns:a="http://schemas.openxmlformats.org/drawingml/2006/main">
              <a:ext uri="{FF2B5EF4-FFF2-40B4-BE49-F238E27FC236}">
                <a16:creationId xmlns:a16="http://schemas.microsoft.com/office/drawing/2014/main" id="{BB2273A2-B890-4F12-9ADA-AF2E7570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9149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优点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标记短，通常更省Token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源文件可直接阅读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增删、重排、对比修改更快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适合需求、方案和大纲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限制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精确排版和交互能力有限</a:t>
            </a:r>
          </a:p>
        </p:txBody>
      </p:sp>
      <p:sp>
        <p:nvSpPr>
          <p:cNvPr id="8" name="text-jhrhvi0">
            <a:extLst xmlns:a="http://schemas.openxmlformats.org/drawingml/2006/main">
              <a:ext uri="{FF2B5EF4-FFF2-40B4-BE49-F238E27FC236}">
                <a16:creationId xmlns:a16="http://schemas.microsoft.com/office/drawing/2014/main" id="{EC92F4D8-B59E-481D-9EAA-5E2F9AA6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859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HTML：视觉与交互</a:t>
            </a:r>
          </a:p>
        </p:txBody>
      </p:sp>
      <p:sp>
        <p:nvSpPr>
          <p:cNvPr id="9" name="text-x6c3wid">
            <a:extLst xmlns:a="http://schemas.openxmlformats.org/drawingml/2006/main">
              <a:ext uri="{FF2B5EF4-FFF2-40B4-BE49-F238E27FC236}">
                <a16:creationId xmlns:a16="http://schemas.microsoft.com/office/drawing/2014/main" id="{586E7FBA-CDF1-4330-8114-F5E7EE03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76500"/>
            <a:ext cx="49149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优点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精确控制布局、颜色和页面结构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可结合CSS和JavaScript实现交互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适合浏览器预览和网页成品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限制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标签与样式增加长度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需求未定时修改成本更高</a:t>
            </a:r>
          </a:p>
        </p:txBody>
      </p:sp>
      <p:sp>
        <p:nvSpPr>
          <p:cNvPr id="10" name="text-b9dssre">
            <a:extLst xmlns:a="http://schemas.openxmlformats.org/drawingml/2006/main">
              <a:ext uri="{FF2B5EF4-FFF2-40B4-BE49-F238E27FC236}">
                <a16:creationId xmlns:a16="http://schemas.microsoft.com/office/drawing/2014/main" id="{29FD6CD9-BD76-4D5C-A1D5-8B4BDAF1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需求商讨与Markdown固化</a:t>
            </a:r>
          </a:p>
        </p:txBody>
      </p:sp>
    </p:spTree>
    <p:extLst>
      <p:ext uri="{BB962C8B-B14F-4D97-AF65-F5344CB8AC3E}">
        <p14:creationId xmlns:p14="http://schemas.microsoft.com/office/powerpoint/2010/main" val="16384670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pb2pi29">
            <a:extLst xmlns:a="http://schemas.openxmlformats.org/drawingml/2006/main">
              <a:ext uri="{FF2B5EF4-FFF2-40B4-BE49-F238E27FC236}">
                <a16:creationId xmlns:a16="http://schemas.microsoft.com/office/drawing/2014/main" id="{771B8CA1-21DB-48BD-A49D-2CD7D667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不计算固定节省比例</a:t>
            </a:r>
          </a:p>
        </p:txBody>
      </p:sp>
      <p:sp>
        <p:nvSpPr>
          <p:cNvPr id="2" name="text-3ywwt07">
            <a:extLst xmlns:a="http://schemas.openxmlformats.org/drawingml/2006/main">
              <a:ext uri="{FF2B5EF4-FFF2-40B4-BE49-F238E27FC236}">
                <a16:creationId xmlns:a16="http://schemas.microsoft.com/office/drawing/2014/main" id="{73FAF9B5-6B8C-41E8-9C6E-8EAFC686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表达同一信息，Markdown 的标记更轻</a:t>
            </a:r>
          </a:p>
        </p:txBody>
      </p:sp>
      <p:sp>
        <p:nvSpPr>
          <p:cNvPr id="3" name="shape-jq420pf">
            <a:extLst xmlns:a="http://schemas.openxmlformats.org/drawingml/2006/main">
              <a:ext uri="{FF2B5EF4-FFF2-40B4-BE49-F238E27FC236}">
                <a16:creationId xmlns:a16="http://schemas.microsoft.com/office/drawing/2014/main" id="{48717CD6-D596-40EE-A1E9-BC2337ED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i7tknae">
            <a:extLst xmlns:a="http://schemas.openxmlformats.org/drawingml/2006/main">
              <a:ext uri="{FF2B5EF4-FFF2-40B4-BE49-F238E27FC236}">
                <a16:creationId xmlns:a16="http://schemas.microsoft.com/office/drawing/2014/main" id="{8AC9D7E2-ED7B-454A-A4C6-EA03AC0D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Markdown</a:t>
            </a:r>
          </a:p>
        </p:txBody>
      </p:sp>
      <p:sp>
        <p:nvSpPr>
          <p:cNvPr id="5" name="shape-d5junzi">
            <a:extLst xmlns:a="http://schemas.openxmlformats.org/drawingml/2006/main">
              <a:ext uri="{FF2B5EF4-FFF2-40B4-BE49-F238E27FC236}">
                <a16:creationId xmlns:a16="http://schemas.microsoft.com/office/drawing/2014/main" id="{94208599-D6E2-48F9-A232-B175134E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0482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text-p14wavh">
            <a:extLst xmlns:a="http://schemas.openxmlformats.org/drawingml/2006/main">
              <a:ext uri="{FF2B5EF4-FFF2-40B4-BE49-F238E27FC236}">
                <a16:creationId xmlns:a16="http://schemas.microsoft.com/office/drawing/2014/main" id="{45B035C8-9956-4338-A606-96E59368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## 核心指标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- 销售额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- 利润率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- 目标完成率</a:t>
            </a:r>
          </a:p>
        </p:txBody>
      </p:sp>
      <p:sp>
        <p:nvSpPr>
          <p:cNvPr id="7" name="text-anlpuoe">
            <a:extLst xmlns:a="http://schemas.openxmlformats.org/drawingml/2006/main">
              <a:ext uri="{FF2B5EF4-FFF2-40B4-BE49-F238E27FC236}">
                <a16:creationId xmlns:a16="http://schemas.microsoft.com/office/drawing/2014/main" id="{67BB0D0C-B1D0-4C9D-96A4-1F647091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HTML</a:t>
            </a:r>
          </a:p>
        </p:txBody>
      </p:sp>
      <p:sp>
        <p:nvSpPr>
          <p:cNvPr id="8" name="shape-l8o383u">
            <a:extLst xmlns:a="http://schemas.openxmlformats.org/drawingml/2006/main">
              <a:ext uri="{FF2B5EF4-FFF2-40B4-BE49-F238E27FC236}">
                <a16:creationId xmlns:a16="http://schemas.microsoft.com/office/drawing/2014/main" id="{F279837A-089C-4A28-A1D9-CC224AB2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50482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text-6d27ex2">
            <a:extLst xmlns:a="http://schemas.openxmlformats.org/drawingml/2006/main">
              <a:ext uri="{FF2B5EF4-FFF2-40B4-BE49-F238E27FC236}">
                <a16:creationId xmlns:a16="http://schemas.microsoft.com/office/drawing/2014/main" id="{E762EF3D-9074-4E03-BB9C-050A891E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4476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&lt;h2&gt;核心指标&lt;/h2&gt;</a:t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&lt;ul&gt;</a:t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  &lt;li&gt;销售额&lt;/li&gt;</a:t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  &lt;li&gt;利润率&lt;/li&gt;</a:t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  &lt;li&gt;目标完成率&lt;/li&gt;</a:t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&lt;/ul&gt;</a:t>
            </a:r>
          </a:p>
        </p:txBody>
      </p:sp>
      <p:sp>
        <p:nvSpPr>
          <p:cNvPr id="10" name="text-vhs25nl">
            <a:extLst xmlns:a="http://schemas.openxmlformats.org/drawingml/2006/main">
              <a:ext uri="{FF2B5EF4-FFF2-40B4-BE49-F238E27FC236}">
                <a16:creationId xmlns:a16="http://schemas.microsoft.com/office/drawing/2014/main" id="{E4CEA81B-D5EE-4C17-A7B6-A4092A0B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139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把有限上下文优先留给业务内容，而不是大量页面标签和样式。</a:t>
            </a:r>
          </a:p>
        </p:txBody>
      </p:sp>
      <p:sp>
        <p:nvSpPr>
          <p:cNvPr id="11" name="text-dkqcwoq">
            <a:extLst xmlns:a="http://schemas.openxmlformats.org/drawingml/2006/main">
              <a:ext uri="{FF2B5EF4-FFF2-40B4-BE49-F238E27FC236}">
                <a16:creationId xmlns:a16="http://schemas.microsoft.com/office/drawing/2014/main" id="{AECCF9FB-C29C-4AA7-B208-44722FD5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需求商讨与Markdown固化</a:t>
            </a:r>
          </a:p>
        </p:txBody>
      </p:sp>
    </p:spTree>
    <p:extLst>
      <p:ext uri="{BB962C8B-B14F-4D97-AF65-F5344CB8AC3E}">
        <p14:creationId xmlns:p14="http://schemas.microsoft.com/office/powerpoint/2010/main" val="35963713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ktv14pe">
            <a:extLst xmlns:a="http://schemas.openxmlformats.org/drawingml/2006/main">
              <a:ext uri="{FF2B5EF4-FFF2-40B4-BE49-F238E27FC236}">
                <a16:creationId xmlns:a16="http://schemas.microsoft.com/office/drawing/2014/main" id="{D893E1B2-F5CE-4825-97BC-E660AEF0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让AI提出不超过5个关键问题</a:t>
            </a:r>
          </a:p>
        </p:txBody>
      </p:sp>
      <p:sp>
        <p:nvSpPr>
          <p:cNvPr id="2" name="text-8vmwidc">
            <a:extLst xmlns:a="http://schemas.openxmlformats.org/drawingml/2006/main">
              <a:ext uri="{FF2B5EF4-FFF2-40B4-BE49-F238E27FC236}">
                <a16:creationId xmlns:a16="http://schemas.microsoft.com/office/drawing/2014/main" id="{88361B6B-16CA-4580-BB6B-40EBA7C0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生成文件之前，先确认五类关键问题</a:t>
            </a:r>
          </a:p>
        </p:txBody>
      </p:sp>
      <p:sp>
        <p:nvSpPr>
          <p:cNvPr id="3" name="shape-fw55osd">
            <a:extLst xmlns:a="http://schemas.openxmlformats.org/drawingml/2006/main">
              <a:ext uri="{FF2B5EF4-FFF2-40B4-BE49-F238E27FC236}">
                <a16:creationId xmlns:a16="http://schemas.microsoft.com/office/drawing/2014/main" id="{F42BF675-D2B4-4807-8F6C-8A3A828E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w31wb0t">
            <a:extLst xmlns:a="http://schemas.openxmlformats.org/drawingml/2006/main">
              <a:ext uri="{FF2B5EF4-FFF2-40B4-BE49-F238E27FC236}">
                <a16:creationId xmlns:a16="http://schemas.microsoft.com/office/drawing/2014/main" id="{179DFB5F-9C59-4443-A674-E62F7A91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3962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x9bzo5d">
            <a:extLst xmlns:a="http://schemas.openxmlformats.org/drawingml/2006/main">
              <a:ext uri="{FF2B5EF4-FFF2-40B4-BE49-F238E27FC236}">
                <a16:creationId xmlns:a16="http://schemas.microsoft.com/office/drawing/2014/main" id="{D50B43A2-6B34-4034-A4BD-8657BB4A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yszfx7e">
            <a:extLst xmlns:a="http://schemas.openxmlformats.org/drawingml/2006/main">
              <a:ext uri="{FF2B5EF4-FFF2-40B4-BE49-F238E27FC236}">
                <a16:creationId xmlns:a16="http://schemas.microsoft.com/office/drawing/2014/main" id="{094A50AD-2849-46E4-9A85-7E584EB9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业务目标</a:t>
            </a:r>
          </a:p>
        </p:txBody>
      </p:sp>
      <p:sp>
        <p:nvSpPr>
          <p:cNvPr id="7" name="text-i5m6buy">
            <a:extLst xmlns:a="http://schemas.openxmlformats.org/drawingml/2006/main">
              <a:ext uri="{FF2B5EF4-FFF2-40B4-BE49-F238E27FC236}">
                <a16:creationId xmlns:a16="http://schemas.microsoft.com/office/drawing/2014/main" id="{5648C405-CA8D-4B7E-9816-1CDF2B97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85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这次任务要解决什么问题、推动什么决定？</a:t>
            </a:r>
          </a:p>
        </p:txBody>
      </p:sp>
      <p:sp>
        <p:nvSpPr>
          <p:cNvPr id="8" name="shape-cw9xvpo">
            <a:extLst xmlns:a="http://schemas.openxmlformats.org/drawingml/2006/main">
              <a:ext uri="{FF2B5EF4-FFF2-40B4-BE49-F238E27FC236}">
                <a16:creationId xmlns:a16="http://schemas.microsoft.com/office/drawing/2014/main" id="{5606C75E-2C04-4F28-84F1-2C68C757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jfhdbdy">
            <a:extLst xmlns:a="http://schemas.openxmlformats.org/drawingml/2006/main">
              <a:ext uri="{FF2B5EF4-FFF2-40B4-BE49-F238E27FC236}">
                <a16:creationId xmlns:a16="http://schemas.microsoft.com/office/drawing/2014/main" id="{60A7083C-3222-49C3-908C-C171FB4F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text-glwzx7m">
            <a:extLst xmlns:a="http://schemas.openxmlformats.org/drawingml/2006/main">
              <a:ext uri="{FF2B5EF4-FFF2-40B4-BE49-F238E27FC236}">
                <a16:creationId xmlns:a16="http://schemas.microsoft.com/office/drawing/2014/main" id="{03DA217F-CB42-4BAB-AE12-98F67AD5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使用对象</a:t>
            </a:r>
          </a:p>
        </p:txBody>
      </p:sp>
      <p:sp>
        <p:nvSpPr>
          <p:cNvPr id="11" name="text-mugpw5n">
            <a:extLst xmlns:a="http://schemas.openxmlformats.org/drawingml/2006/main">
              <a:ext uri="{FF2B5EF4-FFF2-40B4-BE49-F238E27FC236}">
                <a16:creationId xmlns:a16="http://schemas.microsoft.com/office/drawing/2014/main" id="{4F360572-641A-4F8C-BF13-57EDBC7F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47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谁阅读、谁操作、谁最终确认？</a:t>
            </a:r>
          </a:p>
        </p:txBody>
      </p:sp>
      <p:sp>
        <p:nvSpPr>
          <p:cNvPr id="12" name="shape-cjihat7">
            <a:extLst xmlns:a="http://schemas.openxmlformats.org/drawingml/2006/main">
              <a:ext uri="{FF2B5EF4-FFF2-40B4-BE49-F238E27FC236}">
                <a16:creationId xmlns:a16="http://schemas.microsoft.com/office/drawing/2014/main" id="{9FDA0C1A-2246-4B31-9A5D-B0BD09B5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9on0uy">
            <a:extLst xmlns:a="http://schemas.openxmlformats.org/drawingml/2006/main">
              <a:ext uri="{FF2B5EF4-FFF2-40B4-BE49-F238E27FC236}">
                <a16:creationId xmlns:a16="http://schemas.microsoft.com/office/drawing/2014/main" id="{7AE9630D-41BC-42DD-968C-C093787E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-sok10yp">
            <a:extLst xmlns:a="http://schemas.openxmlformats.org/drawingml/2006/main">
              <a:ext uri="{FF2B5EF4-FFF2-40B4-BE49-F238E27FC236}">
                <a16:creationId xmlns:a16="http://schemas.microsoft.com/office/drawing/2014/main" id="{C9BD3F2C-EE50-41D5-87DD-7E6772CE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90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数据与范围</a:t>
            </a:r>
          </a:p>
        </p:txBody>
      </p:sp>
      <p:sp>
        <p:nvSpPr>
          <p:cNvPr id="15" name="text-mz1pete">
            <a:extLst xmlns:a="http://schemas.openxmlformats.org/drawingml/2006/main">
              <a:ext uri="{FF2B5EF4-FFF2-40B4-BE49-F238E27FC236}">
                <a16:creationId xmlns:a16="http://schemas.microsoft.com/office/drawing/2014/main" id="{77FFA5D8-19CF-42AB-B85A-51C7F01E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09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来源、时间、字段、维度、指标和口径是什么？</a:t>
            </a:r>
          </a:p>
        </p:txBody>
      </p:sp>
      <p:sp>
        <p:nvSpPr>
          <p:cNvPr id="16" name="shape-77q9xcj">
            <a:extLst xmlns:a="http://schemas.openxmlformats.org/drawingml/2006/main">
              <a:ext uri="{FF2B5EF4-FFF2-40B4-BE49-F238E27FC236}">
                <a16:creationId xmlns:a16="http://schemas.microsoft.com/office/drawing/2014/main" id="{17098ED8-ED7A-4584-9FF1-05D5F821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86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9aveuun">
            <a:extLst xmlns:a="http://schemas.openxmlformats.org/drawingml/2006/main">
              <a:ext uri="{FF2B5EF4-FFF2-40B4-BE49-F238E27FC236}">
                <a16:creationId xmlns:a16="http://schemas.microsoft.com/office/drawing/2014/main" id="{322EE5F3-E776-42E0-91A7-5A1E4BF0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text-yt74xvc">
            <a:extLst xmlns:a="http://schemas.openxmlformats.org/drawingml/2006/main">
              <a:ext uri="{FF2B5EF4-FFF2-40B4-BE49-F238E27FC236}">
                <a16:creationId xmlns:a16="http://schemas.microsoft.com/office/drawing/2014/main" id="{FBFD1FA1-05E4-4F89-9DA4-3D26D3B3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52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交付要求</a:t>
            </a:r>
          </a:p>
        </p:txBody>
      </p:sp>
      <p:sp>
        <p:nvSpPr>
          <p:cNvPr id="19" name="text-xgcaw0s">
            <a:extLst xmlns:a="http://schemas.openxmlformats.org/drawingml/2006/main">
              <a:ext uri="{FF2B5EF4-FFF2-40B4-BE49-F238E27FC236}">
                <a16:creationId xmlns:a16="http://schemas.microsoft.com/office/drawing/2014/main" id="{16115630-292A-4B64-9053-2EBE6CD7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71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需要Excel、PPT、HTML，还是先给Markdown方案？</a:t>
            </a:r>
          </a:p>
        </p:txBody>
      </p:sp>
      <p:sp>
        <p:nvSpPr>
          <p:cNvPr id="20" name="shape-r8eenf1">
            <a:extLst xmlns:a="http://schemas.openxmlformats.org/drawingml/2006/main">
              <a:ext uri="{FF2B5EF4-FFF2-40B4-BE49-F238E27FC236}">
                <a16:creationId xmlns:a16="http://schemas.microsoft.com/office/drawing/2014/main" id="{E3EEF7DE-57FA-45B7-A195-77C5C1AE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37ugkxi">
            <a:extLst xmlns:a="http://schemas.openxmlformats.org/drawingml/2006/main">
              <a:ext uri="{FF2B5EF4-FFF2-40B4-BE49-F238E27FC236}">
                <a16:creationId xmlns:a16="http://schemas.microsoft.com/office/drawing/2014/main" id="{7BE7A8BD-97A4-407F-9B74-D52CF6A0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2" name="text-342qz5b">
            <a:extLst xmlns:a="http://schemas.openxmlformats.org/drawingml/2006/main">
              <a:ext uri="{FF2B5EF4-FFF2-40B4-BE49-F238E27FC236}">
                <a16:creationId xmlns:a16="http://schemas.microsoft.com/office/drawing/2014/main" id="{F7DC7126-3A66-483E-838F-096DD2A6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14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边界与验收</a:t>
            </a:r>
          </a:p>
        </p:txBody>
      </p:sp>
      <p:sp>
        <p:nvSpPr>
          <p:cNvPr id="23" name="text-nb91332">
            <a:extLst xmlns:a="http://schemas.openxmlformats.org/drawingml/2006/main">
              <a:ext uri="{FF2B5EF4-FFF2-40B4-BE49-F238E27FC236}">
                <a16:creationId xmlns:a16="http://schemas.microsoft.com/office/drawing/2014/main" id="{566A504A-997B-484E-9C2E-998BD84E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733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哪些不能猜、怎样检查、敏感信息怎样处理？</a:t>
            </a:r>
          </a:p>
        </p:txBody>
      </p:sp>
      <p:sp>
        <p:nvSpPr>
          <p:cNvPr id="24" name="text-nmasq1b">
            <a:extLst xmlns:a="http://schemas.openxmlformats.org/drawingml/2006/main">
              <a:ext uri="{FF2B5EF4-FFF2-40B4-BE49-F238E27FC236}">
                <a16:creationId xmlns:a16="http://schemas.microsoft.com/office/drawing/2014/main" id="{34F9BB54-A98E-4C97-A41E-7CD4ED04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需求商讨与Markdown固化</a:t>
            </a:r>
          </a:p>
        </p:txBody>
      </p:sp>
    </p:spTree>
    <p:extLst>
      <p:ext uri="{BB962C8B-B14F-4D97-AF65-F5344CB8AC3E}">
        <p14:creationId xmlns:p14="http://schemas.microsoft.com/office/powerpoint/2010/main" val="183558998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9qatvq">
            <a:extLst xmlns:a="http://schemas.openxmlformats.org/drawingml/2006/main">
              <a:ext uri="{FF2B5EF4-FFF2-40B4-BE49-F238E27FC236}">
                <a16:creationId xmlns:a16="http://schemas.microsoft.com/office/drawing/2014/main" id="{DC3218EC-9AD9-4574-A1DD-4295EE73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双方共同依据</a:t>
            </a:r>
          </a:p>
        </p:txBody>
      </p:sp>
      <p:sp>
        <p:nvSpPr>
          <p:cNvPr id="2" name="text-m1nbjcr">
            <a:extLst xmlns:a="http://schemas.openxmlformats.org/drawingml/2006/main">
              <a:ext uri="{FF2B5EF4-FFF2-40B4-BE49-F238E27FC236}">
                <a16:creationId xmlns:a16="http://schemas.microsoft.com/office/drawing/2014/main" id="{8ED229C0-095C-410E-A298-BE407851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把商讨结果写成一张 Markdown 需求确认单</a:t>
            </a:r>
          </a:p>
        </p:txBody>
      </p:sp>
      <p:sp>
        <p:nvSpPr>
          <p:cNvPr id="3" name="shape-bn2g4jc">
            <a:extLst xmlns:a="http://schemas.openxmlformats.org/drawingml/2006/main">
              <a:ext uri="{FF2B5EF4-FFF2-40B4-BE49-F238E27FC236}">
                <a16:creationId xmlns:a16="http://schemas.microsoft.com/office/drawing/2014/main" id="{21EE1631-7371-4BB6-A232-B0A6C65C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rylns9l">
            <a:extLst xmlns:a="http://schemas.openxmlformats.org/drawingml/2006/main">
              <a:ext uri="{FF2B5EF4-FFF2-40B4-BE49-F238E27FC236}">
                <a16:creationId xmlns:a16="http://schemas.microsoft.com/office/drawing/2014/main" id="{552F3E19-3341-4ED1-95DD-F59D359D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text-jqyyv6e">
            <a:extLst xmlns:a="http://schemas.openxmlformats.org/drawingml/2006/main">
              <a:ext uri="{FF2B5EF4-FFF2-40B4-BE49-F238E27FC236}">
                <a16:creationId xmlns:a16="http://schemas.microsoft.com/office/drawing/2014/main" id="{6B1882A1-9716-4451-9DA4-AD9DBAB5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4333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业务目标：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使用对象：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数据来源：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统计范围：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关键字段：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分析维度：</a:t>
            </a:r>
          </a:p>
        </p:txBody>
      </p:sp>
      <p:sp>
        <p:nvSpPr>
          <p:cNvPr id="6" name="shape-216r184">
            <a:extLst xmlns:a="http://schemas.openxmlformats.org/drawingml/2006/main">
              <a:ext uri="{FF2B5EF4-FFF2-40B4-BE49-F238E27FC236}">
                <a16:creationId xmlns:a16="http://schemas.microsoft.com/office/drawing/2014/main" id="{F4622CCA-D1D8-4434-ADA7-248940F6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eohhhhf">
            <a:extLst xmlns:a="http://schemas.openxmlformats.org/drawingml/2006/main">
              <a:ext uri="{FF2B5EF4-FFF2-40B4-BE49-F238E27FC236}">
                <a16:creationId xmlns:a16="http://schemas.microsoft.com/office/drawing/2014/main" id="{73F7A9C7-70E0-4835-AD8B-21699904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333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核心指标与口径：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Excel交付要求：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PPT交付要求：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敏感信息处理：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待确认问题：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最终确认人：</a:t>
            </a:r>
          </a:p>
        </p:txBody>
      </p:sp>
      <p:sp>
        <p:nvSpPr>
          <p:cNvPr id="8" name="text-w0apnex">
            <a:extLst xmlns:a="http://schemas.openxmlformats.org/drawingml/2006/main">
              <a:ext uri="{FF2B5EF4-FFF2-40B4-BE49-F238E27FC236}">
                <a16:creationId xmlns:a16="http://schemas.microsoft.com/office/drawing/2014/main" id="{438B788C-F487-423D-95DB-8C229254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需求商讨与Markdown固化</a:t>
            </a:r>
          </a:p>
        </p:txBody>
      </p:sp>
    </p:spTree>
    <p:extLst>
      <p:ext uri="{BB962C8B-B14F-4D97-AF65-F5344CB8AC3E}">
        <p14:creationId xmlns:p14="http://schemas.microsoft.com/office/powerpoint/2010/main" val="146332253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iql00vg">
            <a:extLst xmlns:a="http://schemas.openxmlformats.org/drawingml/2006/main">
              <a:ext uri="{FF2B5EF4-FFF2-40B4-BE49-F238E27FC236}">
                <a16:creationId xmlns:a16="http://schemas.microsoft.com/office/drawing/2014/main" id="{38048D04-E3ED-4BB6-85BA-4E43C6C7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第三部分</a:t>
            </a:r>
          </a:p>
        </p:txBody>
      </p:sp>
      <p:sp>
        <p:nvSpPr>
          <p:cNvPr id="2" name="text-ygpqc9v">
            <a:extLst xmlns:a="http://schemas.openxmlformats.org/drawingml/2006/main">
              <a:ext uri="{FF2B5EF4-FFF2-40B4-BE49-F238E27FC236}">
                <a16:creationId xmlns:a16="http://schemas.microsoft.com/office/drawing/2014/main" id="{E53C749A-15AC-409D-A084-36FA3953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从数据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到可信 Excel</a:t>
            </a:r>
          </a:p>
        </p:txBody>
      </p:sp>
      <p:sp>
        <p:nvSpPr>
          <p:cNvPr id="3" name="text-o1ki759">
            <a:extLst xmlns:a="http://schemas.openxmlformats.org/drawingml/2006/main">
              <a:ext uri="{FF2B5EF4-FFF2-40B4-BE49-F238E27FC236}">
                <a16:creationId xmlns:a16="http://schemas.microsoft.com/office/drawing/2014/main" id="{E88FA6EE-50A7-4663-B811-4469C4D0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rPr>
              <a:t>AI可以加速生成；完整性、一致性和计算口径仍需要验证。</a:t>
            </a:r>
          </a:p>
        </p:txBody>
      </p:sp>
      <p:sp>
        <p:nvSpPr>
          <p:cNvPr id="4" name="shape-kvwl8nb">
            <a:extLst xmlns:a="http://schemas.openxmlformats.org/drawingml/2006/main">
              <a:ext uri="{FF2B5EF4-FFF2-40B4-BE49-F238E27FC236}">
                <a16:creationId xmlns:a16="http://schemas.microsoft.com/office/drawing/2014/main" id="{63B874D7-60AF-4AED-B792-A26766C8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524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97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634143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8fscruy">
            <a:extLst xmlns:a="http://schemas.openxmlformats.org/drawingml/2006/main">
              <a:ext uri="{FF2B5EF4-FFF2-40B4-BE49-F238E27FC236}">
                <a16:creationId xmlns:a16="http://schemas.microsoft.com/office/drawing/2014/main" id="{743716DE-A5CA-44D5-97CF-2CEE52E6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Excel工作流</a:t>
            </a:r>
          </a:p>
        </p:txBody>
      </p:sp>
      <p:sp>
        <p:nvSpPr>
          <p:cNvPr id="2" name="text-wljclpf">
            <a:extLst xmlns:a="http://schemas.openxmlformats.org/drawingml/2006/main">
              <a:ext uri="{FF2B5EF4-FFF2-40B4-BE49-F238E27FC236}">
                <a16:creationId xmlns:a16="http://schemas.microsoft.com/office/drawing/2014/main" id="{9EEC2A9D-B33A-4BD5-96EA-5F07159D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可信报表来自“先规划、再生成、后验证”</a:t>
            </a:r>
          </a:p>
        </p:txBody>
      </p:sp>
      <p:sp>
        <p:nvSpPr>
          <p:cNvPr id="3" name="shape-jpx5kw5">
            <a:extLst xmlns:a="http://schemas.openxmlformats.org/drawingml/2006/main">
              <a:ext uri="{FF2B5EF4-FFF2-40B4-BE49-F238E27FC236}">
                <a16:creationId xmlns:a16="http://schemas.microsoft.com/office/drawing/2014/main" id="{89BD7BDF-5D56-4672-B544-60D17EE3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5tcy2ue">
            <a:extLst xmlns:a="http://schemas.openxmlformats.org/drawingml/2006/main">
              <a:ext uri="{FF2B5EF4-FFF2-40B4-BE49-F238E27FC236}">
                <a16:creationId xmlns:a16="http://schemas.microsoft.com/office/drawing/2014/main" id="{81718FB5-B14A-42B2-BC79-E42791C1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7wi1sbi">
            <a:extLst xmlns:a="http://schemas.openxmlformats.org/drawingml/2006/main">
              <a:ext uri="{FF2B5EF4-FFF2-40B4-BE49-F238E27FC236}">
                <a16:creationId xmlns:a16="http://schemas.microsoft.com/office/drawing/2014/main" id="{14815B61-C464-47DA-AFAB-D9DCCD51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86y8kle">
            <a:extLst xmlns:a="http://schemas.openxmlformats.org/drawingml/2006/main">
              <a:ext uri="{FF2B5EF4-FFF2-40B4-BE49-F238E27FC236}">
                <a16:creationId xmlns:a16="http://schemas.microsoft.com/office/drawing/2014/main" id="{1F17A67B-84B5-4237-B1E0-3FD75FDC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检查材料</a:t>
            </a:r>
          </a:p>
        </p:txBody>
      </p:sp>
      <p:sp>
        <p:nvSpPr>
          <p:cNvPr id="7" name="text-vi7tala">
            <a:extLst xmlns:a="http://schemas.openxmlformats.org/drawingml/2006/main">
              <a:ext uri="{FF2B5EF4-FFF2-40B4-BE49-F238E27FC236}">
                <a16:creationId xmlns:a16="http://schemas.microsoft.com/office/drawing/2014/main" id="{2A27CA44-B568-4A3D-9F0C-92EF8876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范围、字段、敏感信息</a:t>
            </a:r>
          </a:p>
        </p:txBody>
      </p:sp>
      <p:sp>
        <p:nvSpPr>
          <p:cNvPr id="8" name="text-nxf4nep">
            <a:extLst xmlns:a="http://schemas.openxmlformats.org/drawingml/2006/main">
              <a:ext uri="{FF2B5EF4-FFF2-40B4-BE49-F238E27FC236}">
                <a16:creationId xmlns:a16="http://schemas.microsoft.com/office/drawing/2014/main" id="{A4410815-C6C9-447E-93AE-59ED9223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shape-614igc8">
            <a:extLst xmlns:a="http://schemas.openxmlformats.org/drawingml/2006/main">
              <a:ext uri="{FF2B5EF4-FFF2-40B4-BE49-F238E27FC236}">
                <a16:creationId xmlns:a16="http://schemas.microsoft.com/office/drawing/2014/main" id="{4BB29281-7D4A-40B6-BD70-604D86CA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-2n3tj79">
            <a:extLst xmlns:a="http://schemas.openxmlformats.org/drawingml/2006/main">
              <a:ext uri="{FF2B5EF4-FFF2-40B4-BE49-F238E27FC236}">
                <a16:creationId xmlns:a16="http://schemas.microsoft.com/office/drawing/2014/main" id="{51653928-4B64-4254-9E9A-CDE3938C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-i5qgxeo">
            <a:extLst xmlns:a="http://schemas.openxmlformats.org/drawingml/2006/main">
              <a:ext uri="{FF2B5EF4-FFF2-40B4-BE49-F238E27FC236}">
                <a16:creationId xmlns:a16="http://schemas.microsoft.com/office/drawing/2014/main" id="{88056EFB-26F6-459B-AC70-7E9DCA79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规划结构</a:t>
            </a:r>
          </a:p>
        </p:txBody>
      </p:sp>
      <p:sp>
        <p:nvSpPr>
          <p:cNvPr id="12" name="text-jb6uste">
            <a:extLst xmlns:a="http://schemas.openxmlformats.org/drawingml/2006/main">
              <a:ext uri="{FF2B5EF4-FFF2-40B4-BE49-F238E27FC236}">
                <a16:creationId xmlns:a16="http://schemas.microsoft.com/office/drawing/2014/main" id="{D7A44A73-5B0C-4476-A4EC-A3BCF369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工作表、字段、公式、汇总</a:t>
            </a:r>
          </a:p>
        </p:txBody>
      </p:sp>
      <p:sp>
        <p:nvSpPr>
          <p:cNvPr id="13" name="text-qqi020s">
            <a:extLst xmlns:a="http://schemas.openxmlformats.org/drawingml/2006/main">
              <a:ext uri="{FF2B5EF4-FFF2-40B4-BE49-F238E27FC236}">
                <a16:creationId xmlns:a16="http://schemas.microsoft.com/office/drawing/2014/main" id="{012AB821-C623-4F2A-84D0-4FA89F26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shape-71s1k5z">
            <a:extLst xmlns:a="http://schemas.openxmlformats.org/drawingml/2006/main">
              <a:ext uri="{FF2B5EF4-FFF2-40B4-BE49-F238E27FC236}">
                <a16:creationId xmlns:a16="http://schemas.microsoft.com/office/drawing/2014/main" id="{747FD11B-B606-4AEC-928A-A50D016A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text-vbiakpf">
            <a:extLst xmlns:a="http://schemas.openxmlformats.org/drawingml/2006/main">
              <a:ext uri="{FF2B5EF4-FFF2-40B4-BE49-F238E27FC236}">
                <a16:creationId xmlns:a16="http://schemas.microsoft.com/office/drawing/2014/main" id="{4C142748-B419-423C-B92D-C632FFB5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x2llxuk">
            <a:extLst xmlns:a="http://schemas.openxmlformats.org/drawingml/2006/main">
              <a:ext uri="{FF2B5EF4-FFF2-40B4-BE49-F238E27FC236}">
                <a16:creationId xmlns:a16="http://schemas.microsoft.com/office/drawing/2014/main" id="{BB79B7BC-549F-4439-A860-E36B384C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生成报表</a:t>
            </a:r>
          </a:p>
        </p:txBody>
      </p:sp>
      <p:sp>
        <p:nvSpPr>
          <p:cNvPr id="17" name="text-kcf8j6o">
            <a:extLst xmlns:a="http://schemas.openxmlformats.org/drawingml/2006/main">
              <a:ext uri="{FF2B5EF4-FFF2-40B4-BE49-F238E27FC236}">
                <a16:creationId xmlns:a16="http://schemas.microsoft.com/office/drawing/2014/main" id="{2156A046-70DE-4F4E-BF9E-558680A0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先小样，确认后处理完整数据</a:t>
            </a:r>
          </a:p>
        </p:txBody>
      </p:sp>
      <p:sp>
        <p:nvSpPr>
          <p:cNvPr id="18" name="text-fb2n4yp">
            <a:extLst xmlns:a="http://schemas.openxmlformats.org/drawingml/2006/main">
              <a:ext uri="{FF2B5EF4-FFF2-40B4-BE49-F238E27FC236}">
                <a16:creationId xmlns:a16="http://schemas.microsoft.com/office/drawing/2014/main" id="{A56D4A72-D9A9-4795-AA08-5C456D2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shape-2fqrfx6">
            <a:extLst xmlns:a="http://schemas.openxmlformats.org/drawingml/2006/main">
              <a:ext uri="{FF2B5EF4-FFF2-40B4-BE49-F238E27FC236}">
                <a16:creationId xmlns:a16="http://schemas.microsoft.com/office/drawing/2014/main" id="{85D0071F-4EB0-49E4-ADF8-75EA91F3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text-vr9a963">
            <a:extLst xmlns:a="http://schemas.openxmlformats.org/drawingml/2006/main">
              <a:ext uri="{FF2B5EF4-FFF2-40B4-BE49-F238E27FC236}">
                <a16:creationId xmlns:a16="http://schemas.microsoft.com/office/drawing/2014/main" id="{AF524558-799B-4867-8287-0D778D53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text-uyf0t63">
            <a:extLst xmlns:a="http://schemas.openxmlformats.org/drawingml/2006/main">
              <a:ext uri="{FF2B5EF4-FFF2-40B4-BE49-F238E27FC236}">
                <a16:creationId xmlns:a16="http://schemas.microsoft.com/office/drawing/2014/main" id="{AAC02A7D-E244-4027-9181-CD1CDADA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验证结果</a:t>
            </a:r>
          </a:p>
        </p:txBody>
      </p:sp>
      <p:sp>
        <p:nvSpPr>
          <p:cNvPr id="22" name="text-xolouyh">
            <a:extLst xmlns:a="http://schemas.openxmlformats.org/drawingml/2006/main">
              <a:ext uri="{FF2B5EF4-FFF2-40B4-BE49-F238E27FC236}">
                <a16:creationId xmlns:a16="http://schemas.microsoft.com/office/drawing/2014/main" id="{E4F59B94-52D0-4823-AFB9-052BA91C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空值、重复、公式、异常</a:t>
            </a:r>
          </a:p>
        </p:txBody>
      </p:sp>
      <p:sp>
        <p:nvSpPr>
          <p:cNvPr id="23" name="text-uf62tnk">
            <a:extLst xmlns:a="http://schemas.openxmlformats.org/drawingml/2006/main">
              <a:ext uri="{FF2B5EF4-FFF2-40B4-BE49-F238E27FC236}">
                <a16:creationId xmlns:a16="http://schemas.microsoft.com/office/drawing/2014/main" id="{8F253F9E-239B-4E74-8C1C-44A1B56B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从数据到Excel报表</a:t>
            </a:r>
          </a:p>
        </p:txBody>
      </p:sp>
    </p:spTree>
    <p:extLst>
      <p:ext uri="{BB962C8B-B14F-4D97-AF65-F5344CB8AC3E}">
        <p14:creationId xmlns:p14="http://schemas.microsoft.com/office/powerpoint/2010/main" val="180710247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text-rljv1d3">
            <a:extLst xmlns:a="http://schemas.openxmlformats.org/drawingml/2006/main">
              <a:ext uri="{FF2B5EF4-FFF2-40B4-BE49-F238E27FC236}">
                <a16:creationId xmlns:a16="http://schemas.microsoft.com/office/drawing/2014/main" id="{502E71C7-4C2D-4D74-A13A-A8857BB6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课堂模拟数据｜非真实业务数据</a:t>
            </a:r>
          </a:p>
        </p:txBody>
      </p:sp>
      <p:sp>
        <p:nvSpPr>
          <p:cNvPr id="2" name="text-gdum01d">
            <a:extLst xmlns:a="http://schemas.openxmlformats.org/drawingml/2006/main">
              <a:ext uri="{FF2B5EF4-FFF2-40B4-BE49-F238E27FC236}">
                <a16:creationId xmlns:a16="http://schemas.microsoft.com/office/drawing/2014/main" id="{64C63C0E-30C4-46D6-9FC1-2769529B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让 AI 在课堂模拟数据里主动发现问题</a:t>
            </a:r>
          </a:p>
        </p:txBody>
      </p:sp>
      <p:sp>
        <p:nvSpPr>
          <p:cNvPr id="3" name="shape-m0wdfro">
            <a:extLst xmlns:a="http://schemas.openxmlformats.org/drawingml/2006/main">
              <a:ext uri="{FF2B5EF4-FFF2-40B4-BE49-F238E27FC236}">
                <a16:creationId xmlns:a16="http://schemas.microsoft.com/office/drawing/2014/main" id="{F41CB91D-ADDD-4150-8534-F89422EB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b5g1j9l">
            <a:extLst xmlns:a="http://schemas.openxmlformats.org/drawingml/2006/main">
              <a:ext uri="{FF2B5EF4-FFF2-40B4-BE49-F238E27FC236}">
                <a16:creationId xmlns:a16="http://schemas.microsoft.com/office/drawing/2014/main" id="{E7BBD182-9058-4BD1-96BF-37B98382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" name="text-8yachbw">
            <a:extLst xmlns:a="http://schemas.openxmlformats.org/drawingml/2006/main">
              <a:ext uri="{FF2B5EF4-FFF2-40B4-BE49-F238E27FC236}">
                <a16:creationId xmlns:a16="http://schemas.microsoft.com/office/drawing/2014/main" id="{087E0849-3088-4FFF-84A2-A88CD714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日期</a:t>
            </a:r>
          </a:p>
        </p:txBody>
      </p:sp>
      <p:sp>
        <p:nvSpPr>
          <p:cNvPr id="6" name="shape-8bt0hsd">
            <a:extLst xmlns:a="http://schemas.openxmlformats.org/drawingml/2006/main">
              <a:ext uri="{FF2B5EF4-FFF2-40B4-BE49-F238E27FC236}">
                <a16:creationId xmlns:a16="http://schemas.microsoft.com/office/drawing/2014/main" id="{B0FF31D0-A165-4091-90F5-04D97C11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145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" name="text-w1nqx1l">
            <a:extLst xmlns:a="http://schemas.openxmlformats.org/drawingml/2006/main">
              <a:ext uri="{FF2B5EF4-FFF2-40B4-BE49-F238E27FC236}">
                <a16:creationId xmlns:a16="http://schemas.microsoft.com/office/drawing/2014/main" id="{B90122EE-C5AC-49F4-9614-86189F68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811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门店</a:t>
            </a:r>
          </a:p>
        </p:txBody>
      </p:sp>
      <p:sp>
        <p:nvSpPr>
          <p:cNvPr id="8" name="shape-s0c7xyn">
            <a:extLst xmlns:a="http://schemas.openxmlformats.org/drawingml/2006/main">
              <a:ext uri="{FF2B5EF4-FFF2-40B4-BE49-F238E27FC236}">
                <a16:creationId xmlns:a16="http://schemas.microsoft.com/office/drawing/2014/main" id="{76CB6DD3-E8D9-41E1-98FD-700E0001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145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9" name="text-675isoc">
            <a:extLst xmlns:a="http://schemas.openxmlformats.org/drawingml/2006/main">
              <a:ext uri="{FF2B5EF4-FFF2-40B4-BE49-F238E27FC236}">
                <a16:creationId xmlns:a16="http://schemas.microsoft.com/office/drawing/2014/main" id="{6C32967D-D2F2-414C-BCF1-5394EDBF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811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地区</a:t>
            </a:r>
          </a:p>
        </p:txBody>
      </p:sp>
      <p:sp>
        <p:nvSpPr>
          <p:cNvPr id="10" name="shape-5j5hv7f">
            <a:extLst xmlns:a="http://schemas.openxmlformats.org/drawingml/2006/main">
              <a:ext uri="{FF2B5EF4-FFF2-40B4-BE49-F238E27FC236}">
                <a16:creationId xmlns:a16="http://schemas.microsoft.com/office/drawing/2014/main" id="{305ED2A9-1D9A-4BC1-B17F-FE9962A2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1" name="text-bsjq1jm">
            <a:extLst xmlns:a="http://schemas.openxmlformats.org/drawingml/2006/main">
              <a:ext uri="{FF2B5EF4-FFF2-40B4-BE49-F238E27FC236}">
                <a16:creationId xmlns:a16="http://schemas.microsoft.com/office/drawing/2014/main" id="{AF48163A-5D8F-40C6-9E4C-03CB6935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811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产品</a:t>
            </a:r>
          </a:p>
        </p:txBody>
      </p:sp>
      <p:sp>
        <p:nvSpPr>
          <p:cNvPr id="12" name="shape-gljjg3l">
            <a:extLst xmlns:a="http://schemas.openxmlformats.org/drawingml/2006/main">
              <a:ext uri="{FF2B5EF4-FFF2-40B4-BE49-F238E27FC236}">
                <a16:creationId xmlns:a16="http://schemas.microsoft.com/office/drawing/2014/main" id="{9A935050-9771-4246-9F38-9C91A279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14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3" name="text-9oemcmt">
            <a:extLst xmlns:a="http://schemas.openxmlformats.org/drawingml/2006/main">
              <a:ext uri="{FF2B5EF4-FFF2-40B4-BE49-F238E27FC236}">
                <a16:creationId xmlns:a16="http://schemas.microsoft.com/office/drawing/2014/main" id="{1C0F28FD-3713-4359-91E2-45A04B44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811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销售额</a:t>
            </a:r>
          </a:p>
        </p:txBody>
      </p:sp>
      <p:sp>
        <p:nvSpPr>
          <p:cNvPr id="14" name="shape-v9ojmj2">
            <a:extLst xmlns:a="http://schemas.openxmlformats.org/drawingml/2006/main">
              <a:ext uri="{FF2B5EF4-FFF2-40B4-BE49-F238E27FC236}">
                <a16:creationId xmlns:a16="http://schemas.microsoft.com/office/drawing/2014/main" id="{C2602575-6ABE-4C0C-8A48-FBA4F899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5" name="text-0cmnkvu">
            <a:extLst xmlns:a="http://schemas.openxmlformats.org/drawingml/2006/main">
              <a:ext uri="{FF2B5EF4-FFF2-40B4-BE49-F238E27FC236}">
                <a16:creationId xmlns:a16="http://schemas.microsoft.com/office/drawing/2014/main" id="{629EECDA-24A4-4CD0-AA6B-DB0842B9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811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成本</a:t>
            </a:r>
          </a:p>
        </p:txBody>
      </p:sp>
      <p:sp>
        <p:nvSpPr>
          <p:cNvPr id="16" name="shape-chft27y">
            <a:extLst xmlns:a="http://schemas.openxmlformats.org/drawingml/2006/main">
              <a:ext uri="{FF2B5EF4-FFF2-40B4-BE49-F238E27FC236}">
                <a16:creationId xmlns:a16="http://schemas.microsoft.com/office/drawing/2014/main" id="{643CE27A-FC17-45C2-A024-7CF3F617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7" name="text-zsol16c">
            <a:extLst xmlns:a="http://schemas.openxmlformats.org/drawingml/2006/main">
              <a:ext uri="{FF2B5EF4-FFF2-40B4-BE49-F238E27FC236}">
                <a16:creationId xmlns:a16="http://schemas.microsoft.com/office/drawing/2014/main" id="{BF66F20D-5B06-4CF9-8594-B52EBD42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811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18" name="shape-bri21b6">
            <a:extLst xmlns:a="http://schemas.openxmlformats.org/drawingml/2006/main">
              <a:ext uri="{FF2B5EF4-FFF2-40B4-BE49-F238E27FC236}">
                <a16:creationId xmlns:a16="http://schemas.microsoft.com/office/drawing/2014/main" id="{D8DEC483-E8E8-4338-99EC-30305720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9" name="text-xmmiuvb">
            <a:extLst xmlns:a="http://schemas.openxmlformats.org/drawingml/2006/main">
              <a:ext uri="{FF2B5EF4-FFF2-40B4-BE49-F238E27FC236}">
                <a16:creationId xmlns:a16="http://schemas.microsoft.com/office/drawing/2014/main" id="{FB481215-DD71-4258-8B78-85609175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2026-06-01</a:t>
            </a:r>
          </a:p>
        </p:txBody>
      </p:sp>
      <p:sp>
        <p:nvSpPr>
          <p:cNvPr id="20" name="shape-5772qzk">
            <a:extLst xmlns:a="http://schemas.openxmlformats.org/drawingml/2006/main">
              <a:ext uri="{FF2B5EF4-FFF2-40B4-BE49-F238E27FC236}">
                <a16:creationId xmlns:a16="http://schemas.microsoft.com/office/drawing/2014/main" id="{3DE16688-7FD1-4910-AEF2-BC1982BB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669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1" name="text-muu8un1">
            <a:extLst xmlns:a="http://schemas.openxmlformats.org/drawingml/2006/main">
              <a:ext uri="{FF2B5EF4-FFF2-40B4-BE49-F238E27FC236}">
                <a16:creationId xmlns:a16="http://schemas.microsoft.com/office/drawing/2014/main" id="{D4E35A9E-D137-4E22-B014-943EB43F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336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A店</a:t>
            </a:r>
          </a:p>
        </p:txBody>
      </p:sp>
      <p:sp>
        <p:nvSpPr>
          <p:cNvPr id="22" name="shape-1w49h94">
            <a:extLst xmlns:a="http://schemas.openxmlformats.org/drawingml/2006/main">
              <a:ext uri="{FF2B5EF4-FFF2-40B4-BE49-F238E27FC236}">
                <a16:creationId xmlns:a16="http://schemas.microsoft.com/office/drawing/2014/main" id="{A3644671-48FE-4437-9831-18294AB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669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3" name="text-l8vja9w">
            <a:extLst xmlns:a="http://schemas.openxmlformats.org/drawingml/2006/main">
              <a:ext uri="{FF2B5EF4-FFF2-40B4-BE49-F238E27FC236}">
                <a16:creationId xmlns:a16="http://schemas.microsoft.com/office/drawing/2014/main" id="{05700784-3FB8-442D-80B5-4170CFFF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336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华东</a:t>
            </a:r>
          </a:p>
        </p:txBody>
      </p:sp>
      <p:sp>
        <p:nvSpPr>
          <p:cNvPr id="24" name="shape-v8hwk9x">
            <a:extLst xmlns:a="http://schemas.openxmlformats.org/drawingml/2006/main">
              <a:ext uri="{FF2B5EF4-FFF2-40B4-BE49-F238E27FC236}">
                <a16:creationId xmlns:a16="http://schemas.microsoft.com/office/drawing/2014/main" id="{6869D824-F18C-4481-A6EA-5C94948D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5" name="text-zwb5cj8">
            <a:extLst xmlns:a="http://schemas.openxmlformats.org/drawingml/2006/main">
              <a:ext uri="{FF2B5EF4-FFF2-40B4-BE49-F238E27FC236}">
                <a16:creationId xmlns:a16="http://schemas.microsoft.com/office/drawing/2014/main" id="{90947647-8617-43DD-B5B1-2A6820DD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336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产品甲</a:t>
            </a:r>
          </a:p>
        </p:txBody>
      </p:sp>
      <p:sp>
        <p:nvSpPr>
          <p:cNvPr id="26" name="shape-kwwah0z">
            <a:extLst xmlns:a="http://schemas.openxmlformats.org/drawingml/2006/main">
              <a:ext uri="{FF2B5EF4-FFF2-40B4-BE49-F238E27FC236}">
                <a16:creationId xmlns:a16="http://schemas.microsoft.com/office/drawing/2014/main" id="{ACFA28D1-42B7-4782-9FF1-6CA12C30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669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7" name="text-77n1lc1">
            <a:extLst xmlns:a="http://schemas.openxmlformats.org/drawingml/2006/main">
              <a:ext uri="{FF2B5EF4-FFF2-40B4-BE49-F238E27FC236}">
                <a16:creationId xmlns:a16="http://schemas.microsoft.com/office/drawing/2014/main" id="{0B23D59D-BEC2-4939-8ADF-51F6CD11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336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12,000</a:t>
            </a:r>
          </a:p>
        </p:txBody>
      </p:sp>
      <p:sp>
        <p:nvSpPr>
          <p:cNvPr id="28" name="shape-liazvg2">
            <a:extLst xmlns:a="http://schemas.openxmlformats.org/drawingml/2006/main">
              <a:ext uri="{FF2B5EF4-FFF2-40B4-BE49-F238E27FC236}">
                <a16:creationId xmlns:a16="http://schemas.microsoft.com/office/drawing/2014/main" id="{6418085B-EE5F-44B4-A1DD-0E314D74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9" name="text-4mctocs">
            <a:extLst xmlns:a="http://schemas.openxmlformats.org/drawingml/2006/main">
              <a:ext uri="{FF2B5EF4-FFF2-40B4-BE49-F238E27FC236}">
                <a16:creationId xmlns:a16="http://schemas.microsoft.com/office/drawing/2014/main" id="{F667E5BC-0FA2-46AC-871B-50E431F2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336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8,000</a:t>
            </a:r>
          </a:p>
        </p:txBody>
      </p:sp>
      <p:sp>
        <p:nvSpPr>
          <p:cNvPr id="30" name="shape-9rgycpe">
            <a:extLst xmlns:a="http://schemas.openxmlformats.org/drawingml/2006/main">
              <a:ext uri="{FF2B5EF4-FFF2-40B4-BE49-F238E27FC236}">
                <a16:creationId xmlns:a16="http://schemas.microsoft.com/office/drawing/2014/main" id="{81D6B9F4-D583-4F72-B943-147F8445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1" name="text-s90sjmt">
            <a:extLst xmlns:a="http://schemas.openxmlformats.org/drawingml/2006/main">
              <a:ext uri="{FF2B5EF4-FFF2-40B4-BE49-F238E27FC236}">
                <a16:creationId xmlns:a16="http://schemas.microsoft.com/office/drawing/2014/main" id="{D643CE52-1F80-4398-8BFB-1C188813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336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11,000</a:t>
            </a:r>
          </a:p>
        </p:txBody>
      </p:sp>
      <p:sp>
        <p:nvSpPr>
          <p:cNvPr id="32" name="shape-7dmgtcx">
            <a:extLst xmlns:a="http://schemas.openxmlformats.org/drawingml/2006/main">
              <a:ext uri="{FF2B5EF4-FFF2-40B4-BE49-F238E27FC236}">
                <a16:creationId xmlns:a16="http://schemas.microsoft.com/office/drawing/2014/main" id="{243225EA-EC0A-446C-A6E8-C9C37FB1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3" name="text-gg49tmy">
            <a:extLst xmlns:a="http://schemas.openxmlformats.org/drawingml/2006/main">
              <a:ext uri="{FF2B5EF4-FFF2-40B4-BE49-F238E27FC236}">
                <a16:creationId xmlns:a16="http://schemas.microsoft.com/office/drawing/2014/main" id="{3B733096-A74F-4E42-BEB0-C15E39CD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8607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2026-06-02</a:t>
            </a:r>
          </a:p>
        </p:txBody>
      </p:sp>
      <p:sp>
        <p:nvSpPr>
          <p:cNvPr id="34" name="shape-du6imrx">
            <a:extLst xmlns:a="http://schemas.openxmlformats.org/drawingml/2006/main">
              <a:ext uri="{FF2B5EF4-FFF2-40B4-BE49-F238E27FC236}">
                <a16:creationId xmlns:a16="http://schemas.microsoft.com/office/drawing/2014/main" id="{97986CEE-F912-4992-8712-3E9C55CB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5" name="text-qio5ehd">
            <a:extLst xmlns:a="http://schemas.openxmlformats.org/drawingml/2006/main">
              <a:ext uri="{FF2B5EF4-FFF2-40B4-BE49-F238E27FC236}">
                <a16:creationId xmlns:a16="http://schemas.microsoft.com/office/drawing/2014/main" id="{8FDE6485-67DB-4361-9FF9-4CAA2FA9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860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B店</a:t>
            </a:r>
          </a:p>
        </p:txBody>
      </p:sp>
      <p:sp>
        <p:nvSpPr>
          <p:cNvPr id="36" name="shape-rg3k5lj">
            <a:extLst xmlns:a="http://schemas.openxmlformats.org/drawingml/2006/main">
              <a:ext uri="{FF2B5EF4-FFF2-40B4-BE49-F238E27FC236}">
                <a16:creationId xmlns:a16="http://schemas.microsoft.com/office/drawing/2014/main" id="{DBB677B8-0879-4707-9B00-BA9E2BCC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194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7" name="text-zkv0dg7">
            <a:extLst xmlns:a="http://schemas.openxmlformats.org/drawingml/2006/main">
              <a:ext uri="{FF2B5EF4-FFF2-40B4-BE49-F238E27FC236}">
                <a16:creationId xmlns:a16="http://schemas.microsoft.com/office/drawing/2014/main" id="{576D5248-621F-49E1-A3A3-486D4F3B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860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华东</a:t>
            </a:r>
          </a:p>
        </p:txBody>
      </p:sp>
      <p:sp>
        <p:nvSpPr>
          <p:cNvPr id="38" name="shape-oh39ttd">
            <a:extLst xmlns:a="http://schemas.openxmlformats.org/drawingml/2006/main">
              <a:ext uri="{FF2B5EF4-FFF2-40B4-BE49-F238E27FC236}">
                <a16:creationId xmlns:a16="http://schemas.microsoft.com/office/drawing/2014/main" id="{8944CBCA-01F7-4F2D-BDB9-4B350900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194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9" name="text-4jlh828">
            <a:extLst xmlns:a="http://schemas.openxmlformats.org/drawingml/2006/main">
              <a:ext uri="{FF2B5EF4-FFF2-40B4-BE49-F238E27FC236}">
                <a16:creationId xmlns:a16="http://schemas.microsoft.com/office/drawing/2014/main" id="{8D1C2A7B-6890-44B6-AC8D-6922B754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860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产品乙</a:t>
            </a:r>
          </a:p>
        </p:txBody>
      </p:sp>
      <p:sp>
        <p:nvSpPr>
          <p:cNvPr id="40" name="shape-an2y6tm">
            <a:extLst xmlns:a="http://schemas.openxmlformats.org/drawingml/2006/main">
              <a:ext uri="{FF2B5EF4-FFF2-40B4-BE49-F238E27FC236}">
                <a16:creationId xmlns:a16="http://schemas.microsoft.com/office/drawing/2014/main" id="{607EB26C-9DD2-45E9-9758-7573227E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194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1" name="text-edcfuk7">
            <a:extLst xmlns:a="http://schemas.openxmlformats.org/drawingml/2006/main">
              <a:ext uri="{FF2B5EF4-FFF2-40B4-BE49-F238E27FC236}">
                <a16:creationId xmlns:a16="http://schemas.microsoft.com/office/drawing/2014/main" id="{D4F24FE3-4531-495E-877F-7B8616A8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860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9,800</a:t>
            </a:r>
          </a:p>
        </p:txBody>
      </p:sp>
      <p:sp>
        <p:nvSpPr>
          <p:cNvPr id="42" name="shape-k3osd3g">
            <a:extLst xmlns:a="http://schemas.openxmlformats.org/drawingml/2006/main">
              <a:ext uri="{FF2B5EF4-FFF2-40B4-BE49-F238E27FC236}">
                <a16:creationId xmlns:a16="http://schemas.microsoft.com/office/drawing/2014/main" id="{A77F02B9-2C66-436B-90D7-CD66F8D0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194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3" name="text-h70gqr7">
            <a:extLst xmlns:a="http://schemas.openxmlformats.org/drawingml/2006/main">
              <a:ext uri="{FF2B5EF4-FFF2-40B4-BE49-F238E27FC236}">
                <a16:creationId xmlns:a16="http://schemas.microsoft.com/office/drawing/2014/main" id="{90733299-9B29-41E7-BC40-3A57261E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860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5A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B5A00"/>
                </a:solidFill>
                <a:latin typeface="PingFang SC"/>
                <a:ea typeface="PingFang SC"/>
                <a:cs typeface="PingFang SC"/>
              </a:rPr>
              <a:t>（空）</a:t>
            </a:r>
          </a:p>
        </p:txBody>
      </p:sp>
      <p:sp>
        <p:nvSpPr>
          <p:cNvPr id="44" name="shape-32160h9">
            <a:extLst xmlns:a="http://schemas.openxmlformats.org/drawingml/2006/main">
              <a:ext uri="{FF2B5EF4-FFF2-40B4-BE49-F238E27FC236}">
                <a16:creationId xmlns:a16="http://schemas.microsoft.com/office/drawing/2014/main" id="{8ED5019C-45E5-45FF-B458-7A22BFB8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194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5" name="text-glodgmh">
            <a:extLst xmlns:a="http://schemas.openxmlformats.org/drawingml/2006/main">
              <a:ext uri="{FF2B5EF4-FFF2-40B4-BE49-F238E27FC236}">
                <a16:creationId xmlns:a16="http://schemas.microsoft.com/office/drawing/2014/main" id="{AD30609F-651B-49C0-83A0-25A81FEC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860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10,000</a:t>
            </a:r>
          </a:p>
        </p:txBody>
      </p:sp>
      <p:sp>
        <p:nvSpPr>
          <p:cNvPr id="46" name="shape-s1guaoc">
            <a:extLst xmlns:a="http://schemas.openxmlformats.org/drawingml/2006/main">
              <a:ext uri="{FF2B5EF4-FFF2-40B4-BE49-F238E27FC236}">
                <a16:creationId xmlns:a16="http://schemas.microsoft.com/office/drawing/2014/main" id="{14D63AEE-B4B5-481B-9F25-C4C0BFF4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E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7" name="text-87ly7jv">
            <a:extLst xmlns:a="http://schemas.openxmlformats.org/drawingml/2006/main">
              <a:ext uri="{FF2B5EF4-FFF2-40B4-BE49-F238E27FC236}">
                <a16:creationId xmlns:a16="http://schemas.microsoft.com/office/drawing/2014/main" id="{655F8D8A-A02C-4961-AA67-0DE48A99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3852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505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95050"/>
                </a:solidFill>
                <a:latin typeface="PingFang SC"/>
                <a:ea typeface="PingFang SC"/>
                <a:cs typeface="PingFang SC"/>
              </a:rPr>
              <a:t>06/03/26</a:t>
            </a:r>
          </a:p>
        </p:txBody>
      </p:sp>
      <p:sp>
        <p:nvSpPr>
          <p:cNvPr id="48" name="shape-ihd4oix">
            <a:extLst xmlns:a="http://schemas.openxmlformats.org/drawingml/2006/main">
              <a:ext uri="{FF2B5EF4-FFF2-40B4-BE49-F238E27FC236}">
                <a16:creationId xmlns:a16="http://schemas.microsoft.com/office/drawing/2014/main" id="{AD2BDD33-59A4-4290-941B-E07BF8A6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718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9" name="text-2e3gdor">
            <a:extLst xmlns:a="http://schemas.openxmlformats.org/drawingml/2006/main">
              <a:ext uri="{FF2B5EF4-FFF2-40B4-BE49-F238E27FC236}">
                <a16:creationId xmlns:a16="http://schemas.microsoft.com/office/drawing/2014/main" id="{3EBF150F-9626-409C-B9FD-45829C03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385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C店</a:t>
            </a:r>
          </a:p>
        </p:txBody>
      </p:sp>
      <p:sp>
        <p:nvSpPr>
          <p:cNvPr id="50" name="shape-8toki0j">
            <a:extLst xmlns:a="http://schemas.openxmlformats.org/drawingml/2006/main">
              <a:ext uri="{FF2B5EF4-FFF2-40B4-BE49-F238E27FC236}">
                <a16:creationId xmlns:a16="http://schemas.microsoft.com/office/drawing/2014/main" id="{F7B03D49-DF0E-4FAB-834E-DF8C93A2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718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1" name="text-enm8oug">
            <a:extLst xmlns:a="http://schemas.openxmlformats.org/drawingml/2006/main">
              <a:ext uri="{FF2B5EF4-FFF2-40B4-BE49-F238E27FC236}">
                <a16:creationId xmlns:a16="http://schemas.microsoft.com/office/drawing/2014/main" id="{54FA0ADA-2C4D-4E41-96D7-1131C7D3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385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华南</a:t>
            </a:r>
          </a:p>
        </p:txBody>
      </p:sp>
      <p:sp>
        <p:nvSpPr>
          <p:cNvPr id="52" name="shape-5l72zel">
            <a:extLst xmlns:a="http://schemas.openxmlformats.org/drawingml/2006/main">
              <a:ext uri="{FF2B5EF4-FFF2-40B4-BE49-F238E27FC236}">
                <a16:creationId xmlns:a16="http://schemas.microsoft.com/office/drawing/2014/main" id="{C9F75538-2FA1-46A5-A326-1E605643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718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3" name="text-glufbyk">
            <a:extLst xmlns:a="http://schemas.openxmlformats.org/drawingml/2006/main">
              <a:ext uri="{FF2B5EF4-FFF2-40B4-BE49-F238E27FC236}">
                <a16:creationId xmlns:a16="http://schemas.microsoft.com/office/drawing/2014/main" id="{77669996-C172-4190-AF8E-A08B2217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385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产品甲</a:t>
            </a:r>
          </a:p>
        </p:txBody>
      </p:sp>
      <p:sp>
        <p:nvSpPr>
          <p:cNvPr id="54" name="shape-ri21wpo">
            <a:extLst xmlns:a="http://schemas.openxmlformats.org/drawingml/2006/main">
              <a:ext uri="{FF2B5EF4-FFF2-40B4-BE49-F238E27FC236}">
                <a16:creationId xmlns:a16="http://schemas.microsoft.com/office/drawing/2014/main" id="{2ED7F832-3115-47CC-BFAE-E8573FBB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718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5" name="text-4d54tzn">
            <a:extLst xmlns:a="http://schemas.openxmlformats.org/drawingml/2006/main">
              <a:ext uri="{FF2B5EF4-FFF2-40B4-BE49-F238E27FC236}">
                <a16:creationId xmlns:a16="http://schemas.microsoft.com/office/drawing/2014/main" id="{035369BE-4B25-41E9-800B-777CDB72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385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15,200</a:t>
            </a:r>
          </a:p>
        </p:txBody>
      </p:sp>
      <p:sp>
        <p:nvSpPr>
          <p:cNvPr id="56" name="shape-kym03dx">
            <a:extLst xmlns:a="http://schemas.openxmlformats.org/drawingml/2006/main">
              <a:ext uri="{FF2B5EF4-FFF2-40B4-BE49-F238E27FC236}">
                <a16:creationId xmlns:a16="http://schemas.microsoft.com/office/drawing/2014/main" id="{6FB30F62-45EF-402A-AD0B-ED7130F9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18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7" name="text-97kt1ai">
            <a:extLst xmlns:a="http://schemas.openxmlformats.org/drawingml/2006/main">
              <a:ext uri="{FF2B5EF4-FFF2-40B4-BE49-F238E27FC236}">
                <a16:creationId xmlns:a16="http://schemas.microsoft.com/office/drawing/2014/main" id="{CE54D6FC-A3EC-458C-8F6C-7CDC7829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9,900</a:t>
            </a:r>
          </a:p>
        </p:txBody>
      </p:sp>
      <p:sp>
        <p:nvSpPr>
          <p:cNvPr id="58" name="shape-4i9k6g8">
            <a:extLst xmlns:a="http://schemas.openxmlformats.org/drawingml/2006/main">
              <a:ext uri="{FF2B5EF4-FFF2-40B4-BE49-F238E27FC236}">
                <a16:creationId xmlns:a16="http://schemas.microsoft.com/office/drawing/2014/main" id="{382A2F16-A4F4-4964-9C9B-3E675FC4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718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9" name="text-wcoay04">
            <a:extLst xmlns:a="http://schemas.openxmlformats.org/drawingml/2006/main">
              <a:ext uri="{FF2B5EF4-FFF2-40B4-BE49-F238E27FC236}">
                <a16:creationId xmlns:a16="http://schemas.microsoft.com/office/drawing/2014/main" id="{F95C3B59-BAA0-49CD-B104-0E3A272C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385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14,000</a:t>
            </a:r>
          </a:p>
        </p:txBody>
      </p:sp>
      <p:sp>
        <p:nvSpPr>
          <p:cNvPr id="60" name="shape-nv6sdyc">
            <a:extLst xmlns:a="http://schemas.openxmlformats.org/drawingml/2006/main">
              <a:ext uri="{FF2B5EF4-FFF2-40B4-BE49-F238E27FC236}">
                <a16:creationId xmlns:a16="http://schemas.microsoft.com/office/drawing/2014/main" id="{1E7F0453-804E-4BF1-90EB-869AC955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1" name="text-1lv9fwd">
            <a:extLst xmlns:a="http://schemas.openxmlformats.org/drawingml/2006/main">
              <a:ext uri="{FF2B5EF4-FFF2-40B4-BE49-F238E27FC236}">
                <a16:creationId xmlns:a16="http://schemas.microsoft.com/office/drawing/2014/main" id="{B9948D7E-1090-4745-8125-B11FAA03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2026-06-04</a:t>
            </a:r>
          </a:p>
        </p:txBody>
      </p:sp>
      <p:sp>
        <p:nvSpPr>
          <p:cNvPr id="62" name="shape-gm3l0x1">
            <a:extLst xmlns:a="http://schemas.openxmlformats.org/drawingml/2006/main">
              <a:ext uri="{FF2B5EF4-FFF2-40B4-BE49-F238E27FC236}">
                <a16:creationId xmlns:a16="http://schemas.microsoft.com/office/drawing/2014/main" id="{DD7808E6-404F-43CD-A971-C745E624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243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3" name="text-id0vu6d">
            <a:extLst xmlns:a="http://schemas.openxmlformats.org/drawingml/2006/main">
              <a:ext uri="{FF2B5EF4-FFF2-40B4-BE49-F238E27FC236}">
                <a16:creationId xmlns:a16="http://schemas.microsoft.com/office/drawing/2014/main" id="{FBB52116-296B-47E6-B588-94B10024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909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D店</a:t>
            </a:r>
          </a:p>
        </p:txBody>
      </p:sp>
      <p:sp>
        <p:nvSpPr>
          <p:cNvPr id="64" name="shape-vddqa6o">
            <a:extLst xmlns:a="http://schemas.openxmlformats.org/drawingml/2006/main">
              <a:ext uri="{FF2B5EF4-FFF2-40B4-BE49-F238E27FC236}">
                <a16:creationId xmlns:a16="http://schemas.microsoft.com/office/drawing/2014/main" id="{73A5CE72-10D0-44FB-B058-937DADDE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243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5" name="text-g19rg88">
            <a:extLst xmlns:a="http://schemas.openxmlformats.org/drawingml/2006/main">
              <a:ext uri="{FF2B5EF4-FFF2-40B4-BE49-F238E27FC236}">
                <a16:creationId xmlns:a16="http://schemas.microsoft.com/office/drawing/2014/main" id="{96021887-42DF-41B2-9A5F-CAA62D7E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909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华北</a:t>
            </a:r>
          </a:p>
        </p:txBody>
      </p:sp>
      <p:sp>
        <p:nvSpPr>
          <p:cNvPr id="66" name="shape-l5i9yp6">
            <a:extLst xmlns:a="http://schemas.openxmlformats.org/drawingml/2006/main">
              <a:ext uri="{FF2B5EF4-FFF2-40B4-BE49-F238E27FC236}">
                <a16:creationId xmlns:a16="http://schemas.microsoft.com/office/drawing/2014/main" id="{0D69FF1E-E413-4CFC-A117-AC7F4CDA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7" name="text-smo2zua">
            <a:extLst xmlns:a="http://schemas.openxmlformats.org/drawingml/2006/main">
              <a:ext uri="{FF2B5EF4-FFF2-40B4-BE49-F238E27FC236}">
                <a16:creationId xmlns:a16="http://schemas.microsoft.com/office/drawing/2014/main" id="{ECD62EE1-F9B8-4583-9786-BC9BEA75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909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产品丙</a:t>
            </a:r>
          </a:p>
        </p:txBody>
      </p:sp>
      <p:sp>
        <p:nvSpPr>
          <p:cNvPr id="68" name="shape-idots9c">
            <a:extLst xmlns:a="http://schemas.openxmlformats.org/drawingml/2006/main">
              <a:ext uri="{FF2B5EF4-FFF2-40B4-BE49-F238E27FC236}">
                <a16:creationId xmlns:a16="http://schemas.microsoft.com/office/drawing/2014/main" id="{B8E5E067-078F-4C12-8DD1-60521849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243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9" name="text-gpwjgwy">
            <a:extLst xmlns:a="http://schemas.openxmlformats.org/drawingml/2006/main">
              <a:ext uri="{FF2B5EF4-FFF2-40B4-BE49-F238E27FC236}">
                <a16:creationId xmlns:a16="http://schemas.microsoft.com/office/drawing/2014/main" id="{250402A1-B206-4BF3-AB90-2FDE62C4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909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8,600</a:t>
            </a:r>
          </a:p>
        </p:txBody>
      </p:sp>
      <p:sp>
        <p:nvSpPr>
          <p:cNvPr id="70" name="shape-yemvqzh">
            <a:extLst xmlns:a="http://schemas.openxmlformats.org/drawingml/2006/main">
              <a:ext uri="{FF2B5EF4-FFF2-40B4-BE49-F238E27FC236}">
                <a16:creationId xmlns:a16="http://schemas.microsoft.com/office/drawing/2014/main" id="{7D72E1C3-4A9A-4901-A289-DB3AB050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243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1" name="text-k9vlap1">
            <a:extLst xmlns:a="http://schemas.openxmlformats.org/drawingml/2006/main">
              <a:ext uri="{FF2B5EF4-FFF2-40B4-BE49-F238E27FC236}">
                <a16:creationId xmlns:a16="http://schemas.microsoft.com/office/drawing/2014/main" id="{9DB11D1F-FD2D-48FE-9F6D-0ABDB5D0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909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6,000</a:t>
            </a:r>
          </a:p>
        </p:txBody>
      </p:sp>
      <p:sp>
        <p:nvSpPr>
          <p:cNvPr id="72" name="shape-aq0ao5m">
            <a:extLst xmlns:a="http://schemas.openxmlformats.org/drawingml/2006/main">
              <a:ext uri="{FF2B5EF4-FFF2-40B4-BE49-F238E27FC236}">
                <a16:creationId xmlns:a16="http://schemas.microsoft.com/office/drawing/2014/main" id="{7628B501-F26F-4A88-950E-8F49F8E9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243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3" name="text-o08b5vt">
            <a:extLst xmlns:a="http://schemas.openxmlformats.org/drawingml/2006/main">
              <a:ext uri="{FF2B5EF4-FFF2-40B4-BE49-F238E27FC236}">
                <a16:creationId xmlns:a16="http://schemas.microsoft.com/office/drawing/2014/main" id="{DAB09A2B-2E8B-43FB-BBB5-002B5287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909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9,500</a:t>
            </a:r>
          </a:p>
        </p:txBody>
      </p:sp>
      <p:sp>
        <p:nvSpPr>
          <p:cNvPr id="74" name="shape-dyamq20">
            <a:extLst xmlns:a="http://schemas.openxmlformats.org/drawingml/2006/main">
              <a:ext uri="{FF2B5EF4-FFF2-40B4-BE49-F238E27FC236}">
                <a16:creationId xmlns:a16="http://schemas.microsoft.com/office/drawing/2014/main" id="{2AD3422D-D75B-4B51-AE65-5EB86907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5" name="text-3cxjcce">
            <a:extLst xmlns:a="http://schemas.openxmlformats.org/drawingml/2006/main">
              <a:ext uri="{FF2B5EF4-FFF2-40B4-BE49-F238E27FC236}">
                <a16:creationId xmlns:a16="http://schemas.microsoft.com/office/drawing/2014/main" id="{C11582EE-6078-4EA9-8AAA-1413764A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4342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2026-06-04</a:t>
            </a:r>
          </a:p>
        </p:txBody>
      </p:sp>
      <p:sp>
        <p:nvSpPr>
          <p:cNvPr id="76" name="shape-tex3s62">
            <a:extLst xmlns:a="http://schemas.openxmlformats.org/drawingml/2006/main">
              <a:ext uri="{FF2B5EF4-FFF2-40B4-BE49-F238E27FC236}">
                <a16:creationId xmlns:a16="http://schemas.microsoft.com/office/drawing/2014/main" id="{088DBD6C-6727-4226-A985-BE07BF8C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7" name="text-00hqh46">
            <a:extLst xmlns:a="http://schemas.openxmlformats.org/drawingml/2006/main">
              <a:ext uri="{FF2B5EF4-FFF2-40B4-BE49-F238E27FC236}">
                <a16:creationId xmlns:a16="http://schemas.microsoft.com/office/drawing/2014/main" id="{F08BC492-4ACF-4F83-BB91-369647BB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434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D店</a:t>
            </a:r>
          </a:p>
        </p:txBody>
      </p:sp>
      <p:sp>
        <p:nvSpPr>
          <p:cNvPr id="78" name="shape-asrgdzw">
            <a:extLst xmlns:a="http://schemas.openxmlformats.org/drawingml/2006/main">
              <a:ext uri="{FF2B5EF4-FFF2-40B4-BE49-F238E27FC236}">
                <a16:creationId xmlns:a16="http://schemas.microsoft.com/office/drawing/2014/main" id="{3FBB9794-20DA-4710-9448-06FE591C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9" name="text-kauv350">
            <a:extLst xmlns:a="http://schemas.openxmlformats.org/drawingml/2006/main">
              <a:ext uri="{FF2B5EF4-FFF2-40B4-BE49-F238E27FC236}">
                <a16:creationId xmlns:a16="http://schemas.microsoft.com/office/drawing/2014/main" id="{FB53B212-4EC0-4EAC-A25B-4F4C6239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434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华北</a:t>
            </a:r>
          </a:p>
        </p:txBody>
      </p:sp>
      <p:sp>
        <p:nvSpPr>
          <p:cNvPr id="80" name="shape-ou9019l">
            <a:extLst xmlns:a="http://schemas.openxmlformats.org/drawingml/2006/main">
              <a:ext uri="{FF2B5EF4-FFF2-40B4-BE49-F238E27FC236}">
                <a16:creationId xmlns:a16="http://schemas.microsoft.com/office/drawing/2014/main" id="{41DCEE0A-7CE6-48BF-9F16-826F1F8D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81" name="text-naurhc7">
            <a:extLst xmlns:a="http://schemas.openxmlformats.org/drawingml/2006/main">
              <a:ext uri="{FF2B5EF4-FFF2-40B4-BE49-F238E27FC236}">
                <a16:creationId xmlns:a16="http://schemas.microsoft.com/office/drawing/2014/main" id="{B8E8ECA2-D346-4436-B5A9-384D4C9D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434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产品丙</a:t>
            </a:r>
          </a:p>
        </p:txBody>
      </p:sp>
      <p:sp>
        <p:nvSpPr>
          <p:cNvPr id="82" name="shape-hoapkqd">
            <a:extLst xmlns:a="http://schemas.openxmlformats.org/drawingml/2006/main">
              <a:ext uri="{FF2B5EF4-FFF2-40B4-BE49-F238E27FC236}">
                <a16:creationId xmlns:a16="http://schemas.microsoft.com/office/drawing/2014/main" id="{EAD85340-3372-4262-BCC2-979C6D36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76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83" name="text-yzxz4d6">
            <a:extLst xmlns:a="http://schemas.openxmlformats.org/drawingml/2006/main">
              <a:ext uri="{FF2B5EF4-FFF2-40B4-BE49-F238E27FC236}">
                <a16:creationId xmlns:a16="http://schemas.microsoft.com/office/drawing/2014/main" id="{109B62F1-2983-403A-94D0-E0D56D90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434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8,600</a:t>
            </a:r>
          </a:p>
        </p:txBody>
      </p:sp>
      <p:sp>
        <p:nvSpPr>
          <p:cNvPr id="84" name="shape-5xlyrz2">
            <a:extLst xmlns:a="http://schemas.openxmlformats.org/drawingml/2006/main">
              <a:ext uri="{FF2B5EF4-FFF2-40B4-BE49-F238E27FC236}">
                <a16:creationId xmlns:a16="http://schemas.microsoft.com/office/drawing/2014/main" id="{548A7955-A349-4853-BD73-C0035C8F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85" name="text-7lljaze">
            <a:extLst xmlns:a="http://schemas.openxmlformats.org/drawingml/2006/main">
              <a:ext uri="{FF2B5EF4-FFF2-40B4-BE49-F238E27FC236}">
                <a16:creationId xmlns:a16="http://schemas.microsoft.com/office/drawing/2014/main" id="{B268EAC9-8B50-42CC-A1A8-6B64374D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434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6,000</a:t>
            </a:r>
          </a:p>
        </p:txBody>
      </p:sp>
      <p:sp>
        <p:nvSpPr>
          <p:cNvPr id="86" name="shape-9e6n0ab">
            <a:extLst xmlns:a="http://schemas.openxmlformats.org/drawingml/2006/main">
              <a:ext uri="{FF2B5EF4-FFF2-40B4-BE49-F238E27FC236}">
                <a16:creationId xmlns:a16="http://schemas.microsoft.com/office/drawing/2014/main" id="{78897E17-DD64-4C49-84D2-42B87297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87" name="text-nbbz8mt">
            <a:extLst xmlns:a="http://schemas.openxmlformats.org/drawingml/2006/main">
              <a:ext uri="{FF2B5EF4-FFF2-40B4-BE49-F238E27FC236}">
                <a16:creationId xmlns:a16="http://schemas.microsoft.com/office/drawing/2014/main" id="{0F196262-701F-49DC-B6DF-807392B4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434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9,500</a:t>
            </a:r>
          </a:p>
        </p:txBody>
      </p:sp>
      <p:sp>
        <p:nvSpPr>
          <p:cNvPr id="88" name="text-zw5esi2">
            <a:extLst xmlns:a="http://schemas.openxmlformats.org/drawingml/2006/main">
              <a:ext uri="{FF2B5EF4-FFF2-40B4-BE49-F238E27FC236}">
                <a16:creationId xmlns:a16="http://schemas.microsoft.com/office/drawing/2014/main" id="{F6F51B23-0AB3-470F-834C-7B54B34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863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B5A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8B5A00"/>
                </a:solidFill>
                <a:latin typeface="PingFang SC"/>
                <a:ea typeface="PingFang SC"/>
                <a:cs typeface="PingFang SC"/>
              </a:rPr>
              <a:t>空值</a:t>
            </a:r>
          </a:p>
        </p:txBody>
      </p:sp>
      <p:sp>
        <p:nvSpPr>
          <p:cNvPr id="89" name="text-pl0hnpi">
            <a:extLst xmlns:a="http://schemas.openxmlformats.org/drawingml/2006/main">
              <a:ext uri="{FF2B5EF4-FFF2-40B4-BE49-F238E27FC236}">
                <a16:creationId xmlns:a16="http://schemas.microsoft.com/office/drawing/2014/main" id="{308B2F76-B124-4266-83B0-58069051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863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505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95050"/>
                </a:solidFill>
                <a:latin typeface="PingFang SC"/>
                <a:ea typeface="PingFang SC"/>
                <a:cs typeface="PingFang SC"/>
              </a:rPr>
              <a:t>日期格式不一致</a:t>
            </a:r>
          </a:p>
        </p:txBody>
      </p:sp>
      <p:sp>
        <p:nvSpPr>
          <p:cNvPr id="90" name="text-6qq6hag">
            <a:extLst xmlns:a="http://schemas.openxmlformats.org/drawingml/2006/main">
              <a:ext uri="{FF2B5EF4-FFF2-40B4-BE49-F238E27FC236}">
                <a16:creationId xmlns:a16="http://schemas.microsoft.com/office/drawing/2014/main" id="{EA84FE76-47AE-4E42-8CB0-06871FF5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重复行</a:t>
            </a:r>
          </a:p>
        </p:txBody>
      </p:sp>
      <p:sp>
        <p:nvSpPr>
          <p:cNvPr id="91" name="text-ek6oexr">
            <a:extLst xmlns:a="http://schemas.openxmlformats.org/drawingml/2006/main">
              <a:ext uri="{FF2B5EF4-FFF2-40B4-BE49-F238E27FC236}">
                <a16:creationId xmlns:a16="http://schemas.microsoft.com/office/drawing/2014/main" id="{8118FA2E-6DBD-4B80-A1E6-E9ED0D39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从数据到Excel报表</a:t>
            </a:r>
          </a:p>
        </p:txBody>
      </p:sp>
    </p:spTree>
    <p:extLst>
      <p:ext uri="{BB962C8B-B14F-4D97-AF65-F5344CB8AC3E}">
        <p14:creationId xmlns:p14="http://schemas.microsoft.com/office/powerpoint/2010/main" val="148388647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o7fx7zm">
            <a:extLst xmlns:a="http://schemas.openxmlformats.org/drawingml/2006/main">
              <a:ext uri="{FF2B5EF4-FFF2-40B4-BE49-F238E27FC236}">
                <a16:creationId xmlns:a16="http://schemas.microsoft.com/office/drawing/2014/main" id="{5976D135-BA68-441F-9733-700E9A19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至少人工复算一个指标</a:t>
            </a:r>
          </a:p>
        </p:txBody>
      </p:sp>
      <p:sp>
        <p:nvSpPr>
          <p:cNvPr id="2" name="text-3zqq7eb">
            <a:extLst xmlns:a="http://schemas.openxmlformats.org/drawingml/2006/main">
              <a:ext uri="{FF2B5EF4-FFF2-40B4-BE49-F238E27FC236}">
                <a16:creationId xmlns:a16="http://schemas.microsoft.com/office/drawing/2014/main" id="{0790566B-608D-4260-BE67-EAD70D64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Excel 交付前，至少完成六项检查</a:t>
            </a:r>
          </a:p>
        </p:txBody>
      </p:sp>
      <p:sp>
        <p:nvSpPr>
          <p:cNvPr id="3" name="shape-uve7n3f">
            <a:extLst xmlns:a="http://schemas.openxmlformats.org/drawingml/2006/main">
              <a:ext uri="{FF2B5EF4-FFF2-40B4-BE49-F238E27FC236}">
                <a16:creationId xmlns:a16="http://schemas.microsoft.com/office/drawing/2014/main" id="{0BBE2248-9F2A-4459-9790-40817590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a3m1ehl">
            <a:extLst xmlns:a="http://schemas.openxmlformats.org/drawingml/2006/main">
              <a:ext uri="{FF2B5EF4-FFF2-40B4-BE49-F238E27FC236}">
                <a16:creationId xmlns:a16="http://schemas.microsoft.com/office/drawing/2014/main" id="{2655D5CA-C2C8-45D6-BCF8-30308CBD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vcffwpr">
            <a:extLst xmlns:a="http://schemas.openxmlformats.org/drawingml/2006/main">
              <a:ext uri="{FF2B5EF4-FFF2-40B4-BE49-F238E27FC236}">
                <a16:creationId xmlns:a16="http://schemas.microsoft.com/office/drawing/2014/main" id="{B7877F18-8B49-47CC-9384-A501EE83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a99disy">
            <a:extLst xmlns:a="http://schemas.openxmlformats.org/drawingml/2006/main">
              <a:ext uri="{FF2B5EF4-FFF2-40B4-BE49-F238E27FC236}">
                <a16:creationId xmlns:a16="http://schemas.microsoft.com/office/drawing/2014/main" id="{BC389ECE-D774-47C6-A3EC-D700718D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7" name="text-2pseufn">
            <a:extLst xmlns:a="http://schemas.openxmlformats.org/drawingml/2006/main">
              <a:ext uri="{FF2B5EF4-FFF2-40B4-BE49-F238E27FC236}">
                <a16:creationId xmlns:a16="http://schemas.microsoft.com/office/drawing/2014/main" id="{108132B6-3E91-4C52-A75E-89828149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92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必填数据是否完整</a:t>
            </a:r>
          </a:p>
        </p:txBody>
      </p:sp>
      <p:sp>
        <p:nvSpPr>
          <p:cNvPr id="8" name="shape-gnb428p">
            <a:extLst xmlns:a="http://schemas.openxmlformats.org/drawingml/2006/main">
              <a:ext uri="{FF2B5EF4-FFF2-40B4-BE49-F238E27FC236}">
                <a16:creationId xmlns:a16="http://schemas.microsoft.com/office/drawing/2014/main" id="{80617978-4CCD-4D19-BEF9-E2DC52FA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6764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hape-i80ghoe">
            <a:extLst xmlns:a="http://schemas.openxmlformats.org/drawingml/2006/main">
              <a:ext uri="{FF2B5EF4-FFF2-40B4-BE49-F238E27FC236}">
                <a16:creationId xmlns:a16="http://schemas.microsoft.com/office/drawing/2014/main" id="{B1C9FDDD-F4CC-4FB8-8E4C-3CC36EB5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05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ojh7oas">
            <a:extLst xmlns:a="http://schemas.openxmlformats.org/drawingml/2006/main">
              <a:ext uri="{FF2B5EF4-FFF2-40B4-BE49-F238E27FC236}">
                <a16:creationId xmlns:a16="http://schemas.microsoft.com/office/drawing/2014/main" id="{1FD8F07B-90A6-46C3-AF4C-1D4933CD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8859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1" name="text-g7heyt5">
            <a:extLst xmlns:a="http://schemas.openxmlformats.org/drawingml/2006/main">
              <a:ext uri="{FF2B5EF4-FFF2-40B4-BE49-F238E27FC236}">
                <a16:creationId xmlns:a16="http://schemas.microsoft.com/office/drawing/2014/main" id="{F9BA669F-7509-4533-BFD4-9EEAA73C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8192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同一字段格式是否一致</a:t>
            </a:r>
          </a:p>
        </p:txBody>
      </p:sp>
      <p:sp>
        <p:nvSpPr>
          <p:cNvPr id="12" name="shape-edgm5xt">
            <a:extLst xmlns:a="http://schemas.openxmlformats.org/drawingml/2006/main">
              <a:ext uri="{FF2B5EF4-FFF2-40B4-BE49-F238E27FC236}">
                <a16:creationId xmlns:a16="http://schemas.microsoft.com/office/drawing/2014/main" id="{E75CDF77-B10D-4C64-865F-89A4EB4A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hape-c1rhwm5">
            <a:extLst xmlns:a="http://schemas.openxmlformats.org/drawingml/2006/main">
              <a:ext uri="{FF2B5EF4-FFF2-40B4-BE49-F238E27FC236}">
                <a16:creationId xmlns:a16="http://schemas.microsoft.com/office/drawing/2014/main" id="{9757A93D-ED22-42F9-B106-80A66048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pui9ga7">
            <a:extLst xmlns:a="http://schemas.openxmlformats.org/drawingml/2006/main">
              <a:ext uri="{FF2B5EF4-FFF2-40B4-BE49-F238E27FC236}">
                <a16:creationId xmlns:a16="http://schemas.microsoft.com/office/drawing/2014/main" id="{089EDD4D-37D1-475C-997D-0C101EAC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5" name="text-8wteipo">
            <a:extLst xmlns:a="http://schemas.openxmlformats.org/drawingml/2006/main">
              <a:ext uri="{FF2B5EF4-FFF2-40B4-BE49-F238E27FC236}">
                <a16:creationId xmlns:a16="http://schemas.microsoft.com/office/drawing/2014/main" id="{1178ECD3-8A88-4BE1-B50D-6C04DF1B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6702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是否存在重复或异常</a:t>
            </a:r>
          </a:p>
        </p:txBody>
      </p:sp>
      <p:sp>
        <p:nvSpPr>
          <p:cNvPr id="16" name="shape-d2qm9bs">
            <a:extLst xmlns:a="http://schemas.openxmlformats.org/drawingml/2006/main">
              <a:ext uri="{FF2B5EF4-FFF2-40B4-BE49-F238E27FC236}">
                <a16:creationId xmlns:a16="http://schemas.microsoft.com/office/drawing/2014/main" id="{D0E7D01B-2A62-4EC1-B87A-4FCE6829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2415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shape-vn09tlr">
            <a:extLst xmlns:a="http://schemas.openxmlformats.org/drawingml/2006/main">
              <a:ext uri="{FF2B5EF4-FFF2-40B4-BE49-F238E27FC236}">
                <a16:creationId xmlns:a16="http://schemas.microsoft.com/office/drawing/2014/main" id="{9334FE57-83D1-4DE2-87E2-8255DCB7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h2q547j">
            <a:extLst xmlns:a="http://schemas.openxmlformats.org/drawingml/2006/main">
              <a:ext uri="{FF2B5EF4-FFF2-40B4-BE49-F238E27FC236}">
                <a16:creationId xmlns:a16="http://schemas.microsoft.com/office/drawing/2014/main" id="{8DB4B19D-AA4B-49E0-B12B-C3C95AEE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337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9" name="text-jvdybgz">
            <a:extLst xmlns:a="http://schemas.openxmlformats.org/drawingml/2006/main">
              <a:ext uri="{FF2B5EF4-FFF2-40B4-BE49-F238E27FC236}">
                <a16:creationId xmlns:a16="http://schemas.microsoft.com/office/drawing/2014/main" id="{907BF940-8308-4476-B48D-1AB232AD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6702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总计是否等于明细之和</a:t>
            </a:r>
          </a:p>
        </p:txBody>
      </p:sp>
      <p:sp>
        <p:nvSpPr>
          <p:cNvPr id="20" name="shape-rkry08x">
            <a:extLst xmlns:a="http://schemas.openxmlformats.org/drawingml/2006/main">
              <a:ext uri="{FF2B5EF4-FFF2-40B4-BE49-F238E27FC236}">
                <a16:creationId xmlns:a16="http://schemas.microsoft.com/office/drawing/2014/main" id="{827A8536-3C9E-4417-82D9-1CA0C0E3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hape-fqg6mit">
            <a:extLst xmlns:a="http://schemas.openxmlformats.org/drawingml/2006/main">
              <a:ext uri="{FF2B5EF4-FFF2-40B4-BE49-F238E27FC236}">
                <a16:creationId xmlns:a16="http://schemas.microsoft.com/office/drawing/2014/main" id="{9B2E7DE0-8A59-4777-B99F-FFECBC0F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fp53u54">
            <a:extLst xmlns:a="http://schemas.openxmlformats.org/drawingml/2006/main">
              <a:ext uri="{FF2B5EF4-FFF2-40B4-BE49-F238E27FC236}">
                <a16:creationId xmlns:a16="http://schemas.microsoft.com/office/drawing/2014/main" id="{F49A2EDF-447E-4456-B0A0-4B89F500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3" name="text-oby8qkj">
            <a:extLst xmlns:a="http://schemas.openxmlformats.org/drawingml/2006/main">
              <a:ext uri="{FF2B5EF4-FFF2-40B4-BE49-F238E27FC236}">
                <a16:creationId xmlns:a16="http://schemas.microsoft.com/office/drawing/2014/main" id="{5ABE40DE-E732-4723-8253-B521F6E1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147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利润率、完成率口径是否正确</a:t>
            </a:r>
          </a:p>
        </p:txBody>
      </p:sp>
      <p:sp>
        <p:nvSpPr>
          <p:cNvPr id="24" name="shape-5ob30xz">
            <a:extLst xmlns:a="http://schemas.openxmlformats.org/drawingml/2006/main">
              <a:ext uri="{FF2B5EF4-FFF2-40B4-BE49-F238E27FC236}">
                <a16:creationId xmlns:a16="http://schemas.microsoft.com/office/drawing/2014/main" id="{7D948983-3A96-4D93-86F0-EF3D987E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7719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shape-6ks1u9u">
            <a:extLst xmlns:a="http://schemas.openxmlformats.org/drawingml/2006/main">
              <a:ext uri="{FF2B5EF4-FFF2-40B4-BE49-F238E27FC236}">
                <a16:creationId xmlns:a16="http://schemas.microsoft.com/office/drawing/2014/main" id="{4D291130-0D7A-4CCF-B75E-7B363E97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000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hrcz9kk">
            <a:extLst xmlns:a="http://schemas.openxmlformats.org/drawingml/2006/main">
              <a:ext uri="{FF2B5EF4-FFF2-40B4-BE49-F238E27FC236}">
                <a16:creationId xmlns:a16="http://schemas.microsoft.com/office/drawing/2014/main" id="{D92996DF-7648-42B4-B6F0-C2EE5277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9814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7" name="text-mqrgeal">
            <a:extLst xmlns:a="http://schemas.openxmlformats.org/drawingml/2006/main">
              <a:ext uri="{FF2B5EF4-FFF2-40B4-BE49-F238E27FC236}">
                <a16:creationId xmlns:a16="http://schemas.microsoft.com/office/drawing/2014/main" id="{ECB8081F-E3ED-48AB-BFA0-3CC8136A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9147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PPT关键数字能否追溯到Excel</a:t>
            </a:r>
          </a:p>
        </p:txBody>
      </p:sp>
      <p:sp>
        <p:nvSpPr>
          <p:cNvPr id="28" name="text-wfxx24f">
            <a:extLst xmlns:a="http://schemas.openxmlformats.org/drawingml/2006/main">
              <a:ext uri="{FF2B5EF4-FFF2-40B4-BE49-F238E27FC236}">
                <a16:creationId xmlns:a16="http://schemas.microsoft.com/office/drawing/2014/main" id="{236500AE-42F7-413D-8202-6B8DEFB6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从数据到Excel报表</a:t>
            </a:r>
          </a:p>
        </p:txBody>
      </p:sp>
    </p:spTree>
    <p:extLst>
      <p:ext uri="{BB962C8B-B14F-4D97-AF65-F5344CB8AC3E}">
        <p14:creationId xmlns:p14="http://schemas.microsoft.com/office/powerpoint/2010/main" val="167296910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2vkq0ev">
            <a:extLst xmlns:a="http://schemas.openxmlformats.org/drawingml/2006/main">
              <a:ext uri="{FF2B5EF4-FFF2-40B4-BE49-F238E27FC236}">
                <a16:creationId xmlns:a16="http://schemas.microsoft.com/office/drawing/2014/main" id="{8CA17B5C-8E06-44BE-A21C-D930CA9B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下一节课</a:t>
            </a:r>
          </a:p>
        </p:txBody>
      </p:sp>
      <p:sp>
        <p:nvSpPr>
          <p:cNvPr id="2" name="text-cp0criw">
            <a:extLst xmlns:a="http://schemas.openxmlformats.org/drawingml/2006/main">
              <a:ext uri="{FF2B5EF4-FFF2-40B4-BE49-F238E27FC236}">
                <a16:creationId xmlns:a16="http://schemas.microsoft.com/office/drawing/2014/main" id="{74C7849A-7E2D-41D1-8251-0CFAE152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 Excel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到 PPT 叙事</a:t>
            </a:r>
          </a:p>
        </p:txBody>
      </p:sp>
      <p:sp>
        <p:nvSpPr>
          <p:cNvPr id="3" name="text-xynbj19">
            <a:extLst xmlns:a="http://schemas.openxmlformats.org/drawingml/2006/main">
              <a:ext uri="{FF2B5EF4-FFF2-40B4-BE49-F238E27FC236}">
                <a16:creationId xmlns:a16="http://schemas.microsoft.com/office/drawing/2014/main" id="{8937160B-163A-46AD-822C-E7F8D534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rPr>
              <a:t>PPT不是复制表格，而是用数据证据回答业务问题。</a:t>
            </a:r>
          </a:p>
        </p:txBody>
      </p:sp>
      <p:sp>
        <p:nvSpPr>
          <p:cNvPr id="4" name="shape-r1zosm6">
            <a:extLst xmlns:a="http://schemas.openxmlformats.org/drawingml/2006/main">
              <a:ext uri="{FF2B5EF4-FFF2-40B4-BE49-F238E27FC236}">
                <a16:creationId xmlns:a16="http://schemas.microsoft.com/office/drawing/2014/main" id="{ABDEEB7C-E76A-4559-9C75-DB418D24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524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97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2789932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fsnq456">
            <a:extLst xmlns:a="http://schemas.openxmlformats.org/drawingml/2006/main">
              <a:ext uri="{FF2B5EF4-FFF2-40B4-BE49-F238E27FC236}">
                <a16:creationId xmlns:a16="http://schemas.microsoft.com/office/drawing/2014/main" id="{B5ABDCD1-CDDC-4C4A-A834-B0816359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汇报逻辑</a:t>
            </a:r>
          </a:p>
        </p:txBody>
      </p:sp>
      <p:sp>
        <p:nvSpPr>
          <p:cNvPr id="2" name="text-mdpgk5l">
            <a:extLst xmlns:a="http://schemas.openxmlformats.org/drawingml/2006/main">
              <a:ext uri="{FF2B5EF4-FFF2-40B4-BE49-F238E27FC236}">
                <a16:creationId xmlns:a16="http://schemas.microsoft.com/office/drawing/2014/main" id="{5487D0C8-6672-49C2-932F-54F0CB27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四个问题，把数据变成可以推动行动的故事</a:t>
            </a:r>
          </a:p>
        </p:txBody>
      </p:sp>
      <p:sp>
        <p:nvSpPr>
          <p:cNvPr id="3" name="shape-ljkuz8o">
            <a:extLst xmlns:a="http://schemas.openxmlformats.org/drawingml/2006/main">
              <a:ext uri="{FF2B5EF4-FFF2-40B4-BE49-F238E27FC236}">
                <a16:creationId xmlns:a16="http://schemas.microsoft.com/office/drawing/2014/main" id="{5373CA2B-E25B-41B2-B49B-EB60657F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jaag6bn">
            <a:extLst xmlns:a="http://schemas.openxmlformats.org/drawingml/2006/main">
              <a:ext uri="{FF2B5EF4-FFF2-40B4-BE49-F238E27FC236}">
                <a16:creationId xmlns:a16="http://schemas.microsoft.com/office/drawing/2014/main" id="{36AD94D3-FF64-4184-888F-A7FB8A18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text-wgma72f">
            <a:extLst xmlns:a="http://schemas.openxmlformats.org/drawingml/2006/main">
              <a:ext uri="{FF2B5EF4-FFF2-40B4-BE49-F238E27FC236}">
                <a16:creationId xmlns:a16="http://schemas.microsoft.com/office/drawing/2014/main" id="{BCBF9087-16FB-42FF-BD09-5C67E9C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发生了什么？</a:t>
            </a:r>
          </a:p>
        </p:txBody>
      </p:sp>
      <p:sp>
        <p:nvSpPr>
          <p:cNvPr id="6" name="shape-hg6hn7a">
            <a:extLst xmlns:a="http://schemas.openxmlformats.org/drawingml/2006/main">
              <a:ext uri="{FF2B5EF4-FFF2-40B4-BE49-F238E27FC236}">
                <a16:creationId xmlns:a16="http://schemas.microsoft.com/office/drawing/2014/main" id="{E1473797-9675-4D6A-88F0-B29D180E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x57imw2">
            <a:extLst xmlns:a="http://schemas.openxmlformats.org/drawingml/2006/main">
              <a:ext uri="{FF2B5EF4-FFF2-40B4-BE49-F238E27FC236}">
                <a16:creationId xmlns:a16="http://schemas.microsoft.com/office/drawing/2014/main" id="{4BBA4E44-8B26-48AC-AA43-02BFA37A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趋势、差异、异常</a:t>
            </a:r>
          </a:p>
        </p:txBody>
      </p:sp>
      <p:sp>
        <p:nvSpPr>
          <p:cNvPr id="8" name="text-6nvhrxy">
            <a:extLst xmlns:a="http://schemas.openxmlformats.org/drawingml/2006/main">
              <a:ext uri="{FF2B5EF4-FFF2-40B4-BE49-F238E27FC236}">
                <a16:creationId xmlns:a16="http://schemas.microsoft.com/office/drawing/2014/main" id="{A53C312C-FCC6-4500-AA58-2C2EAAD6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0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text-div3e39">
            <a:extLst xmlns:a="http://schemas.openxmlformats.org/drawingml/2006/main">
              <a:ext uri="{FF2B5EF4-FFF2-40B4-BE49-F238E27FC236}">
                <a16:creationId xmlns:a16="http://schemas.microsoft.com/office/drawing/2014/main" id="{7A1DFADD-81B4-4269-BE8A-08751042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670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为什么发生？</a:t>
            </a:r>
          </a:p>
        </p:txBody>
      </p:sp>
      <p:sp>
        <p:nvSpPr>
          <p:cNvPr id="10" name="shape-iep9g80">
            <a:extLst xmlns:a="http://schemas.openxmlformats.org/drawingml/2006/main">
              <a:ext uri="{FF2B5EF4-FFF2-40B4-BE49-F238E27FC236}">
                <a16:creationId xmlns:a16="http://schemas.microsoft.com/office/drawing/2014/main" id="{4A5BAC40-EC49-460D-BCE2-A1A8B7E1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714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li2mur">
            <a:extLst xmlns:a="http://schemas.openxmlformats.org/drawingml/2006/main">
              <a:ext uri="{FF2B5EF4-FFF2-40B4-BE49-F238E27FC236}">
                <a16:creationId xmlns:a16="http://schemas.microsoft.com/office/drawing/2014/main" id="{C877B08B-8F05-4D14-BDDC-7084B64A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048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原因与证据</a:t>
            </a:r>
          </a:p>
        </p:txBody>
      </p:sp>
      <p:sp>
        <p:nvSpPr>
          <p:cNvPr id="12" name="text-eq0lwzw">
            <a:extLst xmlns:a="http://schemas.openxmlformats.org/drawingml/2006/main">
              <a:ext uri="{FF2B5EF4-FFF2-40B4-BE49-F238E27FC236}">
                <a16:creationId xmlns:a16="http://schemas.microsoft.com/office/drawing/2014/main" id="{2B8EECBD-7979-44E4-83D0-F021B1FD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text-ntxzftf">
            <a:extLst xmlns:a="http://schemas.openxmlformats.org/drawingml/2006/main">
              <a:ext uri="{FF2B5EF4-FFF2-40B4-BE49-F238E27FC236}">
                <a16:creationId xmlns:a16="http://schemas.microsoft.com/office/drawing/2014/main" id="{B860257C-B78A-467D-8117-0C624F62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670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意味着什么？</a:t>
            </a:r>
          </a:p>
        </p:txBody>
      </p:sp>
      <p:sp>
        <p:nvSpPr>
          <p:cNvPr id="14" name="shape-zb7zmks">
            <a:extLst xmlns:a="http://schemas.openxmlformats.org/drawingml/2006/main">
              <a:ext uri="{FF2B5EF4-FFF2-40B4-BE49-F238E27FC236}">
                <a16:creationId xmlns:a16="http://schemas.microsoft.com/office/drawing/2014/main" id="{9F77AADB-1E36-4AE5-86A2-3CB8E05F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znvgm1q">
            <a:extLst xmlns:a="http://schemas.openxmlformats.org/drawingml/2006/main">
              <a:ext uri="{FF2B5EF4-FFF2-40B4-BE49-F238E27FC236}">
                <a16:creationId xmlns:a16="http://schemas.microsoft.com/office/drawing/2014/main" id="{3A5A13AA-885F-4648-B6F0-C32E6CE9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48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风险、机会、影响</a:t>
            </a:r>
          </a:p>
        </p:txBody>
      </p:sp>
      <p:sp>
        <p:nvSpPr>
          <p:cNvPr id="16" name="text-supvvtz">
            <a:extLst xmlns:a="http://schemas.openxmlformats.org/drawingml/2006/main">
              <a:ext uri="{FF2B5EF4-FFF2-40B4-BE49-F238E27FC236}">
                <a16:creationId xmlns:a16="http://schemas.microsoft.com/office/drawing/2014/main" id="{C514F52C-88E6-4896-9A9D-3EF65972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0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text-6aig4dj">
            <a:extLst xmlns:a="http://schemas.openxmlformats.org/drawingml/2006/main">
              <a:ext uri="{FF2B5EF4-FFF2-40B4-BE49-F238E27FC236}">
                <a16:creationId xmlns:a16="http://schemas.microsoft.com/office/drawing/2014/main" id="{79BA0431-F64B-4A94-9C2E-03A07427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6670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接下来做什么？</a:t>
            </a:r>
          </a:p>
        </p:txBody>
      </p:sp>
      <p:sp>
        <p:nvSpPr>
          <p:cNvPr id="18" name="shape-f3dwsi4">
            <a:extLst xmlns:a="http://schemas.openxmlformats.org/drawingml/2006/main">
              <a:ext uri="{FF2B5EF4-FFF2-40B4-BE49-F238E27FC236}">
                <a16:creationId xmlns:a16="http://schemas.microsoft.com/office/drawing/2014/main" id="{6E0FDC0A-8A29-45A9-898E-82D50FA7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714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l4c8koh">
            <a:extLst xmlns:a="http://schemas.openxmlformats.org/drawingml/2006/main">
              <a:ext uri="{FF2B5EF4-FFF2-40B4-BE49-F238E27FC236}">
                <a16:creationId xmlns:a16="http://schemas.microsoft.com/office/drawing/2014/main" id="{80D26191-7B9D-479E-BDF9-1E7A3D6C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048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负责人、动作、时间</a:t>
            </a:r>
          </a:p>
        </p:txBody>
      </p:sp>
      <p:sp>
        <p:nvSpPr>
          <p:cNvPr id="20" name="text-yx65uhj">
            <a:extLst xmlns:a="http://schemas.openxmlformats.org/drawingml/2006/main">
              <a:ext uri="{FF2B5EF4-FFF2-40B4-BE49-F238E27FC236}">
                <a16:creationId xmlns:a16="http://schemas.microsoft.com/office/drawing/2014/main" id="{E582F886-AF5A-4D2C-AE5C-B22E9017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139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标题直接写结论，不要只写“数据分析”。</a:t>
            </a:r>
          </a:p>
        </p:txBody>
      </p:sp>
      <p:sp>
        <p:nvSpPr>
          <p:cNvPr id="21" name="text-0z8izl0">
            <a:extLst xmlns:a="http://schemas.openxmlformats.org/drawingml/2006/main">
              <a:ext uri="{FF2B5EF4-FFF2-40B4-BE49-F238E27FC236}">
                <a16:creationId xmlns:a16="http://schemas.microsoft.com/office/drawing/2014/main" id="{B878483F-DF69-4C9A-B411-E0F5AD3F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从Excel到PPT方案</a:t>
            </a:r>
          </a:p>
        </p:txBody>
      </p:sp>
    </p:spTree>
    <p:extLst>
      <p:ext uri="{BB962C8B-B14F-4D97-AF65-F5344CB8AC3E}">
        <p14:creationId xmlns:p14="http://schemas.microsoft.com/office/powerpoint/2010/main" val="163609086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xt-08prj3g">
            <a:extLst xmlns:a="http://schemas.openxmlformats.org/drawingml/2006/main">
              <a:ext uri="{FF2B5EF4-FFF2-40B4-BE49-F238E27FC236}">
                <a16:creationId xmlns:a16="http://schemas.microsoft.com/office/drawing/2014/main" id="{55B5B876-FDEA-43C8-9080-B6A63FA4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一页一个结论</a:t>
            </a:r>
          </a:p>
        </p:txBody>
      </p:sp>
      <p:sp>
        <p:nvSpPr>
          <p:cNvPr id="2" name="text-6p7jjxd">
            <a:extLst xmlns:a="http://schemas.openxmlformats.org/drawingml/2006/main">
              <a:ext uri="{FF2B5EF4-FFF2-40B4-BE49-F238E27FC236}">
                <a16:creationId xmlns:a16="http://schemas.microsoft.com/office/drawing/2014/main" id="{6B7A123C-A943-4C36-B346-9C0429DB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先用 Markdown 写 5 页方案，再生成 PPT</a:t>
            </a:r>
          </a:p>
        </p:txBody>
      </p:sp>
      <p:sp>
        <p:nvSpPr>
          <p:cNvPr id="3" name="shape-c2ubinf">
            <a:extLst xmlns:a="http://schemas.openxmlformats.org/drawingml/2006/main">
              <a:ext uri="{FF2B5EF4-FFF2-40B4-BE49-F238E27FC236}">
                <a16:creationId xmlns:a16="http://schemas.microsoft.com/office/drawing/2014/main" id="{86D4C6D3-E6A5-4F08-8D78-FE45418E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vqsiz2a">
            <a:extLst xmlns:a="http://schemas.openxmlformats.org/drawingml/2006/main">
              <a:ext uri="{FF2B5EF4-FFF2-40B4-BE49-F238E27FC236}">
                <a16:creationId xmlns:a16="http://schemas.microsoft.com/office/drawing/2014/main" id="{54F7B0E6-EDD6-48C6-B84C-006A62D8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" name="text-fcdgl94">
            <a:extLst xmlns:a="http://schemas.openxmlformats.org/drawingml/2006/main">
              <a:ext uri="{FF2B5EF4-FFF2-40B4-BE49-F238E27FC236}">
                <a16:creationId xmlns:a16="http://schemas.microsoft.com/office/drawing/2014/main" id="{BBF6FAC3-013C-42E4-9674-EC4D4733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8592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页</a:t>
            </a:r>
          </a:p>
        </p:txBody>
      </p:sp>
      <p:sp>
        <p:nvSpPr>
          <p:cNvPr id="6" name="shape-k22395m">
            <a:extLst xmlns:a="http://schemas.openxmlformats.org/drawingml/2006/main">
              <a:ext uri="{FF2B5EF4-FFF2-40B4-BE49-F238E27FC236}">
                <a16:creationId xmlns:a16="http://schemas.microsoft.com/office/drawing/2014/main" id="{B6571E43-9A97-4209-8758-A39FCE73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" name="text-lphzmvo">
            <a:extLst xmlns:a="http://schemas.openxmlformats.org/drawingml/2006/main">
              <a:ext uri="{FF2B5EF4-FFF2-40B4-BE49-F238E27FC236}">
                <a16:creationId xmlns:a16="http://schemas.microsoft.com/office/drawing/2014/main" id="{DB776E4E-CA19-49C9-99A8-B995A72D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68592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页面任务</a:t>
            </a:r>
          </a:p>
        </p:txBody>
      </p:sp>
      <p:sp>
        <p:nvSpPr>
          <p:cNvPr id="8" name="shape-hkquzfk">
            <a:extLst xmlns:a="http://schemas.openxmlformats.org/drawingml/2006/main">
              <a:ext uri="{FF2B5EF4-FFF2-40B4-BE49-F238E27FC236}">
                <a16:creationId xmlns:a16="http://schemas.microsoft.com/office/drawing/2014/main" id="{F30CA13A-3655-4DC9-92DA-4C1C9AAA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9" name="text-r1h5dzg">
            <a:extLst xmlns:a="http://schemas.openxmlformats.org/drawingml/2006/main">
              <a:ext uri="{FF2B5EF4-FFF2-40B4-BE49-F238E27FC236}">
                <a16:creationId xmlns:a16="http://schemas.microsoft.com/office/drawing/2014/main" id="{66C0404C-F9AD-4C31-99B0-F704E453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8592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核心内容</a:t>
            </a:r>
          </a:p>
        </p:txBody>
      </p:sp>
      <p:sp>
        <p:nvSpPr>
          <p:cNvPr id="10" name="shape-70ctdwt">
            <a:extLst xmlns:a="http://schemas.openxmlformats.org/drawingml/2006/main">
              <a:ext uri="{FF2B5EF4-FFF2-40B4-BE49-F238E27FC236}">
                <a16:creationId xmlns:a16="http://schemas.microsoft.com/office/drawing/2014/main" id="{66E47F25-7A13-406D-9208-70AEAEAE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1" name="text-v0qalau">
            <a:extLst xmlns:a="http://schemas.openxmlformats.org/drawingml/2006/main">
              <a:ext uri="{FF2B5EF4-FFF2-40B4-BE49-F238E27FC236}">
                <a16:creationId xmlns:a16="http://schemas.microsoft.com/office/drawing/2014/main" id="{DF4F5EF4-1EB8-4F97-87F6-BE2D5F33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8592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建议呈现</a:t>
            </a:r>
          </a:p>
        </p:txBody>
      </p:sp>
      <p:sp>
        <p:nvSpPr>
          <p:cNvPr id="12" name="shape-fxs7u64">
            <a:extLst xmlns:a="http://schemas.openxmlformats.org/drawingml/2006/main">
              <a:ext uri="{FF2B5EF4-FFF2-40B4-BE49-F238E27FC236}">
                <a16:creationId xmlns:a16="http://schemas.microsoft.com/office/drawing/2014/main" id="{B8946C1E-9D8A-4CE4-9364-2E85A8D5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3" name="text-kk8d9oc">
            <a:extLst xmlns:a="http://schemas.openxmlformats.org/drawingml/2006/main">
              <a:ext uri="{FF2B5EF4-FFF2-40B4-BE49-F238E27FC236}">
                <a16:creationId xmlns:a16="http://schemas.microsoft.com/office/drawing/2014/main" id="{0D858A46-3777-460C-9D46-64479FFD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267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4" name="shape-kvcfcst">
            <a:extLst xmlns:a="http://schemas.openxmlformats.org/drawingml/2006/main">
              <a:ext uri="{FF2B5EF4-FFF2-40B4-BE49-F238E27FC236}">
                <a16:creationId xmlns:a16="http://schemas.microsoft.com/office/drawing/2014/main" id="{B0354C6A-508D-4EFF-A055-B9C991B0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860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5" name="text-j9h96u2">
            <a:extLst xmlns:a="http://schemas.openxmlformats.org/drawingml/2006/main">
              <a:ext uri="{FF2B5EF4-FFF2-40B4-BE49-F238E27FC236}">
                <a16:creationId xmlns:a16="http://schemas.microsoft.com/office/drawing/2014/main" id="{B5819600-B8CF-477D-93BF-76C031F1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5267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目标与范围</a:t>
            </a:r>
          </a:p>
        </p:txBody>
      </p:sp>
      <p:sp>
        <p:nvSpPr>
          <p:cNvPr id="16" name="shape-76zasoa">
            <a:extLst xmlns:a="http://schemas.openxmlformats.org/drawingml/2006/main">
              <a:ext uri="{FF2B5EF4-FFF2-40B4-BE49-F238E27FC236}">
                <a16:creationId xmlns:a16="http://schemas.microsoft.com/office/drawing/2014/main" id="{B764BE40-15E8-4655-953F-92821D38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7" name="text-1k9vzvd">
            <a:extLst xmlns:a="http://schemas.openxmlformats.org/drawingml/2006/main">
              <a:ext uri="{FF2B5EF4-FFF2-40B4-BE49-F238E27FC236}">
                <a16:creationId xmlns:a16="http://schemas.microsoft.com/office/drawing/2014/main" id="{6858AFFE-642F-4213-80B8-4AFD0994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5267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这次汇报关注什么</a:t>
            </a:r>
          </a:p>
        </p:txBody>
      </p:sp>
      <p:sp>
        <p:nvSpPr>
          <p:cNvPr id="18" name="shape-dxjgdxn">
            <a:extLst xmlns:a="http://schemas.openxmlformats.org/drawingml/2006/main">
              <a:ext uri="{FF2B5EF4-FFF2-40B4-BE49-F238E27FC236}">
                <a16:creationId xmlns:a16="http://schemas.microsoft.com/office/drawing/2014/main" id="{F01A5ACC-2938-4CA8-B09B-C413D8D1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9" name="text-1krx9ni">
            <a:extLst xmlns:a="http://schemas.openxmlformats.org/drawingml/2006/main">
              <a:ext uri="{FF2B5EF4-FFF2-40B4-BE49-F238E27FC236}">
                <a16:creationId xmlns:a16="http://schemas.microsoft.com/office/drawing/2014/main" id="{3309B862-1CF5-4654-B445-FE7D0A6E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5267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KPI与统计范围</a:t>
            </a:r>
          </a:p>
        </p:txBody>
      </p:sp>
      <p:sp>
        <p:nvSpPr>
          <p:cNvPr id="20" name="shape-gib5776">
            <a:extLst xmlns:a="http://schemas.openxmlformats.org/drawingml/2006/main">
              <a:ext uri="{FF2B5EF4-FFF2-40B4-BE49-F238E27FC236}">
                <a16:creationId xmlns:a16="http://schemas.microsoft.com/office/drawing/2014/main" id="{893F0F12-B21F-4AD4-BB74-8F960869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1" name="text-1r9zidb">
            <a:extLst xmlns:a="http://schemas.openxmlformats.org/drawingml/2006/main">
              <a:ext uri="{FF2B5EF4-FFF2-40B4-BE49-F238E27FC236}">
                <a16:creationId xmlns:a16="http://schemas.microsoft.com/office/drawing/2014/main" id="{C0E17D54-1589-4C7C-8A21-3277E96C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1942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2" name="shape-xtfbgar">
            <a:extLst xmlns:a="http://schemas.openxmlformats.org/drawingml/2006/main">
              <a:ext uri="{FF2B5EF4-FFF2-40B4-BE49-F238E27FC236}">
                <a16:creationId xmlns:a16="http://schemas.microsoft.com/office/drawing/2014/main" id="{6361EED5-6AB8-43B9-91F4-9705679F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527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3" name="text-cc1um78">
            <a:extLst xmlns:a="http://schemas.openxmlformats.org/drawingml/2006/main">
              <a:ext uri="{FF2B5EF4-FFF2-40B4-BE49-F238E27FC236}">
                <a16:creationId xmlns:a16="http://schemas.microsoft.com/office/drawing/2014/main" id="{A366E9CE-E69A-44F9-9207-ECFB0759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1942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整体结果</a:t>
            </a:r>
          </a:p>
        </p:txBody>
      </p:sp>
      <p:sp>
        <p:nvSpPr>
          <p:cNvPr id="24" name="shape-tcxg8ie">
            <a:extLst xmlns:a="http://schemas.openxmlformats.org/drawingml/2006/main">
              <a:ext uri="{FF2B5EF4-FFF2-40B4-BE49-F238E27FC236}">
                <a16:creationId xmlns:a16="http://schemas.microsoft.com/office/drawing/2014/main" id="{0D569A30-D60A-449E-BBF3-66B0C0C3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5" name="text-q80aqbv">
            <a:extLst xmlns:a="http://schemas.openxmlformats.org/drawingml/2006/main">
              <a:ext uri="{FF2B5EF4-FFF2-40B4-BE49-F238E27FC236}">
                <a16:creationId xmlns:a16="http://schemas.microsoft.com/office/drawing/2014/main" id="{A47C27CE-7EB3-40FE-9655-52F138ED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1942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最重要的总体结论</a:t>
            </a:r>
          </a:p>
        </p:txBody>
      </p:sp>
      <p:sp>
        <p:nvSpPr>
          <p:cNvPr id="26" name="shape-whhfdmy">
            <a:extLst xmlns:a="http://schemas.openxmlformats.org/drawingml/2006/main">
              <a:ext uri="{FF2B5EF4-FFF2-40B4-BE49-F238E27FC236}">
                <a16:creationId xmlns:a16="http://schemas.microsoft.com/office/drawing/2014/main" id="{701809AF-C076-4830-BD9F-35CF49F0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7" name="text-zjod2ds">
            <a:extLst xmlns:a="http://schemas.openxmlformats.org/drawingml/2006/main">
              <a:ext uri="{FF2B5EF4-FFF2-40B4-BE49-F238E27FC236}">
                <a16:creationId xmlns:a16="http://schemas.microsoft.com/office/drawing/2014/main" id="{E129DE5E-E562-4EC4-B46D-3D4A11A9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1942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柱状图 / 折线图</a:t>
            </a:r>
          </a:p>
        </p:txBody>
      </p:sp>
      <p:sp>
        <p:nvSpPr>
          <p:cNvPr id="28" name="shape-akwr1sm">
            <a:extLst xmlns:a="http://schemas.openxmlformats.org/drawingml/2006/main">
              <a:ext uri="{FF2B5EF4-FFF2-40B4-BE49-F238E27FC236}">
                <a16:creationId xmlns:a16="http://schemas.microsoft.com/office/drawing/2014/main" id="{F122C5DC-BE81-4133-94EE-DCA5A21C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9" name="text-4x0xvp8">
            <a:extLst xmlns:a="http://schemas.openxmlformats.org/drawingml/2006/main">
              <a:ext uri="{FF2B5EF4-FFF2-40B4-BE49-F238E27FC236}">
                <a16:creationId xmlns:a16="http://schemas.microsoft.com/office/drawing/2014/main" id="{9D7F3033-6088-498F-9234-0FC21ED9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8617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30" name="shape-drp8zjb">
            <a:extLst xmlns:a="http://schemas.openxmlformats.org/drawingml/2006/main">
              <a:ext uri="{FF2B5EF4-FFF2-40B4-BE49-F238E27FC236}">
                <a16:creationId xmlns:a16="http://schemas.microsoft.com/office/drawing/2014/main" id="{0549A8CC-E2C6-4A77-A071-3A4404F9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195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1" name="text-xl82w5y">
            <a:extLst xmlns:a="http://schemas.openxmlformats.org/drawingml/2006/main">
              <a:ext uri="{FF2B5EF4-FFF2-40B4-BE49-F238E27FC236}">
                <a16:creationId xmlns:a16="http://schemas.microsoft.com/office/drawing/2014/main" id="{9F07880B-6EF5-4CF3-98F2-6E5B322C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8617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关键差异</a:t>
            </a:r>
          </a:p>
        </p:txBody>
      </p:sp>
      <p:sp>
        <p:nvSpPr>
          <p:cNvPr id="32" name="shape-p6cnoq9">
            <a:extLst xmlns:a="http://schemas.openxmlformats.org/drawingml/2006/main">
              <a:ext uri="{FF2B5EF4-FFF2-40B4-BE49-F238E27FC236}">
                <a16:creationId xmlns:a16="http://schemas.microsoft.com/office/drawing/2014/main" id="{E6ED8C2C-24C1-4103-BEA0-D617EC36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3" name="text-0mfknrz">
            <a:extLst xmlns:a="http://schemas.openxmlformats.org/drawingml/2006/main">
              <a:ext uri="{FF2B5EF4-FFF2-40B4-BE49-F238E27FC236}">
                <a16:creationId xmlns:a16="http://schemas.microsoft.com/office/drawing/2014/main" id="{82D783D0-2642-4779-92AC-243A7F92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8617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哪些门店或产品造成差异</a:t>
            </a:r>
          </a:p>
        </p:txBody>
      </p:sp>
      <p:sp>
        <p:nvSpPr>
          <p:cNvPr id="34" name="shape-550uday">
            <a:extLst xmlns:a="http://schemas.openxmlformats.org/drawingml/2006/main">
              <a:ext uri="{FF2B5EF4-FFF2-40B4-BE49-F238E27FC236}">
                <a16:creationId xmlns:a16="http://schemas.microsoft.com/office/drawing/2014/main" id="{8B3304AD-8B44-492A-A4EC-6B689756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5" name="text-7uwsk1q">
            <a:extLst xmlns:a="http://schemas.openxmlformats.org/drawingml/2006/main">
              <a:ext uri="{FF2B5EF4-FFF2-40B4-BE49-F238E27FC236}">
                <a16:creationId xmlns:a16="http://schemas.microsoft.com/office/drawing/2014/main" id="{2E938526-34FB-4C32-9A00-84032D36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8617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对比图</a:t>
            </a:r>
          </a:p>
        </p:txBody>
      </p:sp>
      <p:sp>
        <p:nvSpPr>
          <p:cNvPr id="36" name="shape-iigtpgs">
            <a:extLst xmlns:a="http://schemas.openxmlformats.org/drawingml/2006/main">
              <a:ext uri="{FF2B5EF4-FFF2-40B4-BE49-F238E27FC236}">
                <a16:creationId xmlns:a16="http://schemas.microsoft.com/office/drawing/2014/main" id="{315EB0D6-5670-45F4-9560-BF04E62D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7" name="text-8ja4o2w">
            <a:extLst xmlns:a="http://schemas.openxmlformats.org/drawingml/2006/main">
              <a:ext uri="{FF2B5EF4-FFF2-40B4-BE49-F238E27FC236}">
                <a16:creationId xmlns:a16="http://schemas.microsoft.com/office/drawing/2014/main" id="{AAA91BA7-7B5B-4240-AD30-0BDA5ED8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8" name="shape-18l2pr6">
            <a:extLst xmlns:a="http://schemas.openxmlformats.org/drawingml/2006/main">
              <a:ext uri="{FF2B5EF4-FFF2-40B4-BE49-F238E27FC236}">
                <a16:creationId xmlns:a16="http://schemas.microsoft.com/office/drawing/2014/main" id="{EC89DFB6-56CB-411B-9DDE-7BFBA03D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862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9" name="text-apdelqj">
            <a:extLst xmlns:a="http://schemas.openxmlformats.org/drawingml/2006/main">
              <a:ext uri="{FF2B5EF4-FFF2-40B4-BE49-F238E27FC236}">
                <a16:creationId xmlns:a16="http://schemas.microsoft.com/office/drawing/2014/main" id="{84914987-F7A0-4B8F-8A97-AC89120A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5292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风险与机会</a:t>
            </a:r>
          </a:p>
        </p:txBody>
      </p:sp>
      <p:sp>
        <p:nvSpPr>
          <p:cNvPr id="40" name="shape-mhnpo7f">
            <a:extLst xmlns:a="http://schemas.openxmlformats.org/drawingml/2006/main">
              <a:ext uri="{FF2B5EF4-FFF2-40B4-BE49-F238E27FC236}">
                <a16:creationId xmlns:a16="http://schemas.microsoft.com/office/drawing/2014/main" id="{26945BCB-80C3-46B0-AB52-9392064D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1" name="text-0y7grnx">
            <a:extLst xmlns:a="http://schemas.openxmlformats.org/drawingml/2006/main">
              <a:ext uri="{FF2B5EF4-FFF2-40B4-BE49-F238E27FC236}">
                <a16:creationId xmlns:a16="http://schemas.microsoft.com/office/drawing/2014/main" id="{02C77A5A-0B84-45DB-BDA7-CBD838F4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5292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需要重点关注什么</a:t>
            </a:r>
          </a:p>
        </p:txBody>
      </p:sp>
      <p:sp>
        <p:nvSpPr>
          <p:cNvPr id="42" name="shape-kbgfebi">
            <a:extLst xmlns:a="http://schemas.openxmlformats.org/drawingml/2006/main">
              <a:ext uri="{FF2B5EF4-FFF2-40B4-BE49-F238E27FC236}">
                <a16:creationId xmlns:a16="http://schemas.microsoft.com/office/drawing/2014/main" id="{E3F83C8B-AF17-4065-AF6D-037204F6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3" name="text-0hfulyj">
            <a:extLst xmlns:a="http://schemas.openxmlformats.org/drawingml/2006/main">
              <a:ext uri="{FF2B5EF4-FFF2-40B4-BE49-F238E27FC236}">
                <a16:creationId xmlns:a16="http://schemas.microsoft.com/office/drawing/2014/main" id="{0FE72CC5-1185-4665-BA23-EF5F6CCB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5292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异常表 / 散点图</a:t>
            </a:r>
          </a:p>
        </p:txBody>
      </p:sp>
      <p:sp>
        <p:nvSpPr>
          <p:cNvPr id="44" name="shape-50t3fhz">
            <a:extLst xmlns:a="http://schemas.openxmlformats.org/drawingml/2006/main">
              <a:ext uri="{FF2B5EF4-FFF2-40B4-BE49-F238E27FC236}">
                <a16:creationId xmlns:a16="http://schemas.microsoft.com/office/drawing/2014/main" id="{9E66D3C4-119D-41EF-AF49-6A64D466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5" name="text-g7jen2k">
            <a:extLst xmlns:a="http://schemas.openxmlformats.org/drawingml/2006/main">
              <a:ext uri="{FF2B5EF4-FFF2-40B4-BE49-F238E27FC236}">
                <a16:creationId xmlns:a16="http://schemas.microsoft.com/office/drawing/2014/main" id="{4C554EBE-A06D-420E-B589-0919420A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967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46" name="shape-rqqnejl">
            <a:extLst xmlns:a="http://schemas.openxmlformats.org/drawingml/2006/main">
              <a:ext uri="{FF2B5EF4-FFF2-40B4-BE49-F238E27FC236}">
                <a16:creationId xmlns:a16="http://schemas.microsoft.com/office/drawing/2014/main" id="{7C1A0756-4DF7-41A0-8A6D-27543323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7" name="text-q15rhgy">
            <a:extLst xmlns:a="http://schemas.openxmlformats.org/drawingml/2006/main">
              <a:ext uri="{FF2B5EF4-FFF2-40B4-BE49-F238E27FC236}">
                <a16:creationId xmlns:a16="http://schemas.microsoft.com/office/drawing/2014/main" id="{77FF8E07-55EA-4799-845F-FA821929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1967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下一步行动</a:t>
            </a:r>
          </a:p>
        </p:txBody>
      </p:sp>
      <p:sp>
        <p:nvSpPr>
          <p:cNvPr id="48" name="shape-g62xgfe">
            <a:extLst xmlns:a="http://schemas.openxmlformats.org/drawingml/2006/main">
              <a:ext uri="{FF2B5EF4-FFF2-40B4-BE49-F238E27FC236}">
                <a16:creationId xmlns:a16="http://schemas.microsoft.com/office/drawing/2014/main" id="{A4CDC273-BAAD-4BC8-A1CB-4DF62D21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530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9" name="text-fnc5rx0">
            <a:extLst xmlns:a="http://schemas.openxmlformats.org/drawingml/2006/main">
              <a:ext uri="{FF2B5EF4-FFF2-40B4-BE49-F238E27FC236}">
                <a16:creationId xmlns:a16="http://schemas.microsoft.com/office/drawing/2014/main" id="{CCA842E1-671C-4AC0-8CCE-7C46C936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1967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谁在什么时候做什么</a:t>
            </a:r>
          </a:p>
        </p:txBody>
      </p:sp>
      <p:sp>
        <p:nvSpPr>
          <p:cNvPr id="50" name="shape-uqxq72t">
            <a:extLst xmlns:a="http://schemas.openxmlformats.org/drawingml/2006/main">
              <a:ext uri="{FF2B5EF4-FFF2-40B4-BE49-F238E27FC236}">
                <a16:creationId xmlns:a16="http://schemas.microsoft.com/office/drawing/2014/main" id="{007961B7-6AD6-48DA-A78E-1BF57265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530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1" name="text-c21k88k">
            <a:extLst xmlns:a="http://schemas.openxmlformats.org/drawingml/2006/main">
              <a:ext uri="{FF2B5EF4-FFF2-40B4-BE49-F238E27FC236}">
                <a16:creationId xmlns:a16="http://schemas.microsoft.com/office/drawing/2014/main" id="{ABAB0CF2-BD35-4414-B946-DDFCD345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1967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行动清单</a:t>
            </a:r>
          </a:p>
        </p:txBody>
      </p:sp>
      <p:sp>
        <p:nvSpPr>
          <p:cNvPr id="52" name="text-tjvhkgz">
            <a:extLst xmlns:a="http://schemas.openxmlformats.org/drawingml/2006/main">
              <a:ext uri="{FF2B5EF4-FFF2-40B4-BE49-F238E27FC236}">
                <a16:creationId xmlns:a16="http://schemas.microsoft.com/office/drawing/2014/main" id="{1274D144-580B-40D2-9FD4-A9E83B72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从Excel到PPT方案</a:t>
            </a:r>
          </a:p>
        </p:txBody>
      </p:sp>
    </p:spTree>
    <p:extLst>
      <p:ext uri="{BB962C8B-B14F-4D97-AF65-F5344CB8AC3E}">
        <p14:creationId xmlns:p14="http://schemas.microsoft.com/office/powerpoint/2010/main" val="205203917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46jjkai">
            <a:extLst xmlns:a="http://schemas.openxmlformats.org/drawingml/2006/main">
              <a:ext uri="{FF2B5EF4-FFF2-40B4-BE49-F238E27FC236}">
                <a16:creationId xmlns:a16="http://schemas.microsoft.com/office/drawing/2014/main" id="{48CD7C26-5172-4D90-AE9F-CCF3B3C6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从方案到文件</a:t>
            </a:r>
          </a:p>
        </p:txBody>
      </p:sp>
      <p:sp>
        <p:nvSpPr>
          <p:cNvPr id="2" name="text-dn31vql">
            <a:extLst xmlns:a="http://schemas.openxmlformats.org/drawingml/2006/main">
              <a:ext uri="{FF2B5EF4-FFF2-40B4-BE49-F238E27FC236}">
                <a16:creationId xmlns:a16="http://schemas.microsoft.com/office/drawing/2014/main" id="{0755130C-8D8B-4279-B18F-3AEF966C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生成 PPT 前，把三类上游依据一起交给 AI</a:t>
            </a:r>
          </a:p>
        </p:txBody>
      </p:sp>
      <p:sp>
        <p:nvSpPr>
          <p:cNvPr id="3" name="shape-hyq957s">
            <a:extLst xmlns:a="http://schemas.openxmlformats.org/drawingml/2006/main">
              <a:ext uri="{FF2B5EF4-FFF2-40B4-BE49-F238E27FC236}">
                <a16:creationId xmlns:a16="http://schemas.microsoft.com/office/drawing/2014/main" id="{DB67C665-097B-4B96-9CAA-DA2509B4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2gff2jc">
            <a:extLst xmlns:a="http://schemas.openxmlformats.org/drawingml/2006/main">
              <a:ext uri="{FF2B5EF4-FFF2-40B4-BE49-F238E27FC236}">
                <a16:creationId xmlns:a16="http://schemas.microsoft.com/office/drawing/2014/main" id="{312296BB-AD73-4584-8D88-9D1188DA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sab30qv">
            <a:extLst xmlns:a="http://schemas.openxmlformats.org/drawingml/2006/main">
              <a:ext uri="{FF2B5EF4-FFF2-40B4-BE49-F238E27FC236}">
                <a16:creationId xmlns:a16="http://schemas.microsoft.com/office/drawing/2014/main" id="{CFC53DC4-6CC4-4916-8071-065778E1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j2dyscp">
            <a:extLst xmlns:a="http://schemas.openxmlformats.org/drawingml/2006/main">
              <a:ext uri="{FF2B5EF4-FFF2-40B4-BE49-F238E27FC236}">
                <a16:creationId xmlns:a16="http://schemas.microsoft.com/office/drawing/2014/main" id="{C4001429-486D-47A2-B02B-49E2897A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需求确认单</a:t>
            </a:r>
          </a:p>
        </p:txBody>
      </p:sp>
      <p:sp>
        <p:nvSpPr>
          <p:cNvPr id="7" name="text-zjdyuuh">
            <a:extLst xmlns:a="http://schemas.openxmlformats.org/drawingml/2006/main">
              <a:ext uri="{FF2B5EF4-FFF2-40B4-BE49-F238E27FC236}">
                <a16:creationId xmlns:a16="http://schemas.microsoft.com/office/drawing/2014/main" id="{584C0F22-FE7C-451A-8BCE-59BAFD01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对象、目标、范围、边界</a:t>
            </a:r>
          </a:p>
        </p:txBody>
      </p:sp>
      <p:sp>
        <p:nvSpPr>
          <p:cNvPr id="8" name="text-i5lhkrb">
            <a:extLst xmlns:a="http://schemas.openxmlformats.org/drawingml/2006/main">
              <a:ext uri="{FF2B5EF4-FFF2-40B4-BE49-F238E27FC236}">
                <a16:creationId xmlns:a16="http://schemas.microsoft.com/office/drawing/2014/main" id="{D3C10AC1-1415-47A5-A9C6-668EC939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shape-x8hjnj4">
            <a:extLst xmlns:a="http://schemas.openxmlformats.org/drawingml/2006/main">
              <a:ext uri="{FF2B5EF4-FFF2-40B4-BE49-F238E27FC236}">
                <a16:creationId xmlns:a16="http://schemas.microsoft.com/office/drawing/2014/main" id="{F3760ED5-1BD1-461B-8464-A9022CEE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-rmw5soa">
            <a:extLst xmlns:a="http://schemas.openxmlformats.org/drawingml/2006/main">
              <a:ext uri="{FF2B5EF4-FFF2-40B4-BE49-F238E27FC236}">
                <a16:creationId xmlns:a16="http://schemas.microsoft.com/office/drawing/2014/main" id="{304ED1EF-7D2B-4EFC-B977-876EB89C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-nsx8hnc">
            <a:extLst xmlns:a="http://schemas.openxmlformats.org/drawingml/2006/main">
              <a:ext uri="{FF2B5EF4-FFF2-40B4-BE49-F238E27FC236}">
                <a16:creationId xmlns:a16="http://schemas.microsoft.com/office/drawing/2014/main" id="{4BDDAA64-0B1B-434A-80F0-8E26D2F9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Excel数据</a:t>
            </a:r>
          </a:p>
        </p:txBody>
      </p:sp>
      <p:sp>
        <p:nvSpPr>
          <p:cNvPr id="12" name="text-i62xh2v">
            <a:extLst xmlns:a="http://schemas.openxmlformats.org/drawingml/2006/main">
              <a:ext uri="{FF2B5EF4-FFF2-40B4-BE49-F238E27FC236}">
                <a16:creationId xmlns:a16="http://schemas.microsoft.com/office/drawing/2014/main" id="{5B5E058F-FA66-425C-A375-30A35401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经过校验的数字与口径</a:t>
            </a:r>
          </a:p>
        </p:txBody>
      </p:sp>
      <p:sp>
        <p:nvSpPr>
          <p:cNvPr id="13" name="text-0mgngvb">
            <a:extLst xmlns:a="http://schemas.openxmlformats.org/drawingml/2006/main">
              <a:ext uri="{FF2B5EF4-FFF2-40B4-BE49-F238E27FC236}">
                <a16:creationId xmlns:a16="http://schemas.microsoft.com/office/drawing/2014/main" id="{557A5E94-F509-4963-8D9A-F441E970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shape-06v0j6j">
            <a:extLst xmlns:a="http://schemas.openxmlformats.org/drawingml/2006/main">
              <a:ext uri="{FF2B5EF4-FFF2-40B4-BE49-F238E27FC236}">
                <a16:creationId xmlns:a16="http://schemas.microsoft.com/office/drawing/2014/main" id="{91898816-9B76-4E61-8C57-9D996D64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text-gay795m">
            <a:extLst xmlns:a="http://schemas.openxmlformats.org/drawingml/2006/main">
              <a:ext uri="{FF2B5EF4-FFF2-40B4-BE49-F238E27FC236}">
                <a16:creationId xmlns:a16="http://schemas.microsoft.com/office/drawing/2014/main" id="{030CCDE4-90F4-4EC6-ABD9-2C7493E2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e5c7bz2">
            <a:extLst xmlns:a="http://schemas.openxmlformats.org/drawingml/2006/main">
              <a:ext uri="{FF2B5EF4-FFF2-40B4-BE49-F238E27FC236}">
                <a16:creationId xmlns:a16="http://schemas.microsoft.com/office/drawing/2014/main" id="{29E45A88-2962-4114-AFEB-C134B245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页面方案</a:t>
            </a:r>
          </a:p>
        </p:txBody>
      </p:sp>
      <p:sp>
        <p:nvSpPr>
          <p:cNvPr id="17" name="text-wly56jg">
            <a:extLst xmlns:a="http://schemas.openxmlformats.org/drawingml/2006/main">
              <a:ext uri="{FF2B5EF4-FFF2-40B4-BE49-F238E27FC236}">
                <a16:creationId xmlns:a16="http://schemas.microsoft.com/office/drawing/2014/main" id="{4EDA64B7-3276-4103-A046-75CDBC40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标题、证据、图表、行动</a:t>
            </a:r>
          </a:p>
        </p:txBody>
      </p:sp>
      <p:sp>
        <p:nvSpPr>
          <p:cNvPr id="18" name="text-17ljmze">
            <a:extLst xmlns:a="http://schemas.openxmlformats.org/drawingml/2006/main">
              <a:ext uri="{FF2B5EF4-FFF2-40B4-BE49-F238E27FC236}">
                <a16:creationId xmlns:a16="http://schemas.microsoft.com/office/drawing/2014/main" id="{281CB306-2831-4100-8EA1-A61D0CBE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shape-9a075tj">
            <a:extLst xmlns:a="http://schemas.openxmlformats.org/drawingml/2006/main">
              <a:ext uri="{FF2B5EF4-FFF2-40B4-BE49-F238E27FC236}">
                <a16:creationId xmlns:a16="http://schemas.microsoft.com/office/drawing/2014/main" id="{DCCF8063-7CEB-4814-AE23-FFB4CDCA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text-srwl478">
            <a:extLst xmlns:a="http://schemas.openxmlformats.org/drawingml/2006/main">
              <a:ext uri="{FF2B5EF4-FFF2-40B4-BE49-F238E27FC236}">
                <a16:creationId xmlns:a16="http://schemas.microsoft.com/office/drawing/2014/main" id="{1F8389FF-3C11-4CE7-8107-6CE636AF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text-2vgdjj3">
            <a:extLst xmlns:a="http://schemas.openxmlformats.org/drawingml/2006/main">
              <a:ext uri="{FF2B5EF4-FFF2-40B4-BE49-F238E27FC236}">
                <a16:creationId xmlns:a16="http://schemas.microsoft.com/office/drawing/2014/main" id="{77C4CDBA-52FA-408C-873B-873420B5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PPT初稿</a:t>
            </a:r>
          </a:p>
        </p:txBody>
      </p:sp>
      <p:sp>
        <p:nvSpPr>
          <p:cNvPr id="22" name="text-lzuiipl">
            <a:extLst xmlns:a="http://schemas.openxmlformats.org/drawingml/2006/main">
              <a:ext uri="{FF2B5EF4-FFF2-40B4-BE49-F238E27FC236}">
                <a16:creationId xmlns:a16="http://schemas.microsoft.com/office/drawing/2014/main" id="{FCD22754-DB6A-4918-9ED4-CC85E89C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生成后继续检查和迭代</a:t>
            </a:r>
          </a:p>
        </p:txBody>
      </p:sp>
      <p:sp>
        <p:nvSpPr>
          <p:cNvPr id="23" name="text-6ik0l4w">
            <a:extLst xmlns:a="http://schemas.openxmlformats.org/drawingml/2006/main">
              <a:ext uri="{FF2B5EF4-FFF2-40B4-BE49-F238E27FC236}">
                <a16:creationId xmlns:a16="http://schemas.microsoft.com/office/drawing/2014/main" id="{AB5988E5-8AEF-4EF1-82D3-AF43625B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生成并检查PPT</a:t>
            </a:r>
          </a:p>
        </p:txBody>
      </p:sp>
    </p:spTree>
    <p:extLst>
      <p:ext uri="{BB962C8B-B14F-4D97-AF65-F5344CB8AC3E}">
        <p14:creationId xmlns:p14="http://schemas.microsoft.com/office/powerpoint/2010/main" val="55738029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hwtzwdn">
            <a:extLst xmlns:a="http://schemas.openxmlformats.org/drawingml/2006/main">
              <a:ext uri="{FF2B5EF4-FFF2-40B4-BE49-F238E27FC236}">
                <a16:creationId xmlns:a16="http://schemas.microsoft.com/office/drawing/2014/main" id="{20AACBFB-F5D8-49C0-8E43-28FAED68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内容正确 · 叙事清楚 · 页面可读</a:t>
            </a:r>
          </a:p>
        </p:txBody>
      </p:sp>
      <p:sp>
        <p:nvSpPr>
          <p:cNvPr id="2" name="text-juxpnch">
            <a:extLst xmlns:a="http://schemas.openxmlformats.org/drawingml/2006/main">
              <a:ext uri="{FF2B5EF4-FFF2-40B4-BE49-F238E27FC236}">
                <a16:creationId xmlns:a16="http://schemas.microsoft.com/office/drawing/2014/main" id="{DD7C5F56-A030-4EC0-B520-9EC3CD60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PPT 能不能交付，先看七项检查</a:t>
            </a:r>
          </a:p>
        </p:txBody>
      </p:sp>
      <p:sp>
        <p:nvSpPr>
          <p:cNvPr id="3" name="shape-k1n6cev">
            <a:extLst xmlns:a="http://schemas.openxmlformats.org/drawingml/2006/main">
              <a:ext uri="{FF2B5EF4-FFF2-40B4-BE49-F238E27FC236}">
                <a16:creationId xmlns:a16="http://schemas.microsoft.com/office/drawing/2014/main" id="{88F80BCC-48DD-4C1E-A847-DC42ADFA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crzcmzk">
            <a:extLst xmlns:a="http://schemas.openxmlformats.org/drawingml/2006/main">
              <a:ext uri="{FF2B5EF4-FFF2-40B4-BE49-F238E27FC236}">
                <a16:creationId xmlns:a16="http://schemas.microsoft.com/office/drawing/2014/main" id="{60004000-8AA8-41B5-B9D5-9E3B7B08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z3s6qre">
            <a:extLst xmlns:a="http://schemas.openxmlformats.org/drawingml/2006/main">
              <a:ext uri="{FF2B5EF4-FFF2-40B4-BE49-F238E27FC236}">
                <a16:creationId xmlns:a16="http://schemas.microsoft.com/office/drawing/2014/main" id="{E6E7769E-F9D3-4BC4-8924-C7BD4EE1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ho5x2nh">
            <a:extLst xmlns:a="http://schemas.openxmlformats.org/drawingml/2006/main">
              <a:ext uri="{FF2B5EF4-FFF2-40B4-BE49-F238E27FC236}">
                <a16:creationId xmlns:a16="http://schemas.microsoft.com/office/drawing/2014/main" id="{EA95310E-971A-49FA-BCB6-3CDAA1A9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7" name="text-mecrllj">
            <a:extLst xmlns:a="http://schemas.openxmlformats.org/drawingml/2006/main">
              <a:ext uri="{FF2B5EF4-FFF2-40B4-BE49-F238E27FC236}">
                <a16:creationId xmlns:a16="http://schemas.microsoft.com/office/drawing/2014/main" id="{0B8DFDA4-15EA-41FF-9E01-2F747616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92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每页只有一个主要结论</a:t>
            </a:r>
          </a:p>
        </p:txBody>
      </p:sp>
      <p:sp>
        <p:nvSpPr>
          <p:cNvPr id="8" name="shape-191pmdl">
            <a:extLst xmlns:a="http://schemas.openxmlformats.org/drawingml/2006/main">
              <a:ext uri="{FF2B5EF4-FFF2-40B4-BE49-F238E27FC236}">
                <a16:creationId xmlns:a16="http://schemas.microsoft.com/office/drawing/2014/main" id="{D857CB44-9340-4BC6-B521-5A890AF7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6764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hape-jsm5o6i">
            <a:extLst xmlns:a="http://schemas.openxmlformats.org/drawingml/2006/main">
              <a:ext uri="{FF2B5EF4-FFF2-40B4-BE49-F238E27FC236}">
                <a16:creationId xmlns:a16="http://schemas.microsoft.com/office/drawing/2014/main" id="{D2624EE7-0BC9-4D6F-BFEB-3AD5E423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05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tngtm5b">
            <a:extLst xmlns:a="http://schemas.openxmlformats.org/drawingml/2006/main">
              <a:ext uri="{FF2B5EF4-FFF2-40B4-BE49-F238E27FC236}">
                <a16:creationId xmlns:a16="http://schemas.microsoft.com/office/drawing/2014/main" id="{C1C8F5CD-B7F4-4E0B-964F-2F82E45D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8859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1" name="text-qfdyg7a">
            <a:extLst xmlns:a="http://schemas.openxmlformats.org/drawingml/2006/main">
              <a:ext uri="{FF2B5EF4-FFF2-40B4-BE49-F238E27FC236}">
                <a16:creationId xmlns:a16="http://schemas.microsoft.com/office/drawing/2014/main" id="{50CF3CD6-4395-49D7-B3CE-70D74001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8192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标题表达观点，而不是写‘数据分析’</a:t>
            </a:r>
          </a:p>
        </p:txBody>
      </p:sp>
      <p:sp>
        <p:nvSpPr>
          <p:cNvPr id="12" name="shape-mems2je">
            <a:extLst xmlns:a="http://schemas.openxmlformats.org/drawingml/2006/main">
              <a:ext uri="{FF2B5EF4-FFF2-40B4-BE49-F238E27FC236}">
                <a16:creationId xmlns:a16="http://schemas.microsoft.com/office/drawing/2014/main" id="{D93204DF-7838-4C43-85AA-E60D7F6F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hape-4mfzp6p">
            <a:extLst xmlns:a="http://schemas.openxmlformats.org/drawingml/2006/main">
              <a:ext uri="{FF2B5EF4-FFF2-40B4-BE49-F238E27FC236}">
                <a16:creationId xmlns:a16="http://schemas.microsoft.com/office/drawing/2014/main" id="{CC164DCE-45F8-4BED-B213-34D0E9CE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jwvgii8">
            <a:extLst xmlns:a="http://schemas.openxmlformats.org/drawingml/2006/main">
              <a:ext uri="{FF2B5EF4-FFF2-40B4-BE49-F238E27FC236}">
                <a16:creationId xmlns:a16="http://schemas.microsoft.com/office/drawing/2014/main" id="{CB66EC3F-2BEE-4801-9A89-24EE18ED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5" name="text-dtxezwz">
            <a:extLst xmlns:a="http://schemas.openxmlformats.org/drawingml/2006/main">
              <a:ext uri="{FF2B5EF4-FFF2-40B4-BE49-F238E27FC236}">
                <a16:creationId xmlns:a16="http://schemas.microsoft.com/office/drawing/2014/main" id="{82CD4588-91AC-4733-AC12-2E5985D4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6702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关键数字与Excel一致</a:t>
            </a:r>
          </a:p>
        </p:txBody>
      </p:sp>
      <p:sp>
        <p:nvSpPr>
          <p:cNvPr id="16" name="shape-r0tb86y">
            <a:extLst xmlns:a="http://schemas.openxmlformats.org/drawingml/2006/main">
              <a:ext uri="{FF2B5EF4-FFF2-40B4-BE49-F238E27FC236}">
                <a16:creationId xmlns:a16="http://schemas.microsoft.com/office/drawing/2014/main" id="{A13327FE-8D6D-41AF-96C9-26218C62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2415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shape-jw8fdjv">
            <a:extLst xmlns:a="http://schemas.openxmlformats.org/drawingml/2006/main">
              <a:ext uri="{FF2B5EF4-FFF2-40B4-BE49-F238E27FC236}">
                <a16:creationId xmlns:a16="http://schemas.microsoft.com/office/drawing/2014/main" id="{B4DE8A3A-4C4B-4E9F-A23D-E1BFCE41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as1r0u3">
            <a:extLst xmlns:a="http://schemas.openxmlformats.org/drawingml/2006/main">
              <a:ext uri="{FF2B5EF4-FFF2-40B4-BE49-F238E27FC236}">
                <a16:creationId xmlns:a16="http://schemas.microsoft.com/office/drawing/2014/main" id="{2245E842-859D-40F8-8643-DFA5E4CB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337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9" name="text-ett80pc">
            <a:extLst xmlns:a="http://schemas.openxmlformats.org/drawingml/2006/main">
              <a:ext uri="{FF2B5EF4-FFF2-40B4-BE49-F238E27FC236}">
                <a16:creationId xmlns:a16="http://schemas.microsoft.com/office/drawing/2014/main" id="{9C486699-4DA0-43AF-A172-E3978B9D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6702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图表类型匹配数据关系</a:t>
            </a:r>
          </a:p>
        </p:txBody>
      </p:sp>
      <p:sp>
        <p:nvSpPr>
          <p:cNvPr id="20" name="shape-yn4z54u">
            <a:extLst xmlns:a="http://schemas.openxmlformats.org/drawingml/2006/main">
              <a:ext uri="{FF2B5EF4-FFF2-40B4-BE49-F238E27FC236}">
                <a16:creationId xmlns:a16="http://schemas.microsoft.com/office/drawing/2014/main" id="{9A75F836-49AB-454B-9729-E78DB9F1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hape-nlx6zzg">
            <a:extLst xmlns:a="http://schemas.openxmlformats.org/drawingml/2006/main">
              <a:ext uri="{FF2B5EF4-FFF2-40B4-BE49-F238E27FC236}">
                <a16:creationId xmlns:a16="http://schemas.microsoft.com/office/drawing/2014/main" id="{ECDD737B-7B2F-4784-A943-67E28245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dlfvo24">
            <a:extLst xmlns:a="http://schemas.openxmlformats.org/drawingml/2006/main">
              <a:ext uri="{FF2B5EF4-FFF2-40B4-BE49-F238E27FC236}">
                <a16:creationId xmlns:a16="http://schemas.microsoft.com/office/drawing/2014/main" id="{647CE1D0-FDD0-4740-946A-E7AABD11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3" name="text-pwn665z">
            <a:extLst xmlns:a="http://schemas.openxmlformats.org/drawingml/2006/main">
              <a:ext uri="{FF2B5EF4-FFF2-40B4-BE49-F238E27FC236}">
                <a16:creationId xmlns:a16="http://schemas.microsoft.com/office/drawing/2014/main" id="{90322006-6DDE-46FA-81E0-D5FB45A1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147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没有大段文字和不可读表格</a:t>
            </a:r>
          </a:p>
        </p:txBody>
      </p:sp>
      <p:sp>
        <p:nvSpPr>
          <p:cNvPr id="24" name="shape-r2c114k">
            <a:extLst xmlns:a="http://schemas.openxmlformats.org/drawingml/2006/main">
              <a:ext uri="{FF2B5EF4-FFF2-40B4-BE49-F238E27FC236}">
                <a16:creationId xmlns:a16="http://schemas.microsoft.com/office/drawing/2014/main" id="{B0B50259-6A34-4F49-BC0F-251792FC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7719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shape-9bfq5v5">
            <a:extLst xmlns:a="http://schemas.openxmlformats.org/drawingml/2006/main">
              <a:ext uri="{FF2B5EF4-FFF2-40B4-BE49-F238E27FC236}">
                <a16:creationId xmlns:a16="http://schemas.microsoft.com/office/drawing/2014/main" id="{2A9311BA-8811-4956-890A-C31AC988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000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lekml6z">
            <a:extLst xmlns:a="http://schemas.openxmlformats.org/drawingml/2006/main">
              <a:ext uri="{FF2B5EF4-FFF2-40B4-BE49-F238E27FC236}">
                <a16:creationId xmlns:a16="http://schemas.microsoft.com/office/drawing/2014/main" id="{0C8CB260-FF66-499E-949C-70A48DA0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9814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7" name="text-81igkeb">
            <a:extLst xmlns:a="http://schemas.openxmlformats.org/drawingml/2006/main">
              <a:ext uri="{FF2B5EF4-FFF2-40B4-BE49-F238E27FC236}">
                <a16:creationId xmlns:a16="http://schemas.microsoft.com/office/drawing/2014/main" id="{49A920F8-D670-4948-BA93-A264C17C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9147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建议能够对应前面的数据结论</a:t>
            </a:r>
          </a:p>
        </p:txBody>
      </p:sp>
      <p:sp>
        <p:nvSpPr>
          <p:cNvPr id="28" name="shape-smcfrny">
            <a:extLst xmlns:a="http://schemas.openxmlformats.org/drawingml/2006/main">
              <a:ext uri="{FF2B5EF4-FFF2-40B4-BE49-F238E27FC236}">
                <a16:creationId xmlns:a16="http://schemas.microsoft.com/office/drawing/2014/main" id="{F9E40AE7-8599-46E8-8734-64D87A81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shape-l3snw71">
            <a:extLst xmlns:a="http://schemas.openxmlformats.org/drawingml/2006/main">
              <a:ext uri="{FF2B5EF4-FFF2-40B4-BE49-F238E27FC236}">
                <a16:creationId xmlns:a16="http://schemas.microsoft.com/office/drawing/2014/main" id="{F8D4182A-072B-45B5-B79C-C6DD3696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fcg0d18">
            <a:extLst xmlns:a="http://schemas.openxmlformats.org/drawingml/2006/main">
              <a:ext uri="{FF2B5EF4-FFF2-40B4-BE49-F238E27FC236}">
                <a16:creationId xmlns:a16="http://schemas.microsoft.com/office/drawing/2014/main" id="{9DEB85A1-1593-49FB-878A-CAE94F8B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31" name="text-7ymjx81">
            <a:extLst xmlns:a="http://schemas.openxmlformats.org/drawingml/2006/main">
              <a:ext uri="{FF2B5EF4-FFF2-40B4-BE49-F238E27FC236}">
                <a16:creationId xmlns:a16="http://schemas.microsoft.com/office/drawing/2014/main" id="{69AA2A5A-E660-4BA1-86D8-3159CF43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6252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文件能够正常打开、翻页和展示</a:t>
            </a:r>
          </a:p>
        </p:txBody>
      </p:sp>
      <p:sp>
        <p:nvSpPr>
          <p:cNvPr id="32" name="text-cccfwx0">
            <a:extLst xmlns:a="http://schemas.openxmlformats.org/drawingml/2006/main">
              <a:ext uri="{FF2B5EF4-FFF2-40B4-BE49-F238E27FC236}">
                <a16:creationId xmlns:a16="http://schemas.microsoft.com/office/drawing/2014/main" id="{61162A6D-CEBF-455E-9186-F13D389B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生成并检查PPT</a:t>
            </a:r>
          </a:p>
        </p:txBody>
      </p:sp>
    </p:spTree>
    <p:extLst>
      <p:ext uri="{BB962C8B-B14F-4D97-AF65-F5344CB8AC3E}">
        <p14:creationId xmlns:p14="http://schemas.microsoft.com/office/powerpoint/2010/main" val="205771501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ky52cxy">
            <a:extLst xmlns:a="http://schemas.openxmlformats.org/drawingml/2006/main">
              <a:ext uri="{FF2B5EF4-FFF2-40B4-BE49-F238E27FC236}">
                <a16:creationId xmlns:a16="http://schemas.microsoft.com/office/drawing/2014/main" id="{8AF1AF0B-E096-4FDC-80E5-C21E90E8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至少演示一次迭代</a:t>
            </a:r>
          </a:p>
        </p:txBody>
      </p:sp>
      <p:sp>
        <p:nvSpPr>
          <p:cNvPr id="2" name="text-4165nm8">
            <a:extLst xmlns:a="http://schemas.openxmlformats.org/drawingml/2006/main">
              <a:ext uri="{FF2B5EF4-FFF2-40B4-BE49-F238E27FC236}">
                <a16:creationId xmlns:a16="http://schemas.microsoft.com/office/drawing/2014/main" id="{9AD50061-FFAF-428F-B072-76C729D1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发现问题，不是结束，而是下一轮提示词的起点</a:t>
            </a:r>
          </a:p>
        </p:txBody>
      </p:sp>
      <p:sp>
        <p:nvSpPr>
          <p:cNvPr id="3" name="shape-8hmwwc1">
            <a:extLst xmlns:a="http://schemas.openxmlformats.org/drawingml/2006/main">
              <a:ext uri="{FF2B5EF4-FFF2-40B4-BE49-F238E27FC236}">
                <a16:creationId xmlns:a16="http://schemas.microsoft.com/office/drawing/2014/main" id="{338A1E02-A74A-4F62-9E51-5DFC9449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d6egqst">
            <a:extLst xmlns:a="http://schemas.openxmlformats.org/drawingml/2006/main">
              <a:ext uri="{FF2B5EF4-FFF2-40B4-BE49-F238E27FC236}">
                <a16:creationId xmlns:a16="http://schemas.microsoft.com/office/drawing/2014/main" id="{D4B1A01A-08B5-4011-87AB-FAF9CD74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lg4i15e">
            <a:extLst xmlns:a="http://schemas.openxmlformats.org/drawingml/2006/main">
              <a:ext uri="{FF2B5EF4-FFF2-40B4-BE49-F238E27FC236}">
                <a16:creationId xmlns:a16="http://schemas.microsoft.com/office/drawing/2014/main" id="{76B2072D-5F9E-4B4E-963B-AA199181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xnb8ucc">
            <a:extLst xmlns:a="http://schemas.openxmlformats.org/drawingml/2006/main">
              <a:ext uri="{FF2B5EF4-FFF2-40B4-BE49-F238E27FC236}">
                <a16:creationId xmlns:a16="http://schemas.microsoft.com/office/drawing/2014/main" id="{33556A98-0F3A-463F-A5B3-850FB0E5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发现问题</a:t>
            </a:r>
          </a:p>
        </p:txBody>
      </p:sp>
      <p:sp>
        <p:nvSpPr>
          <p:cNvPr id="7" name="text-6ttpl2u">
            <a:extLst xmlns:a="http://schemas.openxmlformats.org/drawingml/2006/main">
              <a:ext uri="{FF2B5EF4-FFF2-40B4-BE49-F238E27FC236}">
                <a16:creationId xmlns:a16="http://schemas.microsoft.com/office/drawing/2014/main" id="{279C9B72-111A-4304-B31E-C1083973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数字、结构、标题或版式</a:t>
            </a:r>
          </a:p>
        </p:txBody>
      </p:sp>
      <p:sp>
        <p:nvSpPr>
          <p:cNvPr id="8" name="text-dhiuej0">
            <a:extLst xmlns:a="http://schemas.openxmlformats.org/drawingml/2006/main">
              <a:ext uri="{FF2B5EF4-FFF2-40B4-BE49-F238E27FC236}">
                <a16:creationId xmlns:a16="http://schemas.microsoft.com/office/drawing/2014/main" id="{CC44AA15-458C-4746-A814-1C396351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shape-vaw7ybp">
            <a:extLst xmlns:a="http://schemas.openxmlformats.org/drawingml/2006/main">
              <a:ext uri="{FF2B5EF4-FFF2-40B4-BE49-F238E27FC236}">
                <a16:creationId xmlns:a16="http://schemas.microsoft.com/office/drawing/2014/main" id="{74853B64-E182-48E3-9B37-756591EE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-b3uynd0">
            <a:extLst xmlns:a="http://schemas.openxmlformats.org/drawingml/2006/main">
              <a:ext uri="{FF2B5EF4-FFF2-40B4-BE49-F238E27FC236}">
                <a16:creationId xmlns:a16="http://schemas.microsoft.com/office/drawing/2014/main" id="{13A0BED8-2AE0-4E67-8844-159E85AC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-4fl2drt">
            <a:extLst xmlns:a="http://schemas.openxmlformats.org/drawingml/2006/main">
              <a:ext uri="{FF2B5EF4-FFF2-40B4-BE49-F238E27FC236}">
                <a16:creationId xmlns:a16="http://schemas.microsoft.com/office/drawing/2014/main" id="{0781C0CE-BECC-4BD6-92C1-D41C86B6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指出证据</a:t>
            </a:r>
          </a:p>
        </p:txBody>
      </p:sp>
      <p:sp>
        <p:nvSpPr>
          <p:cNvPr id="12" name="text-dd9l3b0">
            <a:extLst xmlns:a="http://schemas.openxmlformats.org/drawingml/2006/main">
              <a:ext uri="{FF2B5EF4-FFF2-40B4-BE49-F238E27FC236}">
                <a16:creationId xmlns:a16="http://schemas.microsoft.com/office/drawing/2014/main" id="{1ADBA446-B457-4C20-9A6F-133334AE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说明哪一页、哪一项不符合</a:t>
            </a:r>
          </a:p>
        </p:txBody>
      </p:sp>
      <p:sp>
        <p:nvSpPr>
          <p:cNvPr id="13" name="text-ta7hofv">
            <a:extLst xmlns:a="http://schemas.openxmlformats.org/drawingml/2006/main">
              <a:ext uri="{FF2B5EF4-FFF2-40B4-BE49-F238E27FC236}">
                <a16:creationId xmlns:a16="http://schemas.microsoft.com/office/drawing/2014/main" id="{ABD017DF-A1CD-4080-A053-D2DED1C8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shape-fs3bzva">
            <a:extLst xmlns:a="http://schemas.openxmlformats.org/drawingml/2006/main">
              <a:ext uri="{FF2B5EF4-FFF2-40B4-BE49-F238E27FC236}">
                <a16:creationId xmlns:a16="http://schemas.microsoft.com/office/drawing/2014/main" id="{1C1CD6C4-9D82-4F91-B2D5-9D9E36FE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text-h2ifmay">
            <a:extLst xmlns:a="http://schemas.openxmlformats.org/drawingml/2006/main">
              <a:ext uri="{FF2B5EF4-FFF2-40B4-BE49-F238E27FC236}">
                <a16:creationId xmlns:a16="http://schemas.microsoft.com/office/drawing/2014/main" id="{1DDEB451-7CD9-4227-B655-FC9856DC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5vwyl6m">
            <a:extLst xmlns:a="http://schemas.openxmlformats.org/drawingml/2006/main">
              <a:ext uri="{FF2B5EF4-FFF2-40B4-BE49-F238E27FC236}">
                <a16:creationId xmlns:a16="http://schemas.microsoft.com/office/drawing/2014/main" id="{0B570E5E-B228-4621-9698-D2251875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修改提示词</a:t>
            </a:r>
          </a:p>
        </p:txBody>
      </p:sp>
      <p:sp>
        <p:nvSpPr>
          <p:cNvPr id="17" name="text-qrfz2vc">
            <a:extLst xmlns:a="http://schemas.openxmlformats.org/drawingml/2006/main">
              <a:ext uri="{FF2B5EF4-FFF2-40B4-BE49-F238E27FC236}">
                <a16:creationId xmlns:a16="http://schemas.microsoft.com/office/drawing/2014/main" id="{6B9C6286-2F62-486F-A085-2CCD0268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给出具体修改和不可改变项</a:t>
            </a:r>
          </a:p>
        </p:txBody>
      </p:sp>
      <p:sp>
        <p:nvSpPr>
          <p:cNvPr id="18" name="text-nwasdfr">
            <a:extLst xmlns:a="http://schemas.openxmlformats.org/drawingml/2006/main">
              <a:ext uri="{FF2B5EF4-FFF2-40B4-BE49-F238E27FC236}">
                <a16:creationId xmlns:a16="http://schemas.microsoft.com/office/drawing/2014/main" id="{C947D84B-80F0-4D64-AAE1-2A20F05F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shape-ms6hf7i">
            <a:extLst xmlns:a="http://schemas.openxmlformats.org/drawingml/2006/main">
              <a:ext uri="{FF2B5EF4-FFF2-40B4-BE49-F238E27FC236}">
                <a16:creationId xmlns:a16="http://schemas.microsoft.com/office/drawing/2014/main" id="{38FAC7D4-8BA1-454E-B492-6123B01D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text-be4xdo5">
            <a:extLst xmlns:a="http://schemas.openxmlformats.org/drawingml/2006/main">
              <a:ext uri="{FF2B5EF4-FFF2-40B4-BE49-F238E27FC236}">
                <a16:creationId xmlns:a16="http://schemas.microsoft.com/office/drawing/2014/main" id="{17AB5F80-1B57-48AF-82DE-B490BA73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text-3aryeb7">
            <a:extLst xmlns:a="http://schemas.openxmlformats.org/drawingml/2006/main">
              <a:ext uri="{FF2B5EF4-FFF2-40B4-BE49-F238E27FC236}">
                <a16:creationId xmlns:a16="http://schemas.microsoft.com/office/drawing/2014/main" id="{285B6BE2-6915-4465-9CCA-D8A77B29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重新检查</a:t>
            </a:r>
          </a:p>
        </p:txBody>
      </p:sp>
      <p:sp>
        <p:nvSpPr>
          <p:cNvPr id="22" name="text-mybj8gq">
            <a:extLst xmlns:a="http://schemas.openxmlformats.org/drawingml/2006/main">
              <a:ext uri="{FF2B5EF4-FFF2-40B4-BE49-F238E27FC236}">
                <a16:creationId xmlns:a16="http://schemas.microsoft.com/office/drawing/2014/main" id="{6BEFE984-AF88-4DD9-90A3-D344203A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确认问题已修复且未引入新错误</a:t>
            </a:r>
          </a:p>
        </p:txBody>
      </p:sp>
      <p:sp>
        <p:nvSpPr>
          <p:cNvPr id="23" name="text-j9ostz4">
            <a:extLst xmlns:a="http://schemas.openxmlformats.org/drawingml/2006/main">
              <a:ext uri="{FF2B5EF4-FFF2-40B4-BE49-F238E27FC236}">
                <a16:creationId xmlns:a16="http://schemas.microsoft.com/office/drawing/2014/main" id="{A9814953-93CA-4517-9973-84D43E1A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例：把第3页标题改成结论式表达，保留数据，不改变统计口径。</a:t>
            </a:r>
          </a:p>
        </p:txBody>
      </p:sp>
      <p:sp>
        <p:nvSpPr>
          <p:cNvPr id="24" name="text-fhkz35h">
            <a:extLst xmlns:a="http://schemas.openxmlformats.org/drawingml/2006/main">
              <a:ext uri="{FF2B5EF4-FFF2-40B4-BE49-F238E27FC236}">
                <a16:creationId xmlns:a16="http://schemas.microsoft.com/office/drawing/2014/main" id="{EECA253A-17A6-4E53-996A-C97B991D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生成并检查PPT</a:t>
            </a:r>
          </a:p>
        </p:txBody>
      </p:sp>
    </p:spTree>
    <p:extLst>
      <p:ext uri="{BB962C8B-B14F-4D97-AF65-F5344CB8AC3E}">
        <p14:creationId xmlns:p14="http://schemas.microsoft.com/office/powerpoint/2010/main" val="173379779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m8bwxz3">
            <a:extLst xmlns:a="http://schemas.openxmlformats.org/drawingml/2006/main">
              <a:ext uri="{FF2B5EF4-FFF2-40B4-BE49-F238E27FC236}">
                <a16:creationId xmlns:a16="http://schemas.microsoft.com/office/drawing/2014/main" id="{E4945FEE-71CC-4A18-A953-A3CC6BEC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最后记住一条工作原则</a:t>
            </a:r>
          </a:p>
        </p:txBody>
      </p:sp>
      <p:sp>
        <p:nvSpPr>
          <p:cNvPr id="2" name="text-snlanud">
            <a:extLst xmlns:a="http://schemas.openxmlformats.org/drawingml/2006/main">
              <a:ext uri="{FF2B5EF4-FFF2-40B4-BE49-F238E27FC236}">
                <a16:creationId xmlns:a16="http://schemas.microsoft.com/office/drawing/2014/main" id="{5B215085-AD7D-409C-BCE8-0DDCF6C7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4762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先商讨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再生成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后校验</a:t>
            </a:r>
          </a:p>
        </p:txBody>
      </p:sp>
      <p:sp>
        <p:nvSpPr>
          <p:cNvPr id="3" name="shape-nvlkap7">
            <a:extLst xmlns:a="http://schemas.openxmlformats.org/drawingml/2006/main">
              <a:ext uri="{FF2B5EF4-FFF2-40B4-BE49-F238E27FC236}">
                <a16:creationId xmlns:a16="http://schemas.microsoft.com/office/drawing/2014/main" id="{7C5EC0FB-AD41-4BB9-A8FD-4A8C6637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81125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sj7k8fd">
            <a:extLst xmlns:a="http://schemas.openxmlformats.org/drawingml/2006/main">
              <a:ext uri="{FF2B5EF4-FFF2-40B4-BE49-F238E27FC236}">
                <a16:creationId xmlns:a16="http://schemas.microsoft.com/office/drawing/2014/main" id="{7D65C7FB-0C01-4603-A29A-3D984CB0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049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课后迁移任务</a:t>
            </a:r>
          </a:p>
        </p:txBody>
      </p:sp>
      <p:sp>
        <p:nvSpPr>
          <p:cNvPr id="5" name="text-pjqrs6s">
            <a:extLst xmlns:a="http://schemas.openxmlformats.org/drawingml/2006/main">
              <a:ext uri="{FF2B5EF4-FFF2-40B4-BE49-F238E27FC236}">
                <a16:creationId xmlns:a16="http://schemas.microsoft.com/office/drawing/2014/main" id="{5CAEE674-E93B-4159-845B-DA3C3D2D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476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rPr>
              <a:t>选择一个自己的办公场景：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rPr>
              <a:t>1. 写一份需求确认单</a:t>
            </a:r>
          </a:p>
          <a:p xmlns:a="http://schemas.openxmlformats.org/drawingml/2006/main">
            <a:pPr algn="l">
              <a:def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rPr>
              <a:t>2. 生成一份数据或报表</a:t>
            </a:r>
          </a:p>
          <a:p xmlns:a="http://schemas.openxmlformats.org/drawingml/2006/main">
            <a:pPr algn="l">
              <a:def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rPr>
              <a:t>3. 提炼三个核心结论</a:t>
            </a:r>
          </a:p>
          <a:p xmlns:a="http://schemas.openxmlformats.org/drawingml/2006/main">
            <a:pPr algn="l">
              <a:def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rPr>
              <a:t>4. 写出5页以内的PPT方案</a:t>
            </a:r>
          </a:p>
        </p:txBody>
      </p:sp>
      <p:sp>
        <p:nvSpPr>
          <p:cNvPr id="6" name="text-3w3tvjp">
            <a:extLst xmlns:a="http://schemas.openxmlformats.org/drawingml/2006/main">
              <a:ext uri="{FF2B5EF4-FFF2-40B4-BE49-F238E27FC236}">
                <a16:creationId xmlns:a16="http://schemas.microsoft.com/office/drawing/2014/main" id="{6E44B7BF-1CBC-4223-B5DD-778CFE89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AI 负责加速，人负责目标、事实和最终判断。</a:t>
            </a:r>
          </a:p>
        </p:txBody>
      </p:sp>
    </p:spTree>
    <p:extLst>
      <p:ext uri="{BB962C8B-B14F-4D97-AF65-F5344CB8AC3E}">
        <p14:creationId xmlns:p14="http://schemas.microsoft.com/office/powerpoint/2010/main" val="1232567413"/>
      </p:ext>
    </p:extLst>
  </p:cSld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ext-skill-lab"/>
          <p:cNvSpPr>
            <a:spLocks noGrp="1"/>
          </p:cNvSpPr>
          <p:nvPr/>
        </p:nvSpPr>
        <p:spPr>
          <a:xfrm>
            <a:off x="533400" y="4572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下一节课</a:t>
            </a:r>
          </a:p>
        </p:txBody>
      </p:sp>
      <p:sp>
        <p:nvSpPr>
          <p:cNvPr id="2" name="text-skill-tit"/>
          <p:cNvSpPr>
            <a:spLocks noGrp="1"/>
          </p:cNvSpPr>
          <p:nvPr/>
        </p:nvSpPr>
        <p:spPr>
          <a:xfrm>
            <a:off x="533400" y="17145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Skill：把专业流程</a:t>
            </a:r>
          </a:p>
          <a:p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复用起来</a:t>
            </a:r>
          </a:p>
        </p:txBody>
      </p:sp>
      <p:sp>
        <p:nvSpPr>
          <p:cNvPr id="3" name="text-skill-sub"/>
          <p:cNvSpPr>
            <a:spLocks noGrp="1"/>
          </p:cNvSpPr>
          <p:nvPr/>
        </p:nvSpPr>
        <p:spPr>
          <a:xfrm>
            <a:off x="533400" y="4286250"/>
            <a:ext cx="10287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rPr>
              <a:t>把一类任务的标准做法固化成 Skill，让 AI 每次都按同样流程执行。（本页为占位，内容下节补充）</a:t>
            </a:r>
          </a:p>
        </p:txBody>
      </p:sp>
      <p:sp>
        <p:nvSpPr>
          <p:cNvPr id="4" name="shape-skill-bar"/>
          <p:cNvSpPr>
            <a:spLocks noGrp="1"/>
          </p:cNvSpPr>
          <p:nvPr/>
        </p:nvSpPr>
        <p:spPr>
          <a:xfrm>
            <a:off x="533400" y="5810250"/>
            <a:ext cx="1524000" cy="66675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 w="0">
            <a:noFill/>
            <a:prstDash val="solid"/>
          </a:ln>
        </p:spPr>
      </p:sp>
    </p:spTree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0" dist="228600" dir="5400000">
              <a:srgbClr val="0A84FF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2026-07-21T14:53:41.1550000Z</dcterms:created>
  <dcterms:modified xsi:type="dcterms:W3CDTF">2026-07-21T14:53:41.1550000Z</dcterms:modified>
</coreProperties>
</file>