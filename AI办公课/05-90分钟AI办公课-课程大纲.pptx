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80c8d4ca564e82" /><Relationship Type="http://schemas.openxmlformats.org/officeDocument/2006/relationships/extended-properties" Target="/docProps/app.xml" Id="R3bb673b5c5cb4ceb" /><Relationship Type="http://schemas.openxmlformats.org/officeDocument/2006/relationships/officeDocument" Target="/ppt/presentation.xml" Id="R48e8cbc4bc1348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5055aaa1924495"/>
  </p:sldMasterIdLst>
  <p:notesMasterIdLst>
    <p:notesMasterId xmlns:r="http://schemas.openxmlformats.org/officeDocument/2006/relationships" r:id="R966775dcfcb74d64"/>
  </p:notesMasterIdLst>
  <p:sldIdLst>
    <p:sldId xmlns:r="http://schemas.openxmlformats.org/officeDocument/2006/relationships" id="256" r:id="R66a4e73dd2b141ee"/>
    <p:sldId xmlns:r="http://schemas.openxmlformats.org/officeDocument/2006/relationships" id="257" r:id="Re57dfe4ec5c74353"/>
    <p:sldId xmlns:r="http://schemas.openxmlformats.org/officeDocument/2006/relationships" id="258" r:id="Rc67a2383af6744a9"/>
    <p:sldId xmlns:r="http://schemas.openxmlformats.org/officeDocument/2006/relationships" id="259" r:id="R525361508f8d43a4"/>
    <p:sldId xmlns:r="http://schemas.openxmlformats.org/officeDocument/2006/relationships" id="260" r:id="Rddec0553d30343b6"/>
    <p:sldId xmlns:r="http://schemas.openxmlformats.org/officeDocument/2006/relationships" id="261" r:id="R95bec7b4d4434057"/>
    <p:sldId xmlns:r="http://schemas.openxmlformats.org/officeDocument/2006/relationships" id="262" r:id="R0c36dacee4764319"/>
    <p:sldId xmlns:r="http://schemas.openxmlformats.org/officeDocument/2006/relationships" id="263" r:id="Red8ff0b6a8d04174"/>
    <p:sldId xmlns:r="http://schemas.openxmlformats.org/officeDocument/2006/relationships" id="264" r:id="Rac9c5e04cf35448c"/>
    <p:sldId xmlns:r="http://schemas.openxmlformats.org/officeDocument/2006/relationships" id="265" r:id="R43df19ff0e564e87"/>
    <p:sldId xmlns:r="http://schemas.openxmlformats.org/officeDocument/2006/relationships" id="266" r:id="R95d5a2e880014fa8"/>
    <p:sldId xmlns:r="http://schemas.openxmlformats.org/officeDocument/2006/relationships" id="267" r:id="R1d6b9e2fff9f42ec"/>
    <p:sldId xmlns:r="http://schemas.openxmlformats.org/officeDocument/2006/relationships" id="268" r:id="Rd0ec1b319bf949ba"/>
    <p:sldId xmlns:r="http://schemas.openxmlformats.org/officeDocument/2006/relationships" id="269" r:id="R80c50154b74a42bf"/>
    <p:sldId xmlns:r="http://schemas.openxmlformats.org/officeDocument/2006/relationships" id="270" r:id="R594169e978d44c33"/>
    <p:sldId xmlns:r="http://schemas.openxmlformats.org/officeDocument/2006/relationships" id="271" r:id="Rea7199e2b1cb43c0"/>
    <p:sldId xmlns:r="http://schemas.openxmlformats.org/officeDocument/2006/relationships" id="272" r:id="R15b2119cfc384cd7"/>
    <p:sldId xmlns:r="http://schemas.openxmlformats.org/officeDocument/2006/relationships" id="273" r:id="R645564b953f04856"/>
    <p:sldId xmlns:r="http://schemas.openxmlformats.org/officeDocument/2006/relationships" id="274" r:id="R1c6c94d0483843d4"/>
    <p:sldId xmlns:r="http://schemas.openxmlformats.org/officeDocument/2006/relationships" id="275" r:id="R0d57a1225c044d5e"/>
    <p:sldId xmlns:r="http://schemas.openxmlformats.org/officeDocument/2006/relationships" id="276" r:id="R7a870328a7c34bfb"/>
    <p:sldId xmlns:r="http://schemas.openxmlformats.org/officeDocument/2006/relationships" id="277" r:id="R8af790ba8f2b49d1"/>
    <p:sldId xmlns:r="http://schemas.openxmlformats.org/officeDocument/2006/relationships" id="278" r:id="R7b4a15a67e5f4797"/>
    <p:sldId xmlns:r="http://schemas.openxmlformats.org/officeDocument/2006/relationships" id="279" r:id="R2aca46a076a64705"/>
    <p:sldId xmlns:r="http://schemas.openxmlformats.org/officeDocument/2006/relationships" id="280" r:id="Rc7feca3888fa4b67"/>
    <p:sldId xmlns:r="http://schemas.openxmlformats.org/officeDocument/2006/relationships" id="281" r:id="Rfd2d4d60cffe431e"/>
    <p:sldId xmlns:r="http://schemas.openxmlformats.org/officeDocument/2006/relationships" id="282" r:id="R0d998cbd4a3f430c"/>
    <p:sldId xmlns:r="http://schemas.openxmlformats.org/officeDocument/2006/relationships" id="283" r:id="R28f10e132b604e9b"/>
    <p:sldId xmlns:r="http://schemas.openxmlformats.org/officeDocument/2006/relationships" id="284" r:id="R21be315ad42e456e"/>
    <p:sldId xmlns:r="http://schemas.openxmlformats.org/officeDocument/2006/relationships" id="285" r:id="Rb8009c018c264d6e"/>
    <p:sldId xmlns:r="http://schemas.openxmlformats.org/officeDocument/2006/relationships" id="286" r:id="Reb9c2f4f3cf34e84"/>
    <p:sldId xmlns:r="http://schemas.openxmlformats.org/officeDocument/2006/relationships" id="287" r:id="R063d35877ddd415c"/>
    <p:sldId xmlns:r="http://schemas.openxmlformats.org/officeDocument/2006/relationships" id="288" r:id="R5612f6cc94d44073"/>
    <p:sldId xmlns:r="http://schemas.openxmlformats.org/officeDocument/2006/relationships" id="289" r:id="Rfaa767c76dc14cce"/>
    <p:sldId xmlns:r="http://schemas.openxmlformats.org/officeDocument/2006/relationships" id="290" r:id="R20bb1d77c9d249b2"/>
    <p:sldId xmlns:r="http://schemas.openxmlformats.org/officeDocument/2006/relationships" id="291" r:id="R3999acc9f88c4503"/>
    <p:sldId xmlns:r="http://schemas.openxmlformats.org/officeDocument/2006/relationships" id="292" r:id="R6a64018777a14500"/>
    <p:sldId xmlns:r="http://schemas.openxmlformats.org/officeDocument/2006/relationships" id="293" r:id="Rbf8f574f7d4f4b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3542f36aa14570" /><Relationship Type="http://schemas.openxmlformats.org/officeDocument/2006/relationships/slideMaster" Target="/ppt/slideMasters/slideMaster1.xml" Id="R555055aaa1924495" /><Relationship Type="http://schemas.openxmlformats.org/officeDocument/2006/relationships/notesMaster" Target="/ppt/notesMasters/notesMaster1.xml" Id="R966775dcfcb74d64" /><Relationship Type="http://schemas.openxmlformats.org/officeDocument/2006/relationships/presProps" Target="/ppt/presProps.xml" Id="R4898f85e6f3f4366" /><Relationship Type="http://schemas.openxmlformats.org/officeDocument/2006/relationships/tableStyles" Target="/ppt/tableStyles.xml" Id="R76482de267144ab2" /><Relationship Type="http://schemas.openxmlformats.org/officeDocument/2006/relationships/slide" Target="/ppt/slides/slide1.xml" Id="R66a4e73dd2b141ee" /><Relationship Type="http://schemas.openxmlformats.org/officeDocument/2006/relationships/slide" Target="/ppt/slides/slide2.xml" Id="Re57dfe4ec5c74353" /><Relationship Type="http://schemas.openxmlformats.org/officeDocument/2006/relationships/slide" Target="/ppt/slides/slide3.xml" Id="Rc67a2383af6744a9" /><Relationship Type="http://schemas.openxmlformats.org/officeDocument/2006/relationships/slide" Target="/ppt/slides/slide4.xml" Id="R525361508f8d43a4" /><Relationship Type="http://schemas.openxmlformats.org/officeDocument/2006/relationships/slide" Target="/ppt/slides/slide5.xml" Id="Rddec0553d30343b6" /><Relationship Type="http://schemas.openxmlformats.org/officeDocument/2006/relationships/slide" Target="/ppt/slides/slide6.xml" Id="R95bec7b4d4434057" /><Relationship Type="http://schemas.openxmlformats.org/officeDocument/2006/relationships/slide" Target="/ppt/slides/slide7.xml" Id="R0c36dacee4764319" /><Relationship Type="http://schemas.openxmlformats.org/officeDocument/2006/relationships/slide" Target="/ppt/slides/slide8.xml" Id="Red8ff0b6a8d04174" /><Relationship Type="http://schemas.openxmlformats.org/officeDocument/2006/relationships/slide" Target="/ppt/slides/slide9.xml" Id="Rac9c5e04cf35448c" /><Relationship Type="http://schemas.openxmlformats.org/officeDocument/2006/relationships/slide" Target="/ppt/slides/slide10.xml" Id="R43df19ff0e564e87" /><Relationship Type="http://schemas.openxmlformats.org/officeDocument/2006/relationships/slide" Target="/ppt/slides/slide11.xml" Id="R95d5a2e880014fa8" /><Relationship Type="http://schemas.openxmlformats.org/officeDocument/2006/relationships/slide" Target="/ppt/slides/slide12.xml" Id="R1d6b9e2fff9f42ec" /><Relationship Type="http://schemas.openxmlformats.org/officeDocument/2006/relationships/slide" Target="/ppt/slides/slide13.xml" Id="Rd0ec1b319bf949ba" /><Relationship Type="http://schemas.openxmlformats.org/officeDocument/2006/relationships/slide" Target="/ppt/slides/slide14.xml" Id="R80c50154b74a42bf" /><Relationship Type="http://schemas.openxmlformats.org/officeDocument/2006/relationships/slide" Target="/ppt/slides/slide15.xml" Id="R594169e978d44c33" /><Relationship Type="http://schemas.openxmlformats.org/officeDocument/2006/relationships/slide" Target="/ppt/slides/slide16.xml" Id="Rea7199e2b1cb43c0" /><Relationship Type="http://schemas.openxmlformats.org/officeDocument/2006/relationships/slide" Target="/ppt/slides/slide17.xml" Id="R15b2119cfc384cd7" /><Relationship Type="http://schemas.openxmlformats.org/officeDocument/2006/relationships/slide" Target="/ppt/slides/slide18.xml" Id="R645564b953f04856" /><Relationship Type="http://schemas.openxmlformats.org/officeDocument/2006/relationships/slide" Target="/ppt/slides/slide19.xml" Id="R1c6c94d0483843d4" /><Relationship Type="http://schemas.openxmlformats.org/officeDocument/2006/relationships/slide" Target="/ppt/slides/slide20.xml" Id="R0d57a1225c044d5e" /><Relationship Type="http://schemas.openxmlformats.org/officeDocument/2006/relationships/slide" Target="/ppt/slides/slide21.xml" Id="R7a870328a7c34bfb" /><Relationship Type="http://schemas.openxmlformats.org/officeDocument/2006/relationships/slide" Target="/ppt/slides/slide22.xml" Id="R8af790ba8f2b49d1" /><Relationship Type="http://schemas.openxmlformats.org/officeDocument/2006/relationships/slide" Target="/ppt/slides/slide23.xml" Id="R7b4a15a67e5f4797" /><Relationship Type="http://schemas.openxmlformats.org/officeDocument/2006/relationships/slide" Target="/ppt/slides/slide24.xml" Id="R2aca46a076a64705" /><Relationship Type="http://schemas.openxmlformats.org/officeDocument/2006/relationships/slide" Target="/ppt/slides/slide25.xml" Id="Rc7feca3888fa4b67" /><Relationship Type="http://schemas.openxmlformats.org/officeDocument/2006/relationships/slide" Target="/ppt/slides/slide26.xml" Id="Rfd2d4d60cffe431e" /><Relationship Type="http://schemas.openxmlformats.org/officeDocument/2006/relationships/slide" Target="/ppt/slides/slide27.xml" Id="R0d998cbd4a3f430c" /><Relationship Type="http://schemas.openxmlformats.org/officeDocument/2006/relationships/slide" Target="/ppt/slides/slide28.xml" Id="R28f10e132b604e9b" /><Relationship Type="http://schemas.openxmlformats.org/officeDocument/2006/relationships/slide" Target="/ppt/slides/slide29.xml" Id="R21be315ad42e456e" /><Relationship Type="http://schemas.openxmlformats.org/officeDocument/2006/relationships/slide" Target="/ppt/slides/slide30.xml" Id="Rb8009c018c264d6e" /><Relationship Type="http://schemas.openxmlformats.org/officeDocument/2006/relationships/slide" Target="/ppt/slides/slide31.xml" Id="Reb9c2f4f3cf34e84" /><Relationship Type="http://schemas.openxmlformats.org/officeDocument/2006/relationships/slide" Target="/ppt/slides/slide32.xml" Id="R063d35877ddd415c" /><Relationship Type="http://schemas.openxmlformats.org/officeDocument/2006/relationships/slide" Target="/ppt/slides/slide33.xml" Id="R5612f6cc94d44073" /><Relationship Type="http://schemas.openxmlformats.org/officeDocument/2006/relationships/slide" Target="/ppt/slides/slide34.xml" Id="Rfaa767c76dc14cce" /><Relationship Type="http://schemas.openxmlformats.org/officeDocument/2006/relationships/slide" Target="/ppt/slides/slide35.xml" Id="R20bb1d77c9d249b2" /><Relationship Type="http://schemas.openxmlformats.org/officeDocument/2006/relationships/slide" Target="/ppt/slides/slide36.xml" Id="R3999acc9f88c4503" /><Relationship Type="http://schemas.openxmlformats.org/officeDocument/2006/relationships/slide" Target="/ppt/slides/slide37.xml" Id="R6a64018777a14500" /><Relationship Type="http://schemas.openxmlformats.org/officeDocument/2006/relationships/slide" Target="/ppt/slides/slide38.xml" Id="Rbf8f574f7d4f4b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73b93526464e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18f3f3d7cf4edc" /><Relationship Type="http://schemas.openxmlformats.org/officeDocument/2006/relationships/notesMaster" Target="/ppt/notesMasters/notesMaster1.xml" Id="Re3f62e6d45034c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e5a8963c01425d" /><Relationship Type="http://schemas.openxmlformats.org/officeDocument/2006/relationships/notesMaster" Target="/ppt/notesMasters/notesMaster1.xml" Id="Re9c67cef31d64d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f2f20520aa46fc" /><Relationship Type="http://schemas.openxmlformats.org/officeDocument/2006/relationships/notesMaster" Target="/ppt/notesMasters/notesMaster1.xml" Id="R802181532b9f4e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cdc34564354ea4" /><Relationship Type="http://schemas.openxmlformats.org/officeDocument/2006/relationships/notesMaster" Target="/ppt/notesMasters/notesMaster1.xml" Id="Rf759155f879345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6a049dd4ad4a59" /><Relationship Type="http://schemas.openxmlformats.org/officeDocument/2006/relationships/notesMaster" Target="/ppt/notesMasters/notesMaster1.xml" Id="Rf816d0faa82442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adbc25a54d403a" /><Relationship Type="http://schemas.openxmlformats.org/officeDocument/2006/relationships/notesMaster" Target="/ppt/notesMasters/notesMaster1.xml" Id="R792d46bc12df41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922f205811458f" /><Relationship Type="http://schemas.openxmlformats.org/officeDocument/2006/relationships/notesMaster" Target="/ppt/notesMasters/notesMaster1.xml" Id="Rb2339bded2f244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8aa10386bb403d" /><Relationship Type="http://schemas.openxmlformats.org/officeDocument/2006/relationships/notesMaster" Target="/ppt/notesMasters/notesMaster1.xml" Id="Rc3e1e3efbb854c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f6e6322d9b4cd8" /><Relationship Type="http://schemas.openxmlformats.org/officeDocument/2006/relationships/notesMaster" Target="/ppt/notesMasters/notesMaster1.xml" Id="R5f92122cf20a4a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975b9cdaf246eb" /><Relationship Type="http://schemas.openxmlformats.org/officeDocument/2006/relationships/notesMaster" Target="/ppt/notesMasters/notesMaster1.xml" Id="R6226dbcbbfcc4a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9e783714aa4b3d" /><Relationship Type="http://schemas.openxmlformats.org/officeDocument/2006/relationships/notesMaster" Target="/ppt/notesMasters/notesMaster1.xml" Id="R0aca1300a52747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5af1f3dcdb4edb" /><Relationship Type="http://schemas.openxmlformats.org/officeDocument/2006/relationships/notesMaster" Target="/ppt/notesMasters/notesMaster1.xml" Id="R5822647303b943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c7e46d248c4e4d" /><Relationship Type="http://schemas.openxmlformats.org/officeDocument/2006/relationships/notesMaster" Target="/ppt/notesMasters/notesMaster1.xml" Id="Rfe4bc2fc94744c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36bf86737e4d86" /><Relationship Type="http://schemas.openxmlformats.org/officeDocument/2006/relationships/notesMaster" Target="/ppt/notesMasters/notesMaster1.xml" Id="Rd5cfce570f8342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445ceb1e314af1" /><Relationship Type="http://schemas.openxmlformats.org/officeDocument/2006/relationships/notesMaster" Target="/ppt/notesMasters/notesMaster1.xml" Id="R37ad502b22644b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7f8c050ed34154" /><Relationship Type="http://schemas.openxmlformats.org/officeDocument/2006/relationships/notesMaster" Target="/ppt/notesMasters/notesMaster1.xml" Id="Rdaa4db9772d848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457ea88396461f" /><Relationship Type="http://schemas.openxmlformats.org/officeDocument/2006/relationships/notesMaster" Target="/ppt/notesMasters/notesMaster1.xml" Id="R57229c15e99845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875f3bcb004c3d" /><Relationship Type="http://schemas.openxmlformats.org/officeDocument/2006/relationships/notesMaster" Target="/ppt/notesMasters/notesMaster1.xml" Id="R43d5ca7668c64b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8350d8d35294c93" /><Relationship Type="http://schemas.openxmlformats.org/officeDocument/2006/relationships/notesMaster" Target="/ppt/notesMasters/notesMaster1.xml" Id="R8385cc2da420434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a1b798b1404df8" /><Relationship Type="http://schemas.openxmlformats.org/officeDocument/2006/relationships/notesMaster" Target="/ppt/notesMasters/notesMaster1.xml" Id="R9de0c0bf0663434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b062048f0224f9c" /><Relationship Type="http://schemas.openxmlformats.org/officeDocument/2006/relationships/notesMaster" Target="/ppt/notesMasters/notesMaster1.xml" Id="Rf25ca1641cba44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0c20c272cff4ab0" /><Relationship Type="http://schemas.openxmlformats.org/officeDocument/2006/relationships/notesMaster" Target="/ppt/notesMasters/notesMaster1.xml" Id="Ra717ef9d01e24c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8f48c3f6b344eaa" /><Relationship Type="http://schemas.openxmlformats.org/officeDocument/2006/relationships/notesMaster" Target="/ppt/notesMasters/notesMaster1.xml" Id="Rab5a80af6f234ae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fd322b6de84f5e" /><Relationship Type="http://schemas.openxmlformats.org/officeDocument/2006/relationships/notesMaster" Target="/ppt/notesMasters/notesMaster1.xml" Id="Reabbd41881a2412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711eb27a757470c" /><Relationship Type="http://schemas.openxmlformats.org/officeDocument/2006/relationships/notesMaster" Target="/ppt/notesMasters/notesMaster1.xml" Id="R06aa77cc3b6049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058d1915f354bfd" /><Relationship Type="http://schemas.openxmlformats.org/officeDocument/2006/relationships/notesMaster" Target="/ppt/notesMasters/notesMaster1.xml" Id="R29e2f6e28a8b41c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fe04092bbac439e" /><Relationship Type="http://schemas.openxmlformats.org/officeDocument/2006/relationships/notesMaster" Target="/ppt/notesMasters/notesMaster1.xml" Id="Rf0211e48b366400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81ff367d7448f8" /><Relationship Type="http://schemas.openxmlformats.org/officeDocument/2006/relationships/notesMaster" Target="/ppt/notesMasters/notesMaster1.xml" Id="Rc3419013eb254d8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aadea574c114df3" /><Relationship Type="http://schemas.openxmlformats.org/officeDocument/2006/relationships/notesMaster" Target="/ppt/notesMasters/notesMaster1.xml" Id="R80d30960d87a47a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ae5ed0057584eeb" /><Relationship Type="http://schemas.openxmlformats.org/officeDocument/2006/relationships/notesMaster" Target="/ppt/notesMasters/notesMaster1.xml" Id="R2fa8e3adaf9a4fe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ff3adc6ad264b72" /><Relationship Type="http://schemas.openxmlformats.org/officeDocument/2006/relationships/notesMaster" Target="/ppt/notesMasters/notesMaster1.xml" Id="R47605b7590ea498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d66c366485148eb" /><Relationship Type="http://schemas.openxmlformats.org/officeDocument/2006/relationships/notesMaster" Target="/ppt/notesMasters/notesMaster1.xml" Id="R4217644a77fd4f2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dfa1d5d7c1b4d23" /><Relationship Type="http://schemas.openxmlformats.org/officeDocument/2006/relationships/notesMaster" Target="/ppt/notesMasters/notesMaster1.xml" Id="Rc72990009e3b447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f2d9f797a724dcb" /><Relationship Type="http://schemas.openxmlformats.org/officeDocument/2006/relationships/notesMaster" Target="/ppt/notesMasters/notesMaster1.xml" Id="R78384b6111494d6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dc7073f89f54ace" /><Relationship Type="http://schemas.openxmlformats.org/officeDocument/2006/relationships/notesMaster" Target="/ppt/notesMasters/notesMaster1.xml" Id="Rf1d80ddea7d84c7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0e2fbf013904213" /><Relationship Type="http://schemas.openxmlformats.org/officeDocument/2006/relationships/notesMaster" Target="/ppt/notesMasters/notesMaster1.xml" Id="Rb5658725dd5f4f0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b2f6512c8944b51" /><Relationship Type="http://schemas.openxmlformats.org/officeDocument/2006/relationships/notesMaster" Target="/ppt/notesMasters/notesMaster1.xml" Id="R379b8c44c4bc414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305e6504ae64a96" /><Relationship Type="http://schemas.openxmlformats.org/officeDocument/2006/relationships/notesMaster" Target="/ppt/notesMasters/notesMaster1.xml" Id="R2a976586994e4b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0～1分钟｜开场</a:t>
            </a:r>
          </a:p>
          <a:p xmlns:a="http://schemas.openxmlformats.org/drawingml/2006/main">
            <a:r>
              <a:t>先问学员：你是否曾经只说‘帮我做一个文件’，却得到一份看起来完整、实际不能用的结果？</a:t>
            </a:r>
          </a:p>
          <a:p xmlns:a="http://schemas.openxmlformats.org/drawingml/2006/main">
            <a:r>
              <a:t>说明今天学的是一条完整工作链，而不是零散的软件按钮。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1～3分钟｜成果预览</a:t>
            </a:r>
          </a:p>
          <a:p xmlns:a="http://schemas.openxmlformats.org/drawingml/2006/main">
            <a:r>
              <a:t>快速展示四个终点，不解释软件细节。</a:t>
            </a:r>
          </a:p>
          <a:p xmlns:a="http://schemas.openxmlformats.org/drawingml/2006/main">
            <a:r>
              <a:t>强调Excel是数据载体，PPT是表达结论的交付物，真正起点是业务问题。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3～5分钟｜课程路线</a:t>
            </a:r>
          </a:p>
          <a:p xmlns:a="http://schemas.openxmlformats.org/drawingml/2006/main">
            <a:r>
              <a:t>让学员只记住三个动作：先商讨、再生成、后校验。</a:t>
            </a:r>
          </a:p>
          <a:p xmlns:a="http://schemas.openxmlformats.org/drawingml/2006/main">
            <a:r>
              <a:t>过渡：要学会交任务，先理解AI为什么需要提示词。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5分钟｜进入第一部分</a:t>
            </a:r>
          </a:p>
          <a:p xmlns:a="http://schemas.openxmlformats.org/drawingml/2006/main">
            <a:r>
              <a:t>这一部分控制在20分钟。</a:t>
            </a:r>
          </a:p>
          <a:p xmlns:a="http://schemas.openxmlformats.org/drawingml/2006/main">
            <a:r>
              <a:t>不讲模型数学原理，只建立能够指导办公实践的正确认知。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5～8分钟｜大海与游泳者</a:t>
            </a:r>
          </a:p>
          <a:p xmlns:a="http://schemas.openxmlformats.org/drawingml/2006/main">
            <a:r>
              <a:t>先不解释技术，直接问：如果只说‘你游过去吧’，还缺什么？</a:t>
            </a:r>
          </a:p>
          <a:p xmlns:a="http://schemas.openxmlformats.org/drawingml/2006/main">
            <a:r>
              <a:t>引导学员说出起点、目的地、路线、时间、风险和带回来的东西。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8～10分钟｜视觉对照</a:t>
            </a:r>
          </a:p>
          <a:p xmlns:a="http://schemas.openxmlformats.org/drawingml/2006/main">
            <a:r>
              <a:t>左侧代表‘帮我做一个PPT’，右侧代表说清楚对象、目标、路线和验收。</a:t>
            </a:r>
          </a:p>
          <a:p xmlns:a="http://schemas.openxmlformats.org/drawingml/2006/main">
            <a:r>
              <a:t>提醒：提示词提高命中率，但不会自动保证数字和结论正确。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10～11分钟｜定义</a:t>
            </a:r>
          </a:p>
          <a:p xmlns:a="http://schemas.openxmlformats.org/drawingml/2006/main">
            <a:r>
              <a:t>提示词不必一次完美，可以先写一版、让AI追问、补充信息、再确认。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11～13分钟｜六段式提示词</a:t>
            </a:r>
          </a:p>
          <a:p xmlns:a="http://schemas.openxmlformats.org/drawingml/2006/main">
            <a:r>
              <a:t>强调这是新手检查清单，不是唯一公式。</a:t>
            </a:r>
          </a:p>
          <a:p xmlns:a="http://schemas.openxmlformats.org/drawingml/2006/main">
            <a:r>
              <a:t>快速口头拆解‘帮我做一个销售PPT’缺少的六类信息。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13～14分钟｜快速练习</a:t>
            </a:r>
          </a:p>
          <a:p xmlns:a="http://schemas.openxmlformats.org/drawingml/2006/main">
            <a:r>
              <a:t>请学员口头说出一项缺失信息。</a:t>
            </a:r>
          </a:p>
          <a:p xmlns:a="http://schemas.openxmlformats.org/drawingml/2006/main">
            <a:r>
              <a:t>不要在此处展开完整答案，下一页揭晓。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14～15分钟｜参考答案</a:t>
            </a:r>
          </a:p>
          <a:p xmlns:a="http://schemas.openxmlformats.org/drawingml/2006/main">
            <a:r>
              <a:t>逐段对应六段式结构。</a:t>
            </a:r>
          </a:p>
          <a:p xmlns:a="http://schemas.openxmlformats.org/drawingml/2006/main">
            <a:r>
              <a:t>强调不是因为文字更多，而是新增信息真正改变了AI的工作方式。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15～17分钟｜上下文窗口</a:t>
            </a:r>
          </a:p>
          <a:p xmlns:a="http://schemas.openxmlformats.org/drawingml/2006/main">
            <a:r>
              <a:t>不要说‘Token里面装什么’，要说‘上下文窗口里装什么’。</a:t>
            </a:r>
          </a:p>
          <a:p xmlns:a="http://schemas.openxmlformats.org/drawingml/2006/main">
            <a:r>
              <a:t>指出系统指令、当前输入、历史对话、文件、工具结果等会共同占用空间。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17～18分钟｜Token</a:t>
            </a:r>
          </a:p>
          <a:p xmlns:a="http://schemas.openxmlformats.org/drawingml/2006/main">
            <a:r>
              <a:t>不要讲固定的中文字数换算；不同Tokenizer会有差异。</a:t>
            </a:r>
          </a:p>
          <a:p xmlns:a="http://schemas.openxmlformats.org/drawingml/2006/main">
            <a:r>
              <a:t>教学重点：把有限上下文优先留给目标、事实和验收标准。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18～19分钟｜动态上下文包</a:t>
            </a:r>
          </a:p>
          <a:p xmlns:a="http://schemas.openxmlformats.org/drawingml/2006/main">
            <a:r>
              <a:t>用‘桌面上摆着的资料’做比喻。</a:t>
            </a:r>
          </a:p>
          <a:p xmlns:a="http://schemas.openxmlformats.org/drawingml/2006/main">
            <a:r>
              <a:t>不展开指令优先级和精确上下文数字。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19～20分钟｜Skill与AGENTS.md</a:t>
            </a:r>
          </a:p>
          <a:p xmlns:a="http://schemas.openxmlformats.org/drawingml/2006/main">
            <a:r>
              <a:t>只讲区别和使用场景，不讲Skill开发、目录和配置。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20～25分钟｜Codex工具循环</a:t>
            </a:r>
          </a:p>
          <a:p xmlns:a="http://schemas.openxmlformats.org/drawingml/2006/main">
            <a:r>
              <a:t>沿图讲：收到问题→思考计划→调用工具→查看结果→再次判断→最终输出。</a:t>
            </a:r>
          </a:p>
          <a:p xmlns:a="http://schemas.openxmlformats.org/drawingml/2006/main">
            <a:r>
              <a:t>口头补充两层：开始前会收集项目规则、Skill和文件；部分工具操作需要权限确认。</a:t>
            </a:r>
          </a:p>
          <a:p xmlns:a="http://schemas.openxmlformats.org/drawingml/2006/main">
            <a:r>
              <a:t>过渡：既然AI会执行，我们就要在执行前把需求商讨清楚。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25分钟｜进入需求商讨与固化</a:t>
            </a:r>
          </a:p>
          <a:p xmlns:a="http://schemas.openxmlformats.org/drawingml/2006/main">
            <a:r>
              <a:t>这一部分15分钟。</a:t>
            </a:r>
          </a:p>
          <a:p xmlns:a="http://schemas.openxmlformats.org/drawingml/2006/main">
            <a:r>
              <a:t>先完成两道对照练习，再解释为什么用Markdown。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25～26分钟｜练习说明</a:t>
            </a:r>
          </a:p>
          <a:p xmlns:a="http://schemas.openxmlformats.org/drawingml/2006/main">
            <a:r>
              <a:t>两组各完成一题。先不要展示参考答案。</a:t>
            </a:r>
          </a:p>
          <a:p xmlns:a="http://schemas.openxmlformats.org/drawingml/2006/main">
            <a:r>
              <a:t>每组需要说出至少3项缺失信息。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26～27分钟｜A组讨论</a:t>
            </a:r>
          </a:p>
          <a:p xmlns:a="http://schemas.openxmlformats.org/drawingml/2006/main">
            <a:r>
              <a:t>给学员约1分钟口头补充。</a:t>
            </a:r>
          </a:p>
          <a:p xmlns:a="http://schemas.openxmlformats.org/drawingml/2006/main">
            <a:r>
              <a:t>不要把‘写得更长’当答案，要指出新增信息如何改变调研范围和输出。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27～28分钟｜揭晓</a:t>
            </a:r>
          </a:p>
          <a:p xmlns:a="http://schemas.openxmlformats.org/drawingml/2006/main">
            <a:r>
              <a:t>请B组指出：这个参考版本仍然可以补什么？</a:t>
            </a:r>
          </a:p>
          <a:p xmlns:a="http://schemas.openxmlformats.org/drawingml/2006/main">
            <a:r>
              <a:t>可能答案：调研时间、样本数量、成功指标、隐私要求和最终决策人。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28～29分钟｜点评</a:t>
            </a:r>
          </a:p>
          <a:p xmlns:a="http://schemas.openxmlformats.org/drawingml/2006/main">
            <a:r>
              <a:t>一句话总结：先证明需求存在，再讨论解决方案。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29～30分钟｜B组讨论</a:t>
            </a:r>
          </a:p>
          <a:p xmlns:a="http://schemas.openxmlformats.org/drawingml/2006/main">
            <a:r>
              <a:t>让B组补充阅读对象、材料范围、输出结构、冲突处理和验收。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30～31分钟｜揭晓</a:t>
            </a:r>
          </a:p>
          <a:p xmlns:a="http://schemas.openxmlformats.org/drawingml/2006/main">
            <a:r>
              <a:t>请A组继续找不足：保密等级、篇幅、排序方式、是否保留原文格式。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31～32分钟｜点评</a:t>
            </a:r>
          </a:p>
          <a:p xmlns:a="http://schemas.openxmlformats.org/drawingml/2006/main">
            <a:r>
              <a:t>重点：所有决定和行动项都要能追溯到原始文档。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32～35分钟｜Markdown与HTML</a:t>
            </a:r>
          </a:p>
          <a:p xmlns:a="http://schemas.openxmlformats.org/drawingml/2006/main">
            <a:r>
              <a:t>准确说法：Markdown通常更省Token，是因为标记轻，不是因为只有Markdown才是文本。</a:t>
            </a:r>
          </a:p>
          <a:p xmlns:a="http://schemas.openxmlformats.org/drawingml/2006/main">
            <a:r>
              <a:t>HTML不是不好，而是更适合内容确认之后的视觉呈现。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35～36分钟｜对照示例</a:t>
            </a:r>
          </a:p>
          <a:p xmlns:a="http://schemas.openxmlformats.org/drawingml/2006/main">
            <a:r>
              <a:t>不讲Tokenizer细节，也不给固定百分比。</a:t>
            </a:r>
          </a:p>
          <a:p xmlns:a="http://schemas.openxmlformats.org/drawingml/2006/main">
            <a:r>
              <a:t>只让学员看到相同信息下，HTML需要更多重复标签。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36～38分钟｜需求商讨</a:t>
            </a:r>
          </a:p>
          <a:p xmlns:a="http://schemas.openxmlformats.org/drawingml/2006/main">
            <a:r>
              <a:t>让学员区分字段、维度、指标和筛选条件。</a:t>
            </a:r>
          </a:p>
          <a:p xmlns:a="http://schemas.openxmlformats.org/drawingml/2006/main">
            <a:r>
              <a:t>可用口诀：按什么看通常是维度；看多少、好不好通常是指标。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38～40分钟｜需求固化</a:t>
            </a:r>
          </a:p>
          <a:p xmlns:a="http://schemas.openxmlformats.org/drawingml/2006/main">
            <a:r>
              <a:t>让学员拍照或复制模板。</a:t>
            </a:r>
          </a:p>
          <a:p xmlns:a="http://schemas.openxmlformats.org/drawingml/2006/main">
            <a:r>
              <a:t>强调：这张需求卡同时是Excel和PPT的上游依据。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40分钟｜进入Excel模块</a:t>
            </a:r>
          </a:p>
          <a:p xmlns:a="http://schemas.openxmlformats.org/drawingml/2006/main">
            <a:r>
              <a:t>这一部分20分钟，重点是流程与校验，不讲基础按钮、宏或VBA。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40～45分钟｜Excel流程</a:t>
            </a:r>
          </a:p>
          <a:p xmlns:a="http://schemas.openxmlformats.org/drawingml/2006/main">
            <a:r>
              <a:t>现场演示时先让AI输出Markdown规划，而不是立即写完整工作簿。</a:t>
            </a:r>
          </a:p>
          <a:p xmlns:a="http://schemas.openxmlformats.org/drawingml/2006/main">
            <a:r>
              <a:t>建议先处理10行样例，确认口径后再生成。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45～53分钟｜现场演示</a:t>
            </a:r>
          </a:p>
          <a:p xmlns:a="http://schemas.openxmlformats.org/drawingml/2006/main">
            <a:r>
              <a:t>让AI先指出空值、日期格式不一致和重复行，并记录处理规则。</a:t>
            </a:r>
          </a:p>
          <a:p xmlns:a="http://schemas.openxmlformats.org/drawingml/2006/main">
            <a:r>
              <a:t>不要立即删除问题数据；先让用户确认处理方式。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53～60分钟｜Excel校验</a:t>
            </a:r>
          </a:p>
          <a:p xmlns:a="http://schemas.openxmlformats.org/drawingml/2006/main">
            <a:r>
              <a:t>现场复算一个指标，例如利润率=(销售额-成本)/销售额。</a:t>
            </a:r>
          </a:p>
          <a:p xmlns:a="http://schemas.openxmlformats.org/drawingml/2006/main">
            <a:r>
              <a:t>生成完成不等于工作完成；AI列出待人工确认项。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60分钟｜进入PPT模块</a:t>
            </a:r>
          </a:p>
          <a:p xmlns:a="http://schemas.openxmlformats.org/drawingml/2006/main">
            <a:r>
              <a:t>从Excel到PPT方案15分钟，生成与检查10分钟。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60～68分钟｜汇报四问</a:t>
            </a:r>
          </a:p>
          <a:p xmlns:a="http://schemas.openxmlformats.org/drawingml/2006/main">
            <a:r>
              <a:t>用一条模拟结论演示：D店未达标→成本/销售结构原因→意味着什么→下一步动作。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68～75分钟｜PPT页面方案</a:t>
            </a:r>
          </a:p>
          <a:p xmlns:a="http://schemas.openxmlformats.org/drawingml/2006/main">
            <a:r>
              <a:t>让学员看到PPT方案本身仍然可以用Markdown确认。</a:t>
            </a:r>
          </a:p>
          <a:p xmlns:a="http://schemas.openxmlformats.org/drawingml/2006/main">
            <a:r>
              <a:t>图表只讲比较、趋势、占比和关系，不展开设计理论。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75～79分钟｜生成PPT</a:t>
            </a:r>
          </a:p>
          <a:p xmlns:a="http://schemas.openxmlformats.org/drawingml/2006/main">
            <a:r>
              <a:t>现场演示生成时，准备完成版文件作为耗时预案。</a:t>
            </a:r>
          </a:p>
          <a:p xmlns:a="http://schemas.openxmlformats.org/drawingml/2006/main">
            <a:r>
              <a:t>不要求学员理解生成脚本和运行环境。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79～83分钟｜PPT检查</a:t>
            </a:r>
          </a:p>
          <a:p xmlns:a="http://schemas.openxmlformats.org/drawingml/2006/main">
            <a:r>
              <a:t>打开完整PPT逐页检查，不只看缩略图。</a:t>
            </a:r>
          </a:p>
          <a:p xmlns:a="http://schemas.openxmlformats.org/drawingml/2006/main">
            <a:r>
              <a:t>所有关键数字回到Excel追溯。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83～85分钟｜演示迭代</a:t>
            </a:r>
          </a:p>
          <a:p xmlns:a="http://schemas.openxmlformats.org/drawingml/2006/main">
            <a:r>
              <a:t>演示一次‘发现问题→修改提示词→重新生成’。</a:t>
            </a:r>
          </a:p>
          <a:p xmlns:a="http://schemas.openxmlformats.org/drawingml/2006/main">
            <a:r>
              <a:t>提醒：用具体反馈，不要只说‘再好看一点’。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85～90分钟｜复盘与迁移</a:t>
            </a:r>
          </a:p>
          <a:p xmlns:a="http://schemas.openxmlformats.org/drawingml/2006/main">
            <a:r>
              <a:t>请全班复述完整工作链。</a:t>
            </a:r>
          </a:p>
          <a:p xmlns:a="http://schemas.openxmlformats.org/drawingml/2006/main">
            <a:r>
              <a:t>结束时不增加新概念，留下课后迁移任务。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adb8a587a41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fe3ca723494b12" /><Relationship Type="http://schemas.openxmlformats.org/officeDocument/2006/relationships/slideLayout" Target="/ppt/slideLayouts/slideLayout1.xml" Id="R15d961074c134b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d961074c134b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444d64ea64513" /><Relationship Type="http://schemas.openxmlformats.org/officeDocument/2006/relationships/notesSlide" Target="/ppt/notesSlides/notesSlide1.xml" Id="R2baa50bb3f854c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e7aaa72f94d5e" /><Relationship Type="http://schemas.openxmlformats.org/officeDocument/2006/relationships/notesSlide" Target="/ppt/notesSlides/notesSlide2.xml" Id="R8936bc3306414e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d1422dffe4068" /><Relationship Type="http://schemas.openxmlformats.org/officeDocument/2006/relationships/notesSlide" Target="/ppt/notesSlides/notesSlide3.xml" Id="R82a2e5a0f69d41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ff0bf3e81452a" /><Relationship Type="http://schemas.openxmlformats.org/officeDocument/2006/relationships/notesSlide" Target="/ppt/notesSlides/notesSlide4.xml" Id="R3a064b4d806a44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94c1cdd384c3f" /><Relationship Type="http://schemas.openxmlformats.org/officeDocument/2006/relationships/image" Target="/ppt/media/image.png" Id="R794cd6b5f6554352" /><Relationship Type="http://schemas.openxmlformats.org/officeDocument/2006/relationships/notesSlide" Target="/ppt/notesSlides/notesSlide5.xml" Id="Racef9f30772a45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62b5c6f514dc2" /><Relationship Type="http://schemas.openxmlformats.org/officeDocument/2006/relationships/image" Target="/ppt/media/image2.png" Id="R48de5942985f4bd0" /><Relationship Type="http://schemas.openxmlformats.org/officeDocument/2006/relationships/notesSlide" Target="/ppt/notesSlides/notesSlide6.xml" Id="R5993002804384a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7081f11b74007" /><Relationship Type="http://schemas.openxmlformats.org/officeDocument/2006/relationships/notesSlide" Target="/ppt/notesSlides/notesSlide7.xml" Id="Reb07e3a769214a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b84fc125c43cf" /><Relationship Type="http://schemas.openxmlformats.org/officeDocument/2006/relationships/notesSlide" Target="/ppt/notesSlides/notesSlide8.xml" Id="Ra1a38b9eae4447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5bb6dbe0347ad" /><Relationship Type="http://schemas.openxmlformats.org/officeDocument/2006/relationships/notesSlide" Target="/ppt/notesSlides/notesSlide9.xml" Id="Rbad5416a640b48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33bdf29f3454a" /><Relationship Type="http://schemas.openxmlformats.org/officeDocument/2006/relationships/notesSlide" Target="/ppt/notesSlides/notesSlide10.xml" Id="R4ae57fae5c4f41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61a7cda0f482f" /><Relationship Type="http://schemas.openxmlformats.org/officeDocument/2006/relationships/image" Target="/ppt/media/image3.png" Id="R9b2e8651c1fb4534" /><Relationship Type="http://schemas.openxmlformats.org/officeDocument/2006/relationships/notesSlide" Target="/ppt/notesSlides/notesSlide11.xml" Id="R3f1a6db5328349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3ac667ccd4438" /><Relationship Type="http://schemas.openxmlformats.org/officeDocument/2006/relationships/notesSlide" Target="/ppt/notesSlides/notesSlide12.xml" Id="R1ae8b172cb194f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b85098c1f4de7" /><Relationship Type="http://schemas.openxmlformats.org/officeDocument/2006/relationships/notesSlide" Target="/ppt/notesSlides/notesSlide13.xml" Id="R14a904b51f414a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b458ec27843a4" /><Relationship Type="http://schemas.openxmlformats.org/officeDocument/2006/relationships/notesSlide" Target="/ppt/notesSlides/notesSlide14.xml" Id="R3b531a4870d34f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e02aea6e341e0" /><Relationship Type="http://schemas.openxmlformats.org/officeDocument/2006/relationships/image" Target="/ppt/media/image4.png" Id="R308eda1fc1bd4b0a" /><Relationship Type="http://schemas.openxmlformats.org/officeDocument/2006/relationships/notesSlide" Target="/ppt/notesSlides/notesSlide15.xml" Id="Rdb18afc9d3a944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ad89031a04583" /><Relationship Type="http://schemas.openxmlformats.org/officeDocument/2006/relationships/notesSlide" Target="/ppt/notesSlides/notesSlide16.xml" Id="R733872d8cd2047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bcb353dd24433" /><Relationship Type="http://schemas.openxmlformats.org/officeDocument/2006/relationships/notesSlide" Target="/ppt/notesSlides/notesSlide17.xml" Id="R94c5deeb23184ef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41a7433904d77" /><Relationship Type="http://schemas.openxmlformats.org/officeDocument/2006/relationships/notesSlide" Target="/ppt/notesSlides/notesSlide18.xml" Id="Rdb78ccf9c86347b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06f8b7cdd4b01" /><Relationship Type="http://schemas.openxmlformats.org/officeDocument/2006/relationships/notesSlide" Target="/ppt/notesSlides/notesSlide19.xml" Id="R0f300164c21042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67ac209304e1f" /><Relationship Type="http://schemas.openxmlformats.org/officeDocument/2006/relationships/notesSlide" Target="/ppt/notesSlides/notesSlide20.xml" Id="R32f53a5340b14ba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b33c6e6f1453e" /><Relationship Type="http://schemas.openxmlformats.org/officeDocument/2006/relationships/notesSlide" Target="/ppt/notesSlides/notesSlide21.xml" Id="Rb3cc102dfbee468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0393632f8488b" /><Relationship Type="http://schemas.openxmlformats.org/officeDocument/2006/relationships/notesSlide" Target="/ppt/notesSlides/notesSlide22.xml" Id="R246f274356e14c2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3cbdc2a924905" /><Relationship Type="http://schemas.openxmlformats.org/officeDocument/2006/relationships/notesSlide" Target="/ppt/notesSlides/notesSlide23.xml" Id="Rcbd24885179e44a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fedb06787455a" /><Relationship Type="http://schemas.openxmlformats.org/officeDocument/2006/relationships/notesSlide" Target="/ppt/notesSlides/notesSlide24.xml" Id="R0b7f4db679724d5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09085a695401b" /><Relationship Type="http://schemas.openxmlformats.org/officeDocument/2006/relationships/notesSlide" Target="/ppt/notesSlides/notesSlide25.xml" Id="R37f4fbcc3de24af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aca02957842f2" /><Relationship Type="http://schemas.openxmlformats.org/officeDocument/2006/relationships/notesSlide" Target="/ppt/notesSlides/notesSlide26.xml" Id="R3bb76645a7874a1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ef9543c6a4a57" /><Relationship Type="http://schemas.openxmlformats.org/officeDocument/2006/relationships/notesSlide" Target="/ppt/notesSlides/notesSlide27.xml" Id="Rb7afcec4f2ec483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bbecac6984d8b" /><Relationship Type="http://schemas.openxmlformats.org/officeDocument/2006/relationships/notesSlide" Target="/ppt/notesSlides/notesSlide28.xml" Id="Rd0aaca2c489d4f0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49e1681504e47" /><Relationship Type="http://schemas.openxmlformats.org/officeDocument/2006/relationships/notesSlide" Target="/ppt/notesSlides/notesSlide29.xml" Id="Rf5de5e4b9dcf4c3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44609c9fd47b5" /><Relationship Type="http://schemas.openxmlformats.org/officeDocument/2006/relationships/notesSlide" Target="/ppt/notesSlides/notesSlide30.xml" Id="R54f76d09e7af41e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4de8dbf184205" /><Relationship Type="http://schemas.openxmlformats.org/officeDocument/2006/relationships/notesSlide" Target="/ppt/notesSlides/notesSlide31.xml" Id="R6584d17fd0e042c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11f5fcccf4f04" /><Relationship Type="http://schemas.openxmlformats.org/officeDocument/2006/relationships/notesSlide" Target="/ppt/notesSlides/notesSlide32.xml" Id="Ra4a8d11a4ec64bf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6647ff0724cf3" /><Relationship Type="http://schemas.openxmlformats.org/officeDocument/2006/relationships/notesSlide" Target="/ppt/notesSlides/notesSlide33.xml" Id="R127da4e1dc184a6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b3206e9394dab" /><Relationship Type="http://schemas.openxmlformats.org/officeDocument/2006/relationships/notesSlide" Target="/ppt/notesSlides/notesSlide34.xml" Id="Rf3ded192e4bd401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260ccff2d44b4" /><Relationship Type="http://schemas.openxmlformats.org/officeDocument/2006/relationships/notesSlide" Target="/ppt/notesSlides/notesSlide35.xml" Id="R69fc055e6791400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7c9757bd24d30" /><Relationship Type="http://schemas.openxmlformats.org/officeDocument/2006/relationships/notesSlide" Target="/ppt/notesSlides/notesSlide36.xml" Id="Rb2d4e19b841a455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e40aefa4749c1" /><Relationship Type="http://schemas.openxmlformats.org/officeDocument/2006/relationships/notesSlide" Target="/ppt/notesSlides/notesSlide37.xml" Id="R28df327fe8ba4d7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2a72446534978" /><Relationship Type="http://schemas.openxmlformats.org/officeDocument/2006/relationships/notesSlide" Target="/ppt/notesSlides/notesSlide38.xml" Id="Ra8fde4f7e9a844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i8gmhy4">
            <a:extLst xmlns:a="http://schemas.openxmlformats.org/drawingml/2006/main">
              <a:ext uri="{FF2B5EF4-FFF2-40B4-BE49-F238E27FC236}">
                <a16:creationId xmlns:a16="http://schemas.microsoft.com/office/drawing/2014/main" id="{9873C877-2602-4EAC-9027-832901DE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90分钟 AI 办公课</a:t>
            </a:r>
          </a:p>
        </p:txBody>
      </p:sp>
      <p:sp>
        <p:nvSpPr>
          <p:cNvPr id="2" name="text-kxo45cq">
            <a:extLst xmlns:a="http://schemas.openxmlformats.org/drawingml/2006/main">
              <a:ext uri="{FF2B5EF4-FFF2-40B4-BE49-F238E27FC236}">
                <a16:creationId xmlns:a16="http://schemas.microsoft.com/office/drawing/2014/main" id="{194097E3-53D1-4ED8-BD14-9A069F37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790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从模糊需求</a:t>
            </a:r>
          </a:p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到可信交付</a:t>
            </a:r>
          </a:p>
        </p:txBody>
      </p:sp>
      <p:sp>
        <p:nvSpPr>
          <p:cNvPr id="3" name="shape-rbxxmhy">
            <a:extLst xmlns:a="http://schemas.openxmlformats.org/drawingml/2006/main">
              <a:ext uri="{FF2B5EF4-FFF2-40B4-BE49-F238E27FC236}">
                <a16:creationId xmlns:a16="http://schemas.microsoft.com/office/drawing/2014/main" id="{1C89C938-1CE4-4F79-A12C-73DAAD38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43000"/>
            <a:ext cx="2714625" cy="2714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t76jv1e">
            <a:extLst xmlns:a="http://schemas.openxmlformats.org/drawingml/2006/main">
              <a:ext uri="{FF2B5EF4-FFF2-40B4-BE49-F238E27FC236}">
                <a16:creationId xmlns:a16="http://schemas.microsoft.com/office/drawing/2014/main" id="{60F6B14C-536B-4F9A-AB46-26B2CB45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2047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提示词</a:t>
            </a:r>
          </a:p>
          <a:p xmlns:a="http://schemas.openxmlformats.org/drawingml/2006/main">
            <a:pPr algn="ctr">
              <a:defRPr sz="225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Markdown</a:t>
            </a:r>
          </a:p>
          <a:p xmlns:a="http://schemas.openxmlformats.org/drawingml/2006/main">
            <a:pPr algn="ctr">
              <a:defRPr sz="225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Excel · PPT</a:t>
            </a:r>
          </a:p>
        </p:txBody>
      </p:sp>
      <p:sp>
        <p:nvSpPr>
          <p:cNvPr id="5" name="shape-zq7f2ok">
            <a:extLst xmlns:a="http://schemas.openxmlformats.org/drawingml/2006/main">
              <a:ext uri="{FF2B5EF4-FFF2-40B4-BE49-F238E27FC236}">
                <a16:creationId xmlns:a16="http://schemas.microsoft.com/office/drawing/2014/main" id="{99A00336-C939-4D2A-ADD6-316CC1A7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n1smg6f">
            <a:extLst xmlns:a="http://schemas.openxmlformats.org/drawingml/2006/main">
              <a:ext uri="{FF2B5EF4-FFF2-40B4-BE49-F238E27FC236}">
                <a16:creationId xmlns:a16="http://schemas.microsoft.com/office/drawing/2014/main" id="{ACFBE4B9-D211-4082-A6BD-0A34F7E7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先商讨 · 再生成 · 后校验</a:t>
            </a:r>
          </a:p>
        </p:txBody>
      </p:sp>
      <p:sp>
        <p:nvSpPr>
          <p:cNvPr id="7" name="text-03ldxco">
            <a:extLst xmlns:a="http://schemas.openxmlformats.org/drawingml/2006/main">
              <a:ext uri="{FF2B5EF4-FFF2-40B4-BE49-F238E27FC236}">
                <a16:creationId xmlns:a16="http://schemas.microsoft.com/office/drawing/2014/main" id="{E85EB344-FDA3-429D-8031-C461903B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课程封面</a:t>
            </a:r>
          </a:p>
        </p:txBody>
      </p:sp>
      <p:sp>
        <p:nvSpPr>
          <p:cNvPr id="8" name="text-m0tucm6">
            <a:extLst xmlns:a="http://schemas.openxmlformats.org/drawingml/2006/main">
              <a:ext uri="{FF2B5EF4-FFF2-40B4-BE49-F238E27FC236}">
                <a16:creationId xmlns:a16="http://schemas.microsoft.com/office/drawing/2014/main" id="{5D48C54B-25D8-4B5E-9D1C-E75F2E4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3833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bxe2mft">
            <a:extLst xmlns:a="http://schemas.openxmlformats.org/drawingml/2006/main">
              <a:ext uri="{FF2B5EF4-FFF2-40B4-BE49-F238E27FC236}">
                <a16:creationId xmlns:a16="http://schemas.microsoft.com/office/drawing/2014/main" id="{69ED69F5-DB54-4BAD-96EB-27238D1F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课程结果</a:t>
            </a:r>
          </a:p>
        </p:txBody>
      </p:sp>
      <p:sp>
        <p:nvSpPr>
          <p:cNvPr id="2" name="text-qjuizhl">
            <a:extLst xmlns:a="http://schemas.openxmlformats.org/drawingml/2006/main">
              <a:ext uri="{FF2B5EF4-FFF2-40B4-BE49-F238E27FC236}">
                <a16:creationId xmlns:a16="http://schemas.microsoft.com/office/drawing/2014/main" id="{F65C3D7D-68BB-4150-ABB7-E3BD63F3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今天带走四个可以继续复用的产物</a:t>
            </a:r>
          </a:p>
        </p:txBody>
      </p:sp>
      <p:sp>
        <p:nvSpPr>
          <p:cNvPr id="3" name="shape-ja58bsp">
            <a:extLst xmlns:a="http://schemas.openxmlformats.org/drawingml/2006/main">
              <a:ext uri="{FF2B5EF4-FFF2-40B4-BE49-F238E27FC236}">
                <a16:creationId xmlns:a16="http://schemas.microsoft.com/office/drawing/2014/main" id="{39737F05-0A7C-4574-B4BD-97744F16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oa8wtyo">
            <a:extLst xmlns:a="http://schemas.openxmlformats.org/drawingml/2006/main">
              <a:ext uri="{FF2B5EF4-FFF2-40B4-BE49-F238E27FC236}">
                <a16:creationId xmlns:a16="http://schemas.microsoft.com/office/drawing/2014/main" id="{9EA302FC-88C7-454A-83DE-F3D162E2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-vkfwius">
            <a:extLst xmlns:a="http://schemas.openxmlformats.org/drawingml/2006/main">
              <a:ext uri="{FF2B5EF4-FFF2-40B4-BE49-F238E27FC236}">
                <a16:creationId xmlns:a16="http://schemas.microsoft.com/office/drawing/2014/main" id="{77366B4B-0E00-4715-993B-D80B0365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668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结构完整的提示词</a:t>
            </a:r>
          </a:p>
        </p:txBody>
      </p:sp>
      <p:sp>
        <p:nvSpPr>
          <p:cNvPr id="6" name="text-rmvpcg5">
            <a:extLst xmlns:a="http://schemas.openxmlformats.org/drawingml/2006/main">
              <a:ext uri="{FF2B5EF4-FFF2-40B4-BE49-F238E27FC236}">
                <a16:creationId xmlns:a16="http://schemas.microsoft.com/office/drawing/2014/main" id="{BB30D318-F1DC-44C7-831D-461CDCCA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954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说清对象、目标、材料和验收</a:t>
            </a:r>
          </a:p>
        </p:txBody>
      </p:sp>
      <p:sp>
        <p:nvSpPr>
          <p:cNvPr id="7" name="shape-iuj0vtn">
            <a:extLst xmlns:a="http://schemas.openxmlformats.org/drawingml/2006/main">
              <a:ext uri="{FF2B5EF4-FFF2-40B4-BE49-F238E27FC236}">
                <a16:creationId xmlns:a16="http://schemas.microsoft.com/office/drawing/2014/main" id="{5E83D548-6AF4-4356-87AC-ED9CED86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26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rxyefj">
            <a:extLst xmlns:a="http://schemas.openxmlformats.org/drawingml/2006/main">
              <a:ext uri="{FF2B5EF4-FFF2-40B4-BE49-F238E27FC236}">
                <a16:creationId xmlns:a16="http://schemas.microsoft.com/office/drawing/2014/main" id="{5A55ABDA-ACC1-4475-9280-D1CE8D8C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289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text-kmupd1z">
            <a:extLst xmlns:a="http://schemas.openxmlformats.org/drawingml/2006/main">
              <a:ext uri="{FF2B5EF4-FFF2-40B4-BE49-F238E27FC236}">
                <a16:creationId xmlns:a16="http://schemas.microsoft.com/office/drawing/2014/main" id="{81FB7178-5049-4D9F-8F79-0E5D2314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336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Markdown需求确认单</a:t>
            </a:r>
          </a:p>
        </p:txBody>
      </p:sp>
      <p:sp>
        <p:nvSpPr>
          <p:cNvPr id="10" name="text-hobm0i3">
            <a:extLst xmlns:a="http://schemas.openxmlformats.org/drawingml/2006/main">
              <a:ext uri="{FF2B5EF4-FFF2-40B4-BE49-F238E27FC236}">
                <a16:creationId xmlns:a16="http://schemas.microsoft.com/office/drawing/2014/main" id="{0D4F7AEA-0D8E-4455-94B8-C129B30E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把讨论结果固定成共同依据</a:t>
            </a:r>
          </a:p>
        </p:txBody>
      </p:sp>
      <p:sp>
        <p:nvSpPr>
          <p:cNvPr id="11" name="shape-wjd07vc">
            <a:extLst xmlns:a="http://schemas.openxmlformats.org/drawingml/2006/main">
              <a:ext uri="{FF2B5EF4-FFF2-40B4-BE49-F238E27FC236}">
                <a16:creationId xmlns:a16="http://schemas.microsoft.com/office/drawing/2014/main" id="{70DFEC61-E419-431E-8654-B5523BB2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194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joqas9c">
            <a:extLst xmlns:a="http://schemas.openxmlformats.org/drawingml/2006/main">
              <a:ext uri="{FF2B5EF4-FFF2-40B4-BE49-F238E27FC236}">
                <a16:creationId xmlns:a16="http://schemas.microsoft.com/office/drawing/2014/main" id="{7BAAD6FA-60AE-4F2A-8573-02E922A1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57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text-1wwsszf">
            <a:extLst xmlns:a="http://schemas.openxmlformats.org/drawingml/2006/main">
              <a:ext uri="{FF2B5EF4-FFF2-40B4-BE49-F238E27FC236}">
                <a16:creationId xmlns:a16="http://schemas.microsoft.com/office/drawing/2014/main" id="{7FBDD4BA-CB7C-4D8F-B6BB-8AFB6B15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004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可复核的Excel报表</a:t>
            </a:r>
          </a:p>
        </p:txBody>
      </p:sp>
      <p:sp>
        <p:nvSpPr>
          <p:cNvPr id="14" name="text-oidp15d">
            <a:extLst xmlns:a="http://schemas.openxmlformats.org/drawingml/2006/main">
              <a:ext uri="{FF2B5EF4-FFF2-40B4-BE49-F238E27FC236}">
                <a16:creationId xmlns:a16="http://schemas.microsoft.com/office/drawing/2014/main" id="{197CC5F9-1C39-4173-90B8-FCDEE16B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290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包含公式、检查和待确认项</a:t>
            </a:r>
          </a:p>
        </p:txBody>
      </p:sp>
      <p:sp>
        <p:nvSpPr>
          <p:cNvPr id="15" name="shape-pfnfnfq">
            <a:extLst xmlns:a="http://schemas.openxmlformats.org/drawingml/2006/main">
              <a:ext uri="{FF2B5EF4-FFF2-40B4-BE49-F238E27FC236}">
                <a16:creationId xmlns:a16="http://schemas.microsoft.com/office/drawing/2014/main" id="{EDDE64DF-A978-491B-BCD6-75CB5722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86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fo8t9j4">
            <a:extLst xmlns:a="http://schemas.openxmlformats.org/drawingml/2006/main">
              <a:ext uri="{FF2B5EF4-FFF2-40B4-BE49-F238E27FC236}">
                <a16:creationId xmlns:a16="http://schemas.microsoft.com/office/drawing/2014/main" id="{8DFB2601-F0DD-486C-AA07-533A96FF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text-p534vgh">
            <a:extLst xmlns:a="http://schemas.openxmlformats.org/drawingml/2006/main">
              <a:ext uri="{FF2B5EF4-FFF2-40B4-BE49-F238E27FC236}">
                <a16:creationId xmlns:a16="http://schemas.microsoft.com/office/drawing/2014/main" id="{AB1E31AD-041A-4C88-8DE5-2E8CD5A5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672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5页以内PPT方案</a:t>
            </a:r>
          </a:p>
        </p:txBody>
      </p:sp>
      <p:sp>
        <p:nvSpPr>
          <p:cNvPr id="18" name="text-hy46df5">
            <a:extLst xmlns:a="http://schemas.openxmlformats.org/drawingml/2006/main">
              <a:ext uri="{FF2B5EF4-FFF2-40B4-BE49-F238E27FC236}">
                <a16:creationId xmlns:a16="http://schemas.microsoft.com/office/drawing/2014/main" id="{A386AB0D-4F5D-4CA8-A31D-E5C3510C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958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一页一个结论，数字可以追溯</a:t>
            </a:r>
          </a:p>
        </p:txBody>
      </p:sp>
      <p:sp>
        <p:nvSpPr>
          <p:cNvPr id="19" name="shape-eehz1e5">
            <a:extLst xmlns:a="http://schemas.openxmlformats.org/drawingml/2006/main">
              <a:ext uri="{FF2B5EF4-FFF2-40B4-BE49-F238E27FC236}">
                <a16:creationId xmlns:a16="http://schemas.microsoft.com/office/drawing/2014/main" id="{69B791D8-03BB-415F-9D46-AEA5CFB1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53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vlb3130">
            <a:extLst xmlns:a="http://schemas.openxmlformats.org/drawingml/2006/main">
              <a:ext uri="{FF2B5EF4-FFF2-40B4-BE49-F238E27FC236}">
                <a16:creationId xmlns:a16="http://schemas.microsoft.com/office/drawing/2014/main" id="{40613281-AA76-496F-9FDF-352DF38C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开场与成果预览</a:t>
            </a:r>
          </a:p>
        </p:txBody>
      </p:sp>
      <p:sp>
        <p:nvSpPr>
          <p:cNvPr id="21" name="text-s16z0np">
            <a:extLst xmlns:a="http://schemas.openxmlformats.org/drawingml/2006/main">
              <a:ext uri="{FF2B5EF4-FFF2-40B4-BE49-F238E27FC236}">
                <a16:creationId xmlns:a16="http://schemas.microsoft.com/office/drawing/2014/main" id="{78259539-CD08-4BD4-A57A-2392DBAA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5903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4ojg3sb">
            <a:extLst xmlns:a="http://schemas.openxmlformats.org/drawingml/2006/main">
              <a:ext uri="{FF2B5EF4-FFF2-40B4-BE49-F238E27FC236}">
                <a16:creationId xmlns:a16="http://schemas.microsoft.com/office/drawing/2014/main" id="{4C3B9BEF-E9E9-46F7-827E-595013E8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课程路线</a:t>
            </a:r>
          </a:p>
        </p:txBody>
      </p:sp>
      <p:sp>
        <p:nvSpPr>
          <p:cNvPr id="2" name="text-pyytmfg">
            <a:extLst xmlns:a="http://schemas.openxmlformats.org/drawingml/2006/main">
              <a:ext uri="{FF2B5EF4-FFF2-40B4-BE49-F238E27FC236}">
                <a16:creationId xmlns:a16="http://schemas.microsoft.com/office/drawing/2014/main" id="{E5A58CBC-4FE0-4450-AD36-BBA3026B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一条完整工作链，把模糊想法变成可交付文件</a:t>
            </a:r>
          </a:p>
        </p:txBody>
      </p:sp>
      <p:sp>
        <p:nvSpPr>
          <p:cNvPr id="3" name="shape-qtyt0f7">
            <a:extLst xmlns:a="http://schemas.openxmlformats.org/drawingml/2006/main">
              <a:ext uri="{FF2B5EF4-FFF2-40B4-BE49-F238E27FC236}">
                <a16:creationId xmlns:a16="http://schemas.microsoft.com/office/drawing/2014/main" id="{640807CD-6FFD-43BC-91E9-61DEB242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yk52ziy">
            <a:extLst xmlns:a="http://schemas.openxmlformats.org/drawingml/2006/main">
              <a:ext uri="{FF2B5EF4-FFF2-40B4-BE49-F238E27FC236}">
                <a16:creationId xmlns:a16="http://schemas.microsoft.com/office/drawing/2014/main" id="{B3F2F07D-5D0A-4E20-9B1D-8C3988A6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466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-6kg7wm4">
            <a:extLst xmlns:a="http://schemas.openxmlformats.org/drawingml/2006/main">
              <a:ext uri="{FF2B5EF4-FFF2-40B4-BE49-F238E27FC236}">
                <a16:creationId xmlns:a16="http://schemas.microsoft.com/office/drawing/2014/main" id="{27EB300E-9417-4F00-8F25-8122B8EB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text-5qcgeu7">
            <a:extLst xmlns:a="http://schemas.openxmlformats.org/drawingml/2006/main">
              <a:ext uri="{FF2B5EF4-FFF2-40B4-BE49-F238E27FC236}">
                <a16:creationId xmlns:a16="http://schemas.microsoft.com/office/drawing/2014/main" id="{62705363-4E05-4189-8A19-0A272155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理解AI</a:t>
            </a:r>
          </a:p>
        </p:txBody>
      </p:sp>
      <p:sp>
        <p:nvSpPr>
          <p:cNvPr id="7" name="text-sci2uxv">
            <a:extLst xmlns:a="http://schemas.openxmlformats.org/drawingml/2006/main">
              <a:ext uri="{FF2B5EF4-FFF2-40B4-BE49-F238E27FC236}">
                <a16:creationId xmlns:a16="http://schemas.microsoft.com/office/drawing/2014/main" id="{CDF6FA88-BA07-4B2B-B0E8-954C9B9A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8" name="shape-niis1ff">
            <a:extLst xmlns:a="http://schemas.openxmlformats.org/drawingml/2006/main">
              <a:ext uri="{FF2B5EF4-FFF2-40B4-BE49-F238E27FC236}">
                <a16:creationId xmlns:a16="http://schemas.microsoft.com/office/drawing/2014/main" id="{77944CD5-7A32-46DB-B2AC-4FA1A153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1466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z2kzo71">
            <a:extLst xmlns:a="http://schemas.openxmlformats.org/drawingml/2006/main">
              <a:ext uri="{FF2B5EF4-FFF2-40B4-BE49-F238E27FC236}">
                <a16:creationId xmlns:a16="http://schemas.microsoft.com/office/drawing/2014/main" id="{05185E0E-85A8-4B73-B59A-640EEE1D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text-xfexltl">
            <a:extLst xmlns:a="http://schemas.openxmlformats.org/drawingml/2006/main">
              <a:ext uri="{FF2B5EF4-FFF2-40B4-BE49-F238E27FC236}">
                <a16:creationId xmlns:a16="http://schemas.microsoft.com/office/drawing/2014/main" id="{B56026F9-A7EF-4917-93AB-33474FD9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写提示词</a:t>
            </a:r>
          </a:p>
        </p:txBody>
      </p:sp>
      <p:sp>
        <p:nvSpPr>
          <p:cNvPr id="11" name="text-mqb2vvl">
            <a:extLst xmlns:a="http://schemas.openxmlformats.org/drawingml/2006/main">
              <a:ext uri="{FF2B5EF4-FFF2-40B4-BE49-F238E27FC236}">
                <a16:creationId xmlns:a16="http://schemas.microsoft.com/office/drawing/2014/main" id="{16744810-3C10-45A4-92CC-33DAB556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shape-7lcx9sc">
            <a:extLst xmlns:a="http://schemas.openxmlformats.org/drawingml/2006/main">
              <a:ext uri="{FF2B5EF4-FFF2-40B4-BE49-F238E27FC236}">
                <a16:creationId xmlns:a16="http://schemas.microsoft.com/office/drawing/2014/main" id="{A6AFBD82-1F3C-4BBF-9587-8E9C884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1466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omhe8s6">
            <a:extLst xmlns:a="http://schemas.openxmlformats.org/drawingml/2006/main">
              <a:ext uri="{FF2B5EF4-FFF2-40B4-BE49-F238E27FC236}">
                <a16:creationId xmlns:a16="http://schemas.microsoft.com/office/drawing/2014/main" id="{C224513D-5B6B-4F5E-84CD-56D16D97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text-weuu4hn">
            <a:extLst xmlns:a="http://schemas.openxmlformats.org/drawingml/2006/main">
              <a:ext uri="{FF2B5EF4-FFF2-40B4-BE49-F238E27FC236}">
                <a16:creationId xmlns:a16="http://schemas.microsoft.com/office/drawing/2014/main" id="{75CEC19B-6F46-4DD9-B719-CE2BA2CA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确认需求</a:t>
            </a:r>
          </a:p>
        </p:txBody>
      </p:sp>
      <p:sp>
        <p:nvSpPr>
          <p:cNvPr id="15" name="text-cgzox12">
            <a:extLst xmlns:a="http://schemas.openxmlformats.org/drawingml/2006/main">
              <a:ext uri="{FF2B5EF4-FFF2-40B4-BE49-F238E27FC236}">
                <a16:creationId xmlns:a16="http://schemas.microsoft.com/office/drawing/2014/main" id="{05A1B2B4-CA0F-451D-99F0-B1466F92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shape-9ozv4sn">
            <a:extLst xmlns:a="http://schemas.openxmlformats.org/drawingml/2006/main">
              <a:ext uri="{FF2B5EF4-FFF2-40B4-BE49-F238E27FC236}">
                <a16:creationId xmlns:a16="http://schemas.microsoft.com/office/drawing/2014/main" id="{DDC11899-36BD-4A12-B909-43CC61CC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1466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3k28zvi">
            <a:extLst xmlns:a="http://schemas.openxmlformats.org/drawingml/2006/main">
              <a:ext uri="{FF2B5EF4-FFF2-40B4-BE49-F238E27FC236}">
                <a16:creationId xmlns:a16="http://schemas.microsoft.com/office/drawing/2014/main" id="{B8234F31-8858-4374-8B23-8229EB0E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8" name="text-1zd96pe">
            <a:extLst xmlns:a="http://schemas.openxmlformats.org/drawingml/2006/main">
              <a:ext uri="{FF2B5EF4-FFF2-40B4-BE49-F238E27FC236}">
                <a16:creationId xmlns:a16="http://schemas.microsoft.com/office/drawing/2014/main" id="{70AAFF05-84BF-4B8E-9725-1AC74166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生成Excel</a:t>
            </a:r>
          </a:p>
        </p:txBody>
      </p:sp>
      <p:sp>
        <p:nvSpPr>
          <p:cNvPr id="19" name="text-96v4i1r">
            <a:extLst xmlns:a="http://schemas.openxmlformats.org/drawingml/2006/main">
              <a:ext uri="{FF2B5EF4-FFF2-40B4-BE49-F238E27FC236}">
                <a16:creationId xmlns:a16="http://schemas.microsoft.com/office/drawing/2014/main" id="{3F75B696-7FD1-4743-BC44-1A29174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shape-tqiwxti">
            <a:extLst xmlns:a="http://schemas.openxmlformats.org/drawingml/2006/main">
              <a:ext uri="{FF2B5EF4-FFF2-40B4-BE49-F238E27FC236}">
                <a16:creationId xmlns:a16="http://schemas.microsoft.com/office/drawing/2014/main" id="{846310F3-96FD-4AA0-B870-628EEEEE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1466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-26lttoa">
            <a:extLst xmlns:a="http://schemas.openxmlformats.org/drawingml/2006/main">
              <a:ext uri="{FF2B5EF4-FFF2-40B4-BE49-F238E27FC236}">
                <a16:creationId xmlns:a16="http://schemas.microsoft.com/office/drawing/2014/main" id="{0119DFAC-284F-488D-8632-C609F7B9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2" name="text-59hero3">
            <a:extLst xmlns:a="http://schemas.openxmlformats.org/drawingml/2006/main">
              <a:ext uri="{FF2B5EF4-FFF2-40B4-BE49-F238E27FC236}">
                <a16:creationId xmlns:a16="http://schemas.microsoft.com/office/drawing/2014/main" id="{95AA93C4-071F-41C9-BBD3-9906B2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提炼结论</a:t>
            </a:r>
          </a:p>
        </p:txBody>
      </p:sp>
      <p:sp>
        <p:nvSpPr>
          <p:cNvPr id="23" name="text-yz5o3zb">
            <a:extLst xmlns:a="http://schemas.openxmlformats.org/drawingml/2006/main">
              <a:ext uri="{FF2B5EF4-FFF2-40B4-BE49-F238E27FC236}">
                <a16:creationId xmlns:a16="http://schemas.microsoft.com/office/drawing/2014/main" id="{30EDA481-4F4B-4A79-B184-904BD677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003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shape-194hiye">
            <a:extLst xmlns:a="http://schemas.openxmlformats.org/drawingml/2006/main">
              <a:ext uri="{FF2B5EF4-FFF2-40B4-BE49-F238E27FC236}">
                <a16:creationId xmlns:a16="http://schemas.microsoft.com/office/drawing/2014/main" id="{4DCE08BD-2B80-45D4-865E-A72EBAFC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76500"/>
            <a:ext cx="1466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text-aysg82r">
            <a:extLst xmlns:a="http://schemas.openxmlformats.org/drawingml/2006/main">
              <a:ext uri="{FF2B5EF4-FFF2-40B4-BE49-F238E27FC236}">
                <a16:creationId xmlns:a16="http://schemas.microsoft.com/office/drawing/2014/main" id="{A093161B-4A59-4F85-AC4D-63289AD0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67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6" name="text-9cp1ypa">
            <a:extLst xmlns:a="http://schemas.openxmlformats.org/drawingml/2006/main">
              <a:ext uri="{FF2B5EF4-FFF2-40B4-BE49-F238E27FC236}">
                <a16:creationId xmlns:a16="http://schemas.microsoft.com/office/drawing/2014/main" id="{73C5A714-EE29-4037-AF6A-9789FF30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432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生成PPT</a:t>
            </a:r>
          </a:p>
        </p:txBody>
      </p:sp>
      <p:sp>
        <p:nvSpPr>
          <p:cNvPr id="27" name="text-t7o97ms">
            <a:extLst xmlns:a="http://schemas.openxmlformats.org/drawingml/2006/main">
              <a:ext uri="{FF2B5EF4-FFF2-40B4-BE49-F238E27FC236}">
                <a16:creationId xmlns:a16="http://schemas.microsoft.com/office/drawing/2014/main" id="{AFA2F9EA-6206-4BC1-9623-B16057A3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每一步都先确认，再把结果交给下一步。</a:t>
            </a:r>
          </a:p>
        </p:txBody>
      </p:sp>
      <p:sp>
        <p:nvSpPr>
          <p:cNvPr id="28" name="text-5qqu4ve">
            <a:extLst xmlns:a="http://schemas.openxmlformats.org/drawingml/2006/main">
              <a:ext uri="{FF2B5EF4-FFF2-40B4-BE49-F238E27FC236}">
                <a16:creationId xmlns:a16="http://schemas.microsoft.com/office/drawing/2014/main" id="{7E1602C3-CC7E-4B46-826E-2C8AE48F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开场与成果预览</a:t>
            </a:r>
          </a:p>
        </p:txBody>
      </p:sp>
      <p:sp>
        <p:nvSpPr>
          <p:cNvPr id="29" name="text-mg0ddwf">
            <a:extLst xmlns:a="http://schemas.openxmlformats.org/drawingml/2006/main">
              <a:ext uri="{FF2B5EF4-FFF2-40B4-BE49-F238E27FC236}">
                <a16:creationId xmlns:a16="http://schemas.microsoft.com/office/drawing/2014/main" id="{75358A69-C8FD-4422-9BA9-C2AFE477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3416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qeeh9rc">
            <a:extLst xmlns:a="http://schemas.openxmlformats.org/drawingml/2006/main">
              <a:ext uri="{FF2B5EF4-FFF2-40B4-BE49-F238E27FC236}">
                <a16:creationId xmlns:a16="http://schemas.microsoft.com/office/drawing/2014/main" id="{61B4FE48-CDE9-4DBA-99DD-A49331E5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第一部分</a:t>
            </a:r>
          </a:p>
        </p:txBody>
      </p:sp>
      <p:sp>
        <p:nvSpPr>
          <p:cNvPr id="2" name="text-ylxia9n">
            <a:extLst xmlns:a="http://schemas.openxmlformats.org/drawingml/2006/main">
              <a:ext uri="{FF2B5EF4-FFF2-40B4-BE49-F238E27FC236}">
                <a16:creationId xmlns:a16="http://schemas.microsoft.com/office/drawing/2014/main" id="{6A332403-FCC3-4180-8B79-18C7BA98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096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先理解 AI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怎样接收和完成任务</a:t>
            </a:r>
          </a:p>
        </p:txBody>
      </p:sp>
      <p:sp>
        <p:nvSpPr>
          <p:cNvPr id="3" name="shape-fnchac1">
            <a:extLst xmlns:a="http://schemas.openxmlformats.org/drawingml/2006/main">
              <a:ext uri="{FF2B5EF4-FFF2-40B4-BE49-F238E27FC236}">
                <a16:creationId xmlns:a16="http://schemas.microsoft.com/office/drawing/2014/main" id="{F49408BB-51F0-4C75-99F5-75F136A9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j8v5e7b">
            <a:extLst xmlns:a="http://schemas.openxmlformats.org/drawingml/2006/main">
              <a:ext uri="{FF2B5EF4-FFF2-40B4-BE49-F238E27FC236}">
                <a16:creationId xmlns:a16="http://schemas.microsoft.com/office/drawing/2014/main" id="{C17DF781-7685-4F1E-83EC-7D73B911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提示词给方向，上下文给材料，工具把计划变成行动。</a:t>
            </a:r>
          </a:p>
        </p:txBody>
      </p:sp>
      <p:sp>
        <p:nvSpPr>
          <p:cNvPr id="5" name="text-xpru0h4">
            <a:extLst xmlns:a="http://schemas.openxmlformats.org/drawingml/2006/main">
              <a:ext uri="{FF2B5EF4-FFF2-40B4-BE49-F238E27FC236}">
                <a16:creationId xmlns:a16="http://schemas.microsoft.com/office/drawing/2014/main" id="{86CDD202-524D-4555-924F-081CE399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第一部分</a:t>
            </a:r>
          </a:p>
        </p:txBody>
      </p:sp>
      <p:sp>
        <p:nvSpPr>
          <p:cNvPr id="6" name="text-vsptyx8">
            <a:extLst xmlns:a="http://schemas.openxmlformats.org/drawingml/2006/main">
              <a:ext uri="{FF2B5EF4-FFF2-40B4-BE49-F238E27FC236}">
                <a16:creationId xmlns:a16="http://schemas.microsoft.com/office/drawing/2014/main" id="{C957D57C-8D4C-4A92-A917-DABDF51C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9317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rsql65">
            <a:extLst xmlns:a="http://schemas.openxmlformats.org/drawingml/2006/main">
              <a:ext uri="{FF2B5EF4-FFF2-40B4-BE49-F238E27FC236}">
                <a16:creationId xmlns:a16="http://schemas.microsoft.com/office/drawing/2014/main" id="{7F83F62D-A42D-40AB-907C-7F4FC73F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为什么需要提示词</a:t>
            </a:r>
          </a:p>
        </p:txBody>
      </p:sp>
      <p:sp>
        <p:nvSpPr>
          <p:cNvPr id="2" name="text-8abv6qc">
            <a:extLst xmlns:a="http://schemas.openxmlformats.org/drawingml/2006/main">
              <a:ext uri="{FF2B5EF4-FFF2-40B4-BE49-F238E27FC236}">
                <a16:creationId xmlns:a16="http://schemas.microsoft.com/office/drawing/2014/main" id="{CF21990D-2A8D-429B-99EF-7F03C06B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大模型会很多，但它不知道你这次想去哪里</a:t>
            </a:r>
          </a:p>
        </p:txBody>
      </p:sp>
      <p:sp>
        <p:nvSpPr>
          <p:cNvPr id="3" name="shape-bvd85nm">
            <a:extLst xmlns:a="http://schemas.openxmlformats.org/drawingml/2006/main">
              <a:ext uri="{FF2B5EF4-FFF2-40B4-BE49-F238E27FC236}">
                <a16:creationId xmlns:a16="http://schemas.microsoft.com/office/drawing/2014/main" id="{145DF7C5-DD98-4DA2-BC9B-F7CC9E68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l92ubz5">
            <a:extLst xmlns:a="http://schemas.openxmlformats.org/drawingml/2006/main">
              <a:ext uri="{FF2B5EF4-FFF2-40B4-BE49-F238E27FC236}">
                <a16:creationId xmlns:a16="http://schemas.microsoft.com/office/drawing/2014/main" id="{A4375B70-43A5-4D4B-8F42-6A4FF676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4857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知识和表达方式像一片大海。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没有目的地、路线和安全要求，AI只能根据有限信息猜测你的意图。</a:t>
            </a:r>
          </a:p>
        </p:txBody>
      </p:sp>
      <p:sp>
        <p:nvSpPr>
          <p:cNvPr id="5" name="text-6vs4dne">
            <a:extLst xmlns:a="http://schemas.openxmlformats.org/drawingml/2006/main">
              <a:ext uri="{FF2B5EF4-FFF2-40B4-BE49-F238E27FC236}">
                <a16:creationId xmlns:a16="http://schemas.microsoft.com/office/drawing/2014/main" id="{A61307AB-1388-4DDA-B5BD-E9217AC1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提示词的作用：</a:t>
            </a:r>
          </a:p>
          <a:p xmlns:a="http://schemas.openxmlformats.org/drawingml/2006/main">
            <a:pPr algn="l">
              <a:defRPr sz="2175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把可能性收束成任务。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cd6b5f6554352"/>
          <a:srcRect xmlns:a="http://schemas.openxmlformats.org/drawingml/2006/main" l="10604" t="0" r="106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71625"/>
            <a:ext cx="56007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text-1h8ocxo">
            <a:extLst xmlns:a="http://schemas.openxmlformats.org/drawingml/2006/main">
              <a:ext uri="{FF2B5EF4-FFF2-40B4-BE49-F238E27FC236}">
                <a16:creationId xmlns:a16="http://schemas.microsoft.com/office/drawing/2014/main" id="{FDC040E5-167F-4181-B5D6-6523A869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  <p:sp>
        <p:nvSpPr>
          <p:cNvPr id="8" name="text-1mrhxor">
            <a:extLst xmlns:a="http://schemas.openxmlformats.org/drawingml/2006/main">
              <a:ext uri="{FF2B5EF4-FFF2-40B4-BE49-F238E27FC236}">
                <a16:creationId xmlns:a16="http://schemas.microsoft.com/office/drawing/2014/main" id="{5FFC5273-827B-45E0-A2B5-66C68F69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4683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yjhl1tn">
            <a:extLst xmlns:a="http://schemas.openxmlformats.org/drawingml/2006/main">
              <a:ext uri="{FF2B5EF4-FFF2-40B4-BE49-F238E27FC236}">
                <a16:creationId xmlns:a16="http://schemas.microsoft.com/office/drawing/2014/main" id="{2151F366-E1AE-4FBB-BFEA-45BD4C84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提示词改变工作方向</a:t>
            </a:r>
          </a:p>
        </p:txBody>
      </p:sp>
      <p:sp>
        <p:nvSpPr>
          <p:cNvPr id="2" name="text-xi0z9rc">
            <a:extLst xmlns:a="http://schemas.openxmlformats.org/drawingml/2006/main">
              <a:ext uri="{FF2B5EF4-FFF2-40B4-BE49-F238E27FC236}">
                <a16:creationId xmlns:a16="http://schemas.microsoft.com/office/drawing/2014/main" id="{0148286B-C7F3-4C6B-B520-45FD1E8D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同一片海，模糊指令与明确路线会走向不同结果</a:t>
            </a:r>
          </a:p>
        </p:txBody>
      </p:sp>
      <p:sp>
        <p:nvSpPr>
          <p:cNvPr id="3" name="shape-o8smoah">
            <a:extLst xmlns:a="http://schemas.openxmlformats.org/drawingml/2006/main">
              <a:ext uri="{FF2B5EF4-FFF2-40B4-BE49-F238E27FC236}">
                <a16:creationId xmlns:a16="http://schemas.microsoft.com/office/drawing/2014/main" id="{1A624AD0-6B0B-4398-9203-814EDB45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e5942985f4bd0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7875" y="1428750"/>
            <a:ext cx="8096250" cy="4552950"/>
          </a:xfrm>
          <a:prstGeom xmlns:a="http://schemas.openxmlformats.org/drawingml/2006/main" prst="rect">
            <a:avLst/>
          </a:prstGeom>
        </p:spPr>
      </p:pic>
      <p:sp>
        <p:nvSpPr>
          <p:cNvPr id="5" name="text-ejfanc9">
            <a:extLst xmlns:a="http://schemas.openxmlformats.org/drawingml/2006/main">
              <a:ext uri="{FF2B5EF4-FFF2-40B4-BE49-F238E27FC236}">
                <a16:creationId xmlns:a16="http://schemas.microsoft.com/office/drawing/2014/main" id="{B8F9656D-ACF4-4283-8B68-4B458DA8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  <p:sp>
        <p:nvSpPr>
          <p:cNvPr id="6" name="text-os5ddjf">
            <a:extLst xmlns:a="http://schemas.openxmlformats.org/drawingml/2006/main">
              <a:ext uri="{FF2B5EF4-FFF2-40B4-BE49-F238E27FC236}">
                <a16:creationId xmlns:a16="http://schemas.microsoft.com/office/drawing/2014/main" id="{E40193BA-0B3F-4CA4-A0D3-253E7314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2430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y862bcc">
            <a:extLst xmlns:a="http://schemas.openxmlformats.org/drawingml/2006/main">
              <a:ext uri="{FF2B5EF4-FFF2-40B4-BE49-F238E27FC236}">
                <a16:creationId xmlns:a16="http://schemas.microsoft.com/office/drawing/2014/main" id="{22B4C0C8-DBB2-4388-B0F3-21583F97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核心定义</a:t>
            </a:r>
          </a:p>
        </p:txBody>
      </p:sp>
      <p:sp>
        <p:nvSpPr>
          <p:cNvPr id="2" name="text-zffk77x">
            <a:extLst xmlns:a="http://schemas.openxmlformats.org/drawingml/2006/main">
              <a:ext uri="{FF2B5EF4-FFF2-40B4-BE49-F238E27FC236}">
                <a16:creationId xmlns:a16="http://schemas.microsoft.com/office/drawing/2014/main" id="{8B3ABAF2-9896-4F30-AD0F-96690F2A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提示词不是神奇口令，而是一份工作说明书</a:t>
            </a:r>
          </a:p>
        </p:txBody>
      </p:sp>
      <p:sp>
        <p:nvSpPr>
          <p:cNvPr id="3" name="shape-wnzg58x">
            <a:extLst xmlns:a="http://schemas.openxmlformats.org/drawingml/2006/main">
              <a:ext uri="{FF2B5EF4-FFF2-40B4-BE49-F238E27FC236}">
                <a16:creationId xmlns:a16="http://schemas.microsoft.com/office/drawing/2014/main" id="{AB653C7A-A284-4AB4-B641-94249615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vp129jc">
            <a:extLst xmlns:a="http://schemas.openxmlformats.org/drawingml/2006/main">
              <a:ext uri="{FF2B5EF4-FFF2-40B4-BE49-F238E27FC236}">
                <a16:creationId xmlns:a16="http://schemas.microsoft.com/office/drawing/2014/main" id="{B393FDCA-C299-4A39-BD58-A84B672D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它至少帮助 AI 回答四个问题</a:t>
            </a:r>
          </a:p>
        </p:txBody>
      </p:sp>
      <p:sp>
        <p:nvSpPr>
          <p:cNvPr id="5" name="shape-3y51l4j">
            <a:extLst xmlns:a="http://schemas.openxmlformats.org/drawingml/2006/main">
              <a:ext uri="{FF2B5EF4-FFF2-40B4-BE49-F238E27FC236}">
                <a16:creationId xmlns:a16="http://schemas.microsoft.com/office/drawing/2014/main" id="{4F1BA012-D023-4A2D-B106-C53032E1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39o8zmw">
            <a:extLst xmlns:a="http://schemas.openxmlformats.org/drawingml/2006/main">
              <a:ext uri="{FF2B5EF4-FFF2-40B4-BE49-F238E27FC236}">
                <a16:creationId xmlns:a16="http://schemas.microsoft.com/office/drawing/2014/main" id="{2CC622D9-4EBC-4BA9-B7F5-5A16C5ED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为什么做？</a:t>
            </a:r>
          </a:p>
        </p:txBody>
      </p:sp>
      <p:sp>
        <p:nvSpPr>
          <p:cNvPr id="7" name="shape-kx5omxt">
            <a:extLst xmlns:a="http://schemas.openxmlformats.org/drawingml/2006/main">
              <a:ext uri="{FF2B5EF4-FFF2-40B4-BE49-F238E27FC236}">
                <a16:creationId xmlns:a16="http://schemas.microsoft.com/office/drawing/2014/main" id="{12D9F207-0F8B-49A6-BB41-DA341A62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28875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7m3b62">
            <a:extLst xmlns:a="http://schemas.openxmlformats.org/drawingml/2006/main">
              <a:ext uri="{FF2B5EF4-FFF2-40B4-BE49-F238E27FC236}">
                <a16:creationId xmlns:a16="http://schemas.microsoft.com/office/drawing/2014/main" id="{3F85FEFF-9494-4181-8E63-EEFECCF3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根据什么做？</a:t>
            </a:r>
          </a:p>
        </p:txBody>
      </p:sp>
      <p:sp>
        <p:nvSpPr>
          <p:cNvPr id="9" name="shape-q7w16uo">
            <a:extLst xmlns:a="http://schemas.openxmlformats.org/drawingml/2006/main">
              <a:ext uri="{FF2B5EF4-FFF2-40B4-BE49-F238E27FC236}">
                <a16:creationId xmlns:a16="http://schemas.microsoft.com/office/drawing/2014/main" id="{E9598D96-D7BF-4232-85CE-70045D8D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lgb26pr">
            <a:extLst xmlns:a="http://schemas.openxmlformats.org/drawingml/2006/main">
              <a:ext uri="{FF2B5EF4-FFF2-40B4-BE49-F238E27FC236}">
                <a16:creationId xmlns:a16="http://schemas.microsoft.com/office/drawing/2014/main" id="{EC755365-34B8-4C8D-AF75-23D1D24B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交付成什么？</a:t>
            </a:r>
          </a:p>
        </p:txBody>
      </p:sp>
      <p:sp>
        <p:nvSpPr>
          <p:cNvPr id="11" name="shape-nti5qwy">
            <a:extLst xmlns:a="http://schemas.openxmlformats.org/drawingml/2006/main">
              <a:ext uri="{FF2B5EF4-FFF2-40B4-BE49-F238E27FC236}">
                <a16:creationId xmlns:a16="http://schemas.microsoft.com/office/drawing/2014/main" id="{9C53D862-D1E1-4DD6-A2FD-323DC8C6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57625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unfui2">
            <a:extLst xmlns:a="http://schemas.openxmlformats.org/drawingml/2006/main">
              <a:ext uri="{FF2B5EF4-FFF2-40B4-BE49-F238E27FC236}">
                <a16:creationId xmlns:a16="http://schemas.microsoft.com/office/drawing/2014/main" id="{F392AE7A-E8EA-482A-B679-50AC3419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怎样才算完成？</a:t>
            </a:r>
          </a:p>
        </p:txBody>
      </p:sp>
      <p:sp>
        <p:nvSpPr>
          <p:cNvPr id="13" name="text-x4i4kit">
            <a:extLst xmlns:a="http://schemas.openxmlformats.org/drawingml/2006/main">
              <a:ext uri="{FF2B5EF4-FFF2-40B4-BE49-F238E27FC236}">
                <a16:creationId xmlns:a16="http://schemas.microsoft.com/office/drawing/2014/main" id="{C19D0C59-1B25-4838-B732-F51F4F58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写得长不等于写得好；真正有用的信息必须改变 AI 的判断。</a:t>
            </a:r>
          </a:p>
        </p:txBody>
      </p:sp>
      <p:sp>
        <p:nvSpPr>
          <p:cNvPr id="14" name="text-p1dpncq">
            <a:extLst xmlns:a="http://schemas.openxmlformats.org/drawingml/2006/main">
              <a:ext uri="{FF2B5EF4-FFF2-40B4-BE49-F238E27FC236}">
                <a16:creationId xmlns:a16="http://schemas.microsoft.com/office/drawing/2014/main" id="{5D8E64FD-1637-4F3F-AA4F-B90B34F3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  <p:sp>
        <p:nvSpPr>
          <p:cNvPr id="15" name="text-6d28in3">
            <a:extLst xmlns:a="http://schemas.openxmlformats.org/drawingml/2006/main">
              <a:ext uri="{FF2B5EF4-FFF2-40B4-BE49-F238E27FC236}">
                <a16:creationId xmlns:a16="http://schemas.microsoft.com/office/drawing/2014/main" id="{557CC878-14E9-464D-9D3B-2ACA05DC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693682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pnk31dy">
            <a:extLst xmlns:a="http://schemas.openxmlformats.org/drawingml/2006/main">
              <a:ext uri="{FF2B5EF4-FFF2-40B4-BE49-F238E27FC236}">
                <a16:creationId xmlns:a16="http://schemas.microsoft.com/office/drawing/2014/main" id="{AD48F0B4-C657-42BC-AF70-8EC3E259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提示词检查清单</a:t>
            </a:r>
          </a:p>
        </p:txBody>
      </p:sp>
      <p:sp>
        <p:nvSpPr>
          <p:cNvPr id="2" name="text-jkytlbc">
            <a:extLst xmlns:a="http://schemas.openxmlformats.org/drawingml/2006/main">
              <a:ext uri="{FF2B5EF4-FFF2-40B4-BE49-F238E27FC236}">
                <a16:creationId xmlns:a16="http://schemas.microsoft.com/office/drawing/2014/main" id="{1C55535B-2040-4BCB-BCFD-EF7062CC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六段式结构，让新手不容易漏掉关键条件</a:t>
            </a:r>
          </a:p>
        </p:txBody>
      </p:sp>
      <p:sp>
        <p:nvSpPr>
          <p:cNvPr id="3" name="shape-mt7y4jb">
            <a:extLst xmlns:a="http://schemas.openxmlformats.org/drawingml/2006/main">
              <a:ext uri="{FF2B5EF4-FFF2-40B4-BE49-F238E27FC236}">
                <a16:creationId xmlns:a16="http://schemas.microsoft.com/office/drawing/2014/main" id="{A12116E9-CC16-48EA-BA73-0ED3378B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eeutvzz">
            <a:extLst xmlns:a="http://schemas.openxmlformats.org/drawingml/2006/main">
              <a:ext uri="{FF2B5EF4-FFF2-40B4-BE49-F238E27FC236}">
                <a16:creationId xmlns:a16="http://schemas.microsoft.com/office/drawing/2014/main" id="{D2A809C4-005A-46FB-AD3E-16FCD3A9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5" name="shape-bmb263m">
            <a:extLst xmlns:a="http://schemas.openxmlformats.org/drawingml/2006/main">
              <a:ext uri="{FF2B5EF4-FFF2-40B4-BE49-F238E27FC236}">
                <a16:creationId xmlns:a16="http://schemas.microsoft.com/office/drawing/2014/main" id="{335AB754-81BA-40C6-89C0-A06A6600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1u1tzrt">
            <a:extLst xmlns:a="http://schemas.openxmlformats.org/drawingml/2006/main">
              <a:ext uri="{FF2B5EF4-FFF2-40B4-BE49-F238E27FC236}">
                <a16:creationId xmlns:a16="http://schemas.microsoft.com/office/drawing/2014/main" id="{C4773070-FF88-4740-A8BD-66DC3D39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用什么视角思考</a:t>
            </a:r>
          </a:p>
        </p:txBody>
      </p:sp>
      <p:sp>
        <p:nvSpPr>
          <p:cNvPr id="7" name="text-2m88spl">
            <a:extLst xmlns:a="http://schemas.openxmlformats.org/drawingml/2006/main">
              <a:ext uri="{FF2B5EF4-FFF2-40B4-BE49-F238E27FC236}">
                <a16:creationId xmlns:a16="http://schemas.microsoft.com/office/drawing/2014/main" id="{A2851884-9367-4990-9240-F74C341E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09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背景</a:t>
            </a:r>
          </a:p>
        </p:txBody>
      </p:sp>
      <p:sp>
        <p:nvSpPr>
          <p:cNvPr id="8" name="shape-knifq19">
            <a:extLst xmlns:a="http://schemas.openxmlformats.org/drawingml/2006/main">
              <a:ext uri="{FF2B5EF4-FFF2-40B4-BE49-F238E27FC236}">
                <a16:creationId xmlns:a16="http://schemas.microsoft.com/office/drawing/2014/main" id="{38E5088E-0E3B-4BBC-A2C3-5880034B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390775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cvst4ds">
            <a:extLst xmlns:a="http://schemas.openxmlformats.org/drawingml/2006/main">
              <a:ext uri="{FF2B5EF4-FFF2-40B4-BE49-F238E27FC236}">
                <a16:creationId xmlns:a16="http://schemas.microsoft.com/office/drawing/2014/main" id="{EF73D4DC-F909-474D-B612-C8B96FA8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908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给谁用，为什么做</a:t>
            </a:r>
          </a:p>
        </p:txBody>
      </p:sp>
      <p:sp>
        <p:nvSpPr>
          <p:cNvPr id="10" name="text-srled1j">
            <a:extLst xmlns:a="http://schemas.openxmlformats.org/drawingml/2006/main">
              <a:ext uri="{FF2B5EF4-FFF2-40B4-BE49-F238E27FC236}">
                <a16:creationId xmlns:a16="http://schemas.microsoft.com/office/drawing/2014/main" id="{4BE5BF22-8086-41E3-A15C-BEFAFDF3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任务</a:t>
            </a:r>
          </a:p>
        </p:txBody>
      </p:sp>
      <p:sp>
        <p:nvSpPr>
          <p:cNvPr id="11" name="shape-5xmn7r4">
            <a:extLst xmlns:a="http://schemas.openxmlformats.org/drawingml/2006/main">
              <a:ext uri="{FF2B5EF4-FFF2-40B4-BE49-F238E27FC236}">
                <a16:creationId xmlns:a16="http://schemas.microsoft.com/office/drawing/2014/main" id="{A340FB6F-428C-4FB8-B2F7-3170C92A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90775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nv72knc">
            <a:extLst xmlns:a="http://schemas.openxmlformats.org/drawingml/2006/main">
              <a:ext uri="{FF2B5EF4-FFF2-40B4-BE49-F238E27FC236}">
                <a16:creationId xmlns:a16="http://schemas.microsoft.com/office/drawing/2014/main" id="{8F9E4BC9-DF6A-4AE7-AFAC-A3946C5C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具体完成哪些工作</a:t>
            </a:r>
          </a:p>
        </p:txBody>
      </p:sp>
      <p:sp>
        <p:nvSpPr>
          <p:cNvPr id="13" name="text-v1dwl84">
            <a:extLst xmlns:a="http://schemas.openxmlformats.org/drawingml/2006/main">
              <a:ext uri="{FF2B5EF4-FFF2-40B4-BE49-F238E27FC236}">
                <a16:creationId xmlns:a16="http://schemas.microsoft.com/office/drawing/2014/main" id="{664561E3-68F7-4D41-96C6-A5471393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4" name="shape-uxp222x">
            <a:extLst xmlns:a="http://schemas.openxmlformats.org/drawingml/2006/main">
              <a:ext uri="{FF2B5EF4-FFF2-40B4-BE49-F238E27FC236}">
                <a16:creationId xmlns:a16="http://schemas.microsoft.com/office/drawing/2014/main" id="{2CF5B8B2-DAA3-4433-8C98-DD179CE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td8aco0">
            <a:extLst xmlns:a="http://schemas.openxmlformats.org/drawingml/2006/main">
              <a:ext uri="{FF2B5EF4-FFF2-40B4-BE49-F238E27FC236}">
                <a16:creationId xmlns:a16="http://schemas.microsoft.com/office/drawing/2014/main" id="{41C6CA18-CAC3-4EDE-B8C3-346280EA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可以使用哪些事实</a:t>
            </a:r>
          </a:p>
        </p:txBody>
      </p:sp>
      <p:sp>
        <p:nvSpPr>
          <p:cNvPr id="16" name="text-egw1ooq">
            <a:extLst xmlns:a="http://schemas.openxmlformats.org/drawingml/2006/main">
              <a:ext uri="{FF2B5EF4-FFF2-40B4-BE49-F238E27FC236}">
                <a16:creationId xmlns:a16="http://schemas.microsoft.com/office/drawing/2014/main" id="{E1E808AC-8E90-4AD2-AB8D-A5F43081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62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17" name="shape-7twccyt">
            <a:extLst xmlns:a="http://schemas.openxmlformats.org/drawingml/2006/main">
              <a:ext uri="{FF2B5EF4-FFF2-40B4-BE49-F238E27FC236}">
                <a16:creationId xmlns:a16="http://schemas.microsoft.com/office/drawing/2014/main" id="{9D46BEEC-8D43-4777-9504-C90ACE88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3434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pynt7c5">
            <a:extLst xmlns:a="http://schemas.openxmlformats.org/drawingml/2006/main">
              <a:ext uri="{FF2B5EF4-FFF2-40B4-BE49-F238E27FC236}">
                <a16:creationId xmlns:a16="http://schemas.microsoft.com/office/drawing/2014/main" id="{CACCCD6D-2790-44B6-A499-8C10375D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4342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格式、结构和规模</a:t>
            </a:r>
          </a:p>
        </p:txBody>
      </p:sp>
      <p:sp>
        <p:nvSpPr>
          <p:cNvPr id="19" name="text-tuolrlr">
            <a:extLst xmlns:a="http://schemas.openxmlformats.org/drawingml/2006/main">
              <a:ext uri="{FF2B5EF4-FFF2-40B4-BE49-F238E27FC236}">
                <a16:creationId xmlns:a16="http://schemas.microsoft.com/office/drawing/2014/main" id="{F21321F3-EFAB-454F-AFE7-68E413EC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62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约束与检查</a:t>
            </a:r>
          </a:p>
        </p:txBody>
      </p:sp>
      <p:sp>
        <p:nvSpPr>
          <p:cNvPr id="20" name="shape-yaz3isv">
            <a:extLst xmlns:a="http://schemas.openxmlformats.org/drawingml/2006/main">
              <a:ext uri="{FF2B5EF4-FFF2-40B4-BE49-F238E27FC236}">
                <a16:creationId xmlns:a16="http://schemas.microsoft.com/office/drawing/2014/main" id="{C09DB333-300D-4148-97A4-EB84503D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n8v5de4">
            <a:extLst xmlns:a="http://schemas.openxmlformats.org/drawingml/2006/main">
              <a:ext uri="{FF2B5EF4-FFF2-40B4-BE49-F238E27FC236}">
                <a16:creationId xmlns:a16="http://schemas.microsoft.com/office/drawing/2014/main" id="{188AC704-7D1A-4420-9F16-D591CE7B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4342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不能做什么，怎样验收</a:t>
            </a:r>
          </a:p>
        </p:txBody>
      </p:sp>
      <p:sp>
        <p:nvSpPr>
          <p:cNvPr id="22" name="text-i8dilzh">
            <a:extLst xmlns:a="http://schemas.openxmlformats.org/drawingml/2006/main">
              <a:ext uri="{FF2B5EF4-FFF2-40B4-BE49-F238E27FC236}">
                <a16:creationId xmlns:a16="http://schemas.microsoft.com/office/drawing/2014/main" id="{8E791966-8274-4123-88E7-D8C209A3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  <p:sp>
        <p:nvSpPr>
          <p:cNvPr id="23" name="text-06ovt61">
            <a:extLst xmlns:a="http://schemas.openxmlformats.org/drawingml/2006/main">
              <a:ext uri="{FF2B5EF4-FFF2-40B4-BE49-F238E27FC236}">
                <a16:creationId xmlns:a16="http://schemas.microsoft.com/office/drawing/2014/main" id="{5D5D83A6-D918-49EF-B43B-8AA620F3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48851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q7b4jr">
            <a:extLst xmlns:a="http://schemas.openxmlformats.org/drawingml/2006/main">
              <a:ext uri="{FF2B5EF4-FFF2-40B4-BE49-F238E27FC236}">
                <a16:creationId xmlns:a16="http://schemas.microsoft.com/office/drawing/2014/main" id="{3210F92B-A75D-4B99-A134-F1E9454C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30秒快速练习</a:t>
            </a:r>
          </a:p>
        </p:txBody>
      </p:sp>
      <p:sp>
        <p:nvSpPr>
          <p:cNvPr id="2" name="text-f4d7eox">
            <a:extLst xmlns:a="http://schemas.openxmlformats.org/drawingml/2006/main">
              <a:ext uri="{FF2B5EF4-FFF2-40B4-BE49-F238E27FC236}">
                <a16:creationId xmlns:a16="http://schemas.microsoft.com/office/drawing/2014/main" id="{74A3D36C-B408-48C6-B304-A6483B6E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“帮我根据销售数据做一个 PPT”还缺什么？</a:t>
            </a:r>
          </a:p>
        </p:txBody>
      </p:sp>
      <p:sp>
        <p:nvSpPr>
          <p:cNvPr id="3" name="shape-6jx2g5x">
            <a:extLst xmlns:a="http://schemas.openxmlformats.org/drawingml/2006/main">
              <a:ext uri="{FF2B5EF4-FFF2-40B4-BE49-F238E27FC236}">
                <a16:creationId xmlns:a16="http://schemas.microsoft.com/office/drawing/2014/main" id="{2B77A972-F500-453D-B8D7-EE078252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yfor0x2">
            <a:extLst xmlns:a="http://schemas.openxmlformats.org/drawingml/2006/main">
              <a:ext uri="{FF2B5EF4-FFF2-40B4-BE49-F238E27FC236}">
                <a16:creationId xmlns:a16="http://schemas.microsoft.com/office/drawing/2014/main" id="{93E015C2-6F2E-479E-B1D6-C246E5E2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334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qk37mfb">
            <a:extLst xmlns:a="http://schemas.openxmlformats.org/drawingml/2006/main">
              <a:ext uri="{FF2B5EF4-FFF2-40B4-BE49-F238E27FC236}">
                <a16:creationId xmlns:a16="http://schemas.microsoft.com/office/drawing/2014/main" id="{D8655C09-9B08-420C-B1F9-B3851EDD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帮我根据销售数据做一个 PPT。</a:t>
            </a:r>
          </a:p>
        </p:txBody>
      </p:sp>
      <p:sp>
        <p:nvSpPr>
          <p:cNvPr id="6" name="text-3gfiqwt">
            <a:extLst xmlns:a="http://schemas.openxmlformats.org/drawingml/2006/main">
              <a:ext uri="{FF2B5EF4-FFF2-40B4-BE49-F238E27FC236}">
                <a16:creationId xmlns:a16="http://schemas.microsoft.com/office/drawing/2014/main" id="{0501BA6E-35A2-4F4D-9039-C8B4277F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请至少补充：汇报对象 · 业务目标 · 数据材料 · 输出规模 · 禁止事项 · 检查要求</a:t>
            </a:r>
          </a:p>
        </p:txBody>
      </p:sp>
      <p:sp>
        <p:nvSpPr>
          <p:cNvPr id="7" name="text-glokew1">
            <a:extLst xmlns:a="http://schemas.openxmlformats.org/drawingml/2006/main">
              <a:ext uri="{FF2B5EF4-FFF2-40B4-BE49-F238E27FC236}">
                <a16:creationId xmlns:a16="http://schemas.microsoft.com/office/drawing/2014/main" id="{AA221109-9D02-433C-B80C-B0742D5B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  <p:sp>
        <p:nvSpPr>
          <p:cNvPr id="8" name="text-5mh37xl">
            <a:extLst xmlns:a="http://schemas.openxmlformats.org/drawingml/2006/main">
              <a:ext uri="{FF2B5EF4-FFF2-40B4-BE49-F238E27FC236}">
                <a16:creationId xmlns:a16="http://schemas.microsoft.com/office/drawing/2014/main" id="{39C73831-0E38-46E2-977F-1B31C7DE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71228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27t3xp9">
            <a:extLst xmlns:a="http://schemas.openxmlformats.org/drawingml/2006/main">
              <a:ext uri="{FF2B5EF4-FFF2-40B4-BE49-F238E27FC236}">
                <a16:creationId xmlns:a16="http://schemas.microsoft.com/office/drawing/2014/main" id="{D17D7770-8F35-4D8F-B111-019D86BF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参考版本</a:t>
            </a:r>
          </a:p>
        </p:txBody>
      </p:sp>
      <p:sp>
        <p:nvSpPr>
          <p:cNvPr id="2" name="text-rn33uge">
            <a:extLst xmlns:a="http://schemas.openxmlformats.org/drawingml/2006/main">
              <a:ext uri="{FF2B5EF4-FFF2-40B4-BE49-F238E27FC236}">
                <a16:creationId xmlns:a16="http://schemas.microsoft.com/office/drawing/2014/main" id="{BEB393F3-1409-4028-8D5B-AA6A64C5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高完成度提示词，把猜测变成可执行任务</a:t>
            </a:r>
          </a:p>
        </p:txBody>
      </p:sp>
      <p:sp>
        <p:nvSpPr>
          <p:cNvPr id="3" name="shape-scsfbhz">
            <a:extLst xmlns:a="http://schemas.openxmlformats.org/drawingml/2006/main">
              <a:ext uri="{FF2B5EF4-FFF2-40B4-BE49-F238E27FC236}">
                <a16:creationId xmlns:a16="http://schemas.microsoft.com/office/drawing/2014/main" id="{CD6B7DA4-F45F-4347-B390-CC61C7C4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dypwy6">
            <a:extLst xmlns:a="http://schemas.openxmlformats.org/drawingml/2006/main">
              <a:ext uri="{FF2B5EF4-FFF2-40B4-BE49-F238E27FC236}">
                <a16:creationId xmlns:a16="http://schemas.microsoft.com/office/drawing/2014/main" id="{70B17FCE-C931-41E8-A1A2-32895052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角色与目标</a:t>
            </a:r>
          </a:p>
        </p:txBody>
      </p:sp>
      <p:sp>
        <p:nvSpPr>
          <p:cNvPr id="5" name="text-nb59ozn">
            <a:extLst xmlns:a="http://schemas.openxmlformats.org/drawingml/2006/main">
              <a:ext uri="{FF2B5EF4-FFF2-40B4-BE49-F238E27FC236}">
                <a16:creationId xmlns:a16="http://schemas.microsoft.com/office/drawing/2014/main" id="{A0328CCE-0023-4992-9052-0F2D1D7F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9070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你是一名经营数据分析顾问。请根据6月门店销售数据，为区域经理设计月度经营汇报，识别优秀门店和重点问题。</a:t>
            </a:r>
          </a:p>
        </p:txBody>
      </p:sp>
      <p:sp>
        <p:nvSpPr>
          <p:cNvPr id="6" name="shape-r0z6q33">
            <a:extLst xmlns:a="http://schemas.openxmlformats.org/drawingml/2006/main">
              <a:ext uri="{FF2B5EF4-FFF2-40B4-BE49-F238E27FC236}">
                <a16:creationId xmlns:a16="http://schemas.microsoft.com/office/drawing/2014/main" id="{A9DFB1E8-BFFD-4FB0-BAE8-5A520688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v6p3mek">
            <a:extLst xmlns:a="http://schemas.openxmlformats.org/drawingml/2006/main">
              <a:ext uri="{FF2B5EF4-FFF2-40B4-BE49-F238E27FC236}">
                <a16:creationId xmlns:a16="http://schemas.microsoft.com/office/drawing/2014/main" id="{4DADDAEB-5D75-41B9-A37F-6F47AA91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角色与目标</a:t>
            </a:r>
          </a:p>
        </p:txBody>
      </p:sp>
      <p:sp>
        <p:nvSpPr>
          <p:cNvPr id="8" name="text-sfu3qlt">
            <a:extLst xmlns:a="http://schemas.openxmlformats.org/drawingml/2006/main">
              <a:ext uri="{FF2B5EF4-FFF2-40B4-BE49-F238E27FC236}">
                <a16:creationId xmlns:a16="http://schemas.microsoft.com/office/drawing/2014/main" id="{645C8A07-5792-4EAD-B57B-77632937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9070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你是一名经营数据分析顾问。请根据6月门店销售数据，为区域经理设计月度经营汇报，识别优秀门店和重点问题。</a:t>
            </a:r>
          </a:p>
        </p:txBody>
      </p:sp>
      <p:sp>
        <p:nvSpPr>
          <p:cNvPr id="9" name="text-z1c0433">
            <a:extLst xmlns:a="http://schemas.openxmlformats.org/drawingml/2006/main">
              <a:ext uri="{FF2B5EF4-FFF2-40B4-BE49-F238E27FC236}">
                <a16:creationId xmlns:a16="http://schemas.microsoft.com/office/drawing/2014/main" id="{CEC897ED-56AC-448A-B67A-1AE6DEC2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步骤与输出</a:t>
            </a:r>
          </a:p>
        </p:txBody>
      </p:sp>
      <p:sp>
        <p:nvSpPr>
          <p:cNvPr id="10" name="text-ajmvti0">
            <a:extLst xmlns:a="http://schemas.openxmlformats.org/drawingml/2006/main">
              <a:ext uri="{FF2B5EF4-FFF2-40B4-BE49-F238E27FC236}">
                <a16:creationId xmlns:a16="http://schemas.microsoft.com/office/drawing/2014/main" id="{D62035C4-8A69-4A86-BCC8-A41FADA9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76575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重点分析销售额、利润率和目标完成率。先用Markdown输出不超过5页的页面方案，经确认后再生成PPT。</a:t>
            </a:r>
          </a:p>
        </p:txBody>
      </p:sp>
      <p:sp>
        <p:nvSpPr>
          <p:cNvPr id="11" name="shape-23bknb0">
            <a:extLst xmlns:a="http://schemas.openxmlformats.org/drawingml/2006/main">
              <a:ext uri="{FF2B5EF4-FFF2-40B4-BE49-F238E27FC236}">
                <a16:creationId xmlns:a16="http://schemas.microsoft.com/office/drawing/2014/main" id="{F308979D-3619-4676-961E-07435A63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11087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46p0vqm">
            <a:extLst xmlns:a="http://schemas.openxmlformats.org/drawingml/2006/main">
              <a:ext uri="{FF2B5EF4-FFF2-40B4-BE49-F238E27FC236}">
                <a16:creationId xmlns:a16="http://schemas.microsoft.com/office/drawing/2014/main" id="{C91701DE-EBD5-4518-9394-F5D3220A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步骤与输出</a:t>
            </a:r>
          </a:p>
        </p:txBody>
      </p:sp>
      <p:sp>
        <p:nvSpPr>
          <p:cNvPr id="13" name="text-14jy3tc">
            <a:extLst xmlns:a="http://schemas.openxmlformats.org/drawingml/2006/main">
              <a:ext uri="{FF2B5EF4-FFF2-40B4-BE49-F238E27FC236}">
                <a16:creationId xmlns:a16="http://schemas.microsoft.com/office/drawing/2014/main" id="{5AB70D35-31BB-41AA-93EB-1D8410C4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76575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重点分析销售额、利润率和目标完成率。先用Markdown输出不超过5页的页面方案，经确认后再生成PPT。</a:t>
            </a:r>
          </a:p>
        </p:txBody>
      </p:sp>
      <p:sp>
        <p:nvSpPr>
          <p:cNvPr id="14" name="text-5clk61e">
            <a:extLst xmlns:a="http://schemas.openxmlformats.org/drawingml/2006/main">
              <a:ext uri="{FF2B5EF4-FFF2-40B4-BE49-F238E27FC236}">
                <a16:creationId xmlns:a16="http://schemas.microsoft.com/office/drawing/2014/main" id="{6667FFD1-A82A-452A-9390-7AC53EFC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边界与检查</a:t>
            </a:r>
          </a:p>
        </p:txBody>
      </p:sp>
      <p:sp>
        <p:nvSpPr>
          <p:cNvPr id="15" name="text-o65rn4p">
            <a:extLst xmlns:a="http://schemas.openxmlformats.org/drawingml/2006/main">
              <a:ext uri="{FF2B5EF4-FFF2-40B4-BE49-F238E27FC236}">
                <a16:creationId xmlns:a16="http://schemas.microsoft.com/office/drawing/2014/main" id="{F146436C-4A2B-49A4-ABF8-8259631C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624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不得编造缺失数据；所有结论必须追溯到原始数据；信息不足时先提出不超过5个关键问题。</a:t>
            </a:r>
          </a:p>
        </p:txBody>
      </p:sp>
      <p:sp>
        <p:nvSpPr>
          <p:cNvPr id="16" name="shape-q9262bo">
            <a:extLst xmlns:a="http://schemas.openxmlformats.org/drawingml/2006/main">
              <a:ext uri="{FF2B5EF4-FFF2-40B4-BE49-F238E27FC236}">
                <a16:creationId xmlns:a16="http://schemas.microsoft.com/office/drawing/2014/main" id="{E116E522-1235-4541-B473-8A0245C0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11087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z8asw76">
            <a:extLst xmlns:a="http://schemas.openxmlformats.org/drawingml/2006/main">
              <a:ext uri="{FF2B5EF4-FFF2-40B4-BE49-F238E27FC236}">
                <a16:creationId xmlns:a16="http://schemas.microsoft.com/office/drawing/2014/main" id="{30A2A0AC-0F56-4F06-9433-056DE50B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边界与检查</a:t>
            </a:r>
          </a:p>
        </p:txBody>
      </p:sp>
      <p:sp>
        <p:nvSpPr>
          <p:cNvPr id="18" name="text-ho5eiym">
            <a:extLst xmlns:a="http://schemas.openxmlformats.org/drawingml/2006/main">
              <a:ext uri="{FF2B5EF4-FFF2-40B4-BE49-F238E27FC236}">
                <a16:creationId xmlns:a16="http://schemas.microsoft.com/office/drawing/2014/main" id="{03629AD3-9461-4769-AB45-06DE160F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624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不得编造缺失数据；所有结论必须追溯到原始数据；信息不足时先提出不超过5个关键问题。</a:t>
            </a:r>
          </a:p>
        </p:txBody>
      </p:sp>
      <p:sp>
        <p:nvSpPr>
          <p:cNvPr id="19" name="text-lf8vksl">
            <a:extLst xmlns:a="http://schemas.openxmlformats.org/drawingml/2006/main">
              <a:ext uri="{FF2B5EF4-FFF2-40B4-BE49-F238E27FC236}">
                <a16:creationId xmlns:a16="http://schemas.microsoft.com/office/drawing/2014/main" id="{2DC43F39-3A40-48F1-9860-B2427209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  <p:sp>
        <p:nvSpPr>
          <p:cNvPr id="20" name="text-0hr5qcw">
            <a:extLst xmlns:a="http://schemas.openxmlformats.org/drawingml/2006/main">
              <a:ext uri="{FF2B5EF4-FFF2-40B4-BE49-F238E27FC236}">
                <a16:creationId xmlns:a16="http://schemas.microsoft.com/office/drawing/2014/main" id="{49727D94-8A7B-486B-83AA-89845132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17849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hgaqgqv">
            <a:extLst xmlns:a="http://schemas.openxmlformats.org/drawingml/2006/main">
              <a:ext uri="{FF2B5EF4-FFF2-40B4-BE49-F238E27FC236}">
                <a16:creationId xmlns:a16="http://schemas.microsoft.com/office/drawing/2014/main" id="{BC33774C-B2B0-42B6-80AC-EC33007D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以256K为例</a:t>
            </a:r>
          </a:p>
        </p:txBody>
      </p:sp>
      <p:sp>
        <p:nvSpPr>
          <p:cNvPr id="2" name="text-il57obf">
            <a:extLst xmlns:a="http://schemas.openxmlformats.org/drawingml/2006/main">
              <a:ext uri="{FF2B5EF4-FFF2-40B4-BE49-F238E27FC236}">
                <a16:creationId xmlns:a16="http://schemas.microsoft.com/office/drawing/2014/main" id="{B118E09D-8072-45C7-9261-A83BCD88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上下文窗口装的是模型这一次能够参考的信息</a:t>
            </a:r>
          </a:p>
        </p:txBody>
      </p:sp>
      <p:sp>
        <p:nvSpPr>
          <p:cNvPr id="3" name="shape-vodhqkl">
            <a:extLst xmlns:a="http://schemas.openxmlformats.org/drawingml/2006/main">
              <a:ext uri="{FF2B5EF4-FFF2-40B4-BE49-F238E27FC236}">
                <a16:creationId xmlns:a16="http://schemas.microsoft.com/office/drawing/2014/main" id="{4B5B7AA2-3CA4-43CE-BF4C-BCD61D75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e8651c1fb4534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7875" y="1428750"/>
            <a:ext cx="8096250" cy="4552950"/>
          </a:xfrm>
          <a:prstGeom xmlns:a="http://schemas.openxmlformats.org/drawingml/2006/main" prst="rect">
            <a:avLst/>
          </a:prstGeom>
        </p:spPr>
      </p:pic>
      <p:sp>
        <p:nvSpPr>
          <p:cNvPr id="5" name="text-83e8m3c">
            <a:extLst xmlns:a="http://schemas.openxmlformats.org/drawingml/2006/main">
              <a:ext uri="{FF2B5EF4-FFF2-40B4-BE49-F238E27FC236}">
                <a16:creationId xmlns:a16="http://schemas.microsoft.com/office/drawing/2014/main" id="{F8FE6846-27AD-49A1-853C-AC560573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483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256K仅为示例；不同模型与产品的上下文和最大输出规格不同。</a:t>
            </a:r>
          </a:p>
        </p:txBody>
      </p:sp>
      <p:sp>
        <p:nvSpPr>
          <p:cNvPr id="6" name="text-o2rsh4n">
            <a:extLst xmlns:a="http://schemas.openxmlformats.org/drawingml/2006/main">
              <a:ext uri="{FF2B5EF4-FFF2-40B4-BE49-F238E27FC236}">
                <a16:creationId xmlns:a16="http://schemas.microsoft.com/office/drawing/2014/main" id="{BB77FDEF-3903-4AB3-AAA6-9915CCA2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  <p:sp>
        <p:nvSpPr>
          <p:cNvPr id="7" name="text-qh31dxu">
            <a:extLst xmlns:a="http://schemas.openxmlformats.org/drawingml/2006/main">
              <a:ext uri="{FF2B5EF4-FFF2-40B4-BE49-F238E27FC236}">
                <a16:creationId xmlns:a16="http://schemas.microsoft.com/office/drawing/2014/main" id="{40135E3B-4014-442B-9E06-FF9657B4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88360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mtc89t1">
            <a:extLst xmlns:a="http://schemas.openxmlformats.org/drawingml/2006/main">
              <a:ext uri="{FF2B5EF4-FFF2-40B4-BE49-F238E27FC236}">
                <a16:creationId xmlns:a16="http://schemas.microsoft.com/office/drawing/2014/main" id="{77D04B76-C2C6-4B11-A64D-406488CB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两个概念不要混淆</a:t>
            </a:r>
          </a:p>
        </p:txBody>
      </p:sp>
      <p:sp>
        <p:nvSpPr>
          <p:cNvPr id="2" name="text-try7bcy">
            <a:extLst xmlns:a="http://schemas.openxmlformats.org/drawingml/2006/main">
              <a:ext uri="{FF2B5EF4-FFF2-40B4-BE49-F238E27FC236}">
                <a16:creationId xmlns:a16="http://schemas.microsoft.com/office/drawing/2014/main" id="{6853542A-18C9-42F2-A8B8-B3344DA5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Token 是计量单位，不是资料盒子</a:t>
            </a:r>
          </a:p>
        </p:txBody>
      </p:sp>
      <p:sp>
        <p:nvSpPr>
          <p:cNvPr id="3" name="shape-s6k4yeb">
            <a:extLst xmlns:a="http://schemas.openxmlformats.org/drawingml/2006/main">
              <a:ext uri="{FF2B5EF4-FFF2-40B4-BE49-F238E27FC236}">
                <a16:creationId xmlns:a16="http://schemas.microsoft.com/office/drawing/2014/main" id="{F6FDF42C-994D-4A47-A85C-52730C8A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gzihqso">
            <a:extLst xmlns:a="http://schemas.openxmlformats.org/drawingml/2006/main">
              <a:ext uri="{FF2B5EF4-FFF2-40B4-BE49-F238E27FC236}">
                <a16:creationId xmlns:a16="http://schemas.microsoft.com/office/drawing/2014/main" id="{C383CA05-8EA4-4CED-A2C1-17AA4093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Token 负责计量</a:t>
            </a:r>
          </a:p>
        </p:txBody>
      </p:sp>
      <p:sp>
        <p:nvSpPr>
          <p:cNvPr id="5" name="text-zgv8ak6">
            <a:extLst xmlns:a="http://schemas.openxmlformats.org/drawingml/2006/main">
              <a:ext uri="{FF2B5EF4-FFF2-40B4-BE49-F238E27FC236}">
                <a16:creationId xmlns:a16="http://schemas.microsoft.com/office/drawing/2014/main" id="{663BF2D0-CACE-4278-9BB1-150F911E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4483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文本会被拆成模型处理的单位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输入、历史、文件片段和工具结果都会消耗上下文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Token数量会影响容量、速度和成本</a:t>
            </a:r>
          </a:p>
        </p:txBody>
      </p:sp>
      <p:sp>
        <p:nvSpPr>
          <p:cNvPr id="6" name="shape-2fipui6">
            <a:extLst xmlns:a="http://schemas.openxmlformats.org/drawingml/2006/main">
              <a:ext uri="{FF2B5EF4-FFF2-40B4-BE49-F238E27FC236}">
                <a16:creationId xmlns:a16="http://schemas.microsoft.com/office/drawing/2014/main" id="{80077C8C-1E25-4D6C-BFFB-28D5DED0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383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nd0slro">
            <a:extLst xmlns:a="http://schemas.openxmlformats.org/drawingml/2006/main">
              <a:ext uri="{FF2B5EF4-FFF2-40B4-BE49-F238E27FC236}">
                <a16:creationId xmlns:a16="http://schemas.microsoft.com/office/drawing/2014/main" id="{D3749994-5274-466C-A11E-521222C3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上下文窗口负责容纳</a:t>
            </a:r>
          </a:p>
        </p:txBody>
      </p:sp>
      <p:sp>
        <p:nvSpPr>
          <p:cNvPr id="8" name="text-ebqc0v3">
            <a:extLst xmlns:a="http://schemas.openxmlformats.org/drawingml/2006/main">
              <a:ext uri="{FF2B5EF4-FFF2-40B4-BE49-F238E27FC236}">
                <a16:creationId xmlns:a16="http://schemas.microsoft.com/office/drawing/2014/main" id="{4A004428-44C7-4680-9368-DC72C78C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54483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模型当前能够参考的信息集合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内容太多时，重要信息可能被噪声淹没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长对话可能通过摘要或压缩继续工作</a:t>
            </a:r>
          </a:p>
        </p:txBody>
      </p:sp>
      <p:sp>
        <p:nvSpPr>
          <p:cNvPr id="9" name="text-b9j63do">
            <a:extLst xmlns:a="http://schemas.openxmlformats.org/drawingml/2006/main">
              <a:ext uri="{FF2B5EF4-FFF2-40B4-BE49-F238E27FC236}">
                <a16:creationId xmlns:a16="http://schemas.microsoft.com/office/drawing/2014/main" id="{1C487D5B-A322-48F1-A65C-CCE70E08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  <p:sp>
        <p:nvSpPr>
          <p:cNvPr id="10" name="text-exv3op2">
            <a:extLst xmlns:a="http://schemas.openxmlformats.org/drawingml/2006/main">
              <a:ext uri="{FF2B5EF4-FFF2-40B4-BE49-F238E27FC236}">
                <a16:creationId xmlns:a16="http://schemas.microsoft.com/office/drawing/2014/main" id="{A8CCEE04-A862-481F-BE86-4984763D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520090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pdwp54o">
            <a:extLst xmlns:a="http://schemas.openxmlformats.org/drawingml/2006/main">
              <a:ext uri="{FF2B5EF4-FFF2-40B4-BE49-F238E27FC236}">
                <a16:creationId xmlns:a16="http://schemas.microsoft.com/office/drawing/2014/main" id="{3E8E82E8-40C6-453D-AB0F-D1966D19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用户输入只是其中一层</a:t>
            </a:r>
          </a:p>
        </p:txBody>
      </p:sp>
      <p:sp>
        <p:nvSpPr>
          <p:cNvPr id="2" name="text-nffgyv2">
            <a:extLst xmlns:a="http://schemas.openxmlformats.org/drawingml/2006/main">
              <a:ext uri="{FF2B5EF4-FFF2-40B4-BE49-F238E27FC236}">
                <a16:creationId xmlns:a16="http://schemas.microsoft.com/office/drawing/2014/main" id="{0DBB65B5-67FB-4C11-A4F4-1A23F4D4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 的实际工作依据，是一个动态上下文包</a:t>
            </a:r>
          </a:p>
        </p:txBody>
      </p:sp>
      <p:sp>
        <p:nvSpPr>
          <p:cNvPr id="3" name="shape-fsjqqn9">
            <a:extLst xmlns:a="http://schemas.openxmlformats.org/drawingml/2006/main">
              <a:ext uri="{FF2B5EF4-FFF2-40B4-BE49-F238E27FC236}">
                <a16:creationId xmlns:a16="http://schemas.microsoft.com/office/drawing/2014/main" id="{62AD3E57-E617-4AE9-A2CB-14B6883D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z2reg8n">
            <a:extLst xmlns:a="http://schemas.openxmlformats.org/drawingml/2006/main">
              <a:ext uri="{FF2B5EF4-FFF2-40B4-BE49-F238E27FC236}">
                <a16:creationId xmlns:a16="http://schemas.microsoft.com/office/drawing/2014/main" id="{C1446206-3A4F-4696-8E91-38B3620E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-lrnbp1y">
            <a:extLst xmlns:a="http://schemas.openxmlformats.org/drawingml/2006/main">
              <a:ext uri="{FF2B5EF4-FFF2-40B4-BE49-F238E27FC236}">
                <a16:creationId xmlns:a16="http://schemas.microsoft.com/office/drawing/2014/main" id="{5AAACE63-C779-4CCF-A023-5F3FDCF4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66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平台与项目规则</a:t>
            </a:r>
          </a:p>
        </p:txBody>
      </p:sp>
      <p:sp>
        <p:nvSpPr>
          <p:cNvPr id="6" name="text-q1yztxj">
            <a:extLst xmlns:a="http://schemas.openxmlformats.org/drawingml/2006/main">
              <a:ext uri="{FF2B5EF4-FFF2-40B4-BE49-F238E27FC236}">
                <a16:creationId xmlns:a16="http://schemas.microsoft.com/office/drawing/2014/main" id="{285488B1-711E-45AE-8CD1-F4C9BF52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859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系统边界、权限、AGENTS.md 和当前环境</a:t>
            </a:r>
          </a:p>
        </p:txBody>
      </p:sp>
      <p:sp>
        <p:nvSpPr>
          <p:cNvPr id="7" name="shape-8dhspz9">
            <a:extLst xmlns:a="http://schemas.openxmlformats.org/drawingml/2006/main">
              <a:ext uri="{FF2B5EF4-FFF2-40B4-BE49-F238E27FC236}">
                <a16:creationId xmlns:a16="http://schemas.microsoft.com/office/drawing/2014/main" id="{6DFB31F1-F894-4C9F-B50A-A6DA838F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muni9s">
            <a:extLst xmlns:a="http://schemas.openxmlformats.org/drawingml/2006/main">
              <a:ext uri="{FF2B5EF4-FFF2-40B4-BE49-F238E27FC236}">
                <a16:creationId xmlns:a16="http://schemas.microsoft.com/office/drawing/2014/main" id="{52F4DE31-4C6C-449B-B2DA-51C433A1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text-7plpl61">
            <a:extLst xmlns:a="http://schemas.openxmlformats.org/drawingml/2006/main">
              <a:ext uri="{FF2B5EF4-FFF2-40B4-BE49-F238E27FC236}">
                <a16:creationId xmlns:a16="http://schemas.microsoft.com/office/drawing/2014/main" id="{F8F6A063-651D-4744-81FC-E53E98B8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19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当前任务信息</a:t>
            </a:r>
          </a:p>
        </p:txBody>
      </p:sp>
      <p:sp>
        <p:nvSpPr>
          <p:cNvPr id="10" name="text-d7pm1qe">
            <a:extLst xmlns:a="http://schemas.openxmlformats.org/drawingml/2006/main">
              <a:ext uri="{FF2B5EF4-FFF2-40B4-BE49-F238E27FC236}">
                <a16:creationId xmlns:a16="http://schemas.microsoft.com/office/drawing/2014/main" id="{87CF4DA0-E531-4E54-9008-FD77A867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384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对话历史、当前提示词、已确认决定和可能的摘要</a:t>
            </a:r>
          </a:p>
        </p:txBody>
      </p:sp>
      <p:sp>
        <p:nvSpPr>
          <p:cNvPr id="11" name="shape-2fvuyjr">
            <a:extLst xmlns:a="http://schemas.openxmlformats.org/drawingml/2006/main">
              <a:ext uri="{FF2B5EF4-FFF2-40B4-BE49-F238E27FC236}">
                <a16:creationId xmlns:a16="http://schemas.microsoft.com/office/drawing/2014/main" id="{713429F4-58E6-44C7-AEE7-763A6C8C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xxapad">
            <a:extLst xmlns:a="http://schemas.openxmlformats.org/drawingml/2006/main">
              <a:ext uri="{FF2B5EF4-FFF2-40B4-BE49-F238E27FC236}">
                <a16:creationId xmlns:a16="http://schemas.microsoft.com/office/drawing/2014/main" id="{C9E8C51F-2B0B-4393-8A1A-7E974540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text-pk3nvjt">
            <a:extLst xmlns:a="http://schemas.openxmlformats.org/drawingml/2006/main">
              <a:ext uri="{FF2B5EF4-FFF2-40B4-BE49-F238E27FC236}">
                <a16:creationId xmlns:a16="http://schemas.microsoft.com/office/drawing/2014/main" id="{274C4049-0504-4FAD-B2B7-18C3B2F0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按需加载材料</a:t>
            </a:r>
          </a:p>
        </p:txBody>
      </p:sp>
      <p:sp>
        <p:nvSpPr>
          <p:cNvPr id="14" name="text-r9ngdt0">
            <a:extLst xmlns:a="http://schemas.openxmlformats.org/drawingml/2006/main">
              <a:ext uri="{FF2B5EF4-FFF2-40B4-BE49-F238E27FC236}">
                <a16:creationId xmlns:a16="http://schemas.microsoft.com/office/drawing/2014/main" id="{2CD18E8F-6762-4DA7-8678-669A0A5F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909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完整Skill、参考资料、上传文件和检索内容</a:t>
            </a:r>
          </a:p>
        </p:txBody>
      </p:sp>
      <p:sp>
        <p:nvSpPr>
          <p:cNvPr id="15" name="shape-66i2b87">
            <a:extLst xmlns:a="http://schemas.openxmlformats.org/drawingml/2006/main">
              <a:ext uri="{FF2B5EF4-FFF2-40B4-BE49-F238E27FC236}">
                <a16:creationId xmlns:a16="http://schemas.microsoft.com/office/drawing/2014/main" id="{A0AEF7BB-7C7D-4013-BECA-145EE6C1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7oei75">
            <a:extLst xmlns:a="http://schemas.openxmlformats.org/drawingml/2006/main">
              <a:ext uri="{FF2B5EF4-FFF2-40B4-BE49-F238E27FC236}">
                <a16:creationId xmlns:a16="http://schemas.microsoft.com/office/drawing/2014/main" id="{1BE7D6AC-9C5E-412F-B3EB-ABF61D34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text-050rze5">
            <a:extLst xmlns:a="http://schemas.openxmlformats.org/drawingml/2006/main">
              <a:ext uri="{FF2B5EF4-FFF2-40B4-BE49-F238E27FC236}">
                <a16:creationId xmlns:a16="http://schemas.microsoft.com/office/drawing/2014/main" id="{2BD758DB-BBF8-4855-AFF2-D274F75C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24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执行过程结果</a:t>
            </a:r>
          </a:p>
        </p:txBody>
      </p:sp>
      <p:sp>
        <p:nvSpPr>
          <p:cNvPr id="18" name="text-ts0qriw">
            <a:extLst xmlns:a="http://schemas.openxmlformats.org/drawingml/2006/main">
              <a:ext uri="{FF2B5EF4-FFF2-40B4-BE49-F238E27FC236}">
                <a16:creationId xmlns:a16="http://schemas.microsoft.com/office/drawing/2014/main" id="{B5CCBBBD-9E3C-4B47-9C3D-8233953E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434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工具返回的数据、文件状态、错误和检查结果</a:t>
            </a:r>
          </a:p>
        </p:txBody>
      </p:sp>
      <p:sp>
        <p:nvSpPr>
          <p:cNvPr id="19" name="text-moo4n0r">
            <a:extLst xmlns:a="http://schemas.openxmlformats.org/drawingml/2006/main">
              <a:ext uri="{FF2B5EF4-FFF2-40B4-BE49-F238E27FC236}">
                <a16:creationId xmlns:a16="http://schemas.microsoft.com/office/drawing/2014/main" id="{6968B15B-778E-4342-B17E-6A6EDCA8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  <p:sp>
        <p:nvSpPr>
          <p:cNvPr id="20" name="text-jkog1lj">
            <a:extLst xmlns:a="http://schemas.openxmlformats.org/drawingml/2006/main">
              <a:ext uri="{FF2B5EF4-FFF2-40B4-BE49-F238E27FC236}">
                <a16:creationId xmlns:a16="http://schemas.microsoft.com/office/drawing/2014/main" id="{4DFCA6E5-C713-499E-8A4B-C4907257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86684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paipy9l">
            <a:extLst xmlns:a="http://schemas.openxmlformats.org/drawingml/2006/main">
              <a:ext uri="{FF2B5EF4-FFF2-40B4-BE49-F238E27FC236}">
                <a16:creationId xmlns:a16="http://schemas.microsoft.com/office/drawing/2014/main" id="{6C45E6CC-0502-4070-8CFC-26715B87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Codex工作台</a:t>
            </a:r>
          </a:p>
        </p:txBody>
      </p:sp>
      <p:sp>
        <p:nvSpPr>
          <p:cNvPr id="2" name="text-k2tmle4">
            <a:extLst xmlns:a="http://schemas.openxmlformats.org/drawingml/2006/main">
              <a:ext uri="{FF2B5EF4-FFF2-40B4-BE49-F238E27FC236}">
                <a16:creationId xmlns:a16="http://schemas.microsoft.com/office/drawing/2014/main" id="{A46123C0-F98C-4B18-8AA6-2D2848F4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四种信息分别解决“做什么、怎么做、长期规则和真正执行”</a:t>
            </a:r>
          </a:p>
        </p:txBody>
      </p:sp>
      <p:sp>
        <p:nvSpPr>
          <p:cNvPr id="3" name="shape-4k075ka">
            <a:extLst xmlns:a="http://schemas.openxmlformats.org/drawingml/2006/main">
              <a:ext uri="{FF2B5EF4-FFF2-40B4-BE49-F238E27FC236}">
                <a16:creationId xmlns:a16="http://schemas.microsoft.com/office/drawing/2014/main" id="{B6E4F85E-CA6F-45F8-A235-D9EF3706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78ixca5">
            <a:extLst xmlns:a="http://schemas.openxmlformats.org/drawingml/2006/main">
              <a:ext uri="{FF2B5EF4-FFF2-40B4-BE49-F238E27FC236}">
                <a16:creationId xmlns:a16="http://schemas.microsoft.com/office/drawing/2014/main" id="{BB071FEC-5C98-4F75-B53E-302BAC2E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-gw149ct">
            <a:extLst xmlns:a="http://schemas.openxmlformats.org/drawingml/2006/main">
              <a:ext uri="{FF2B5EF4-FFF2-40B4-BE49-F238E27FC236}">
                <a16:creationId xmlns:a16="http://schemas.microsoft.com/office/drawing/2014/main" id="{9FDA910E-9C5F-428C-89A3-45FAAEF6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8764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概念</a:t>
            </a:r>
          </a:p>
        </p:txBody>
      </p:sp>
      <p:sp>
        <p:nvSpPr>
          <p:cNvPr id="6" name="shape-ekjzlbr">
            <a:extLst xmlns:a="http://schemas.openxmlformats.org/drawingml/2006/main">
              <a:ext uri="{FF2B5EF4-FFF2-40B4-BE49-F238E27FC236}">
                <a16:creationId xmlns:a16="http://schemas.microsoft.com/office/drawing/2014/main" id="{2269F41C-3030-40D6-8C05-CFC1DDD9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097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mw6eo78">
            <a:extLst xmlns:a="http://schemas.openxmlformats.org/drawingml/2006/main">
              <a:ext uri="{FF2B5EF4-FFF2-40B4-BE49-F238E27FC236}">
                <a16:creationId xmlns:a16="http://schemas.microsoft.com/office/drawing/2014/main" id="{0BCF72CD-8E6A-4495-BEA0-E4F93011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87642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解决的问题</a:t>
            </a:r>
          </a:p>
        </p:txBody>
      </p:sp>
      <p:sp>
        <p:nvSpPr>
          <p:cNvPr id="8" name="shape-bgy4qfh">
            <a:extLst xmlns:a="http://schemas.openxmlformats.org/drawingml/2006/main">
              <a:ext uri="{FF2B5EF4-FFF2-40B4-BE49-F238E27FC236}">
                <a16:creationId xmlns:a16="http://schemas.microsoft.com/office/drawing/2014/main" id="{4E010BEC-79A1-4AB4-9535-C952FCA9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vfsymiz">
            <a:extLst xmlns:a="http://schemas.openxmlformats.org/drawingml/2006/main">
              <a:ext uri="{FF2B5EF4-FFF2-40B4-BE49-F238E27FC236}">
                <a16:creationId xmlns:a16="http://schemas.microsoft.com/office/drawing/2014/main" id="{5392D1E5-4D23-48B5-BDED-0E6B70BF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764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新员工比喻</a:t>
            </a:r>
          </a:p>
        </p:txBody>
      </p:sp>
      <p:sp>
        <p:nvSpPr>
          <p:cNvPr id="10" name="shape-hys9m2n">
            <a:extLst xmlns:a="http://schemas.openxmlformats.org/drawingml/2006/main">
              <a:ext uri="{FF2B5EF4-FFF2-40B4-BE49-F238E27FC236}">
                <a16:creationId xmlns:a16="http://schemas.microsoft.com/office/drawing/2014/main" id="{4100FC00-1F80-4082-A7B9-A43E1712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289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-x8w4la7">
            <a:extLst xmlns:a="http://schemas.openxmlformats.org/drawingml/2006/main">
              <a:ext uri="{FF2B5EF4-FFF2-40B4-BE49-F238E27FC236}">
                <a16:creationId xmlns:a16="http://schemas.microsoft.com/office/drawing/2014/main" id="{73193D8B-D2E4-472B-92A3-A04C8AAE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955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Prompt</a:t>
            </a:r>
          </a:p>
        </p:txBody>
      </p:sp>
      <p:sp>
        <p:nvSpPr>
          <p:cNvPr id="12" name="shape-43uatd9">
            <a:extLst xmlns:a="http://schemas.openxmlformats.org/drawingml/2006/main">
              <a:ext uri="{FF2B5EF4-FFF2-40B4-BE49-F238E27FC236}">
                <a16:creationId xmlns:a16="http://schemas.microsoft.com/office/drawing/2014/main" id="{F5795695-3F44-4163-86FF-A4059619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289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cp18sl4">
            <a:extLst xmlns:a="http://schemas.openxmlformats.org/drawingml/2006/main">
              <a:ext uri="{FF2B5EF4-FFF2-40B4-BE49-F238E27FC236}">
                <a16:creationId xmlns:a16="http://schemas.microsoft.com/office/drawing/2014/main" id="{B6FCBB07-023A-4F25-B8EC-AF2043A4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9557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这一次做什么</a:t>
            </a:r>
          </a:p>
        </p:txBody>
      </p:sp>
      <p:sp>
        <p:nvSpPr>
          <p:cNvPr id="14" name="shape-qkb628u">
            <a:extLst xmlns:a="http://schemas.openxmlformats.org/drawingml/2006/main">
              <a:ext uri="{FF2B5EF4-FFF2-40B4-BE49-F238E27FC236}">
                <a16:creationId xmlns:a16="http://schemas.microsoft.com/office/drawing/2014/main" id="{8D3C7385-40E1-4EE3-8DAA-F416ABC1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289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hi2jwvx">
            <a:extLst xmlns:a="http://schemas.openxmlformats.org/drawingml/2006/main">
              <a:ext uri="{FF2B5EF4-FFF2-40B4-BE49-F238E27FC236}">
                <a16:creationId xmlns:a16="http://schemas.microsoft.com/office/drawing/2014/main" id="{49B52AB5-69A1-4AA7-8AB3-CC32B59E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955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任务单</a:t>
            </a:r>
          </a:p>
        </p:txBody>
      </p:sp>
      <p:sp>
        <p:nvSpPr>
          <p:cNvPr id="16" name="shape-ive7cmo">
            <a:extLst xmlns:a="http://schemas.openxmlformats.org/drawingml/2006/main">
              <a:ext uri="{FF2B5EF4-FFF2-40B4-BE49-F238E27FC236}">
                <a16:creationId xmlns:a16="http://schemas.microsoft.com/office/drawing/2014/main" id="{2A4F87EE-7F44-4EFE-B958-A5A3088F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480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3596w0t">
            <a:extLst xmlns:a="http://schemas.openxmlformats.org/drawingml/2006/main">
              <a:ext uri="{FF2B5EF4-FFF2-40B4-BE49-F238E27FC236}">
                <a16:creationId xmlns:a16="http://schemas.microsoft.com/office/drawing/2014/main" id="{E71B90F9-ED51-4351-A658-32710F2E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5147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Skill</a:t>
            </a:r>
          </a:p>
        </p:txBody>
      </p:sp>
      <p:sp>
        <p:nvSpPr>
          <p:cNvPr id="18" name="shape-mum42sq">
            <a:extLst xmlns:a="http://schemas.openxmlformats.org/drawingml/2006/main">
              <a:ext uri="{FF2B5EF4-FFF2-40B4-BE49-F238E27FC236}">
                <a16:creationId xmlns:a16="http://schemas.microsoft.com/office/drawing/2014/main" id="{34D1254D-60CB-408A-A016-189572D3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480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-vdzjf1s">
            <a:extLst xmlns:a="http://schemas.openxmlformats.org/drawingml/2006/main">
              <a:ext uri="{FF2B5EF4-FFF2-40B4-BE49-F238E27FC236}">
                <a16:creationId xmlns:a16="http://schemas.microsoft.com/office/drawing/2014/main" id="{CBDFF1C5-A7B2-45CC-A605-4693D996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51472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这一类任务怎样做</a:t>
            </a:r>
          </a:p>
        </p:txBody>
      </p:sp>
      <p:sp>
        <p:nvSpPr>
          <p:cNvPr id="20" name="shape-7rc2rqu">
            <a:extLst xmlns:a="http://schemas.openxmlformats.org/drawingml/2006/main">
              <a:ext uri="{FF2B5EF4-FFF2-40B4-BE49-F238E27FC236}">
                <a16:creationId xmlns:a16="http://schemas.microsoft.com/office/drawing/2014/main" id="{16AD28B0-1FD8-45EF-995A-D37EDE63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480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-k1jqdya">
            <a:extLst xmlns:a="http://schemas.openxmlformats.org/drawingml/2006/main">
              <a:ext uri="{FF2B5EF4-FFF2-40B4-BE49-F238E27FC236}">
                <a16:creationId xmlns:a16="http://schemas.microsoft.com/office/drawing/2014/main" id="{660B0C9D-591B-464D-99C5-A0A1E1C5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147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岗位SOP</a:t>
            </a:r>
          </a:p>
        </p:txBody>
      </p:sp>
      <p:sp>
        <p:nvSpPr>
          <p:cNvPr id="22" name="shape-tvnwewv">
            <a:extLst xmlns:a="http://schemas.openxmlformats.org/drawingml/2006/main">
              <a:ext uri="{FF2B5EF4-FFF2-40B4-BE49-F238E27FC236}">
                <a16:creationId xmlns:a16="http://schemas.microsoft.com/office/drawing/2014/main" id="{FD1EB58E-E45D-4B1B-B819-C0363189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672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xt-5b0uiv3">
            <a:extLst xmlns:a="http://schemas.openxmlformats.org/drawingml/2006/main">
              <a:ext uri="{FF2B5EF4-FFF2-40B4-BE49-F238E27FC236}">
                <a16:creationId xmlns:a16="http://schemas.microsoft.com/office/drawing/2014/main" id="{0C3ED890-8A81-45D4-9ADF-1FB9D589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3338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AGENTS.md</a:t>
            </a:r>
          </a:p>
        </p:txBody>
      </p:sp>
      <p:sp>
        <p:nvSpPr>
          <p:cNvPr id="24" name="shape-el5kcmt">
            <a:extLst xmlns:a="http://schemas.openxmlformats.org/drawingml/2006/main">
              <a:ext uri="{FF2B5EF4-FFF2-40B4-BE49-F238E27FC236}">
                <a16:creationId xmlns:a16="http://schemas.microsoft.com/office/drawing/2014/main" id="{C17173D9-A4A4-4EE4-84BB-D75044A4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6720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text-09jo098">
            <a:extLst xmlns:a="http://schemas.openxmlformats.org/drawingml/2006/main">
              <a:ext uri="{FF2B5EF4-FFF2-40B4-BE49-F238E27FC236}">
                <a16:creationId xmlns:a16="http://schemas.microsoft.com/office/drawing/2014/main" id="{EF4A5F47-3302-474D-8D4A-AB49DEF5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33387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这个项目长期遵守什么</a:t>
            </a:r>
          </a:p>
        </p:txBody>
      </p:sp>
      <p:sp>
        <p:nvSpPr>
          <p:cNvPr id="26" name="shape-rr96kev">
            <a:extLst xmlns:a="http://schemas.openxmlformats.org/drawingml/2006/main">
              <a:ext uri="{FF2B5EF4-FFF2-40B4-BE49-F238E27FC236}">
                <a16:creationId xmlns:a16="http://schemas.microsoft.com/office/drawing/2014/main" id="{2DBA9F52-4B65-4E62-9B23-D9695887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text-hn5tz9m">
            <a:extLst xmlns:a="http://schemas.openxmlformats.org/drawingml/2006/main">
              <a:ext uri="{FF2B5EF4-FFF2-40B4-BE49-F238E27FC236}">
                <a16:creationId xmlns:a16="http://schemas.microsoft.com/office/drawing/2014/main" id="{AB1535AF-F69C-4DEF-8F43-1766929A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3387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项目员工手册</a:t>
            </a:r>
          </a:p>
        </p:txBody>
      </p:sp>
      <p:sp>
        <p:nvSpPr>
          <p:cNvPr id="28" name="shape-sr3eput">
            <a:extLst xmlns:a="http://schemas.openxmlformats.org/drawingml/2006/main">
              <a:ext uri="{FF2B5EF4-FFF2-40B4-BE49-F238E27FC236}">
                <a16:creationId xmlns:a16="http://schemas.microsoft.com/office/drawing/2014/main" id="{9436D9BB-3FB9-43AE-AE59-80A6253A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863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text-5qe3t4d">
            <a:extLst xmlns:a="http://schemas.openxmlformats.org/drawingml/2006/main">
              <a:ext uri="{FF2B5EF4-FFF2-40B4-BE49-F238E27FC236}">
                <a16:creationId xmlns:a16="http://schemas.microsoft.com/office/drawing/2014/main" id="{6F9CA92C-6B14-4ED1-A826-209A8724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1530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Tool</a:t>
            </a:r>
          </a:p>
        </p:txBody>
      </p:sp>
      <p:sp>
        <p:nvSpPr>
          <p:cNvPr id="30" name="shape-l991oh3">
            <a:extLst xmlns:a="http://schemas.openxmlformats.org/drawingml/2006/main">
              <a:ext uri="{FF2B5EF4-FFF2-40B4-BE49-F238E27FC236}">
                <a16:creationId xmlns:a16="http://schemas.microsoft.com/office/drawing/2014/main" id="{491C04DA-4085-4077-9D5B-72FCD6A4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86350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text-m6n8fgf">
            <a:extLst xmlns:a="http://schemas.openxmlformats.org/drawingml/2006/main">
              <a:ext uri="{FF2B5EF4-FFF2-40B4-BE49-F238E27FC236}">
                <a16:creationId xmlns:a16="http://schemas.microsoft.com/office/drawing/2014/main" id="{51130655-0BF5-4C9D-84AB-6A0130C4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153025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真正读取、修改或生成</a:t>
            </a:r>
          </a:p>
        </p:txBody>
      </p:sp>
      <p:sp>
        <p:nvSpPr>
          <p:cNvPr id="32" name="shape-aors34u">
            <a:extLst xmlns:a="http://schemas.openxmlformats.org/drawingml/2006/main">
              <a:ext uri="{FF2B5EF4-FFF2-40B4-BE49-F238E27FC236}">
                <a16:creationId xmlns:a16="http://schemas.microsoft.com/office/drawing/2014/main" id="{F8843DD7-4570-4D94-B276-0D27C31E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863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text-i0hz6za">
            <a:extLst xmlns:a="http://schemas.openxmlformats.org/drawingml/2006/main">
              <a:ext uri="{FF2B5EF4-FFF2-40B4-BE49-F238E27FC236}">
                <a16:creationId xmlns:a16="http://schemas.microsoft.com/office/drawing/2014/main" id="{922F870F-7192-43F3-8068-8BE45F68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153025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软件、设备和双手</a:t>
            </a:r>
          </a:p>
        </p:txBody>
      </p:sp>
      <p:sp>
        <p:nvSpPr>
          <p:cNvPr id="34" name="text-h7e4bpy">
            <a:extLst xmlns:a="http://schemas.openxmlformats.org/drawingml/2006/main">
              <a:ext uri="{FF2B5EF4-FFF2-40B4-BE49-F238E27FC236}">
                <a16:creationId xmlns:a16="http://schemas.microsoft.com/office/drawing/2014/main" id="{AC8841E9-5CFD-4BB1-B98F-7E6E26DB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稳定的项目规则不要只藏在一条旧对话里。</a:t>
            </a:r>
          </a:p>
        </p:txBody>
      </p:sp>
      <p:sp>
        <p:nvSpPr>
          <p:cNvPr id="35" name="text-m50lpal">
            <a:extLst xmlns:a="http://schemas.openxmlformats.org/drawingml/2006/main">
              <a:ext uri="{FF2B5EF4-FFF2-40B4-BE49-F238E27FC236}">
                <a16:creationId xmlns:a16="http://schemas.microsoft.com/office/drawing/2014/main" id="{EB9D51A3-F8BE-4B1F-A496-3A0C15B0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  <p:sp>
        <p:nvSpPr>
          <p:cNvPr id="36" name="text-z2xvasy">
            <a:extLst xmlns:a="http://schemas.openxmlformats.org/drawingml/2006/main">
              <a:ext uri="{FF2B5EF4-FFF2-40B4-BE49-F238E27FC236}">
                <a16:creationId xmlns:a16="http://schemas.microsoft.com/office/drawing/2014/main" id="{BE3AD8AC-DE6D-401F-A01D-35504F2D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8213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5602z54">
            <a:extLst xmlns:a="http://schemas.openxmlformats.org/drawingml/2006/main">
              <a:ext uri="{FF2B5EF4-FFF2-40B4-BE49-F238E27FC236}">
                <a16:creationId xmlns:a16="http://schemas.microsoft.com/office/drawing/2014/main" id="{181EC218-875F-4FBB-97EE-D3384534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Agent不是一次回答</a:t>
            </a:r>
          </a:p>
        </p:txBody>
      </p:sp>
      <p:sp>
        <p:nvSpPr>
          <p:cNvPr id="2" name="text-22q5j62">
            <a:extLst xmlns:a="http://schemas.openxmlformats.org/drawingml/2006/main">
              <a:ext uri="{FF2B5EF4-FFF2-40B4-BE49-F238E27FC236}">
                <a16:creationId xmlns:a16="http://schemas.microsoft.com/office/drawing/2014/main" id="{953941BD-E04F-4B2B-8135-05560B81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Codex 会根据工具结果，反复判断下一步</a:t>
            </a:r>
          </a:p>
        </p:txBody>
      </p:sp>
      <p:sp>
        <p:nvSpPr>
          <p:cNvPr id="3" name="shape-vjgmp0o">
            <a:extLst xmlns:a="http://schemas.openxmlformats.org/drawingml/2006/main">
              <a:ext uri="{FF2B5EF4-FFF2-40B4-BE49-F238E27FC236}">
                <a16:creationId xmlns:a16="http://schemas.microsoft.com/office/drawing/2014/main" id="{7F6C108A-B501-4317-AC4B-13157990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eda1fc1bd4b0a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7875" y="1428750"/>
            <a:ext cx="8096250" cy="4552950"/>
          </a:xfrm>
          <a:prstGeom xmlns:a="http://schemas.openxmlformats.org/drawingml/2006/main" prst="rect">
            <a:avLst/>
          </a:prstGeom>
        </p:spPr>
      </p:pic>
      <p:sp>
        <p:nvSpPr>
          <p:cNvPr id="5" name="text-u9d9els">
            <a:extLst xmlns:a="http://schemas.openxmlformats.org/drawingml/2006/main">
              <a:ext uri="{FF2B5EF4-FFF2-40B4-BE49-F238E27FC236}">
                <a16:creationId xmlns:a16="http://schemas.microsoft.com/office/drawing/2014/main" id="{B7AA5A9B-488B-4FD4-B7F5-DD939FAB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AI、提示词与工作上下文</a:t>
            </a:r>
          </a:p>
        </p:txBody>
      </p:sp>
      <p:sp>
        <p:nvSpPr>
          <p:cNvPr id="6" name="text-hsp66p1">
            <a:extLst xmlns:a="http://schemas.openxmlformats.org/drawingml/2006/main">
              <a:ext uri="{FF2B5EF4-FFF2-40B4-BE49-F238E27FC236}">
                <a16:creationId xmlns:a16="http://schemas.microsoft.com/office/drawing/2014/main" id="{E775106B-F771-436A-BA1D-14B8ACAA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188282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2q08rvt">
            <a:extLst xmlns:a="http://schemas.openxmlformats.org/drawingml/2006/main">
              <a:ext uri="{FF2B5EF4-FFF2-40B4-BE49-F238E27FC236}">
                <a16:creationId xmlns:a16="http://schemas.microsoft.com/office/drawing/2014/main" id="{BB8AFD1C-C261-49FB-93AB-A72E0757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第二部分</a:t>
            </a:r>
          </a:p>
        </p:txBody>
      </p:sp>
      <p:sp>
        <p:nvSpPr>
          <p:cNvPr id="2" name="text-sheui6y">
            <a:extLst xmlns:a="http://schemas.openxmlformats.org/drawingml/2006/main">
              <a:ext uri="{FF2B5EF4-FFF2-40B4-BE49-F238E27FC236}">
                <a16:creationId xmlns:a16="http://schemas.microsoft.com/office/drawing/2014/main" id="{74E520A9-BD20-48BA-A67F-8A4FBB06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096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先商讨，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再生成</a:t>
            </a:r>
          </a:p>
        </p:txBody>
      </p:sp>
      <p:sp>
        <p:nvSpPr>
          <p:cNvPr id="3" name="shape-dqn4kro">
            <a:extLst xmlns:a="http://schemas.openxmlformats.org/drawingml/2006/main">
              <a:ext uri="{FF2B5EF4-FFF2-40B4-BE49-F238E27FC236}">
                <a16:creationId xmlns:a16="http://schemas.microsoft.com/office/drawing/2014/main" id="{12663191-BC51-47EC-9596-8CE33D83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9sbcei">
            <a:extLst xmlns:a="http://schemas.openxmlformats.org/drawingml/2006/main">
              <a:ext uri="{FF2B5EF4-FFF2-40B4-BE49-F238E27FC236}">
                <a16:creationId xmlns:a16="http://schemas.microsoft.com/office/drawing/2014/main" id="{F672473B-C37C-40C7-BBF3-3157D194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用提示词发现缺口，用 Markdown 把双方理解固定下来。</a:t>
            </a:r>
          </a:p>
        </p:txBody>
      </p:sp>
      <p:sp>
        <p:nvSpPr>
          <p:cNvPr id="5" name="text-18h1nuz">
            <a:extLst xmlns:a="http://schemas.openxmlformats.org/drawingml/2006/main">
              <a:ext uri="{FF2B5EF4-FFF2-40B4-BE49-F238E27FC236}">
                <a16:creationId xmlns:a16="http://schemas.microsoft.com/office/drawing/2014/main" id="{AFB85EC3-5922-4F11-B47A-77DAF013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第二部分</a:t>
            </a:r>
          </a:p>
        </p:txBody>
      </p:sp>
      <p:sp>
        <p:nvSpPr>
          <p:cNvPr id="6" name="text-7h3hyl0">
            <a:extLst xmlns:a="http://schemas.openxmlformats.org/drawingml/2006/main">
              <a:ext uri="{FF2B5EF4-FFF2-40B4-BE49-F238E27FC236}">
                <a16:creationId xmlns:a16="http://schemas.microsoft.com/office/drawing/2014/main" id="{6975E26D-3C55-4D65-9C2E-60A966E0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336136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6yn1tl">
            <a:extLst xmlns:a="http://schemas.openxmlformats.org/drawingml/2006/main">
              <a:ext uri="{FF2B5EF4-FFF2-40B4-BE49-F238E27FC236}">
                <a16:creationId xmlns:a16="http://schemas.microsoft.com/office/drawing/2014/main" id="{9EF422F0-1236-46CB-9B67-ADDEE694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两组课堂练习</a:t>
            </a:r>
          </a:p>
        </p:txBody>
      </p:sp>
      <p:sp>
        <p:nvSpPr>
          <p:cNvPr id="2" name="text-p2ap2h3">
            <a:extLst xmlns:a="http://schemas.openxmlformats.org/drawingml/2006/main">
              <a:ext uri="{FF2B5EF4-FFF2-40B4-BE49-F238E27FC236}">
                <a16:creationId xmlns:a16="http://schemas.microsoft.com/office/drawing/2014/main" id="{5C5E44BE-CD37-4EAE-86A0-7E9A503F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先看 Bad Prompt，再补缺口，最后挑参考答案的不足</a:t>
            </a:r>
          </a:p>
        </p:txBody>
      </p:sp>
      <p:sp>
        <p:nvSpPr>
          <p:cNvPr id="3" name="shape-9dmvxcf">
            <a:extLst xmlns:a="http://schemas.openxmlformats.org/drawingml/2006/main">
              <a:ext uri="{FF2B5EF4-FFF2-40B4-BE49-F238E27FC236}">
                <a16:creationId xmlns:a16="http://schemas.microsoft.com/office/drawing/2014/main" id="{55CFD2C9-37FE-4A07-9A94-00D48739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nrxfeky">
            <a:extLst xmlns:a="http://schemas.openxmlformats.org/drawingml/2006/main">
              <a:ext uri="{FF2B5EF4-FFF2-40B4-BE49-F238E27FC236}">
                <a16:creationId xmlns:a16="http://schemas.microsoft.com/office/drawing/2014/main" id="{AABC6909-A8DE-4FCD-8D3B-179E12CA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-1uynv0p">
            <a:extLst xmlns:a="http://schemas.openxmlformats.org/drawingml/2006/main">
              <a:ext uri="{FF2B5EF4-FFF2-40B4-BE49-F238E27FC236}">
                <a16:creationId xmlns:a16="http://schemas.microsoft.com/office/drawing/2014/main" id="{FCD856D7-BC84-4900-900B-9B17A149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hltefqy">
            <a:extLst xmlns:a="http://schemas.openxmlformats.org/drawingml/2006/main">
              <a:ext uri="{FF2B5EF4-FFF2-40B4-BE49-F238E27FC236}">
                <a16:creationId xmlns:a16="http://schemas.microsoft.com/office/drawing/2014/main" id="{3D7A727D-9FB6-4F69-A69E-2447FA63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分组</a:t>
            </a:r>
          </a:p>
        </p:txBody>
      </p:sp>
      <p:sp>
        <p:nvSpPr>
          <p:cNvPr id="7" name="text-f0avlg8">
            <a:extLst xmlns:a="http://schemas.openxmlformats.org/drawingml/2006/main">
              <a:ext uri="{FF2B5EF4-FFF2-40B4-BE49-F238E27FC236}">
                <a16:creationId xmlns:a16="http://schemas.microsoft.com/office/drawing/2014/main" id="{40E1A076-9AA4-4F2C-816C-D11E509A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A组需求调研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B组文档整理</a:t>
            </a:r>
          </a:p>
        </p:txBody>
      </p:sp>
      <p:sp>
        <p:nvSpPr>
          <p:cNvPr id="8" name="text-beqb8cy">
            <a:extLst xmlns:a="http://schemas.openxmlformats.org/drawingml/2006/main">
              <a:ext uri="{FF2B5EF4-FFF2-40B4-BE49-F238E27FC236}">
                <a16:creationId xmlns:a16="http://schemas.microsoft.com/office/drawing/2014/main" id="{27E8358D-5069-47B9-94A6-6F0D1396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1rl1l3y">
            <a:extLst xmlns:a="http://schemas.openxmlformats.org/drawingml/2006/main">
              <a:ext uri="{FF2B5EF4-FFF2-40B4-BE49-F238E27FC236}">
                <a16:creationId xmlns:a16="http://schemas.microsoft.com/office/drawing/2014/main" id="{650549AE-848A-471E-96CA-42824975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6comrfp">
            <a:extLst xmlns:a="http://schemas.openxmlformats.org/drawingml/2006/main">
              <a:ext uri="{FF2B5EF4-FFF2-40B4-BE49-F238E27FC236}">
                <a16:creationId xmlns:a16="http://schemas.microsoft.com/office/drawing/2014/main" id="{5CCCF805-E58B-4032-8760-76388E76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2aczmm2">
            <a:extLst xmlns:a="http://schemas.openxmlformats.org/drawingml/2006/main">
              <a:ext uri="{FF2B5EF4-FFF2-40B4-BE49-F238E27FC236}">
                <a16:creationId xmlns:a16="http://schemas.microsoft.com/office/drawing/2014/main" id="{3A50B7E5-BAF6-48F0-B73F-CE7D91E3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补充</a:t>
            </a:r>
          </a:p>
        </p:txBody>
      </p:sp>
      <p:sp>
        <p:nvSpPr>
          <p:cNvPr id="12" name="text-0o3lh0f">
            <a:extLst xmlns:a="http://schemas.openxmlformats.org/drawingml/2006/main">
              <a:ext uri="{FF2B5EF4-FFF2-40B4-BE49-F238E27FC236}">
                <a16:creationId xmlns:a16="http://schemas.microsoft.com/office/drawing/2014/main" id="{CC762637-29AF-41CF-B0C1-F6FA9908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找出目标、材料、输出和边界</a:t>
            </a:r>
          </a:p>
        </p:txBody>
      </p:sp>
      <p:sp>
        <p:nvSpPr>
          <p:cNvPr id="13" name="text-p6wkdnf">
            <a:extLst xmlns:a="http://schemas.openxmlformats.org/drawingml/2006/main">
              <a:ext uri="{FF2B5EF4-FFF2-40B4-BE49-F238E27FC236}">
                <a16:creationId xmlns:a16="http://schemas.microsoft.com/office/drawing/2014/main" id="{E9FF3952-F012-4843-AFA0-A33280CD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69oqexc">
            <a:extLst xmlns:a="http://schemas.openxmlformats.org/drawingml/2006/main">
              <a:ext uri="{FF2B5EF4-FFF2-40B4-BE49-F238E27FC236}">
                <a16:creationId xmlns:a16="http://schemas.microsoft.com/office/drawing/2014/main" id="{D4A91186-8557-4AB4-94B2-6D1C47D3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5blcswi">
            <a:extLst xmlns:a="http://schemas.openxmlformats.org/drawingml/2006/main">
              <a:ext uri="{FF2B5EF4-FFF2-40B4-BE49-F238E27FC236}">
                <a16:creationId xmlns:a16="http://schemas.microsoft.com/office/drawing/2014/main" id="{17157B6E-240C-43AB-AF05-EBCF4181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5xqxvb6">
            <a:extLst xmlns:a="http://schemas.openxmlformats.org/drawingml/2006/main">
              <a:ext uri="{FF2B5EF4-FFF2-40B4-BE49-F238E27FC236}">
                <a16:creationId xmlns:a16="http://schemas.microsoft.com/office/drawing/2014/main" id="{652FCAC7-77D7-4749-B7B8-E5D2F715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对照</a:t>
            </a:r>
          </a:p>
        </p:txBody>
      </p:sp>
      <p:sp>
        <p:nvSpPr>
          <p:cNvPr id="17" name="text-nmixywf">
            <a:extLst xmlns:a="http://schemas.openxmlformats.org/drawingml/2006/main">
              <a:ext uri="{FF2B5EF4-FFF2-40B4-BE49-F238E27FC236}">
                <a16:creationId xmlns:a16="http://schemas.microsoft.com/office/drawing/2014/main" id="{848124E3-A4CF-4F43-9900-DF472EB1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参考Prompt新增了什么</a:t>
            </a:r>
          </a:p>
        </p:txBody>
      </p:sp>
      <p:sp>
        <p:nvSpPr>
          <p:cNvPr id="18" name="text-s405bvc">
            <a:extLst xmlns:a="http://schemas.openxmlformats.org/drawingml/2006/main">
              <a:ext uri="{FF2B5EF4-FFF2-40B4-BE49-F238E27FC236}">
                <a16:creationId xmlns:a16="http://schemas.microsoft.com/office/drawing/2014/main" id="{6A179158-D7D9-4928-BC51-B361370D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ykidnna">
            <a:extLst xmlns:a="http://schemas.openxmlformats.org/drawingml/2006/main">
              <a:ext uri="{FF2B5EF4-FFF2-40B4-BE49-F238E27FC236}">
                <a16:creationId xmlns:a16="http://schemas.microsoft.com/office/drawing/2014/main" id="{7B91A5CB-1B7A-4DC7-9F5D-5C1C1B3B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biw1xnr">
            <a:extLst xmlns:a="http://schemas.openxmlformats.org/drawingml/2006/main">
              <a:ext uri="{FF2B5EF4-FFF2-40B4-BE49-F238E27FC236}">
                <a16:creationId xmlns:a16="http://schemas.microsoft.com/office/drawing/2014/main" id="{3D9C22EC-3151-4330-8410-3D61E240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7kln6l5">
            <a:extLst xmlns:a="http://schemas.openxmlformats.org/drawingml/2006/main">
              <a:ext uri="{FF2B5EF4-FFF2-40B4-BE49-F238E27FC236}">
                <a16:creationId xmlns:a16="http://schemas.microsoft.com/office/drawing/2014/main" id="{7FFAF194-6D54-42C3-89BA-8999E1FA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继续追问</a:t>
            </a:r>
          </a:p>
        </p:txBody>
      </p:sp>
      <p:sp>
        <p:nvSpPr>
          <p:cNvPr id="22" name="text-r00l5h5">
            <a:extLst xmlns:a="http://schemas.openxmlformats.org/drawingml/2006/main">
              <a:ext uri="{FF2B5EF4-FFF2-40B4-BE49-F238E27FC236}">
                <a16:creationId xmlns:a16="http://schemas.microsoft.com/office/drawing/2014/main" id="{85D1CE3B-8954-4274-A565-9716552B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真实工作还缺哪些条件</a:t>
            </a:r>
          </a:p>
        </p:txBody>
      </p:sp>
      <p:sp>
        <p:nvSpPr>
          <p:cNvPr id="23" name="text-ckgrbed">
            <a:extLst xmlns:a="http://schemas.openxmlformats.org/drawingml/2006/main">
              <a:ext uri="{FF2B5EF4-FFF2-40B4-BE49-F238E27FC236}">
                <a16:creationId xmlns:a16="http://schemas.microsoft.com/office/drawing/2014/main" id="{900DBE22-2331-48D3-81C0-A7862910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39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评价标准：新增信息是否会改变 AI 的工作结果？</a:t>
            </a:r>
          </a:p>
        </p:txBody>
      </p:sp>
      <p:sp>
        <p:nvSpPr>
          <p:cNvPr id="24" name="text-8z4enb3">
            <a:extLst xmlns:a="http://schemas.openxmlformats.org/drawingml/2006/main">
              <a:ext uri="{FF2B5EF4-FFF2-40B4-BE49-F238E27FC236}">
                <a16:creationId xmlns:a16="http://schemas.microsoft.com/office/drawing/2014/main" id="{25BA34BB-69DF-41BF-97B1-D4D7C45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  <p:sp>
        <p:nvSpPr>
          <p:cNvPr id="25" name="text-hg7doox">
            <a:extLst xmlns:a="http://schemas.openxmlformats.org/drawingml/2006/main">
              <a:ext uri="{FF2B5EF4-FFF2-40B4-BE49-F238E27FC236}">
                <a16:creationId xmlns:a16="http://schemas.microsoft.com/office/drawing/2014/main" id="{78545A19-78B8-45F9-BB2A-9BB67818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461719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8ne5oj9">
            <a:extLst xmlns:a="http://schemas.openxmlformats.org/drawingml/2006/main">
              <a:ext uri="{FF2B5EF4-FFF2-40B4-BE49-F238E27FC236}">
                <a16:creationId xmlns:a16="http://schemas.microsoft.com/office/drawing/2014/main" id="{1D6650AD-579C-4D03-80AE-967D69B5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Bad Prompt</a:t>
            </a:r>
          </a:p>
        </p:txBody>
      </p:sp>
      <p:sp>
        <p:nvSpPr>
          <p:cNvPr id="2" name="text-4u2e065">
            <a:extLst xmlns:a="http://schemas.openxmlformats.org/drawingml/2006/main">
              <a:ext uri="{FF2B5EF4-FFF2-40B4-BE49-F238E27FC236}">
                <a16:creationId xmlns:a16="http://schemas.microsoft.com/office/drawing/2014/main" id="{412526D9-76AC-486E-B234-AA90D27C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题目一｜需求调研</a:t>
            </a:r>
          </a:p>
        </p:txBody>
      </p:sp>
      <p:sp>
        <p:nvSpPr>
          <p:cNvPr id="3" name="shape-7u0enlg">
            <a:extLst xmlns:a="http://schemas.openxmlformats.org/drawingml/2006/main">
              <a:ext uri="{FF2B5EF4-FFF2-40B4-BE49-F238E27FC236}">
                <a16:creationId xmlns:a16="http://schemas.microsoft.com/office/drawing/2014/main" id="{4B9EE555-B523-4526-89EA-4939A30C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ckl92kt">
            <a:extLst xmlns:a="http://schemas.openxmlformats.org/drawingml/2006/main">
              <a:ext uri="{FF2B5EF4-FFF2-40B4-BE49-F238E27FC236}">
                <a16:creationId xmlns:a16="http://schemas.microsoft.com/office/drawing/2014/main" id="{CBC22A61-D4EB-4751-ADCA-F317237B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334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E9B1B1"/>
            </a:solidFill>
            <a:prstDash val="solid"/>
          </a:ln>
        </p:spPr>
      </p:sp>
      <p:sp>
        <p:nvSpPr>
          <p:cNvPr id="5" name="text-xhts55o">
            <a:extLst xmlns:a="http://schemas.openxmlformats.org/drawingml/2006/main">
              <a:ext uri="{FF2B5EF4-FFF2-40B4-BE49-F238E27FC236}">
                <a16:creationId xmlns:a16="http://schemas.microsoft.com/office/drawing/2014/main" id="{D71FA1B2-2747-4EBB-B4C4-3A3A52C3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帮我调研一下员工报销流程的需求。</a:t>
            </a:r>
          </a:p>
        </p:txBody>
      </p:sp>
      <p:sp>
        <p:nvSpPr>
          <p:cNvPr id="6" name="text-ozp2pto">
            <a:extLst xmlns:a="http://schemas.openxmlformats.org/drawingml/2006/main">
              <a:ext uri="{FF2B5EF4-FFF2-40B4-BE49-F238E27FC236}">
                <a16:creationId xmlns:a16="http://schemas.microsoft.com/office/drawing/2014/main" id="{BE5EA4A1-0843-4C34-9C61-DA37E3DB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它缺少：调研目标？涉及角色？已有材料？调研范围？输出结构？证据要求？</a:t>
            </a:r>
          </a:p>
        </p:txBody>
      </p:sp>
      <p:sp>
        <p:nvSpPr>
          <p:cNvPr id="7" name="text-t16goko">
            <a:extLst xmlns:a="http://schemas.openxmlformats.org/drawingml/2006/main">
              <a:ext uri="{FF2B5EF4-FFF2-40B4-BE49-F238E27FC236}">
                <a16:creationId xmlns:a16="http://schemas.microsoft.com/office/drawing/2014/main" id="{609361BE-2509-4E64-8C6F-6BF81EB1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  <p:sp>
        <p:nvSpPr>
          <p:cNvPr id="8" name="text-7c2nv3e">
            <a:extLst xmlns:a="http://schemas.openxmlformats.org/drawingml/2006/main">
              <a:ext uri="{FF2B5EF4-FFF2-40B4-BE49-F238E27FC236}">
                <a16:creationId xmlns:a16="http://schemas.microsoft.com/office/drawing/2014/main" id="{8BB19406-E46F-4DE6-BCA4-FE641FB4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956645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n0mdsvl">
            <a:extLst xmlns:a="http://schemas.openxmlformats.org/drawingml/2006/main">
              <a:ext uri="{FF2B5EF4-FFF2-40B4-BE49-F238E27FC236}">
                <a16:creationId xmlns:a16="http://schemas.microsoft.com/office/drawing/2014/main" id="{77A708A7-2B5D-4CF4-B442-D013C927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相对较好的Prompt</a:t>
            </a:r>
          </a:p>
        </p:txBody>
      </p:sp>
      <p:sp>
        <p:nvSpPr>
          <p:cNvPr id="2" name="text-dizz0au">
            <a:extLst xmlns:a="http://schemas.openxmlformats.org/drawingml/2006/main">
              <a:ext uri="{FF2B5EF4-FFF2-40B4-BE49-F238E27FC236}">
                <a16:creationId xmlns:a16="http://schemas.microsoft.com/office/drawing/2014/main" id="{D340FB38-2ACE-48BF-AFFC-C5CC7C74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需求调研参考版本：先问清，再整理，不凭空解决</a:t>
            </a:r>
          </a:p>
        </p:txBody>
      </p:sp>
      <p:sp>
        <p:nvSpPr>
          <p:cNvPr id="3" name="shape-ycahd5k">
            <a:extLst xmlns:a="http://schemas.openxmlformats.org/drawingml/2006/main">
              <a:ext uri="{FF2B5EF4-FFF2-40B4-BE49-F238E27FC236}">
                <a16:creationId xmlns:a16="http://schemas.microsoft.com/office/drawing/2014/main" id="{B9251936-F3FD-48A8-BE29-1DDFBF9D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ig4b87">
            <a:extLst xmlns:a="http://schemas.openxmlformats.org/drawingml/2006/main">
              <a:ext uri="{FF2B5EF4-FFF2-40B4-BE49-F238E27FC236}">
                <a16:creationId xmlns:a16="http://schemas.microsoft.com/office/drawing/2014/main" id="{8A78BEF0-71CC-48B7-ABCC-5068F01E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02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背景与材料</a:t>
            </a:r>
          </a:p>
        </p:txBody>
      </p:sp>
      <p:sp>
        <p:nvSpPr>
          <p:cNvPr id="5" name="text-t4bytdu">
            <a:extLst xmlns:a="http://schemas.openxmlformats.org/drawingml/2006/main">
              <a:ext uri="{FF2B5EF4-FFF2-40B4-BE49-F238E27FC236}">
                <a16:creationId xmlns:a16="http://schemas.microsoft.com/office/drawing/2014/main" id="{415A9B95-3B54-4929-84EC-552DA82A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43075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你是一名业务分析师。公司准备优化员工报销流程，使用对象包括员工、部门负责人和财务人员。依据现行流程、访谈记录和常见问题开展调研。</a:t>
            </a:r>
          </a:p>
        </p:txBody>
      </p:sp>
      <p:sp>
        <p:nvSpPr>
          <p:cNvPr id="6" name="shape-7au1zh9">
            <a:extLst xmlns:a="http://schemas.openxmlformats.org/drawingml/2006/main">
              <a:ext uri="{FF2B5EF4-FFF2-40B4-BE49-F238E27FC236}">
                <a16:creationId xmlns:a16="http://schemas.microsoft.com/office/drawing/2014/main" id="{921CA4AE-DFE2-4FEA-BA9E-B9443C7C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1087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xelwi0n">
            <a:extLst xmlns:a="http://schemas.openxmlformats.org/drawingml/2006/main">
              <a:ext uri="{FF2B5EF4-FFF2-40B4-BE49-F238E27FC236}">
                <a16:creationId xmlns:a16="http://schemas.microsoft.com/office/drawing/2014/main" id="{031A76EB-5180-476D-94EC-648995EE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02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背景与材料</a:t>
            </a:r>
          </a:p>
        </p:txBody>
      </p:sp>
      <p:sp>
        <p:nvSpPr>
          <p:cNvPr id="8" name="text-loceaz3">
            <a:extLst xmlns:a="http://schemas.openxmlformats.org/drawingml/2006/main">
              <a:ext uri="{FF2B5EF4-FFF2-40B4-BE49-F238E27FC236}">
                <a16:creationId xmlns:a16="http://schemas.microsoft.com/office/drawing/2014/main" id="{84B0324D-D188-470B-9C29-BD0CC749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43075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你是一名业务分析师。公司准备优化员工报销流程，使用对象包括员工、部门负责人和财务人员。依据现行流程、访谈记录和常见问题开展调研。</a:t>
            </a:r>
          </a:p>
        </p:txBody>
      </p:sp>
      <p:sp>
        <p:nvSpPr>
          <p:cNvPr id="9" name="text-30wg9ea">
            <a:extLst xmlns:a="http://schemas.openxmlformats.org/drawingml/2006/main">
              <a:ext uri="{FF2B5EF4-FFF2-40B4-BE49-F238E27FC236}">
                <a16:creationId xmlns:a16="http://schemas.microsoft.com/office/drawing/2014/main" id="{EC4D0239-D12E-4F4E-809C-B3802E58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步骤与输出</a:t>
            </a:r>
          </a:p>
        </p:txBody>
      </p:sp>
      <p:sp>
        <p:nvSpPr>
          <p:cNvPr id="10" name="text-d2uvmpd">
            <a:extLst xmlns:a="http://schemas.openxmlformats.org/drawingml/2006/main">
              <a:ext uri="{FF2B5EF4-FFF2-40B4-BE49-F238E27FC236}">
                <a16:creationId xmlns:a16="http://schemas.microsoft.com/office/drawing/2014/main" id="{CEEDD8C1-A5ED-4939-8F5B-A2776EDB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先不要给解决方案。检查材料并提出不超过5个关键问题；确认后用Markdown整理现状、角色、痛点、目标、需求、优先级和待确认项。</a:t>
            </a:r>
          </a:p>
        </p:txBody>
      </p:sp>
      <p:sp>
        <p:nvSpPr>
          <p:cNvPr id="11" name="shape-cwaqajb">
            <a:extLst xmlns:a="http://schemas.openxmlformats.org/drawingml/2006/main">
              <a:ext uri="{FF2B5EF4-FFF2-40B4-BE49-F238E27FC236}">
                <a16:creationId xmlns:a16="http://schemas.microsoft.com/office/drawing/2014/main" id="{A2BF5F21-F8B4-40F4-9E7D-F7E0C56F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1087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907l5vp">
            <a:extLst xmlns:a="http://schemas.openxmlformats.org/drawingml/2006/main">
              <a:ext uri="{FF2B5EF4-FFF2-40B4-BE49-F238E27FC236}">
                <a16:creationId xmlns:a16="http://schemas.microsoft.com/office/drawing/2014/main" id="{ABA7D9C2-528C-4B8B-8216-F43A890D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步骤与输出</a:t>
            </a:r>
          </a:p>
        </p:txBody>
      </p:sp>
      <p:sp>
        <p:nvSpPr>
          <p:cNvPr id="13" name="text-5w0urdk">
            <a:extLst xmlns:a="http://schemas.openxmlformats.org/drawingml/2006/main">
              <a:ext uri="{FF2B5EF4-FFF2-40B4-BE49-F238E27FC236}">
                <a16:creationId xmlns:a16="http://schemas.microsoft.com/office/drawing/2014/main" id="{D49FDAA7-86ED-41CB-A2EC-9F440A88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先不要给解决方案。检查材料并提出不超过5个关键问题；确认后用Markdown整理现状、角色、痛点、目标、需求、优先级和待确认项。</a:t>
            </a:r>
          </a:p>
        </p:txBody>
      </p:sp>
      <p:sp>
        <p:nvSpPr>
          <p:cNvPr id="14" name="text-idmtb98">
            <a:extLst xmlns:a="http://schemas.openxmlformats.org/drawingml/2006/main">
              <a:ext uri="{FF2B5EF4-FFF2-40B4-BE49-F238E27FC236}">
                <a16:creationId xmlns:a16="http://schemas.microsoft.com/office/drawing/2014/main" id="{AC3BD8D6-8173-48F3-BE96-D08C9ED6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证据与边界</a:t>
            </a:r>
          </a:p>
        </p:txBody>
      </p:sp>
      <p:sp>
        <p:nvSpPr>
          <p:cNvPr id="15" name="text-c1lsm1u">
            <a:extLst xmlns:a="http://schemas.openxmlformats.org/drawingml/2006/main">
              <a:ext uri="{FF2B5EF4-FFF2-40B4-BE49-F238E27FC236}">
                <a16:creationId xmlns:a16="http://schemas.microsoft.com/office/drawing/2014/main" id="{843D37AA-FB27-427C-A208-BA0DE23C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14825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只能使用已提供材料；冲突单独列出；没有证据的信息标记为‘待确认’；每条需求必须能追溯到材料。</a:t>
            </a:r>
          </a:p>
        </p:txBody>
      </p:sp>
      <p:sp>
        <p:nvSpPr>
          <p:cNvPr id="16" name="shape-k6lacjg">
            <a:extLst xmlns:a="http://schemas.openxmlformats.org/drawingml/2006/main">
              <a:ext uri="{FF2B5EF4-FFF2-40B4-BE49-F238E27FC236}">
                <a16:creationId xmlns:a16="http://schemas.microsoft.com/office/drawing/2014/main" id="{D69BF770-10DC-44B0-9808-73DA880A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11087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a1gla3i">
            <a:extLst xmlns:a="http://schemas.openxmlformats.org/drawingml/2006/main">
              <a:ext uri="{FF2B5EF4-FFF2-40B4-BE49-F238E27FC236}">
                <a16:creationId xmlns:a16="http://schemas.microsoft.com/office/drawing/2014/main" id="{1DD6E01B-FED0-412A-BFBE-D9F7E91C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证据与边界</a:t>
            </a:r>
          </a:p>
        </p:txBody>
      </p:sp>
      <p:sp>
        <p:nvSpPr>
          <p:cNvPr id="18" name="text-92i9rsm">
            <a:extLst xmlns:a="http://schemas.openxmlformats.org/drawingml/2006/main">
              <a:ext uri="{FF2B5EF4-FFF2-40B4-BE49-F238E27FC236}">
                <a16:creationId xmlns:a16="http://schemas.microsoft.com/office/drawing/2014/main" id="{49DC07A0-C1AE-4B61-885B-5EC47B7B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14825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只能使用已提供材料；冲突单独列出；没有证据的信息标记为‘待确认’；每条需求必须能追溯到材料。</a:t>
            </a:r>
          </a:p>
        </p:txBody>
      </p:sp>
      <p:sp>
        <p:nvSpPr>
          <p:cNvPr id="19" name="text-6k5mffr">
            <a:extLst xmlns:a="http://schemas.openxmlformats.org/drawingml/2006/main">
              <a:ext uri="{FF2B5EF4-FFF2-40B4-BE49-F238E27FC236}">
                <a16:creationId xmlns:a16="http://schemas.microsoft.com/office/drawing/2014/main" id="{05AA6811-8303-4527-AB98-CAEEC01A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  <p:sp>
        <p:nvSpPr>
          <p:cNvPr id="20" name="text-q8kante">
            <a:extLst xmlns:a="http://schemas.openxmlformats.org/drawingml/2006/main">
              <a:ext uri="{FF2B5EF4-FFF2-40B4-BE49-F238E27FC236}">
                <a16:creationId xmlns:a16="http://schemas.microsoft.com/office/drawing/2014/main" id="{D860370A-852C-4942-B66B-69728945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632093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ye4dszm">
            <a:extLst xmlns:a="http://schemas.openxmlformats.org/drawingml/2006/main">
              <a:ext uri="{FF2B5EF4-FFF2-40B4-BE49-F238E27FC236}">
                <a16:creationId xmlns:a16="http://schemas.microsoft.com/office/drawing/2014/main" id="{CC899EAB-A954-4BB4-8DD3-15F98CD8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教师点评</a:t>
            </a:r>
          </a:p>
        </p:txBody>
      </p:sp>
      <p:sp>
        <p:nvSpPr>
          <p:cNvPr id="2" name="text-ho1nhk3">
            <a:extLst xmlns:a="http://schemas.openxmlformats.org/drawingml/2006/main">
              <a:ext uri="{FF2B5EF4-FFF2-40B4-BE49-F238E27FC236}">
                <a16:creationId xmlns:a16="http://schemas.microsoft.com/office/drawing/2014/main" id="{90E70916-E74D-4F63-9531-7A1D4B9E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需求调研Prompt的关键，不是直接给答案</a:t>
            </a:r>
          </a:p>
        </p:txBody>
      </p:sp>
      <p:sp>
        <p:nvSpPr>
          <p:cNvPr id="3" name="shape-l3hdky1">
            <a:extLst xmlns:a="http://schemas.openxmlformats.org/drawingml/2006/main">
              <a:ext uri="{FF2B5EF4-FFF2-40B4-BE49-F238E27FC236}">
                <a16:creationId xmlns:a16="http://schemas.microsoft.com/office/drawing/2014/main" id="{1E44D895-A01C-43A3-90B3-0A254005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23rax0x">
            <a:extLst xmlns:a="http://schemas.openxmlformats.org/drawingml/2006/main">
              <a:ext uri="{FF2B5EF4-FFF2-40B4-BE49-F238E27FC236}">
                <a16:creationId xmlns:a16="http://schemas.microsoft.com/office/drawing/2014/main" id="{77288B4E-B177-4159-BB2A-1CE774A5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-rqj292w">
            <a:extLst xmlns:a="http://schemas.openxmlformats.org/drawingml/2006/main">
              <a:ext uri="{FF2B5EF4-FFF2-40B4-BE49-F238E27FC236}">
                <a16:creationId xmlns:a16="http://schemas.microsoft.com/office/drawing/2014/main" id="{6B360F79-C0BF-48B6-9FF6-51203195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66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6" name="text-udy5vdu">
            <a:extLst xmlns:a="http://schemas.openxmlformats.org/drawingml/2006/main">
              <a:ext uri="{FF2B5EF4-FFF2-40B4-BE49-F238E27FC236}">
                <a16:creationId xmlns:a16="http://schemas.microsoft.com/office/drawing/2014/main" id="{F4CE3AB9-E5D8-47F7-92FE-A726EC78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85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为什么调研，准备推动什么变化</a:t>
            </a:r>
          </a:p>
        </p:txBody>
      </p:sp>
      <p:sp>
        <p:nvSpPr>
          <p:cNvPr id="7" name="shape-f8scgsr">
            <a:extLst xmlns:a="http://schemas.openxmlformats.org/drawingml/2006/main">
              <a:ext uri="{FF2B5EF4-FFF2-40B4-BE49-F238E27FC236}">
                <a16:creationId xmlns:a16="http://schemas.microsoft.com/office/drawing/2014/main" id="{14473C74-D46A-4A8F-88F2-3629D490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derwo49">
            <a:extLst xmlns:a="http://schemas.openxmlformats.org/drawingml/2006/main">
              <a:ext uri="{FF2B5EF4-FFF2-40B4-BE49-F238E27FC236}">
                <a16:creationId xmlns:a16="http://schemas.microsoft.com/office/drawing/2014/main" id="{8593FB8B-A8BE-44EE-B42B-1F1C90EB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text-lpwovav">
            <a:extLst xmlns:a="http://schemas.openxmlformats.org/drawingml/2006/main">
              <a:ext uri="{FF2B5EF4-FFF2-40B4-BE49-F238E27FC236}">
                <a16:creationId xmlns:a16="http://schemas.microsoft.com/office/drawing/2014/main" id="{3C027510-2E23-4183-98C6-1A01B5D6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10" name="text-6z7isgd">
            <a:extLst xmlns:a="http://schemas.openxmlformats.org/drawingml/2006/main">
              <a:ext uri="{FF2B5EF4-FFF2-40B4-BE49-F238E27FC236}">
                <a16:creationId xmlns:a16="http://schemas.microsoft.com/office/drawing/2014/main" id="{9ED2B6A8-45A9-45FA-ACEA-279BB0FF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47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谁使用流程，谁审批，谁承担后续工作</a:t>
            </a:r>
          </a:p>
        </p:txBody>
      </p:sp>
      <p:sp>
        <p:nvSpPr>
          <p:cNvPr id="11" name="shape-m1vwhlw">
            <a:extLst xmlns:a="http://schemas.openxmlformats.org/drawingml/2006/main">
              <a:ext uri="{FF2B5EF4-FFF2-40B4-BE49-F238E27FC236}">
                <a16:creationId xmlns:a16="http://schemas.microsoft.com/office/drawing/2014/main" id="{AD76BF81-8566-4780-AA8F-715EDE98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71qpmjq">
            <a:extLst xmlns:a="http://schemas.openxmlformats.org/drawingml/2006/main">
              <a:ext uri="{FF2B5EF4-FFF2-40B4-BE49-F238E27FC236}">
                <a16:creationId xmlns:a16="http://schemas.microsoft.com/office/drawing/2014/main" id="{D7ABFF29-0FB0-4386-95D6-9F92D569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text-e56h1gq">
            <a:extLst xmlns:a="http://schemas.openxmlformats.org/drawingml/2006/main">
              <a:ext uri="{FF2B5EF4-FFF2-40B4-BE49-F238E27FC236}">
                <a16:creationId xmlns:a16="http://schemas.microsoft.com/office/drawing/2014/main" id="{A06E5846-811D-458A-AF50-7CCF7F38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90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14" name="text-sfusx60">
            <a:extLst xmlns:a="http://schemas.openxmlformats.org/drawingml/2006/main">
              <a:ext uri="{FF2B5EF4-FFF2-40B4-BE49-F238E27FC236}">
                <a16:creationId xmlns:a16="http://schemas.microsoft.com/office/drawing/2014/main" id="{17973D3C-B879-46D7-8C1C-D7436F67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9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现行流程、访谈、问题记录和相关制度</a:t>
            </a:r>
          </a:p>
        </p:txBody>
      </p:sp>
      <p:sp>
        <p:nvSpPr>
          <p:cNvPr id="15" name="shape-0xbz96b">
            <a:extLst xmlns:a="http://schemas.openxmlformats.org/drawingml/2006/main">
              <a:ext uri="{FF2B5EF4-FFF2-40B4-BE49-F238E27FC236}">
                <a16:creationId xmlns:a16="http://schemas.microsoft.com/office/drawing/2014/main" id="{7904CE61-BF08-42E0-9DD7-024A772E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a0kmyw4">
            <a:extLst xmlns:a="http://schemas.openxmlformats.org/drawingml/2006/main">
              <a:ext uri="{FF2B5EF4-FFF2-40B4-BE49-F238E27FC236}">
                <a16:creationId xmlns:a16="http://schemas.microsoft.com/office/drawing/2014/main" id="{A356CD4A-9C1D-47C3-80C2-14D70BF0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text-7uwrfhe">
            <a:extLst xmlns:a="http://schemas.openxmlformats.org/drawingml/2006/main">
              <a:ext uri="{FF2B5EF4-FFF2-40B4-BE49-F238E27FC236}">
                <a16:creationId xmlns:a16="http://schemas.microsoft.com/office/drawing/2014/main" id="{BBBAD533-B423-4A2D-BBA8-5422AF47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52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8" name="text-t532fe3">
            <a:extLst xmlns:a="http://schemas.openxmlformats.org/drawingml/2006/main">
              <a:ext uri="{FF2B5EF4-FFF2-40B4-BE49-F238E27FC236}">
                <a16:creationId xmlns:a16="http://schemas.microsoft.com/office/drawing/2014/main" id="{5F6EB615-6A56-4D3C-BB52-F804E9C6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71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需求从哪里来，冲突如何保留，未知如何标记</a:t>
            </a:r>
          </a:p>
        </p:txBody>
      </p:sp>
      <p:sp>
        <p:nvSpPr>
          <p:cNvPr id="19" name="shape-cqosls8">
            <a:extLst xmlns:a="http://schemas.openxmlformats.org/drawingml/2006/main">
              <a:ext uri="{FF2B5EF4-FFF2-40B4-BE49-F238E27FC236}">
                <a16:creationId xmlns:a16="http://schemas.microsoft.com/office/drawing/2014/main" id="{FF842C89-24CD-4F3E-84C0-2E87846A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qzv81ep">
            <a:extLst xmlns:a="http://schemas.openxmlformats.org/drawingml/2006/main">
              <a:ext uri="{FF2B5EF4-FFF2-40B4-BE49-F238E27FC236}">
                <a16:creationId xmlns:a16="http://schemas.microsoft.com/office/drawing/2014/main" id="{3E5AC270-3275-4436-83C2-7264EF0E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1" name="text-bsnb9fk">
            <a:extLst xmlns:a="http://schemas.openxmlformats.org/drawingml/2006/main">
              <a:ext uri="{FF2B5EF4-FFF2-40B4-BE49-F238E27FC236}">
                <a16:creationId xmlns:a16="http://schemas.microsoft.com/office/drawing/2014/main" id="{5B02D30F-CA4B-4E6A-B03E-A2A1E64D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14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22" name="text-xgbj6va">
            <a:extLst xmlns:a="http://schemas.openxmlformats.org/drawingml/2006/main">
              <a:ext uri="{FF2B5EF4-FFF2-40B4-BE49-F238E27FC236}">
                <a16:creationId xmlns:a16="http://schemas.microsoft.com/office/drawing/2014/main" id="{35840052-40A9-4D3F-9965-8FB0365E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33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现状、痛点、需求、优先级和待确认项</a:t>
            </a:r>
          </a:p>
        </p:txBody>
      </p:sp>
      <p:sp>
        <p:nvSpPr>
          <p:cNvPr id="23" name="text-nm6hjwf">
            <a:extLst xmlns:a="http://schemas.openxmlformats.org/drawingml/2006/main">
              <a:ext uri="{FF2B5EF4-FFF2-40B4-BE49-F238E27FC236}">
                <a16:creationId xmlns:a16="http://schemas.microsoft.com/office/drawing/2014/main" id="{7B05982A-B937-4483-A200-1EA10C01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  <p:sp>
        <p:nvSpPr>
          <p:cNvPr id="24" name="text-vakpv30">
            <a:extLst xmlns:a="http://schemas.openxmlformats.org/drawingml/2006/main">
              <a:ext uri="{FF2B5EF4-FFF2-40B4-BE49-F238E27FC236}">
                <a16:creationId xmlns:a16="http://schemas.microsoft.com/office/drawing/2014/main" id="{0018BF51-0491-43F1-8AF6-E428D0CC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008468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p8e2l9v">
            <a:extLst xmlns:a="http://schemas.openxmlformats.org/drawingml/2006/main">
              <a:ext uri="{FF2B5EF4-FFF2-40B4-BE49-F238E27FC236}">
                <a16:creationId xmlns:a16="http://schemas.microsoft.com/office/drawing/2014/main" id="{F9153F54-3E68-49C4-84C7-FB1E2BE3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Bad Prompt</a:t>
            </a:r>
          </a:p>
        </p:txBody>
      </p:sp>
      <p:sp>
        <p:nvSpPr>
          <p:cNvPr id="2" name="text-pze1for">
            <a:extLst xmlns:a="http://schemas.openxmlformats.org/drawingml/2006/main">
              <a:ext uri="{FF2B5EF4-FFF2-40B4-BE49-F238E27FC236}">
                <a16:creationId xmlns:a16="http://schemas.microsoft.com/office/drawing/2014/main" id="{09E9B072-CEFB-4F93-8553-38793A8C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题目二｜文档整理</a:t>
            </a:r>
          </a:p>
        </p:txBody>
      </p:sp>
      <p:sp>
        <p:nvSpPr>
          <p:cNvPr id="3" name="shape-hmtd7yg">
            <a:extLst xmlns:a="http://schemas.openxmlformats.org/drawingml/2006/main">
              <a:ext uri="{FF2B5EF4-FFF2-40B4-BE49-F238E27FC236}">
                <a16:creationId xmlns:a16="http://schemas.microsoft.com/office/drawing/2014/main" id="{A7924C39-ABE1-4FD6-9ACB-90E3F40F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itxuexa">
            <a:extLst xmlns:a="http://schemas.openxmlformats.org/drawingml/2006/main">
              <a:ext uri="{FF2B5EF4-FFF2-40B4-BE49-F238E27FC236}">
                <a16:creationId xmlns:a16="http://schemas.microsoft.com/office/drawing/2014/main" id="{89C67078-25D3-4A8F-809A-7EBE7FA5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9334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E9B1B1"/>
            </a:solidFill>
            <a:prstDash val="solid"/>
          </a:ln>
        </p:spPr>
      </p:sp>
      <p:sp>
        <p:nvSpPr>
          <p:cNvPr id="5" name="text-o6i9wsm">
            <a:extLst xmlns:a="http://schemas.openxmlformats.org/drawingml/2006/main">
              <a:ext uri="{FF2B5EF4-FFF2-40B4-BE49-F238E27FC236}">
                <a16:creationId xmlns:a16="http://schemas.microsoft.com/office/drawing/2014/main" id="{55C74286-5A07-4227-82BD-88F70AD4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帮我把这些会议文档整理一下。</a:t>
            </a:r>
          </a:p>
        </p:txBody>
      </p:sp>
      <p:sp>
        <p:nvSpPr>
          <p:cNvPr id="6" name="text-yfwokv4">
            <a:extLst xmlns:a="http://schemas.openxmlformats.org/drawingml/2006/main">
              <a:ext uri="{FF2B5EF4-FFF2-40B4-BE49-F238E27FC236}">
                <a16:creationId xmlns:a16="http://schemas.microsoft.com/office/drawing/2014/main" id="{24F96FC5-9513-4937-A574-8F80BBA0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“整理”是摘要、分类、改写、合并，还是提取行动项？</a:t>
            </a:r>
          </a:p>
        </p:txBody>
      </p:sp>
      <p:sp>
        <p:nvSpPr>
          <p:cNvPr id="7" name="text-v047d1j">
            <a:extLst xmlns:a="http://schemas.openxmlformats.org/drawingml/2006/main">
              <a:ext uri="{FF2B5EF4-FFF2-40B4-BE49-F238E27FC236}">
                <a16:creationId xmlns:a16="http://schemas.microsoft.com/office/drawing/2014/main" id="{3294B508-6D8D-4A59-BA25-9DEA7958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  <p:sp>
        <p:nvSpPr>
          <p:cNvPr id="8" name="text-g4mrzx4">
            <a:extLst xmlns:a="http://schemas.openxmlformats.org/drawingml/2006/main">
              <a:ext uri="{FF2B5EF4-FFF2-40B4-BE49-F238E27FC236}">
                <a16:creationId xmlns:a16="http://schemas.microsoft.com/office/drawing/2014/main" id="{F03DDFF1-C2A7-44C5-A088-A1B6A0A0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118640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6ck0uyl">
            <a:extLst xmlns:a="http://schemas.openxmlformats.org/drawingml/2006/main">
              <a:ext uri="{FF2B5EF4-FFF2-40B4-BE49-F238E27FC236}">
                <a16:creationId xmlns:a16="http://schemas.microsoft.com/office/drawing/2014/main" id="{922BEE89-63F2-424B-A01A-862F672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相对较好的Prompt</a:t>
            </a:r>
          </a:p>
        </p:txBody>
      </p:sp>
      <p:sp>
        <p:nvSpPr>
          <p:cNvPr id="2" name="text-xnlqaal">
            <a:extLst xmlns:a="http://schemas.openxmlformats.org/drawingml/2006/main">
              <a:ext uri="{FF2B5EF4-FFF2-40B4-BE49-F238E27FC236}">
                <a16:creationId xmlns:a16="http://schemas.microsoft.com/office/drawing/2014/main" id="{A5D664E7-FAF8-49AC-A441-9353B439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文档整理参考版本：让决定、行动和来源一眼可查</a:t>
            </a:r>
          </a:p>
        </p:txBody>
      </p:sp>
      <p:sp>
        <p:nvSpPr>
          <p:cNvPr id="3" name="shape-52ot0s8">
            <a:extLst xmlns:a="http://schemas.openxmlformats.org/drawingml/2006/main">
              <a:ext uri="{FF2B5EF4-FFF2-40B4-BE49-F238E27FC236}">
                <a16:creationId xmlns:a16="http://schemas.microsoft.com/office/drawing/2014/main" id="{BA444794-8B1B-4984-80A9-1063A56C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k6v2acr">
            <a:extLst xmlns:a="http://schemas.openxmlformats.org/drawingml/2006/main">
              <a:ext uri="{FF2B5EF4-FFF2-40B4-BE49-F238E27FC236}">
                <a16:creationId xmlns:a16="http://schemas.microsoft.com/office/drawing/2014/main" id="{31A6A5EC-F205-4AF7-B14B-DAD7FCD1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02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用途与材料</a:t>
            </a:r>
          </a:p>
        </p:txBody>
      </p:sp>
      <p:sp>
        <p:nvSpPr>
          <p:cNvPr id="5" name="text-dygofz6">
            <a:extLst xmlns:a="http://schemas.openxmlformats.org/drawingml/2006/main">
              <a:ext uri="{FF2B5EF4-FFF2-40B4-BE49-F238E27FC236}">
                <a16:creationId xmlns:a16="http://schemas.microsoft.com/office/drawing/2014/main" id="{C6748CE0-A24B-4C25-A9BA-D6C29D84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43075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你是一名项目助理。附件包含项目启动会纪要、会后邮件和行动项清单。整理成供项目组确认的Markdown项目摘要。</a:t>
            </a:r>
          </a:p>
        </p:txBody>
      </p:sp>
      <p:sp>
        <p:nvSpPr>
          <p:cNvPr id="6" name="shape-gpm0b9a">
            <a:extLst xmlns:a="http://schemas.openxmlformats.org/drawingml/2006/main">
              <a:ext uri="{FF2B5EF4-FFF2-40B4-BE49-F238E27FC236}">
                <a16:creationId xmlns:a16="http://schemas.microsoft.com/office/drawing/2014/main" id="{B3A506AC-F025-4023-A1AC-AD2532FA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1087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o7wdtpp">
            <a:extLst xmlns:a="http://schemas.openxmlformats.org/drawingml/2006/main">
              <a:ext uri="{FF2B5EF4-FFF2-40B4-BE49-F238E27FC236}">
                <a16:creationId xmlns:a16="http://schemas.microsoft.com/office/drawing/2014/main" id="{BBFB120A-CB3B-41EC-9A6D-5C3CF7C0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02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用途与材料</a:t>
            </a:r>
          </a:p>
        </p:txBody>
      </p:sp>
      <p:sp>
        <p:nvSpPr>
          <p:cNvPr id="8" name="text-wqlk13i">
            <a:extLst xmlns:a="http://schemas.openxmlformats.org/drawingml/2006/main">
              <a:ext uri="{FF2B5EF4-FFF2-40B4-BE49-F238E27FC236}">
                <a16:creationId xmlns:a16="http://schemas.microsoft.com/office/drawing/2014/main" id="{54256D8A-B9CA-469B-AD57-8DE9F91C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43075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你是一名项目助理。附件包含项目启动会纪要、会后邮件和行动项清单。整理成供项目组确认的Markdown项目摘要。</a:t>
            </a:r>
          </a:p>
        </p:txBody>
      </p:sp>
      <p:sp>
        <p:nvSpPr>
          <p:cNvPr id="9" name="text-agbz3vd">
            <a:extLst xmlns:a="http://schemas.openxmlformats.org/drawingml/2006/main">
              <a:ext uri="{FF2B5EF4-FFF2-40B4-BE49-F238E27FC236}">
                <a16:creationId xmlns:a16="http://schemas.microsoft.com/office/drawing/2014/main" id="{E68D8577-B0B0-4FC4-8A14-D1DFD8F7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处理与输出</a:t>
            </a:r>
          </a:p>
        </p:txBody>
      </p:sp>
      <p:sp>
        <p:nvSpPr>
          <p:cNvPr id="10" name="text-fbeqz0d">
            <a:extLst xmlns:a="http://schemas.openxmlformats.org/drawingml/2006/main">
              <a:ext uri="{FF2B5EF4-FFF2-40B4-BE49-F238E27FC236}">
                <a16:creationId xmlns:a16="http://schemas.microsoft.com/office/drawing/2014/main" id="{96921B77-D0C2-4D77-A4A5-C09701E8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识别材料名称、日期和来源；合并重复信息，不擅自合并冲突说法。输出背景、决定、行动项、风险、未决问题和冲突。</a:t>
            </a:r>
          </a:p>
        </p:txBody>
      </p:sp>
      <p:sp>
        <p:nvSpPr>
          <p:cNvPr id="11" name="shape-5ojy0i6">
            <a:extLst xmlns:a="http://schemas.openxmlformats.org/drawingml/2006/main">
              <a:ext uri="{FF2B5EF4-FFF2-40B4-BE49-F238E27FC236}">
                <a16:creationId xmlns:a16="http://schemas.microsoft.com/office/drawing/2014/main" id="{C7F04195-6FB9-402C-A737-884A029D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1087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v8yowu8">
            <a:extLst xmlns:a="http://schemas.openxmlformats.org/drawingml/2006/main">
              <a:ext uri="{FF2B5EF4-FFF2-40B4-BE49-F238E27FC236}">
                <a16:creationId xmlns:a16="http://schemas.microsoft.com/office/drawing/2014/main" id="{3F2DC431-A8FB-44B6-B452-C6A1B2C3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处理与输出</a:t>
            </a:r>
          </a:p>
        </p:txBody>
      </p:sp>
      <p:sp>
        <p:nvSpPr>
          <p:cNvPr id="13" name="text-su22ek2">
            <a:extLst xmlns:a="http://schemas.openxmlformats.org/drawingml/2006/main">
              <a:ext uri="{FF2B5EF4-FFF2-40B4-BE49-F238E27FC236}">
                <a16:creationId xmlns:a16="http://schemas.microsoft.com/office/drawing/2014/main" id="{72749298-D94A-4DC3-A54E-B1CE4B8C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识别材料名称、日期和来源；合并重复信息，不擅自合并冲突说法。输出背景、决定、行动项、风险、未决问题和冲突。</a:t>
            </a:r>
          </a:p>
        </p:txBody>
      </p:sp>
      <p:sp>
        <p:nvSpPr>
          <p:cNvPr id="14" name="text-q5kknl5">
            <a:extLst xmlns:a="http://schemas.openxmlformats.org/drawingml/2006/main">
              <a:ext uri="{FF2B5EF4-FFF2-40B4-BE49-F238E27FC236}">
                <a16:creationId xmlns:a16="http://schemas.microsoft.com/office/drawing/2014/main" id="{65B56BA1-92C1-4FF2-9EB2-4A23FE2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边界与检查</a:t>
            </a:r>
          </a:p>
        </p:txBody>
      </p:sp>
      <p:sp>
        <p:nvSpPr>
          <p:cNvPr id="15" name="text-8y6olud">
            <a:extLst xmlns:a="http://schemas.openxmlformats.org/drawingml/2006/main">
              <a:ext uri="{FF2B5EF4-FFF2-40B4-BE49-F238E27FC236}">
                <a16:creationId xmlns:a16="http://schemas.microsoft.com/office/drawing/2014/main" id="{5274EB7C-64F9-4A7B-AA95-3605E56C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14825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行动项包含任务、负责人、截止日期和来源。原文缺失时写‘待确认’，不要推测；检查是否遗漏负责人、日期或承诺。</a:t>
            </a:r>
          </a:p>
        </p:txBody>
      </p:sp>
      <p:sp>
        <p:nvSpPr>
          <p:cNvPr id="16" name="shape-vfyihi9">
            <a:extLst xmlns:a="http://schemas.openxmlformats.org/drawingml/2006/main">
              <a:ext uri="{FF2B5EF4-FFF2-40B4-BE49-F238E27FC236}">
                <a16:creationId xmlns:a16="http://schemas.microsoft.com/office/drawing/2014/main" id="{9A63084C-FED0-4CD2-B671-0E85244B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11087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ri11kxh">
            <a:extLst xmlns:a="http://schemas.openxmlformats.org/drawingml/2006/main">
              <a:ext uri="{FF2B5EF4-FFF2-40B4-BE49-F238E27FC236}">
                <a16:creationId xmlns:a16="http://schemas.microsoft.com/office/drawing/2014/main" id="{94DB12FD-9309-4E87-8EC5-17E165CC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边界与检查</a:t>
            </a:r>
          </a:p>
        </p:txBody>
      </p:sp>
      <p:sp>
        <p:nvSpPr>
          <p:cNvPr id="18" name="text-ioq1ghz">
            <a:extLst xmlns:a="http://schemas.openxmlformats.org/drawingml/2006/main">
              <a:ext uri="{FF2B5EF4-FFF2-40B4-BE49-F238E27FC236}">
                <a16:creationId xmlns:a16="http://schemas.microsoft.com/office/drawing/2014/main" id="{EC0FEF16-64D8-42B1-A9DD-8332F6AE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14825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行动项包含任务、负责人、截止日期和来源。原文缺失时写‘待确认’，不要推测；检查是否遗漏负责人、日期或承诺。</a:t>
            </a:r>
          </a:p>
        </p:txBody>
      </p:sp>
      <p:sp>
        <p:nvSpPr>
          <p:cNvPr id="19" name="text-ko4hoay">
            <a:extLst xmlns:a="http://schemas.openxmlformats.org/drawingml/2006/main">
              <a:ext uri="{FF2B5EF4-FFF2-40B4-BE49-F238E27FC236}">
                <a16:creationId xmlns:a16="http://schemas.microsoft.com/office/drawing/2014/main" id="{51795F80-0441-4645-9E5C-9A1A2B1E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  <p:sp>
        <p:nvSpPr>
          <p:cNvPr id="20" name="text-jzaq4xk">
            <a:extLst xmlns:a="http://schemas.openxmlformats.org/drawingml/2006/main">
              <a:ext uri="{FF2B5EF4-FFF2-40B4-BE49-F238E27FC236}">
                <a16:creationId xmlns:a16="http://schemas.microsoft.com/office/drawing/2014/main" id="{99ED4897-541D-4748-866A-5C44E5CB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970606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ogebay5">
            <a:extLst xmlns:a="http://schemas.openxmlformats.org/drawingml/2006/main">
              <a:ext uri="{FF2B5EF4-FFF2-40B4-BE49-F238E27FC236}">
                <a16:creationId xmlns:a16="http://schemas.microsoft.com/office/drawing/2014/main" id="{68DDCB5D-260F-43BB-BF3B-B261FCB2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教师点评</a:t>
            </a:r>
          </a:p>
        </p:txBody>
      </p:sp>
      <p:sp>
        <p:nvSpPr>
          <p:cNvPr id="2" name="text-b7jgtiq">
            <a:extLst xmlns:a="http://schemas.openxmlformats.org/drawingml/2006/main">
              <a:ext uri="{FF2B5EF4-FFF2-40B4-BE49-F238E27FC236}">
                <a16:creationId xmlns:a16="http://schemas.microsoft.com/office/drawing/2014/main" id="{78AA7174-76C6-4FC9-8AFF-1EE1330F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“整理”必须被定义，结果才可验收</a:t>
            </a:r>
          </a:p>
        </p:txBody>
      </p:sp>
      <p:sp>
        <p:nvSpPr>
          <p:cNvPr id="3" name="shape-cxs1la1">
            <a:extLst xmlns:a="http://schemas.openxmlformats.org/drawingml/2006/main">
              <a:ext uri="{FF2B5EF4-FFF2-40B4-BE49-F238E27FC236}">
                <a16:creationId xmlns:a16="http://schemas.microsoft.com/office/drawing/2014/main" id="{875200AE-B89B-489F-99ED-19710E94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3m5s2f2">
            <a:extLst xmlns:a="http://schemas.openxmlformats.org/drawingml/2006/main">
              <a:ext uri="{FF2B5EF4-FFF2-40B4-BE49-F238E27FC236}">
                <a16:creationId xmlns:a16="http://schemas.microsoft.com/office/drawing/2014/main" id="{611B7FF3-2FA5-4803-9A35-7469DAA5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505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D95050"/>
                </a:solidFill>
                <a:latin typeface="PingFang SC"/>
                <a:ea typeface="PingFang SC"/>
                <a:cs typeface="PingFang SC"/>
              </a:rPr>
              <a:t>Bad Prompt 留下的猜测</a:t>
            </a:r>
          </a:p>
        </p:txBody>
      </p:sp>
      <p:sp>
        <p:nvSpPr>
          <p:cNvPr id="5" name="text-d98ptj0">
            <a:extLst xmlns:a="http://schemas.openxmlformats.org/drawingml/2006/main">
              <a:ext uri="{FF2B5EF4-FFF2-40B4-BE49-F238E27FC236}">
                <a16:creationId xmlns:a16="http://schemas.microsoft.com/office/drawing/2014/main" id="{4CC8C1C5-6ADC-41DC-8E7D-93BC0EA4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4483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给谁看？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整理成什么？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重复内容怎样处理？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冲突内容保留还是合并？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谁、何时、做什么如何呈现？</a:t>
            </a:r>
          </a:p>
        </p:txBody>
      </p:sp>
      <p:sp>
        <p:nvSpPr>
          <p:cNvPr id="6" name="shape-bp5p8h0">
            <a:extLst xmlns:a="http://schemas.openxmlformats.org/drawingml/2006/main">
              <a:ext uri="{FF2B5EF4-FFF2-40B4-BE49-F238E27FC236}">
                <a16:creationId xmlns:a16="http://schemas.microsoft.com/office/drawing/2014/main" id="{4101EA91-453B-4A88-8B83-9FBE1964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383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y442yup">
            <a:extLst xmlns:a="http://schemas.openxmlformats.org/drawingml/2006/main">
              <a:ext uri="{FF2B5EF4-FFF2-40B4-BE49-F238E27FC236}">
                <a16:creationId xmlns:a16="http://schemas.microsoft.com/office/drawing/2014/main" id="{3735A17D-CCF1-4B04-95C7-E92952BE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8B5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E8B57"/>
                </a:solidFill>
                <a:latin typeface="PingFang SC"/>
                <a:ea typeface="PingFang SC"/>
                <a:cs typeface="PingFang SC"/>
              </a:rPr>
              <a:t>相对较好的Prompt给出的规则</a:t>
            </a:r>
          </a:p>
        </p:txBody>
      </p:sp>
      <p:sp>
        <p:nvSpPr>
          <p:cNvPr id="8" name="text-k1xgaul">
            <a:extLst xmlns:a="http://schemas.openxmlformats.org/drawingml/2006/main">
              <a:ext uri="{FF2B5EF4-FFF2-40B4-BE49-F238E27FC236}">
                <a16:creationId xmlns:a16="http://schemas.microsoft.com/office/drawing/2014/main" id="{538114B0-AD01-4F64-A1B7-07AAFA55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54483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明确阅读对象与用途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列出材料类型和来源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指定摘要结构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保留冲突与未知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用行动项表格完成检查</a:t>
            </a:r>
          </a:p>
        </p:txBody>
      </p:sp>
      <p:sp>
        <p:nvSpPr>
          <p:cNvPr id="9" name="text-3mwo8b8">
            <a:extLst xmlns:a="http://schemas.openxmlformats.org/drawingml/2006/main">
              <a:ext uri="{FF2B5EF4-FFF2-40B4-BE49-F238E27FC236}">
                <a16:creationId xmlns:a16="http://schemas.microsoft.com/office/drawing/2014/main" id="{3345E1FE-A7EC-444E-9912-425C9466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提示词练习</a:t>
            </a:r>
          </a:p>
        </p:txBody>
      </p:sp>
      <p:sp>
        <p:nvSpPr>
          <p:cNvPr id="10" name="text-z7j62n7">
            <a:extLst xmlns:a="http://schemas.openxmlformats.org/drawingml/2006/main">
              <a:ext uri="{FF2B5EF4-FFF2-40B4-BE49-F238E27FC236}">
                <a16:creationId xmlns:a16="http://schemas.microsoft.com/office/drawing/2014/main" id="{210E7A06-C642-45CC-8AF1-FAAE155A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815378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noqrok2">
            <a:extLst xmlns:a="http://schemas.openxmlformats.org/drawingml/2006/main">
              <a:ext uri="{FF2B5EF4-FFF2-40B4-BE49-F238E27FC236}">
                <a16:creationId xmlns:a16="http://schemas.microsoft.com/office/drawing/2014/main" id="{03FE79DB-2E43-43CF-B285-5BB0B494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为什么需求阶段先用Markdown</a:t>
            </a:r>
          </a:p>
        </p:txBody>
      </p:sp>
      <p:sp>
        <p:nvSpPr>
          <p:cNvPr id="2" name="text-tub76pc">
            <a:extLst xmlns:a="http://schemas.openxmlformats.org/drawingml/2006/main">
              <a:ext uri="{FF2B5EF4-FFF2-40B4-BE49-F238E27FC236}">
                <a16:creationId xmlns:a16="http://schemas.microsoft.com/office/drawing/2014/main" id="{378B49EE-A490-42A5-B810-0E4DFF01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Markdown 与 HTML 都是文本，但适合不同阶段</a:t>
            </a:r>
          </a:p>
        </p:txBody>
      </p:sp>
      <p:sp>
        <p:nvSpPr>
          <p:cNvPr id="3" name="shape-hojkut3">
            <a:extLst xmlns:a="http://schemas.openxmlformats.org/drawingml/2006/main">
              <a:ext uri="{FF2B5EF4-FFF2-40B4-BE49-F238E27FC236}">
                <a16:creationId xmlns:a16="http://schemas.microsoft.com/office/drawing/2014/main" id="{27803416-25AD-4E59-9C04-56F386A5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b5hw25i">
            <a:extLst xmlns:a="http://schemas.openxmlformats.org/drawingml/2006/main">
              <a:ext uri="{FF2B5EF4-FFF2-40B4-BE49-F238E27FC236}">
                <a16:creationId xmlns:a16="http://schemas.microsoft.com/office/drawing/2014/main" id="{4B5573B4-E66C-444E-AF48-B8F43CAF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Markdown：内容与结构</a:t>
            </a:r>
          </a:p>
        </p:txBody>
      </p:sp>
      <p:sp>
        <p:nvSpPr>
          <p:cNvPr id="5" name="text-su3y18e">
            <a:extLst xmlns:a="http://schemas.openxmlformats.org/drawingml/2006/main">
              <a:ext uri="{FF2B5EF4-FFF2-40B4-BE49-F238E27FC236}">
                <a16:creationId xmlns:a16="http://schemas.microsoft.com/office/drawing/2014/main" id="{7DBB558C-0992-4868-B9E8-8E472075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4483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优点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标记短，通常更省Token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源文件可直接阅读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增删、重排、对比修改更快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适合需求、方案和大纲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限制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精确排版和交互能力有限</a:t>
            </a:r>
          </a:p>
        </p:txBody>
      </p:sp>
      <p:sp>
        <p:nvSpPr>
          <p:cNvPr id="6" name="shape-gvxwn3b">
            <a:extLst xmlns:a="http://schemas.openxmlformats.org/drawingml/2006/main">
              <a:ext uri="{FF2B5EF4-FFF2-40B4-BE49-F238E27FC236}">
                <a16:creationId xmlns:a16="http://schemas.microsoft.com/office/drawing/2014/main" id="{F47C9F15-3F0E-4291-9A68-8F74BBA0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383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hbo2e7y">
            <a:extLst xmlns:a="http://schemas.openxmlformats.org/drawingml/2006/main">
              <a:ext uri="{FF2B5EF4-FFF2-40B4-BE49-F238E27FC236}">
                <a16:creationId xmlns:a16="http://schemas.microsoft.com/office/drawing/2014/main" id="{3DFC0F03-E0DD-475A-BF48-6F87305D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HTML：视觉与交互</a:t>
            </a:r>
          </a:p>
        </p:txBody>
      </p:sp>
      <p:sp>
        <p:nvSpPr>
          <p:cNvPr id="8" name="text-3s5s903">
            <a:extLst xmlns:a="http://schemas.openxmlformats.org/drawingml/2006/main">
              <a:ext uri="{FF2B5EF4-FFF2-40B4-BE49-F238E27FC236}">
                <a16:creationId xmlns:a16="http://schemas.microsoft.com/office/drawing/2014/main" id="{A6AED75E-B457-4937-9DA7-F4AF1D01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54483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优点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精确控制布局、颜色和页面结构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可结合CSS和JavaScript实现交互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适合浏览器预览和网页成品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限制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标签与样式增加长度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需求未定时修改成本更高</a:t>
            </a:r>
          </a:p>
        </p:txBody>
      </p:sp>
      <p:sp>
        <p:nvSpPr>
          <p:cNvPr id="9" name="text-165nwkw">
            <a:extLst xmlns:a="http://schemas.openxmlformats.org/drawingml/2006/main">
              <a:ext uri="{FF2B5EF4-FFF2-40B4-BE49-F238E27FC236}">
                <a16:creationId xmlns:a16="http://schemas.microsoft.com/office/drawing/2014/main" id="{E4FA915C-DA55-415F-A518-D1589542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  <p:sp>
        <p:nvSpPr>
          <p:cNvPr id="10" name="text-85pmk44">
            <a:extLst xmlns:a="http://schemas.openxmlformats.org/drawingml/2006/main">
              <a:ext uri="{FF2B5EF4-FFF2-40B4-BE49-F238E27FC236}">
                <a16:creationId xmlns:a16="http://schemas.microsoft.com/office/drawing/2014/main" id="{FBB134AA-58C4-400E-BDD6-6528F2DE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820520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puf109t">
            <a:extLst xmlns:a="http://schemas.openxmlformats.org/drawingml/2006/main">
              <a:ext uri="{FF2B5EF4-FFF2-40B4-BE49-F238E27FC236}">
                <a16:creationId xmlns:a16="http://schemas.microsoft.com/office/drawing/2014/main" id="{91D77C06-FBC9-4B0F-937D-6A6577DE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不计算固定节省比例</a:t>
            </a:r>
          </a:p>
        </p:txBody>
      </p:sp>
      <p:sp>
        <p:nvSpPr>
          <p:cNvPr id="2" name="text-owiijyg">
            <a:extLst xmlns:a="http://schemas.openxmlformats.org/drawingml/2006/main">
              <a:ext uri="{FF2B5EF4-FFF2-40B4-BE49-F238E27FC236}">
                <a16:creationId xmlns:a16="http://schemas.microsoft.com/office/drawing/2014/main" id="{71CD5C90-120C-4CEE-B1C9-AFE2DD3A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表达同一信息，Markdown 的标记更轻</a:t>
            </a:r>
          </a:p>
        </p:txBody>
      </p:sp>
      <p:sp>
        <p:nvSpPr>
          <p:cNvPr id="3" name="shape-68exgsp">
            <a:extLst xmlns:a="http://schemas.openxmlformats.org/drawingml/2006/main">
              <a:ext uri="{FF2B5EF4-FFF2-40B4-BE49-F238E27FC236}">
                <a16:creationId xmlns:a16="http://schemas.microsoft.com/office/drawing/2014/main" id="{6CB6F07A-C467-45E6-BDE7-1BC7649A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4x7491">
            <a:extLst xmlns:a="http://schemas.openxmlformats.org/drawingml/2006/main">
              <a:ext uri="{FF2B5EF4-FFF2-40B4-BE49-F238E27FC236}">
                <a16:creationId xmlns:a16="http://schemas.microsoft.com/office/drawing/2014/main" id="{9ED0C5CE-12C8-43AC-A692-03776345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Markdown</a:t>
            </a:r>
          </a:p>
        </p:txBody>
      </p:sp>
      <p:sp>
        <p:nvSpPr>
          <p:cNvPr id="5" name="shape-de4r1b0">
            <a:extLst xmlns:a="http://schemas.openxmlformats.org/drawingml/2006/main">
              <a:ext uri="{FF2B5EF4-FFF2-40B4-BE49-F238E27FC236}">
                <a16:creationId xmlns:a16="http://schemas.microsoft.com/office/drawing/2014/main" id="{8EFFDAD7-F701-40FE-B437-91B75F0B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048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et2knc8">
            <a:extLst xmlns:a="http://schemas.openxmlformats.org/drawingml/2006/main">
              <a:ext uri="{FF2B5EF4-FFF2-40B4-BE49-F238E27FC236}">
                <a16:creationId xmlns:a16="http://schemas.microsoft.com/office/drawing/2014/main" id="{B1D64BE8-9A6D-4953-BCC8-41F37DE7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## 核心指标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- 销售额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- 利润率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- 目标完成率</a:t>
            </a:r>
          </a:p>
        </p:txBody>
      </p:sp>
      <p:sp>
        <p:nvSpPr>
          <p:cNvPr id="7" name="text-rvf9bjt">
            <a:extLst xmlns:a="http://schemas.openxmlformats.org/drawingml/2006/main">
              <a:ext uri="{FF2B5EF4-FFF2-40B4-BE49-F238E27FC236}">
                <a16:creationId xmlns:a16="http://schemas.microsoft.com/office/drawing/2014/main" id="{E3A956B2-42D4-495F-933E-27268DC9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HTML</a:t>
            </a:r>
          </a:p>
        </p:txBody>
      </p:sp>
      <p:sp>
        <p:nvSpPr>
          <p:cNvPr id="8" name="shape-57490w6">
            <a:extLst xmlns:a="http://schemas.openxmlformats.org/drawingml/2006/main">
              <a:ext uri="{FF2B5EF4-FFF2-40B4-BE49-F238E27FC236}">
                <a16:creationId xmlns:a16="http://schemas.microsoft.com/office/drawing/2014/main" id="{BE61216C-FA31-45B6-9DD8-A8AAE151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048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tqrflnv">
            <a:extLst xmlns:a="http://schemas.openxmlformats.org/drawingml/2006/main">
              <a:ext uri="{FF2B5EF4-FFF2-40B4-BE49-F238E27FC236}">
                <a16:creationId xmlns:a16="http://schemas.microsoft.com/office/drawing/2014/main" id="{831515BE-32E4-4AEE-9FA5-850979C5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447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&lt;h2&gt;核心指标&lt;/h2&gt;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&lt;ul&gt;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&lt;li&gt;销售额&lt;/li&gt;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&lt;li&gt;利润率&lt;/li&gt;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  &lt;li&gt;目标完成率&lt;/li&gt;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&lt;/ul&gt;</a:t>
            </a:r>
          </a:p>
        </p:txBody>
      </p:sp>
      <p:sp>
        <p:nvSpPr>
          <p:cNvPr id="10" name="text-kba1t8d">
            <a:extLst xmlns:a="http://schemas.openxmlformats.org/drawingml/2006/main">
              <a:ext uri="{FF2B5EF4-FFF2-40B4-BE49-F238E27FC236}">
                <a16:creationId xmlns:a16="http://schemas.microsoft.com/office/drawing/2014/main" id="{CC40822C-36A1-4F2C-AB06-5B09BD22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把有限上下文优先留给业务内容，而不是大量页面标签和样式。</a:t>
            </a:r>
          </a:p>
        </p:txBody>
      </p:sp>
      <p:sp>
        <p:nvSpPr>
          <p:cNvPr id="11" name="text-2vh0ptt">
            <a:extLst xmlns:a="http://schemas.openxmlformats.org/drawingml/2006/main">
              <a:ext uri="{FF2B5EF4-FFF2-40B4-BE49-F238E27FC236}">
                <a16:creationId xmlns:a16="http://schemas.microsoft.com/office/drawing/2014/main" id="{D1CBADB0-0490-416F-AECB-3FC1EC97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  <p:sp>
        <p:nvSpPr>
          <p:cNvPr id="12" name="text-m4omr7h">
            <a:extLst xmlns:a="http://schemas.openxmlformats.org/drawingml/2006/main">
              <a:ext uri="{FF2B5EF4-FFF2-40B4-BE49-F238E27FC236}">
                <a16:creationId xmlns:a16="http://schemas.microsoft.com/office/drawing/2014/main" id="{270D2BD2-2AF6-4517-88C2-8D35CA13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6453614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jp12xiy">
            <a:extLst xmlns:a="http://schemas.openxmlformats.org/drawingml/2006/main">
              <a:ext uri="{FF2B5EF4-FFF2-40B4-BE49-F238E27FC236}">
                <a16:creationId xmlns:a16="http://schemas.microsoft.com/office/drawing/2014/main" id="{317BFB61-843F-4E01-A213-8EAA18EB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让AI提出不超过5个关键问题</a:t>
            </a:r>
          </a:p>
        </p:txBody>
      </p:sp>
      <p:sp>
        <p:nvSpPr>
          <p:cNvPr id="2" name="text-tmiwc2n">
            <a:extLst xmlns:a="http://schemas.openxmlformats.org/drawingml/2006/main">
              <a:ext uri="{FF2B5EF4-FFF2-40B4-BE49-F238E27FC236}">
                <a16:creationId xmlns:a16="http://schemas.microsoft.com/office/drawing/2014/main" id="{55A74802-651F-40D0-B008-2FF3894C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生成文件之前，先确认五类关键问题</a:t>
            </a:r>
          </a:p>
        </p:txBody>
      </p:sp>
      <p:sp>
        <p:nvSpPr>
          <p:cNvPr id="3" name="shape-t98b1r6">
            <a:extLst xmlns:a="http://schemas.openxmlformats.org/drawingml/2006/main">
              <a:ext uri="{FF2B5EF4-FFF2-40B4-BE49-F238E27FC236}">
                <a16:creationId xmlns:a16="http://schemas.microsoft.com/office/drawing/2014/main" id="{8B7E72C7-7D09-4B40-B5BF-826155DA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xwaqxob">
            <a:extLst xmlns:a="http://schemas.openxmlformats.org/drawingml/2006/main">
              <a:ext uri="{FF2B5EF4-FFF2-40B4-BE49-F238E27FC236}">
                <a16:creationId xmlns:a16="http://schemas.microsoft.com/office/drawing/2014/main" id="{4D555239-32CA-4EBD-9CAA-224F279E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-db87suf">
            <a:extLst xmlns:a="http://schemas.openxmlformats.org/drawingml/2006/main">
              <a:ext uri="{FF2B5EF4-FFF2-40B4-BE49-F238E27FC236}">
                <a16:creationId xmlns:a16="http://schemas.microsoft.com/office/drawing/2014/main" id="{872028A8-0FC8-4A22-B0FE-5999AF3A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66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业务目标</a:t>
            </a:r>
          </a:p>
        </p:txBody>
      </p:sp>
      <p:sp>
        <p:nvSpPr>
          <p:cNvPr id="6" name="text-cegplp8">
            <a:extLst xmlns:a="http://schemas.openxmlformats.org/drawingml/2006/main">
              <a:ext uri="{FF2B5EF4-FFF2-40B4-BE49-F238E27FC236}">
                <a16:creationId xmlns:a16="http://schemas.microsoft.com/office/drawing/2014/main" id="{9441A38C-66D2-4351-BAA2-5CD125A7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85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这次任务要解决什么问题、推动什么决定？</a:t>
            </a:r>
          </a:p>
        </p:txBody>
      </p:sp>
      <p:sp>
        <p:nvSpPr>
          <p:cNvPr id="7" name="shape-mydyvtz">
            <a:extLst xmlns:a="http://schemas.openxmlformats.org/drawingml/2006/main">
              <a:ext uri="{FF2B5EF4-FFF2-40B4-BE49-F238E27FC236}">
                <a16:creationId xmlns:a16="http://schemas.microsoft.com/office/drawing/2014/main" id="{8AA39790-53A4-4F73-B717-731635BB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ee96o5u">
            <a:extLst xmlns:a="http://schemas.openxmlformats.org/drawingml/2006/main">
              <a:ext uri="{FF2B5EF4-FFF2-40B4-BE49-F238E27FC236}">
                <a16:creationId xmlns:a16="http://schemas.microsoft.com/office/drawing/2014/main" id="{DC33BDDD-CBC8-4067-9BD8-E5E4C5FD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text-6zwo0ep">
            <a:extLst xmlns:a="http://schemas.openxmlformats.org/drawingml/2006/main">
              <a:ext uri="{FF2B5EF4-FFF2-40B4-BE49-F238E27FC236}">
                <a16:creationId xmlns:a16="http://schemas.microsoft.com/office/drawing/2014/main" id="{554EEB35-6D2F-454C-B564-AE933807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使用对象</a:t>
            </a:r>
          </a:p>
        </p:txBody>
      </p:sp>
      <p:sp>
        <p:nvSpPr>
          <p:cNvPr id="10" name="text-ncrvdee">
            <a:extLst xmlns:a="http://schemas.openxmlformats.org/drawingml/2006/main">
              <a:ext uri="{FF2B5EF4-FFF2-40B4-BE49-F238E27FC236}">
                <a16:creationId xmlns:a16="http://schemas.microsoft.com/office/drawing/2014/main" id="{B1C86005-C5D2-4294-9A8F-E555DB02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47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谁阅读、谁操作、谁最终确认？</a:t>
            </a:r>
          </a:p>
        </p:txBody>
      </p:sp>
      <p:sp>
        <p:nvSpPr>
          <p:cNvPr id="11" name="shape-gqdx3nn">
            <a:extLst xmlns:a="http://schemas.openxmlformats.org/drawingml/2006/main">
              <a:ext uri="{FF2B5EF4-FFF2-40B4-BE49-F238E27FC236}">
                <a16:creationId xmlns:a16="http://schemas.microsoft.com/office/drawing/2014/main" id="{C9935EA0-BA28-4C27-A1E6-8E853CAD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iyvjo3w">
            <a:extLst xmlns:a="http://schemas.openxmlformats.org/drawingml/2006/main">
              <a:ext uri="{FF2B5EF4-FFF2-40B4-BE49-F238E27FC236}">
                <a16:creationId xmlns:a16="http://schemas.microsoft.com/office/drawing/2014/main" id="{4CE723CE-83FA-4D95-B61F-5F4276B0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text-g2sul3a">
            <a:extLst xmlns:a="http://schemas.openxmlformats.org/drawingml/2006/main">
              <a:ext uri="{FF2B5EF4-FFF2-40B4-BE49-F238E27FC236}">
                <a16:creationId xmlns:a16="http://schemas.microsoft.com/office/drawing/2014/main" id="{B29A771A-169B-453D-A144-EB019713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90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数据与范围</a:t>
            </a:r>
          </a:p>
        </p:txBody>
      </p:sp>
      <p:sp>
        <p:nvSpPr>
          <p:cNvPr id="14" name="text-2m046qc">
            <a:extLst xmlns:a="http://schemas.openxmlformats.org/drawingml/2006/main">
              <a:ext uri="{FF2B5EF4-FFF2-40B4-BE49-F238E27FC236}">
                <a16:creationId xmlns:a16="http://schemas.microsoft.com/office/drawing/2014/main" id="{A06A1F21-F508-4F4F-94E4-5C5349D2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9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来源、时间、字段、维度、指标和口径是什么？</a:t>
            </a:r>
          </a:p>
        </p:txBody>
      </p:sp>
      <p:sp>
        <p:nvSpPr>
          <p:cNvPr id="15" name="shape-3u5r8yg">
            <a:extLst xmlns:a="http://schemas.openxmlformats.org/drawingml/2006/main">
              <a:ext uri="{FF2B5EF4-FFF2-40B4-BE49-F238E27FC236}">
                <a16:creationId xmlns:a16="http://schemas.microsoft.com/office/drawing/2014/main" id="{24F28D31-8D53-438F-9EE5-6D9A85A0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q1a5e1b">
            <a:extLst xmlns:a="http://schemas.openxmlformats.org/drawingml/2006/main">
              <a:ext uri="{FF2B5EF4-FFF2-40B4-BE49-F238E27FC236}">
                <a16:creationId xmlns:a16="http://schemas.microsoft.com/office/drawing/2014/main" id="{4D3127E6-0DC3-421A-BAB4-ADB15B23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text-cngyyzt">
            <a:extLst xmlns:a="http://schemas.openxmlformats.org/drawingml/2006/main">
              <a:ext uri="{FF2B5EF4-FFF2-40B4-BE49-F238E27FC236}">
                <a16:creationId xmlns:a16="http://schemas.microsoft.com/office/drawing/2014/main" id="{EB86A316-07C0-4E8B-8284-07C10B99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52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交付要求</a:t>
            </a:r>
          </a:p>
        </p:txBody>
      </p:sp>
      <p:sp>
        <p:nvSpPr>
          <p:cNvPr id="18" name="text-3v0wevs">
            <a:extLst xmlns:a="http://schemas.openxmlformats.org/drawingml/2006/main">
              <a:ext uri="{FF2B5EF4-FFF2-40B4-BE49-F238E27FC236}">
                <a16:creationId xmlns:a16="http://schemas.microsoft.com/office/drawing/2014/main" id="{2700F473-3D56-442D-A2B2-151E8EF2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71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需要Excel、PPT、HTML，还是先给Markdown方案？</a:t>
            </a:r>
          </a:p>
        </p:txBody>
      </p:sp>
      <p:sp>
        <p:nvSpPr>
          <p:cNvPr id="19" name="shape-uwdlbad">
            <a:extLst xmlns:a="http://schemas.openxmlformats.org/drawingml/2006/main">
              <a:ext uri="{FF2B5EF4-FFF2-40B4-BE49-F238E27FC236}">
                <a16:creationId xmlns:a16="http://schemas.microsoft.com/office/drawing/2014/main" id="{D1CCD44D-26FF-4264-97DB-D271DF6C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3smhvn4">
            <a:extLst xmlns:a="http://schemas.openxmlformats.org/drawingml/2006/main">
              <a:ext uri="{FF2B5EF4-FFF2-40B4-BE49-F238E27FC236}">
                <a16:creationId xmlns:a16="http://schemas.microsoft.com/office/drawing/2014/main" id="{91B20D47-EC52-40E5-ADB6-303A342E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1" name="text-c7nhyyw">
            <a:extLst xmlns:a="http://schemas.openxmlformats.org/drawingml/2006/main">
              <a:ext uri="{FF2B5EF4-FFF2-40B4-BE49-F238E27FC236}">
                <a16:creationId xmlns:a16="http://schemas.microsoft.com/office/drawing/2014/main" id="{59897FB0-D031-44CE-BE69-34568300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14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边界与验收</a:t>
            </a:r>
          </a:p>
        </p:txBody>
      </p:sp>
      <p:sp>
        <p:nvSpPr>
          <p:cNvPr id="22" name="text-kfw1ueu">
            <a:extLst xmlns:a="http://schemas.openxmlformats.org/drawingml/2006/main">
              <a:ext uri="{FF2B5EF4-FFF2-40B4-BE49-F238E27FC236}">
                <a16:creationId xmlns:a16="http://schemas.microsoft.com/office/drawing/2014/main" id="{A5C44209-09D1-4064-8F13-3EBCB19F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3392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哪些不能猜、怎样检查、敏感信息怎样处理？</a:t>
            </a:r>
          </a:p>
        </p:txBody>
      </p:sp>
      <p:sp>
        <p:nvSpPr>
          <p:cNvPr id="23" name="text-rv1ve2k">
            <a:extLst xmlns:a="http://schemas.openxmlformats.org/drawingml/2006/main">
              <a:ext uri="{FF2B5EF4-FFF2-40B4-BE49-F238E27FC236}">
                <a16:creationId xmlns:a16="http://schemas.microsoft.com/office/drawing/2014/main" id="{E6B100E9-D2E7-4A62-89CD-3871CE5E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  <p:sp>
        <p:nvSpPr>
          <p:cNvPr id="24" name="text-9x77cd9">
            <a:extLst xmlns:a="http://schemas.openxmlformats.org/drawingml/2006/main">
              <a:ext uri="{FF2B5EF4-FFF2-40B4-BE49-F238E27FC236}">
                <a16:creationId xmlns:a16="http://schemas.microsoft.com/office/drawing/2014/main" id="{E3655139-41F7-493E-94B0-5B1F2324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851589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5um1iia">
            <a:extLst xmlns:a="http://schemas.openxmlformats.org/drawingml/2006/main">
              <a:ext uri="{FF2B5EF4-FFF2-40B4-BE49-F238E27FC236}">
                <a16:creationId xmlns:a16="http://schemas.microsoft.com/office/drawing/2014/main" id="{BFE7D637-1F74-416B-BD62-21A45907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双方共同依据</a:t>
            </a:r>
          </a:p>
        </p:txBody>
      </p:sp>
      <p:sp>
        <p:nvSpPr>
          <p:cNvPr id="2" name="text-isxo76e">
            <a:extLst xmlns:a="http://schemas.openxmlformats.org/drawingml/2006/main">
              <a:ext uri="{FF2B5EF4-FFF2-40B4-BE49-F238E27FC236}">
                <a16:creationId xmlns:a16="http://schemas.microsoft.com/office/drawing/2014/main" id="{D06059B5-D97C-4CAC-BE70-CBCE2264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把商讨结果写成一张 Markdown 需求确认单</a:t>
            </a:r>
          </a:p>
        </p:txBody>
      </p:sp>
      <p:sp>
        <p:nvSpPr>
          <p:cNvPr id="3" name="shape-4tl81vf">
            <a:extLst xmlns:a="http://schemas.openxmlformats.org/drawingml/2006/main">
              <a:ext uri="{FF2B5EF4-FFF2-40B4-BE49-F238E27FC236}">
                <a16:creationId xmlns:a16="http://schemas.microsoft.com/office/drawing/2014/main" id="{47CC4DEE-CC45-4640-A71F-A059188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opuzxwc">
            <a:extLst xmlns:a="http://schemas.openxmlformats.org/drawingml/2006/main">
              <a:ext uri="{FF2B5EF4-FFF2-40B4-BE49-F238E27FC236}">
                <a16:creationId xmlns:a16="http://schemas.microsoft.com/office/drawing/2014/main" id="{1386D2A9-3DE1-4C0E-BBD8-90FE00D5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-gwlc6ta">
            <a:extLst xmlns:a="http://schemas.openxmlformats.org/drawingml/2006/main">
              <a:ext uri="{FF2B5EF4-FFF2-40B4-BE49-F238E27FC236}">
                <a16:creationId xmlns:a16="http://schemas.microsoft.com/office/drawing/2014/main" id="{6C24EBD9-DCFC-4E89-8A27-2FC560E2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4333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业务目标：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使用对象：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数据来源：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统计范围：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关键字段：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分析维度：</a:t>
            </a:r>
          </a:p>
        </p:txBody>
      </p:sp>
      <p:sp>
        <p:nvSpPr>
          <p:cNvPr id="6" name="shape-k1rnaqy">
            <a:extLst xmlns:a="http://schemas.openxmlformats.org/drawingml/2006/main">
              <a:ext uri="{FF2B5EF4-FFF2-40B4-BE49-F238E27FC236}">
                <a16:creationId xmlns:a16="http://schemas.microsoft.com/office/drawing/2014/main" id="{D63A3DD3-8489-4CAB-9917-2F19D583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23rljlb">
            <a:extLst xmlns:a="http://schemas.openxmlformats.org/drawingml/2006/main">
              <a:ext uri="{FF2B5EF4-FFF2-40B4-BE49-F238E27FC236}">
                <a16:creationId xmlns:a16="http://schemas.microsoft.com/office/drawing/2014/main" id="{D79C3278-6784-43CA-98A7-ACCBD859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333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核心指标与口径：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Excel交付要求：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PPT交付要求：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敏感信息处理：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待确认问题：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11111"/>
                </a:solidFill>
                <a:latin typeface="Menlo"/>
                <a:ea typeface="Menlo"/>
                <a:cs typeface="Menlo"/>
              </a:rPr>
              <a:t>最终确认人：</a:t>
            </a:r>
          </a:p>
        </p:txBody>
      </p:sp>
      <p:sp>
        <p:nvSpPr>
          <p:cNvPr id="8" name="text-bqq8vpa">
            <a:extLst xmlns:a="http://schemas.openxmlformats.org/drawingml/2006/main">
              <a:ext uri="{FF2B5EF4-FFF2-40B4-BE49-F238E27FC236}">
                <a16:creationId xmlns:a16="http://schemas.microsoft.com/office/drawing/2014/main" id="{6EA37D61-7FEE-4589-A26E-63209FCB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需求商讨与Markdown固化</a:t>
            </a:r>
          </a:p>
        </p:txBody>
      </p:sp>
      <p:sp>
        <p:nvSpPr>
          <p:cNvPr id="9" name="text-y9boisl">
            <a:extLst xmlns:a="http://schemas.openxmlformats.org/drawingml/2006/main">
              <a:ext uri="{FF2B5EF4-FFF2-40B4-BE49-F238E27FC236}">
                <a16:creationId xmlns:a16="http://schemas.microsoft.com/office/drawing/2014/main" id="{9E5176DE-BF57-4FB1-9229-A51CEBD5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4354474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n1dcbd6">
            <a:extLst xmlns:a="http://schemas.openxmlformats.org/drawingml/2006/main">
              <a:ext uri="{FF2B5EF4-FFF2-40B4-BE49-F238E27FC236}">
                <a16:creationId xmlns:a16="http://schemas.microsoft.com/office/drawing/2014/main" id="{7E2DEA14-90E4-4461-ABAE-3720E34E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第三部分</a:t>
            </a:r>
          </a:p>
        </p:txBody>
      </p:sp>
      <p:sp>
        <p:nvSpPr>
          <p:cNvPr id="2" name="text-4lu2yy6">
            <a:extLst xmlns:a="http://schemas.openxmlformats.org/drawingml/2006/main">
              <a:ext uri="{FF2B5EF4-FFF2-40B4-BE49-F238E27FC236}">
                <a16:creationId xmlns:a16="http://schemas.microsoft.com/office/drawing/2014/main" id="{832A72B0-A5C8-4FE0-96B8-971F9B18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096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从数据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到可信 Excel</a:t>
            </a:r>
          </a:p>
        </p:txBody>
      </p:sp>
      <p:sp>
        <p:nvSpPr>
          <p:cNvPr id="3" name="shape-abfohur">
            <a:extLst xmlns:a="http://schemas.openxmlformats.org/drawingml/2006/main">
              <a:ext uri="{FF2B5EF4-FFF2-40B4-BE49-F238E27FC236}">
                <a16:creationId xmlns:a16="http://schemas.microsoft.com/office/drawing/2014/main" id="{279640CB-C8C6-4E3A-83BB-BC42A458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l8jhy8n">
            <a:extLst xmlns:a="http://schemas.openxmlformats.org/drawingml/2006/main">
              <a:ext uri="{FF2B5EF4-FFF2-40B4-BE49-F238E27FC236}">
                <a16:creationId xmlns:a16="http://schemas.microsoft.com/office/drawing/2014/main" id="{C11F7126-34AE-40DC-9C91-2BE49845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AI可以加速生成；完整性、一致性和计算口径仍需要验证。</a:t>
            </a:r>
          </a:p>
        </p:txBody>
      </p:sp>
      <p:sp>
        <p:nvSpPr>
          <p:cNvPr id="5" name="text-7fukwmu">
            <a:extLst xmlns:a="http://schemas.openxmlformats.org/drawingml/2006/main">
              <a:ext uri="{FF2B5EF4-FFF2-40B4-BE49-F238E27FC236}">
                <a16:creationId xmlns:a16="http://schemas.microsoft.com/office/drawing/2014/main" id="{D4ACC759-A157-4384-8392-48E1739B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第三部分</a:t>
            </a:r>
          </a:p>
        </p:txBody>
      </p:sp>
      <p:sp>
        <p:nvSpPr>
          <p:cNvPr id="6" name="text-oth8mzt">
            <a:extLst xmlns:a="http://schemas.openxmlformats.org/drawingml/2006/main">
              <a:ext uri="{FF2B5EF4-FFF2-40B4-BE49-F238E27FC236}">
                <a16:creationId xmlns:a16="http://schemas.microsoft.com/office/drawing/2014/main" id="{AB4E7C61-CE96-4CD2-8447-A69842BE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8121700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8y9ebk5">
            <a:extLst xmlns:a="http://schemas.openxmlformats.org/drawingml/2006/main">
              <a:ext uri="{FF2B5EF4-FFF2-40B4-BE49-F238E27FC236}">
                <a16:creationId xmlns:a16="http://schemas.microsoft.com/office/drawing/2014/main" id="{AA72E585-2870-4156-89AF-F6627EAA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Excel工作流</a:t>
            </a:r>
          </a:p>
        </p:txBody>
      </p:sp>
      <p:sp>
        <p:nvSpPr>
          <p:cNvPr id="2" name="text-qewa0uw">
            <a:extLst xmlns:a="http://schemas.openxmlformats.org/drawingml/2006/main">
              <a:ext uri="{FF2B5EF4-FFF2-40B4-BE49-F238E27FC236}">
                <a16:creationId xmlns:a16="http://schemas.microsoft.com/office/drawing/2014/main" id="{0FAECBDA-B1A6-4756-AE60-D9C8E117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可信报表来自“先规划、再生成、后验证”</a:t>
            </a:r>
          </a:p>
        </p:txBody>
      </p:sp>
      <p:sp>
        <p:nvSpPr>
          <p:cNvPr id="3" name="shape-bg2xbfb">
            <a:extLst xmlns:a="http://schemas.openxmlformats.org/drawingml/2006/main">
              <a:ext uri="{FF2B5EF4-FFF2-40B4-BE49-F238E27FC236}">
                <a16:creationId xmlns:a16="http://schemas.microsoft.com/office/drawing/2014/main" id="{8316FB1B-F4EA-4D62-B5D4-880672AC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1jfqt56">
            <a:extLst xmlns:a="http://schemas.openxmlformats.org/drawingml/2006/main">
              <a:ext uri="{FF2B5EF4-FFF2-40B4-BE49-F238E27FC236}">
                <a16:creationId xmlns:a16="http://schemas.microsoft.com/office/drawing/2014/main" id="{E46A1EBD-C666-4252-8745-7144DBDB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-dfy1eei">
            <a:extLst xmlns:a="http://schemas.openxmlformats.org/drawingml/2006/main">
              <a:ext uri="{FF2B5EF4-FFF2-40B4-BE49-F238E27FC236}">
                <a16:creationId xmlns:a16="http://schemas.microsoft.com/office/drawing/2014/main" id="{08531C0C-728F-4AFA-AE58-11568F7C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e2ykh5s">
            <a:extLst xmlns:a="http://schemas.openxmlformats.org/drawingml/2006/main">
              <a:ext uri="{FF2B5EF4-FFF2-40B4-BE49-F238E27FC236}">
                <a16:creationId xmlns:a16="http://schemas.microsoft.com/office/drawing/2014/main" id="{8BBA1A5B-438F-484A-B045-2E795B8F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检查材料</a:t>
            </a:r>
          </a:p>
        </p:txBody>
      </p:sp>
      <p:sp>
        <p:nvSpPr>
          <p:cNvPr id="7" name="text-tylrm34">
            <a:extLst xmlns:a="http://schemas.openxmlformats.org/drawingml/2006/main">
              <a:ext uri="{FF2B5EF4-FFF2-40B4-BE49-F238E27FC236}">
                <a16:creationId xmlns:a16="http://schemas.microsoft.com/office/drawing/2014/main" id="{0D3BFA98-2BBD-4324-8DFD-EF9F37D8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范围、字段、敏感信息</a:t>
            </a:r>
          </a:p>
        </p:txBody>
      </p:sp>
      <p:sp>
        <p:nvSpPr>
          <p:cNvPr id="8" name="text-de00xug">
            <a:extLst xmlns:a="http://schemas.openxmlformats.org/drawingml/2006/main">
              <a:ext uri="{FF2B5EF4-FFF2-40B4-BE49-F238E27FC236}">
                <a16:creationId xmlns:a16="http://schemas.microsoft.com/office/drawing/2014/main" id="{18DC75DD-52DC-40DB-935B-CB20B0A1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1u2fa0h">
            <a:extLst xmlns:a="http://schemas.openxmlformats.org/drawingml/2006/main">
              <a:ext uri="{FF2B5EF4-FFF2-40B4-BE49-F238E27FC236}">
                <a16:creationId xmlns:a16="http://schemas.microsoft.com/office/drawing/2014/main" id="{4A710F14-BA60-4802-91F5-62EA54F8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c1byf43">
            <a:extLst xmlns:a="http://schemas.openxmlformats.org/drawingml/2006/main">
              <a:ext uri="{FF2B5EF4-FFF2-40B4-BE49-F238E27FC236}">
                <a16:creationId xmlns:a16="http://schemas.microsoft.com/office/drawing/2014/main" id="{21325422-7739-42A3-BC36-2CAF621E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z5w7x6i">
            <a:extLst xmlns:a="http://schemas.openxmlformats.org/drawingml/2006/main">
              <a:ext uri="{FF2B5EF4-FFF2-40B4-BE49-F238E27FC236}">
                <a16:creationId xmlns:a16="http://schemas.microsoft.com/office/drawing/2014/main" id="{679BD575-21A4-443C-A810-34394036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规划结构</a:t>
            </a:r>
          </a:p>
        </p:txBody>
      </p:sp>
      <p:sp>
        <p:nvSpPr>
          <p:cNvPr id="12" name="text-mun8w8l">
            <a:extLst xmlns:a="http://schemas.openxmlformats.org/drawingml/2006/main">
              <a:ext uri="{FF2B5EF4-FFF2-40B4-BE49-F238E27FC236}">
                <a16:creationId xmlns:a16="http://schemas.microsoft.com/office/drawing/2014/main" id="{BD0004CA-8B18-441C-9727-83E5CF64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工作表、字段、公式、汇总</a:t>
            </a:r>
          </a:p>
        </p:txBody>
      </p:sp>
      <p:sp>
        <p:nvSpPr>
          <p:cNvPr id="13" name="text-r5jtmsv">
            <a:extLst xmlns:a="http://schemas.openxmlformats.org/drawingml/2006/main">
              <a:ext uri="{FF2B5EF4-FFF2-40B4-BE49-F238E27FC236}">
                <a16:creationId xmlns:a16="http://schemas.microsoft.com/office/drawing/2014/main" id="{6260027D-7F23-48B3-9705-D27B016D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zxs9hgj">
            <a:extLst xmlns:a="http://schemas.openxmlformats.org/drawingml/2006/main">
              <a:ext uri="{FF2B5EF4-FFF2-40B4-BE49-F238E27FC236}">
                <a16:creationId xmlns:a16="http://schemas.microsoft.com/office/drawing/2014/main" id="{53810615-D165-454E-8D00-89876EB1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fggo29n">
            <a:extLst xmlns:a="http://schemas.openxmlformats.org/drawingml/2006/main">
              <a:ext uri="{FF2B5EF4-FFF2-40B4-BE49-F238E27FC236}">
                <a16:creationId xmlns:a16="http://schemas.microsoft.com/office/drawing/2014/main" id="{587C4874-AB8F-48B7-99C8-01048F0B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itvmw5c">
            <a:extLst xmlns:a="http://schemas.openxmlformats.org/drawingml/2006/main">
              <a:ext uri="{FF2B5EF4-FFF2-40B4-BE49-F238E27FC236}">
                <a16:creationId xmlns:a16="http://schemas.microsoft.com/office/drawing/2014/main" id="{2F4A5196-FE1B-4FE0-9473-DC72F15E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生成报表</a:t>
            </a:r>
          </a:p>
        </p:txBody>
      </p:sp>
      <p:sp>
        <p:nvSpPr>
          <p:cNvPr id="17" name="text-c56bzbk">
            <a:extLst xmlns:a="http://schemas.openxmlformats.org/drawingml/2006/main">
              <a:ext uri="{FF2B5EF4-FFF2-40B4-BE49-F238E27FC236}">
                <a16:creationId xmlns:a16="http://schemas.microsoft.com/office/drawing/2014/main" id="{92E399DF-36E2-4C7D-BEA2-3251870F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先小样，确认后处理完整数据</a:t>
            </a:r>
          </a:p>
        </p:txBody>
      </p:sp>
      <p:sp>
        <p:nvSpPr>
          <p:cNvPr id="18" name="text-76r277g">
            <a:extLst xmlns:a="http://schemas.openxmlformats.org/drawingml/2006/main">
              <a:ext uri="{FF2B5EF4-FFF2-40B4-BE49-F238E27FC236}">
                <a16:creationId xmlns:a16="http://schemas.microsoft.com/office/drawing/2014/main" id="{1465E996-4DF6-4B46-A0A5-B8DE8D11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1iikkok">
            <a:extLst xmlns:a="http://schemas.openxmlformats.org/drawingml/2006/main">
              <a:ext uri="{FF2B5EF4-FFF2-40B4-BE49-F238E27FC236}">
                <a16:creationId xmlns:a16="http://schemas.microsoft.com/office/drawing/2014/main" id="{46217710-A0C4-4FFA-8959-E62D4F69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44t6qzi">
            <a:extLst xmlns:a="http://schemas.openxmlformats.org/drawingml/2006/main">
              <a:ext uri="{FF2B5EF4-FFF2-40B4-BE49-F238E27FC236}">
                <a16:creationId xmlns:a16="http://schemas.microsoft.com/office/drawing/2014/main" id="{51779776-5F93-4B7F-A15F-CCD9D479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xwwit4t">
            <a:extLst xmlns:a="http://schemas.openxmlformats.org/drawingml/2006/main">
              <a:ext uri="{FF2B5EF4-FFF2-40B4-BE49-F238E27FC236}">
                <a16:creationId xmlns:a16="http://schemas.microsoft.com/office/drawing/2014/main" id="{81AD9D96-85D2-4F17-BF5D-2397BB56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验证结果</a:t>
            </a:r>
          </a:p>
        </p:txBody>
      </p:sp>
      <p:sp>
        <p:nvSpPr>
          <p:cNvPr id="22" name="text-4cdpz5d">
            <a:extLst xmlns:a="http://schemas.openxmlformats.org/drawingml/2006/main">
              <a:ext uri="{FF2B5EF4-FFF2-40B4-BE49-F238E27FC236}">
                <a16:creationId xmlns:a16="http://schemas.microsoft.com/office/drawing/2014/main" id="{E7DF638E-BB2F-4566-A469-36673CCC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空值、重复、公式、异常</a:t>
            </a:r>
          </a:p>
        </p:txBody>
      </p:sp>
      <p:sp>
        <p:nvSpPr>
          <p:cNvPr id="23" name="text-rgf9fxg">
            <a:extLst xmlns:a="http://schemas.openxmlformats.org/drawingml/2006/main">
              <a:ext uri="{FF2B5EF4-FFF2-40B4-BE49-F238E27FC236}">
                <a16:creationId xmlns:a16="http://schemas.microsoft.com/office/drawing/2014/main" id="{D609499A-65DD-4D56-9804-B9EA2190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从数据到Excel报表</a:t>
            </a:r>
          </a:p>
        </p:txBody>
      </p:sp>
      <p:sp>
        <p:nvSpPr>
          <p:cNvPr id="24" name="text-mpe8b29">
            <a:extLst xmlns:a="http://schemas.openxmlformats.org/drawingml/2006/main">
              <a:ext uri="{FF2B5EF4-FFF2-40B4-BE49-F238E27FC236}">
                <a16:creationId xmlns:a16="http://schemas.microsoft.com/office/drawing/2014/main" id="{BB8DC998-EAC3-45BE-B642-6EAA05EB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87305378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text-porvfzh">
            <a:extLst xmlns:a="http://schemas.openxmlformats.org/drawingml/2006/main">
              <a:ext uri="{FF2B5EF4-FFF2-40B4-BE49-F238E27FC236}">
                <a16:creationId xmlns:a16="http://schemas.microsoft.com/office/drawing/2014/main" id="{F685B933-5593-42A5-95F3-5317F165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课堂模拟数据｜非真实业务数据</a:t>
            </a:r>
          </a:p>
        </p:txBody>
      </p:sp>
      <p:sp>
        <p:nvSpPr>
          <p:cNvPr id="2" name="text-dcq1etn">
            <a:extLst xmlns:a="http://schemas.openxmlformats.org/drawingml/2006/main">
              <a:ext uri="{FF2B5EF4-FFF2-40B4-BE49-F238E27FC236}">
                <a16:creationId xmlns:a16="http://schemas.microsoft.com/office/drawing/2014/main" id="{E976891D-F1B7-4A5A-8438-3F3EFE96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让 AI 在课堂模拟数据里主动发现问题</a:t>
            </a:r>
          </a:p>
        </p:txBody>
      </p:sp>
      <p:sp>
        <p:nvSpPr>
          <p:cNvPr id="3" name="shape-a7ydz5c">
            <a:extLst xmlns:a="http://schemas.openxmlformats.org/drawingml/2006/main">
              <a:ext uri="{FF2B5EF4-FFF2-40B4-BE49-F238E27FC236}">
                <a16:creationId xmlns:a16="http://schemas.microsoft.com/office/drawing/2014/main" id="{821E2425-7882-43E1-860B-FC89A6FB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vlfdlov">
            <a:extLst xmlns:a="http://schemas.openxmlformats.org/drawingml/2006/main">
              <a:ext uri="{FF2B5EF4-FFF2-40B4-BE49-F238E27FC236}">
                <a16:creationId xmlns:a16="http://schemas.microsoft.com/office/drawing/2014/main" id="{16146357-FB72-44C4-ABEB-7F9E3E30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-lcnq7y2">
            <a:extLst xmlns:a="http://schemas.openxmlformats.org/drawingml/2006/main">
              <a:ext uri="{FF2B5EF4-FFF2-40B4-BE49-F238E27FC236}">
                <a16:creationId xmlns:a16="http://schemas.microsoft.com/office/drawing/2014/main" id="{B5803AC4-8163-43AF-8F5C-5EBFE71C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日期</a:t>
            </a:r>
          </a:p>
        </p:txBody>
      </p:sp>
      <p:sp>
        <p:nvSpPr>
          <p:cNvPr id="6" name="shape-i16bb7f">
            <a:extLst xmlns:a="http://schemas.openxmlformats.org/drawingml/2006/main">
              <a:ext uri="{FF2B5EF4-FFF2-40B4-BE49-F238E27FC236}">
                <a16:creationId xmlns:a16="http://schemas.microsoft.com/office/drawing/2014/main" id="{D57AD137-4F34-4C9A-B9F2-C1E521E2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145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j9cht4z">
            <a:extLst xmlns:a="http://schemas.openxmlformats.org/drawingml/2006/main">
              <a:ext uri="{FF2B5EF4-FFF2-40B4-BE49-F238E27FC236}">
                <a16:creationId xmlns:a16="http://schemas.microsoft.com/office/drawing/2014/main" id="{DE9E89E4-9004-4C1D-BDE9-82D5AE64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811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门店</a:t>
            </a:r>
          </a:p>
        </p:txBody>
      </p:sp>
      <p:sp>
        <p:nvSpPr>
          <p:cNvPr id="8" name="shape-1dwdqnh">
            <a:extLst xmlns:a="http://schemas.openxmlformats.org/drawingml/2006/main">
              <a:ext uri="{FF2B5EF4-FFF2-40B4-BE49-F238E27FC236}">
                <a16:creationId xmlns:a16="http://schemas.microsoft.com/office/drawing/2014/main" id="{0EC4F030-EFD2-4863-9ABC-9EF7BA9B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bgb2m2l">
            <a:extLst xmlns:a="http://schemas.openxmlformats.org/drawingml/2006/main">
              <a:ext uri="{FF2B5EF4-FFF2-40B4-BE49-F238E27FC236}">
                <a16:creationId xmlns:a16="http://schemas.microsoft.com/office/drawing/2014/main" id="{568C5A64-3E16-4C7E-BA5D-909912D6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811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地区</a:t>
            </a:r>
          </a:p>
        </p:txBody>
      </p:sp>
      <p:sp>
        <p:nvSpPr>
          <p:cNvPr id="10" name="shape-hbqaz2m">
            <a:extLst xmlns:a="http://schemas.openxmlformats.org/drawingml/2006/main">
              <a:ext uri="{FF2B5EF4-FFF2-40B4-BE49-F238E27FC236}">
                <a16:creationId xmlns:a16="http://schemas.microsoft.com/office/drawing/2014/main" id="{413BA397-3A39-4311-80FF-9D2F87DC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-nrewoo2">
            <a:extLst xmlns:a="http://schemas.openxmlformats.org/drawingml/2006/main">
              <a:ext uri="{FF2B5EF4-FFF2-40B4-BE49-F238E27FC236}">
                <a16:creationId xmlns:a16="http://schemas.microsoft.com/office/drawing/2014/main" id="{CCDD435C-E852-49C6-B225-ED140087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</a:t>
            </a:r>
          </a:p>
        </p:txBody>
      </p:sp>
      <p:sp>
        <p:nvSpPr>
          <p:cNvPr id="12" name="shape-dfu6r09">
            <a:extLst xmlns:a="http://schemas.openxmlformats.org/drawingml/2006/main">
              <a:ext uri="{FF2B5EF4-FFF2-40B4-BE49-F238E27FC236}">
                <a16:creationId xmlns:a16="http://schemas.microsoft.com/office/drawing/2014/main" id="{03D903E4-F9E8-4FB4-875C-F898D2CB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nx5x27n">
            <a:extLst xmlns:a="http://schemas.openxmlformats.org/drawingml/2006/main">
              <a:ext uri="{FF2B5EF4-FFF2-40B4-BE49-F238E27FC236}">
                <a16:creationId xmlns:a16="http://schemas.microsoft.com/office/drawing/2014/main" id="{ACBC506B-1B9A-4986-BC80-A784AFF1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销售额</a:t>
            </a:r>
          </a:p>
        </p:txBody>
      </p:sp>
      <p:sp>
        <p:nvSpPr>
          <p:cNvPr id="14" name="shape-xkzug0d">
            <a:extLst xmlns:a="http://schemas.openxmlformats.org/drawingml/2006/main">
              <a:ext uri="{FF2B5EF4-FFF2-40B4-BE49-F238E27FC236}">
                <a16:creationId xmlns:a16="http://schemas.microsoft.com/office/drawing/2014/main" id="{B2240819-29FF-4555-9A17-7857200B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d6mx7jl">
            <a:extLst xmlns:a="http://schemas.openxmlformats.org/drawingml/2006/main">
              <a:ext uri="{FF2B5EF4-FFF2-40B4-BE49-F238E27FC236}">
                <a16:creationId xmlns:a16="http://schemas.microsoft.com/office/drawing/2014/main" id="{C9E47996-F1E5-4FF0-AA5D-A8E721CF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16" name="shape-zygjeop">
            <a:extLst xmlns:a="http://schemas.openxmlformats.org/drawingml/2006/main">
              <a:ext uri="{FF2B5EF4-FFF2-40B4-BE49-F238E27FC236}">
                <a16:creationId xmlns:a16="http://schemas.microsoft.com/office/drawing/2014/main" id="{F72F9809-D7B0-4333-A170-751C94D2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nsnbzug">
            <a:extLst xmlns:a="http://schemas.openxmlformats.org/drawingml/2006/main">
              <a:ext uri="{FF2B5EF4-FFF2-40B4-BE49-F238E27FC236}">
                <a16:creationId xmlns:a16="http://schemas.microsoft.com/office/drawing/2014/main" id="{25A2199B-447F-4E01-B014-427D4BCC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811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18" name="shape-eafq7g6">
            <a:extLst xmlns:a="http://schemas.openxmlformats.org/drawingml/2006/main">
              <a:ext uri="{FF2B5EF4-FFF2-40B4-BE49-F238E27FC236}">
                <a16:creationId xmlns:a16="http://schemas.microsoft.com/office/drawing/2014/main" id="{605BBB3F-DCF8-4E22-9CE0-E7D5CA17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-nc3426g">
            <a:extLst xmlns:a="http://schemas.openxmlformats.org/drawingml/2006/main">
              <a:ext uri="{FF2B5EF4-FFF2-40B4-BE49-F238E27FC236}">
                <a16:creationId xmlns:a16="http://schemas.microsoft.com/office/drawing/2014/main" id="{93AC1C7A-3AC7-4BB8-ACDD-4C15915D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2026-06-01</a:t>
            </a:r>
          </a:p>
        </p:txBody>
      </p:sp>
      <p:sp>
        <p:nvSpPr>
          <p:cNvPr id="20" name="shape-vdvf6wc">
            <a:extLst xmlns:a="http://schemas.openxmlformats.org/drawingml/2006/main">
              <a:ext uri="{FF2B5EF4-FFF2-40B4-BE49-F238E27FC236}">
                <a16:creationId xmlns:a16="http://schemas.microsoft.com/office/drawing/2014/main" id="{4E3DE2C8-31E3-4018-AA96-DA74908C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669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-r0xybos">
            <a:extLst xmlns:a="http://schemas.openxmlformats.org/drawingml/2006/main">
              <a:ext uri="{FF2B5EF4-FFF2-40B4-BE49-F238E27FC236}">
                <a16:creationId xmlns:a16="http://schemas.microsoft.com/office/drawing/2014/main" id="{3C18A711-852F-4CBA-8913-D923519C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336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A店</a:t>
            </a:r>
          </a:p>
        </p:txBody>
      </p:sp>
      <p:sp>
        <p:nvSpPr>
          <p:cNvPr id="22" name="shape-8l1jrhk">
            <a:extLst xmlns:a="http://schemas.openxmlformats.org/drawingml/2006/main">
              <a:ext uri="{FF2B5EF4-FFF2-40B4-BE49-F238E27FC236}">
                <a16:creationId xmlns:a16="http://schemas.microsoft.com/office/drawing/2014/main" id="{986F78CA-A3BD-4305-989D-AFAFB8E4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xt-03muie8">
            <a:extLst xmlns:a="http://schemas.openxmlformats.org/drawingml/2006/main">
              <a:ext uri="{FF2B5EF4-FFF2-40B4-BE49-F238E27FC236}">
                <a16:creationId xmlns:a16="http://schemas.microsoft.com/office/drawing/2014/main" id="{BE6A68CA-CDB8-4748-82BF-63339DB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华东</a:t>
            </a:r>
          </a:p>
        </p:txBody>
      </p:sp>
      <p:sp>
        <p:nvSpPr>
          <p:cNvPr id="24" name="shape-dv75609">
            <a:extLst xmlns:a="http://schemas.openxmlformats.org/drawingml/2006/main">
              <a:ext uri="{FF2B5EF4-FFF2-40B4-BE49-F238E27FC236}">
                <a16:creationId xmlns:a16="http://schemas.microsoft.com/office/drawing/2014/main" id="{7160CA53-0D47-46FD-B670-E18AD97B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text-cgltsb8">
            <a:extLst xmlns:a="http://schemas.openxmlformats.org/drawingml/2006/main">
              <a:ext uri="{FF2B5EF4-FFF2-40B4-BE49-F238E27FC236}">
                <a16:creationId xmlns:a16="http://schemas.microsoft.com/office/drawing/2014/main" id="{DC986614-A49B-4E8E-999D-90F1DE9C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产品甲</a:t>
            </a:r>
          </a:p>
        </p:txBody>
      </p:sp>
      <p:sp>
        <p:nvSpPr>
          <p:cNvPr id="26" name="shape-nc7wp4j">
            <a:extLst xmlns:a="http://schemas.openxmlformats.org/drawingml/2006/main">
              <a:ext uri="{FF2B5EF4-FFF2-40B4-BE49-F238E27FC236}">
                <a16:creationId xmlns:a16="http://schemas.microsoft.com/office/drawing/2014/main" id="{DDBB700E-727C-4CB8-A03C-ADD30C20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text-0725bdr">
            <a:extLst xmlns:a="http://schemas.openxmlformats.org/drawingml/2006/main">
              <a:ext uri="{FF2B5EF4-FFF2-40B4-BE49-F238E27FC236}">
                <a16:creationId xmlns:a16="http://schemas.microsoft.com/office/drawing/2014/main" id="{266E28B2-F7DF-4EA8-92C6-6FBD1FDC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12,000</a:t>
            </a:r>
          </a:p>
        </p:txBody>
      </p:sp>
      <p:sp>
        <p:nvSpPr>
          <p:cNvPr id="28" name="shape-eltsyxa">
            <a:extLst xmlns:a="http://schemas.openxmlformats.org/drawingml/2006/main">
              <a:ext uri="{FF2B5EF4-FFF2-40B4-BE49-F238E27FC236}">
                <a16:creationId xmlns:a16="http://schemas.microsoft.com/office/drawing/2014/main" id="{07FAE4E8-0829-4A79-B475-7F8503B7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text-2jvcs4u">
            <a:extLst xmlns:a="http://schemas.openxmlformats.org/drawingml/2006/main">
              <a:ext uri="{FF2B5EF4-FFF2-40B4-BE49-F238E27FC236}">
                <a16:creationId xmlns:a16="http://schemas.microsoft.com/office/drawing/2014/main" id="{11A5104D-0ECB-4F89-8940-2B5C4A70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8,000</a:t>
            </a:r>
          </a:p>
        </p:txBody>
      </p:sp>
      <p:sp>
        <p:nvSpPr>
          <p:cNvPr id="30" name="shape-i2hatfs">
            <a:extLst xmlns:a="http://schemas.openxmlformats.org/drawingml/2006/main">
              <a:ext uri="{FF2B5EF4-FFF2-40B4-BE49-F238E27FC236}">
                <a16:creationId xmlns:a16="http://schemas.microsoft.com/office/drawing/2014/main" id="{2DE1B8A4-C645-4387-B908-1BDA5E20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text-fvf8fxf">
            <a:extLst xmlns:a="http://schemas.openxmlformats.org/drawingml/2006/main">
              <a:ext uri="{FF2B5EF4-FFF2-40B4-BE49-F238E27FC236}">
                <a16:creationId xmlns:a16="http://schemas.microsoft.com/office/drawing/2014/main" id="{6FD2B63E-FDB5-4E82-909E-BCDE7EEB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336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11,000</a:t>
            </a:r>
          </a:p>
        </p:txBody>
      </p:sp>
      <p:sp>
        <p:nvSpPr>
          <p:cNvPr id="32" name="shape-sl0tzyv">
            <a:extLst xmlns:a="http://schemas.openxmlformats.org/drawingml/2006/main">
              <a:ext uri="{FF2B5EF4-FFF2-40B4-BE49-F238E27FC236}">
                <a16:creationId xmlns:a16="http://schemas.microsoft.com/office/drawing/2014/main" id="{C4C8C5FC-AAED-4754-B60D-47DAE6A7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text-2ai0bs2">
            <a:extLst xmlns:a="http://schemas.openxmlformats.org/drawingml/2006/main">
              <a:ext uri="{FF2B5EF4-FFF2-40B4-BE49-F238E27FC236}">
                <a16:creationId xmlns:a16="http://schemas.microsoft.com/office/drawing/2014/main" id="{42B7CF5C-3512-4453-B27F-114D36DF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2026-06-02</a:t>
            </a:r>
          </a:p>
        </p:txBody>
      </p:sp>
      <p:sp>
        <p:nvSpPr>
          <p:cNvPr id="34" name="shape-tvsh4js">
            <a:extLst xmlns:a="http://schemas.openxmlformats.org/drawingml/2006/main">
              <a:ext uri="{FF2B5EF4-FFF2-40B4-BE49-F238E27FC236}">
                <a16:creationId xmlns:a16="http://schemas.microsoft.com/office/drawing/2014/main" id="{62D5FB0E-BCE5-4672-AAE4-F3F613E6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text-gj6yjs7">
            <a:extLst xmlns:a="http://schemas.openxmlformats.org/drawingml/2006/main">
              <a:ext uri="{FF2B5EF4-FFF2-40B4-BE49-F238E27FC236}">
                <a16:creationId xmlns:a16="http://schemas.microsoft.com/office/drawing/2014/main" id="{1B7F5E2F-61B7-4339-8A2C-45DD33C9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860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B店</a:t>
            </a:r>
          </a:p>
        </p:txBody>
      </p:sp>
      <p:sp>
        <p:nvSpPr>
          <p:cNvPr id="36" name="shape-vrh3wfh">
            <a:extLst xmlns:a="http://schemas.openxmlformats.org/drawingml/2006/main">
              <a:ext uri="{FF2B5EF4-FFF2-40B4-BE49-F238E27FC236}">
                <a16:creationId xmlns:a16="http://schemas.microsoft.com/office/drawing/2014/main" id="{9958B337-C158-4B1B-B0C7-19B33869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text-677ltgi">
            <a:extLst xmlns:a="http://schemas.openxmlformats.org/drawingml/2006/main">
              <a:ext uri="{FF2B5EF4-FFF2-40B4-BE49-F238E27FC236}">
                <a16:creationId xmlns:a16="http://schemas.microsoft.com/office/drawing/2014/main" id="{1DF40B1E-6B07-405B-ACAB-CC4F9426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860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华东</a:t>
            </a:r>
          </a:p>
        </p:txBody>
      </p:sp>
      <p:sp>
        <p:nvSpPr>
          <p:cNvPr id="38" name="shape-9gdhui4">
            <a:extLst xmlns:a="http://schemas.openxmlformats.org/drawingml/2006/main">
              <a:ext uri="{FF2B5EF4-FFF2-40B4-BE49-F238E27FC236}">
                <a16:creationId xmlns:a16="http://schemas.microsoft.com/office/drawing/2014/main" id="{EB011A56-947F-4C16-91BE-9C79059C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text-esqoxer">
            <a:extLst xmlns:a="http://schemas.openxmlformats.org/drawingml/2006/main">
              <a:ext uri="{FF2B5EF4-FFF2-40B4-BE49-F238E27FC236}">
                <a16:creationId xmlns:a16="http://schemas.microsoft.com/office/drawing/2014/main" id="{91D4E269-5634-4EF2-82DB-BC8EF8AA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产品乙</a:t>
            </a:r>
          </a:p>
        </p:txBody>
      </p:sp>
      <p:sp>
        <p:nvSpPr>
          <p:cNvPr id="40" name="shape-7ktn0nz">
            <a:extLst xmlns:a="http://schemas.openxmlformats.org/drawingml/2006/main">
              <a:ext uri="{FF2B5EF4-FFF2-40B4-BE49-F238E27FC236}">
                <a16:creationId xmlns:a16="http://schemas.microsoft.com/office/drawing/2014/main" id="{658B8266-4BBF-4717-9721-3156A880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text-38x9649">
            <a:extLst xmlns:a="http://schemas.openxmlformats.org/drawingml/2006/main">
              <a:ext uri="{FF2B5EF4-FFF2-40B4-BE49-F238E27FC236}">
                <a16:creationId xmlns:a16="http://schemas.microsoft.com/office/drawing/2014/main" id="{C371AFD0-0059-4191-A55D-8ED5AD5F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9,800</a:t>
            </a:r>
          </a:p>
        </p:txBody>
      </p:sp>
      <p:sp>
        <p:nvSpPr>
          <p:cNvPr id="42" name="shape-mx08u3c">
            <a:extLst xmlns:a="http://schemas.openxmlformats.org/drawingml/2006/main">
              <a:ext uri="{FF2B5EF4-FFF2-40B4-BE49-F238E27FC236}">
                <a16:creationId xmlns:a16="http://schemas.microsoft.com/office/drawing/2014/main" id="{995D8CC7-20C8-4498-B6F8-72E13D8E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text-t1nzdjr">
            <a:extLst xmlns:a="http://schemas.openxmlformats.org/drawingml/2006/main">
              <a:ext uri="{FF2B5EF4-FFF2-40B4-BE49-F238E27FC236}">
                <a16:creationId xmlns:a16="http://schemas.microsoft.com/office/drawing/2014/main" id="{1C8EAFAA-165E-4451-8D11-04686FB5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B5A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B5A00"/>
                </a:solidFill>
                <a:latin typeface="PingFang SC"/>
                <a:ea typeface="PingFang SC"/>
                <a:cs typeface="PingFang SC"/>
              </a:rPr>
              <a:t>（空）</a:t>
            </a:r>
          </a:p>
        </p:txBody>
      </p:sp>
      <p:sp>
        <p:nvSpPr>
          <p:cNvPr id="44" name="shape-hav8vr7">
            <a:extLst xmlns:a="http://schemas.openxmlformats.org/drawingml/2006/main">
              <a:ext uri="{FF2B5EF4-FFF2-40B4-BE49-F238E27FC236}">
                <a16:creationId xmlns:a16="http://schemas.microsoft.com/office/drawing/2014/main" id="{345C6E1D-3DD6-4C58-AFF6-C5E2EA0B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text-3gnn5dt">
            <a:extLst xmlns:a="http://schemas.openxmlformats.org/drawingml/2006/main">
              <a:ext uri="{FF2B5EF4-FFF2-40B4-BE49-F238E27FC236}">
                <a16:creationId xmlns:a16="http://schemas.microsoft.com/office/drawing/2014/main" id="{AE7BE37D-5F7C-4522-924D-E8E70AF5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860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10,000</a:t>
            </a:r>
          </a:p>
        </p:txBody>
      </p:sp>
      <p:sp>
        <p:nvSpPr>
          <p:cNvPr id="46" name="shape-ct3onf4">
            <a:extLst xmlns:a="http://schemas.openxmlformats.org/drawingml/2006/main">
              <a:ext uri="{FF2B5EF4-FFF2-40B4-BE49-F238E27FC236}">
                <a16:creationId xmlns:a16="http://schemas.microsoft.com/office/drawing/2014/main" id="{66241104-D454-4AE4-9FCF-D10E2342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E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text-csfz9hv">
            <a:extLst xmlns:a="http://schemas.openxmlformats.org/drawingml/2006/main">
              <a:ext uri="{FF2B5EF4-FFF2-40B4-BE49-F238E27FC236}">
                <a16:creationId xmlns:a16="http://schemas.microsoft.com/office/drawing/2014/main" id="{9D51BF39-C1E0-402D-9899-1857698D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05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5050"/>
                </a:solidFill>
                <a:latin typeface="PingFang SC"/>
                <a:ea typeface="PingFang SC"/>
                <a:cs typeface="PingFang SC"/>
              </a:rPr>
              <a:t>06/03/26</a:t>
            </a:r>
          </a:p>
        </p:txBody>
      </p:sp>
      <p:sp>
        <p:nvSpPr>
          <p:cNvPr id="48" name="shape-faka9cc">
            <a:extLst xmlns:a="http://schemas.openxmlformats.org/drawingml/2006/main">
              <a:ext uri="{FF2B5EF4-FFF2-40B4-BE49-F238E27FC236}">
                <a16:creationId xmlns:a16="http://schemas.microsoft.com/office/drawing/2014/main" id="{CA9D1088-27FF-42A4-AD7D-0B33C11B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718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text-p3b83li">
            <a:extLst xmlns:a="http://schemas.openxmlformats.org/drawingml/2006/main">
              <a:ext uri="{FF2B5EF4-FFF2-40B4-BE49-F238E27FC236}">
                <a16:creationId xmlns:a16="http://schemas.microsoft.com/office/drawing/2014/main" id="{23271C34-4C8E-404A-A93A-F01CF337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385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C店</a:t>
            </a:r>
          </a:p>
        </p:txBody>
      </p:sp>
      <p:sp>
        <p:nvSpPr>
          <p:cNvPr id="50" name="shape-q92gpm4">
            <a:extLst xmlns:a="http://schemas.openxmlformats.org/drawingml/2006/main">
              <a:ext uri="{FF2B5EF4-FFF2-40B4-BE49-F238E27FC236}">
                <a16:creationId xmlns:a16="http://schemas.microsoft.com/office/drawing/2014/main" id="{671BE979-206A-45C2-8FE6-D4FFCC1A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718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text-amhfjgn">
            <a:extLst xmlns:a="http://schemas.openxmlformats.org/drawingml/2006/main">
              <a:ext uri="{FF2B5EF4-FFF2-40B4-BE49-F238E27FC236}">
                <a16:creationId xmlns:a16="http://schemas.microsoft.com/office/drawing/2014/main" id="{AB0744E9-1E00-4936-897E-A5155EDA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华南</a:t>
            </a:r>
          </a:p>
        </p:txBody>
      </p:sp>
      <p:sp>
        <p:nvSpPr>
          <p:cNvPr id="52" name="shape-c9ncash">
            <a:extLst xmlns:a="http://schemas.openxmlformats.org/drawingml/2006/main">
              <a:ext uri="{FF2B5EF4-FFF2-40B4-BE49-F238E27FC236}">
                <a16:creationId xmlns:a16="http://schemas.microsoft.com/office/drawing/2014/main" id="{508F6E4C-55ED-4A17-88C5-1CA53065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text-s3lgum8">
            <a:extLst xmlns:a="http://schemas.openxmlformats.org/drawingml/2006/main">
              <a:ext uri="{FF2B5EF4-FFF2-40B4-BE49-F238E27FC236}">
                <a16:creationId xmlns:a16="http://schemas.microsoft.com/office/drawing/2014/main" id="{AF33E86E-2AB0-4D39-BD3F-825E3D40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产品甲</a:t>
            </a:r>
          </a:p>
        </p:txBody>
      </p:sp>
      <p:sp>
        <p:nvSpPr>
          <p:cNvPr id="54" name="shape-dfzr10x">
            <a:extLst xmlns:a="http://schemas.openxmlformats.org/drawingml/2006/main">
              <a:ext uri="{FF2B5EF4-FFF2-40B4-BE49-F238E27FC236}">
                <a16:creationId xmlns:a16="http://schemas.microsoft.com/office/drawing/2014/main" id="{18DE6839-FFBC-474E-B6E3-FFF1339D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text-bvtjimp">
            <a:extLst xmlns:a="http://schemas.openxmlformats.org/drawingml/2006/main">
              <a:ext uri="{FF2B5EF4-FFF2-40B4-BE49-F238E27FC236}">
                <a16:creationId xmlns:a16="http://schemas.microsoft.com/office/drawing/2014/main" id="{E53D1E0D-496D-4872-98E3-F1FB498C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15,200</a:t>
            </a:r>
          </a:p>
        </p:txBody>
      </p:sp>
      <p:sp>
        <p:nvSpPr>
          <p:cNvPr id="56" name="shape-p00dbe9">
            <a:extLst xmlns:a="http://schemas.openxmlformats.org/drawingml/2006/main">
              <a:ext uri="{FF2B5EF4-FFF2-40B4-BE49-F238E27FC236}">
                <a16:creationId xmlns:a16="http://schemas.microsoft.com/office/drawing/2014/main" id="{53223C85-CDE9-4432-B456-6483FF31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text-48q1mx4">
            <a:extLst xmlns:a="http://schemas.openxmlformats.org/drawingml/2006/main">
              <a:ext uri="{FF2B5EF4-FFF2-40B4-BE49-F238E27FC236}">
                <a16:creationId xmlns:a16="http://schemas.microsoft.com/office/drawing/2014/main" id="{50DB35CA-D892-4B37-B1F5-CF927464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9,900</a:t>
            </a:r>
          </a:p>
        </p:txBody>
      </p:sp>
      <p:sp>
        <p:nvSpPr>
          <p:cNvPr id="58" name="shape-lnyyqxt">
            <a:extLst xmlns:a="http://schemas.openxmlformats.org/drawingml/2006/main">
              <a:ext uri="{FF2B5EF4-FFF2-40B4-BE49-F238E27FC236}">
                <a16:creationId xmlns:a16="http://schemas.microsoft.com/office/drawing/2014/main" id="{97002A84-70FF-483C-B54C-B1B69394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text-xyfykkz">
            <a:extLst xmlns:a="http://schemas.openxmlformats.org/drawingml/2006/main">
              <a:ext uri="{FF2B5EF4-FFF2-40B4-BE49-F238E27FC236}">
                <a16:creationId xmlns:a16="http://schemas.microsoft.com/office/drawing/2014/main" id="{1777A161-0013-459F-AA3F-601B7901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385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14,000</a:t>
            </a:r>
          </a:p>
        </p:txBody>
      </p:sp>
      <p:sp>
        <p:nvSpPr>
          <p:cNvPr id="60" name="shape-p4qzva0">
            <a:extLst xmlns:a="http://schemas.openxmlformats.org/drawingml/2006/main">
              <a:ext uri="{FF2B5EF4-FFF2-40B4-BE49-F238E27FC236}">
                <a16:creationId xmlns:a16="http://schemas.microsoft.com/office/drawing/2014/main" id="{D7F8EAAE-8727-446B-8CC3-622F8F66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text-equbzbs">
            <a:extLst xmlns:a="http://schemas.openxmlformats.org/drawingml/2006/main">
              <a:ext uri="{FF2B5EF4-FFF2-40B4-BE49-F238E27FC236}">
                <a16:creationId xmlns:a16="http://schemas.microsoft.com/office/drawing/2014/main" id="{94A37F8A-997F-4183-A90F-79AC8F72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2026-06-04</a:t>
            </a:r>
          </a:p>
        </p:txBody>
      </p:sp>
      <p:sp>
        <p:nvSpPr>
          <p:cNvPr id="62" name="shape-8astjhm">
            <a:extLst xmlns:a="http://schemas.openxmlformats.org/drawingml/2006/main">
              <a:ext uri="{FF2B5EF4-FFF2-40B4-BE49-F238E27FC236}">
                <a16:creationId xmlns:a16="http://schemas.microsoft.com/office/drawing/2014/main" id="{7309EB44-EA84-4A0E-9468-E9EE48A8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243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text-c2antst">
            <a:extLst xmlns:a="http://schemas.openxmlformats.org/drawingml/2006/main">
              <a:ext uri="{FF2B5EF4-FFF2-40B4-BE49-F238E27FC236}">
                <a16:creationId xmlns:a16="http://schemas.microsoft.com/office/drawing/2014/main" id="{8E48F597-131D-4C42-A838-7BDF711E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909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D店</a:t>
            </a:r>
          </a:p>
        </p:txBody>
      </p:sp>
      <p:sp>
        <p:nvSpPr>
          <p:cNvPr id="64" name="shape-38vyyc5">
            <a:extLst xmlns:a="http://schemas.openxmlformats.org/drawingml/2006/main">
              <a:ext uri="{FF2B5EF4-FFF2-40B4-BE49-F238E27FC236}">
                <a16:creationId xmlns:a16="http://schemas.microsoft.com/office/drawing/2014/main" id="{261CDD28-08CB-487B-AF93-2D7EFEA4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243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text-ol7ix3s">
            <a:extLst xmlns:a="http://schemas.openxmlformats.org/drawingml/2006/main">
              <a:ext uri="{FF2B5EF4-FFF2-40B4-BE49-F238E27FC236}">
                <a16:creationId xmlns:a16="http://schemas.microsoft.com/office/drawing/2014/main" id="{33E44E52-86A6-4B79-AED3-BCB914B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9097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华北</a:t>
            </a:r>
          </a:p>
        </p:txBody>
      </p:sp>
      <p:sp>
        <p:nvSpPr>
          <p:cNvPr id="66" name="shape-1qxs52d">
            <a:extLst xmlns:a="http://schemas.openxmlformats.org/drawingml/2006/main">
              <a:ext uri="{FF2B5EF4-FFF2-40B4-BE49-F238E27FC236}">
                <a16:creationId xmlns:a16="http://schemas.microsoft.com/office/drawing/2014/main" id="{37BCE21B-2718-492C-B784-35D7A0B3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text-ypoer7k">
            <a:extLst xmlns:a="http://schemas.openxmlformats.org/drawingml/2006/main">
              <a:ext uri="{FF2B5EF4-FFF2-40B4-BE49-F238E27FC236}">
                <a16:creationId xmlns:a16="http://schemas.microsoft.com/office/drawing/2014/main" id="{3C7CC5B8-1ED7-49FB-BB63-AED19ED6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产品丙</a:t>
            </a:r>
          </a:p>
        </p:txBody>
      </p:sp>
      <p:sp>
        <p:nvSpPr>
          <p:cNvPr id="68" name="shape-gfig53r">
            <a:extLst xmlns:a="http://schemas.openxmlformats.org/drawingml/2006/main">
              <a:ext uri="{FF2B5EF4-FFF2-40B4-BE49-F238E27FC236}">
                <a16:creationId xmlns:a16="http://schemas.microsoft.com/office/drawing/2014/main" id="{85729D64-31CC-49D5-B83C-750DBE8F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text-umzwydf">
            <a:extLst xmlns:a="http://schemas.openxmlformats.org/drawingml/2006/main">
              <a:ext uri="{FF2B5EF4-FFF2-40B4-BE49-F238E27FC236}">
                <a16:creationId xmlns:a16="http://schemas.microsoft.com/office/drawing/2014/main" id="{FDC5AC48-8D74-4582-BBD8-B5FF1084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8,600</a:t>
            </a:r>
          </a:p>
        </p:txBody>
      </p:sp>
      <p:sp>
        <p:nvSpPr>
          <p:cNvPr id="70" name="shape-91ng76c">
            <a:extLst xmlns:a="http://schemas.openxmlformats.org/drawingml/2006/main">
              <a:ext uri="{FF2B5EF4-FFF2-40B4-BE49-F238E27FC236}">
                <a16:creationId xmlns:a16="http://schemas.microsoft.com/office/drawing/2014/main" id="{B83C4035-3D16-47A0-8BA6-2056C3D6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text-o6ua6b4">
            <a:extLst xmlns:a="http://schemas.openxmlformats.org/drawingml/2006/main">
              <a:ext uri="{FF2B5EF4-FFF2-40B4-BE49-F238E27FC236}">
                <a16:creationId xmlns:a16="http://schemas.microsoft.com/office/drawing/2014/main" id="{D286DE25-A281-48FE-A766-8C640D58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6,000</a:t>
            </a:r>
          </a:p>
        </p:txBody>
      </p:sp>
      <p:sp>
        <p:nvSpPr>
          <p:cNvPr id="72" name="shape-cmpn7h9">
            <a:extLst xmlns:a="http://schemas.openxmlformats.org/drawingml/2006/main">
              <a:ext uri="{FF2B5EF4-FFF2-40B4-BE49-F238E27FC236}">
                <a16:creationId xmlns:a16="http://schemas.microsoft.com/office/drawing/2014/main" id="{BF87240D-2646-47ED-8C71-6347F859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243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text-76xx7e5">
            <a:extLst xmlns:a="http://schemas.openxmlformats.org/drawingml/2006/main">
              <a:ext uri="{FF2B5EF4-FFF2-40B4-BE49-F238E27FC236}">
                <a16:creationId xmlns:a16="http://schemas.microsoft.com/office/drawing/2014/main" id="{F580B3A3-8EE1-46FF-92F2-ED49BAE8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9097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9,500</a:t>
            </a:r>
          </a:p>
        </p:txBody>
      </p:sp>
      <p:sp>
        <p:nvSpPr>
          <p:cNvPr id="74" name="shape-ztkoamu">
            <a:extLst xmlns:a="http://schemas.openxmlformats.org/drawingml/2006/main">
              <a:ext uri="{FF2B5EF4-FFF2-40B4-BE49-F238E27FC236}">
                <a16:creationId xmlns:a16="http://schemas.microsoft.com/office/drawing/2014/main" id="{275E8686-29F1-45FA-9F54-FB1B08CB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5" name="text-y1iutz0">
            <a:extLst xmlns:a="http://schemas.openxmlformats.org/drawingml/2006/main">
              <a:ext uri="{FF2B5EF4-FFF2-40B4-BE49-F238E27FC236}">
                <a16:creationId xmlns:a16="http://schemas.microsoft.com/office/drawing/2014/main" id="{D250FB89-CEFF-46B3-9C51-A87BB4CF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4342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2026-06-04</a:t>
            </a:r>
          </a:p>
        </p:txBody>
      </p:sp>
      <p:sp>
        <p:nvSpPr>
          <p:cNvPr id="76" name="shape-zep1929">
            <a:extLst xmlns:a="http://schemas.openxmlformats.org/drawingml/2006/main">
              <a:ext uri="{FF2B5EF4-FFF2-40B4-BE49-F238E27FC236}">
                <a16:creationId xmlns:a16="http://schemas.microsoft.com/office/drawing/2014/main" id="{95B0629C-2CD2-4136-A9B8-482E20F5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7" name="text-4wwp0x0">
            <a:extLst xmlns:a="http://schemas.openxmlformats.org/drawingml/2006/main">
              <a:ext uri="{FF2B5EF4-FFF2-40B4-BE49-F238E27FC236}">
                <a16:creationId xmlns:a16="http://schemas.microsoft.com/office/drawing/2014/main" id="{4CE8DEB3-7601-4088-95AD-A89CA16D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434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D店</a:t>
            </a:r>
          </a:p>
        </p:txBody>
      </p:sp>
      <p:sp>
        <p:nvSpPr>
          <p:cNvPr id="78" name="shape-zb3smyc">
            <a:extLst xmlns:a="http://schemas.openxmlformats.org/drawingml/2006/main">
              <a:ext uri="{FF2B5EF4-FFF2-40B4-BE49-F238E27FC236}">
                <a16:creationId xmlns:a16="http://schemas.microsoft.com/office/drawing/2014/main" id="{E1833B07-0C6D-4851-A028-F8EF6138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9" name="text-hvinkuq">
            <a:extLst xmlns:a="http://schemas.openxmlformats.org/drawingml/2006/main">
              <a:ext uri="{FF2B5EF4-FFF2-40B4-BE49-F238E27FC236}">
                <a16:creationId xmlns:a16="http://schemas.microsoft.com/office/drawing/2014/main" id="{8001C0A0-5298-4EED-B1DA-C48F6BBA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43425"/>
            <a:ext cx="895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华北</a:t>
            </a:r>
          </a:p>
        </p:txBody>
      </p:sp>
      <p:sp>
        <p:nvSpPr>
          <p:cNvPr id="80" name="shape-wyp6bgj">
            <a:extLst xmlns:a="http://schemas.openxmlformats.org/drawingml/2006/main">
              <a:ext uri="{FF2B5EF4-FFF2-40B4-BE49-F238E27FC236}">
                <a16:creationId xmlns:a16="http://schemas.microsoft.com/office/drawing/2014/main" id="{186A9798-6B9D-454F-9EDF-720FC72C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1" name="text-bx77ix2">
            <a:extLst xmlns:a="http://schemas.openxmlformats.org/drawingml/2006/main">
              <a:ext uri="{FF2B5EF4-FFF2-40B4-BE49-F238E27FC236}">
                <a16:creationId xmlns:a16="http://schemas.microsoft.com/office/drawing/2014/main" id="{CFF6C7A0-A0A1-4CFB-B87F-0EB22263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产品丙</a:t>
            </a:r>
          </a:p>
        </p:txBody>
      </p:sp>
      <p:sp>
        <p:nvSpPr>
          <p:cNvPr id="82" name="shape-mz9zh7l">
            <a:extLst xmlns:a="http://schemas.openxmlformats.org/drawingml/2006/main">
              <a:ext uri="{FF2B5EF4-FFF2-40B4-BE49-F238E27FC236}">
                <a16:creationId xmlns:a16="http://schemas.microsoft.com/office/drawing/2014/main" id="{7C5AEBB5-3D8D-4CE1-93EF-4DAE2558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3" name="text-jjeuhum">
            <a:extLst xmlns:a="http://schemas.openxmlformats.org/drawingml/2006/main">
              <a:ext uri="{FF2B5EF4-FFF2-40B4-BE49-F238E27FC236}">
                <a16:creationId xmlns:a16="http://schemas.microsoft.com/office/drawing/2014/main" id="{F4B315B2-D6DE-4A72-AD8D-06841A93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8,600</a:t>
            </a:r>
          </a:p>
        </p:txBody>
      </p:sp>
      <p:sp>
        <p:nvSpPr>
          <p:cNvPr id="84" name="shape-uajw39n">
            <a:extLst xmlns:a="http://schemas.openxmlformats.org/drawingml/2006/main">
              <a:ext uri="{FF2B5EF4-FFF2-40B4-BE49-F238E27FC236}">
                <a16:creationId xmlns:a16="http://schemas.microsoft.com/office/drawing/2014/main" id="{B489895C-D449-4B36-89C7-D8C6F355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5" name="text-yobq8w0">
            <a:extLst xmlns:a="http://schemas.openxmlformats.org/drawingml/2006/main">
              <a:ext uri="{FF2B5EF4-FFF2-40B4-BE49-F238E27FC236}">
                <a16:creationId xmlns:a16="http://schemas.microsoft.com/office/drawing/2014/main" id="{2101E669-A3C1-42C3-B842-FDD1A9A2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6,000</a:t>
            </a:r>
          </a:p>
        </p:txBody>
      </p:sp>
      <p:sp>
        <p:nvSpPr>
          <p:cNvPr id="86" name="shape-x2dvku1">
            <a:extLst xmlns:a="http://schemas.openxmlformats.org/drawingml/2006/main">
              <a:ext uri="{FF2B5EF4-FFF2-40B4-BE49-F238E27FC236}">
                <a16:creationId xmlns:a16="http://schemas.microsoft.com/office/drawing/2014/main" id="{8C89B65B-D7FD-4AA2-9A49-DD62ABF7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7" name="text-c2o6mmq">
            <a:extLst xmlns:a="http://schemas.openxmlformats.org/drawingml/2006/main">
              <a:ext uri="{FF2B5EF4-FFF2-40B4-BE49-F238E27FC236}">
                <a16:creationId xmlns:a16="http://schemas.microsoft.com/office/drawing/2014/main" id="{797B4408-75A6-4148-A6D5-36E88ED7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43425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9,500</a:t>
            </a:r>
          </a:p>
        </p:txBody>
      </p:sp>
      <p:sp>
        <p:nvSpPr>
          <p:cNvPr id="88" name="text-tl0yv4x">
            <a:extLst xmlns:a="http://schemas.openxmlformats.org/drawingml/2006/main">
              <a:ext uri="{FF2B5EF4-FFF2-40B4-BE49-F238E27FC236}">
                <a16:creationId xmlns:a16="http://schemas.microsoft.com/office/drawing/2014/main" id="{B03BAA50-6065-4717-93FA-A962BF64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863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5A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B5A00"/>
                </a:solidFill>
                <a:latin typeface="PingFang SC"/>
                <a:ea typeface="PingFang SC"/>
                <a:cs typeface="PingFang SC"/>
              </a:rPr>
              <a:t>空值</a:t>
            </a:r>
          </a:p>
        </p:txBody>
      </p:sp>
      <p:sp>
        <p:nvSpPr>
          <p:cNvPr id="89" name="text-ymc0afn">
            <a:extLst xmlns:a="http://schemas.openxmlformats.org/drawingml/2006/main">
              <a:ext uri="{FF2B5EF4-FFF2-40B4-BE49-F238E27FC236}">
                <a16:creationId xmlns:a16="http://schemas.microsoft.com/office/drawing/2014/main" id="{DE89612F-B18C-40C8-B09A-82AA8B5D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86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505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5050"/>
                </a:solidFill>
                <a:latin typeface="PingFang SC"/>
                <a:ea typeface="PingFang SC"/>
                <a:cs typeface="PingFang SC"/>
              </a:rPr>
              <a:t>日期格式不一致</a:t>
            </a:r>
          </a:p>
        </p:txBody>
      </p:sp>
      <p:sp>
        <p:nvSpPr>
          <p:cNvPr id="90" name="text-pvb08bv">
            <a:extLst xmlns:a="http://schemas.openxmlformats.org/drawingml/2006/main">
              <a:ext uri="{FF2B5EF4-FFF2-40B4-BE49-F238E27FC236}">
                <a16:creationId xmlns:a16="http://schemas.microsoft.com/office/drawing/2014/main" id="{CEFEDD5B-7C8B-44F8-BD16-589FDA82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重复行</a:t>
            </a:r>
          </a:p>
        </p:txBody>
      </p:sp>
      <p:sp>
        <p:nvSpPr>
          <p:cNvPr id="91" name="text-dlzsv4n">
            <a:extLst xmlns:a="http://schemas.openxmlformats.org/drawingml/2006/main">
              <a:ext uri="{FF2B5EF4-FFF2-40B4-BE49-F238E27FC236}">
                <a16:creationId xmlns:a16="http://schemas.microsoft.com/office/drawing/2014/main" id="{37101998-6E8C-4D09-BC53-375F0296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从数据到Excel报表</a:t>
            </a:r>
          </a:p>
        </p:txBody>
      </p:sp>
      <p:sp>
        <p:nvSpPr>
          <p:cNvPr id="92" name="text-7kp0zep">
            <a:extLst xmlns:a="http://schemas.openxmlformats.org/drawingml/2006/main">
              <a:ext uri="{FF2B5EF4-FFF2-40B4-BE49-F238E27FC236}">
                <a16:creationId xmlns:a16="http://schemas.microsoft.com/office/drawing/2014/main" id="{CD0C18C1-A636-454D-AD70-B030B2ED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0029217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os2h2iw">
            <a:extLst xmlns:a="http://schemas.openxmlformats.org/drawingml/2006/main">
              <a:ext uri="{FF2B5EF4-FFF2-40B4-BE49-F238E27FC236}">
                <a16:creationId xmlns:a16="http://schemas.microsoft.com/office/drawing/2014/main" id="{9B843605-8939-4C7F-9C74-B7768C16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至少人工复算一个指标</a:t>
            </a:r>
          </a:p>
        </p:txBody>
      </p:sp>
      <p:sp>
        <p:nvSpPr>
          <p:cNvPr id="2" name="text-m5lw42x">
            <a:extLst xmlns:a="http://schemas.openxmlformats.org/drawingml/2006/main">
              <a:ext uri="{FF2B5EF4-FFF2-40B4-BE49-F238E27FC236}">
                <a16:creationId xmlns:a16="http://schemas.microsoft.com/office/drawing/2014/main" id="{ADB64F9E-BDF7-4CB5-80A4-77BB1F44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Excel 交付前，至少完成六项检查</a:t>
            </a:r>
          </a:p>
        </p:txBody>
      </p:sp>
      <p:sp>
        <p:nvSpPr>
          <p:cNvPr id="3" name="shape-zlkua74">
            <a:extLst xmlns:a="http://schemas.openxmlformats.org/drawingml/2006/main">
              <a:ext uri="{FF2B5EF4-FFF2-40B4-BE49-F238E27FC236}">
                <a16:creationId xmlns:a16="http://schemas.microsoft.com/office/drawing/2014/main" id="{D7C7F1A2-95B1-40FF-975E-B88F5850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anlqcwd">
            <a:extLst xmlns:a="http://schemas.openxmlformats.org/drawingml/2006/main">
              <a:ext uri="{FF2B5EF4-FFF2-40B4-BE49-F238E27FC236}">
                <a16:creationId xmlns:a16="http://schemas.microsoft.com/office/drawing/2014/main" id="{D216C5F8-EEFF-485B-BFB5-F724962E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" name="text-8cft2k4">
            <a:extLst xmlns:a="http://schemas.openxmlformats.org/drawingml/2006/main">
              <a:ext uri="{FF2B5EF4-FFF2-40B4-BE49-F238E27FC236}">
                <a16:creationId xmlns:a16="http://schemas.microsoft.com/office/drawing/2014/main" id="{55D849F9-7A9A-413F-A00B-C7472446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4962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必填数据是否完整</a:t>
            </a:r>
          </a:p>
        </p:txBody>
      </p:sp>
      <p:sp>
        <p:nvSpPr>
          <p:cNvPr id="6" name="shape-etuj5sx">
            <a:extLst xmlns:a="http://schemas.openxmlformats.org/drawingml/2006/main">
              <a:ext uri="{FF2B5EF4-FFF2-40B4-BE49-F238E27FC236}">
                <a16:creationId xmlns:a16="http://schemas.microsoft.com/office/drawing/2014/main" id="{6CAEDD36-379B-4992-A2DE-F1A24B6B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62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text-pnsgb4f">
            <a:extLst xmlns:a="http://schemas.openxmlformats.org/drawingml/2006/main">
              <a:ext uri="{FF2B5EF4-FFF2-40B4-BE49-F238E27FC236}">
                <a16:creationId xmlns:a16="http://schemas.microsoft.com/office/drawing/2014/main" id="{A516AF1F-0211-431E-976C-30B0A1C0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14500"/>
            <a:ext cx="4962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同一字段格式是否一致</a:t>
            </a:r>
          </a:p>
        </p:txBody>
      </p:sp>
      <p:sp>
        <p:nvSpPr>
          <p:cNvPr id="8" name="shape-w147e2v">
            <a:extLst xmlns:a="http://schemas.openxmlformats.org/drawingml/2006/main">
              <a:ext uri="{FF2B5EF4-FFF2-40B4-BE49-F238E27FC236}">
                <a16:creationId xmlns:a16="http://schemas.microsoft.com/office/drawing/2014/main" id="{5D570948-9AA9-4B22-B4FD-CC36CB55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text-sdzmld5">
            <a:extLst xmlns:a="http://schemas.openxmlformats.org/drawingml/2006/main">
              <a:ext uri="{FF2B5EF4-FFF2-40B4-BE49-F238E27FC236}">
                <a16:creationId xmlns:a16="http://schemas.microsoft.com/office/drawing/2014/main" id="{0BCA03E5-C9E8-476B-A114-C3C72EC3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4962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是否存在重复或异常</a:t>
            </a:r>
          </a:p>
        </p:txBody>
      </p:sp>
      <p:sp>
        <p:nvSpPr>
          <p:cNvPr id="10" name="shape-7ms9vte">
            <a:extLst xmlns:a="http://schemas.openxmlformats.org/drawingml/2006/main">
              <a:ext uri="{FF2B5EF4-FFF2-40B4-BE49-F238E27FC236}">
                <a16:creationId xmlns:a16="http://schemas.microsoft.com/office/drawing/2014/main" id="{E3981B75-6A27-426C-BE8E-5314A3AF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09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text-lqv6m7g">
            <a:extLst xmlns:a="http://schemas.openxmlformats.org/drawingml/2006/main">
              <a:ext uri="{FF2B5EF4-FFF2-40B4-BE49-F238E27FC236}">
                <a16:creationId xmlns:a16="http://schemas.microsoft.com/office/drawing/2014/main" id="{D050A60E-87D2-4436-B60B-6A6C184D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62250"/>
            <a:ext cx="4962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总计是否等于明细之和</a:t>
            </a:r>
          </a:p>
        </p:txBody>
      </p:sp>
      <p:sp>
        <p:nvSpPr>
          <p:cNvPr id="12" name="shape-gs4gu4q">
            <a:extLst xmlns:a="http://schemas.openxmlformats.org/drawingml/2006/main">
              <a:ext uri="{FF2B5EF4-FFF2-40B4-BE49-F238E27FC236}">
                <a16:creationId xmlns:a16="http://schemas.microsoft.com/office/drawing/2014/main" id="{D72D1F98-FF16-4CCB-B2DA-48191B2A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3" name="text-9hqiv1z">
            <a:extLst xmlns:a="http://schemas.openxmlformats.org/drawingml/2006/main">
              <a:ext uri="{FF2B5EF4-FFF2-40B4-BE49-F238E27FC236}">
                <a16:creationId xmlns:a16="http://schemas.microsoft.com/office/drawing/2014/main" id="{3A35F904-5C83-4B00-98AD-201206AE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4962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利润率、完成率口径是否正确</a:t>
            </a:r>
          </a:p>
        </p:txBody>
      </p:sp>
      <p:sp>
        <p:nvSpPr>
          <p:cNvPr id="14" name="shape-7e5jg0m">
            <a:extLst xmlns:a="http://schemas.openxmlformats.org/drawingml/2006/main">
              <a:ext uri="{FF2B5EF4-FFF2-40B4-BE49-F238E27FC236}">
                <a16:creationId xmlns:a16="http://schemas.microsoft.com/office/drawing/2014/main" id="{52186623-174A-4E8B-B9D2-BDF8FB1D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57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text-pxlyuh9">
            <a:extLst xmlns:a="http://schemas.openxmlformats.org/drawingml/2006/main">
              <a:ext uri="{FF2B5EF4-FFF2-40B4-BE49-F238E27FC236}">
                <a16:creationId xmlns:a16="http://schemas.microsoft.com/office/drawing/2014/main" id="{3E72D6A2-9BFA-4A1F-99B0-CD640B9B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10000"/>
            <a:ext cx="4962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PPT关键数字能否追溯到Excel</a:t>
            </a:r>
          </a:p>
        </p:txBody>
      </p:sp>
      <p:sp>
        <p:nvSpPr>
          <p:cNvPr id="16" name="text-c88oolu">
            <a:extLst xmlns:a="http://schemas.openxmlformats.org/drawingml/2006/main">
              <a:ext uri="{FF2B5EF4-FFF2-40B4-BE49-F238E27FC236}">
                <a16:creationId xmlns:a16="http://schemas.microsoft.com/office/drawing/2014/main" id="{79A35481-8739-464D-8A55-51EDB186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从数据到Excel报表</a:t>
            </a:r>
          </a:p>
        </p:txBody>
      </p:sp>
      <p:sp>
        <p:nvSpPr>
          <p:cNvPr id="17" name="text-tz3r04z">
            <a:extLst xmlns:a="http://schemas.openxmlformats.org/drawingml/2006/main">
              <a:ext uri="{FF2B5EF4-FFF2-40B4-BE49-F238E27FC236}">
                <a16:creationId xmlns:a16="http://schemas.microsoft.com/office/drawing/2014/main" id="{6D33A4BB-D14D-4E7D-BBE8-7DC75CF0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3218057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7qbyc6t">
            <a:extLst xmlns:a="http://schemas.openxmlformats.org/drawingml/2006/main">
              <a:ext uri="{FF2B5EF4-FFF2-40B4-BE49-F238E27FC236}">
                <a16:creationId xmlns:a16="http://schemas.microsoft.com/office/drawing/2014/main" id="{1C3B6503-432B-4999-AD9A-ACE1D1E9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第四部分</a:t>
            </a:r>
          </a:p>
        </p:txBody>
      </p:sp>
      <p:sp>
        <p:nvSpPr>
          <p:cNvPr id="2" name="text-qitqbj4">
            <a:extLst xmlns:a="http://schemas.openxmlformats.org/drawingml/2006/main">
              <a:ext uri="{FF2B5EF4-FFF2-40B4-BE49-F238E27FC236}">
                <a16:creationId xmlns:a16="http://schemas.microsoft.com/office/drawing/2014/main" id="{243AE3F6-96E7-4B6C-9F74-FB613E50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096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 Excel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到 PPT 叙事</a:t>
            </a:r>
          </a:p>
        </p:txBody>
      </p:sp>
      <p:sp>
        <p:nvSpPr>
          <p:cNvPr id="3" name="shape-l32cddo">
            <a:extLst xmlns:a="http://schemas.openxmlformats.org/drawingml/2006/main">
              <a:ext uri="{FF2B5EF4-FFF2-40B4-BE49-F238E27FC236}">
                <a16:creationId xmlns:a16="http://schemas.microsoft.com/office/drawing/2014/main" id="{F3F63F5F-8F4C-4D33-B9DD-9EFE49C2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gb4z3v3">
            <a:extLst xmlns:a="http://schemas.openxmlformats.org/drawingml/2006/main">
              <a:ext uri="{FF2B5EF4-FFF2-40B4-BE49-F238E27FC236}">
                <a16:creationId xmlns:a16="http://schemas.microsoft.com/office/drawing/2014/main" id="{159EA5C0-1821-41D3-AE6E-5A148093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PPT不是复制表格，而是用数据证据回答业务问题。</a:t>
            </a:r>
          </a:p>
        </p:txBody>
      </p:sp>
      <p:sp>
        <p:nvSpPr>
          <p:cNvPr id="5" name="text-7qx5o4i">
            <a:extLst xmlns:a="http://schemas.openxmlformats.org/drawingml/2006/main">
              <a:ext uri="{FF2B5EF4-FFF2-40B4-BE49-F238E27FC236}">
                <a16:creationId xmlns:a16="http://schemas.microsoft.com/office/drawing/2014/main" id="{D5744D2F-4143-4753-8539-A8C1383C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第四部分</a:t>
            </a:r>
          </a:p>
        </p:txBody>
      </p:sp>
      <p:sp>
        <p:nvSpPr>
          <p:cNvPr id="6" name="text-q1dzell">
            <a:extLst xmlns:a="http://schemas.openxmlformats.org/drawingml/2006/main">
              <a:ext uri="{FF2B5EF4-FFF2-40B4-BE49-F238E27FC236}">
                <a16:creationId xmlns:a16="http://schemas.microsoft.com/office/drawing/2014/main" id="{9AEAC15F-49D0-4D35-9A31-92D15445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2532690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44etcoc">
            <a:extLst xmlns:a="http://schemas.openxmlformats.org/drawingml/2006/main">
              <a:ext uri="{FF2B5EF4-FFF2-40B4-BE49-F238E27FC236}">
                <a16:creationId xmlns:a16="http://schemas.microsoft.com/office/drawing/2014/main" id="{FEDA77F3-11A3-465C-AD70-7B877C24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汇报逻辑</a:t>
            </a:r>
          </a:p>
        </p:txBody>
      </p:sp>
      <p:sp>
        <p:nvSpPr>
          <p:cNvPr id="2" name="text-v4mec5w">
            <a:extLst xmlns:a="http://schemas.openxmlformats.org/drawingml/2006/main">
              <a:ext uri="{FF2B5EF4-FFF2-40B4-BE49-F238E27FC236}">
                <a16:creationId xmlns:a16="http://schemas.microsoft.com/office/drawing/2014/main" id="{D0731EA1-5CFC-4D1D-8290-B1ACC22C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四个问题，把数据变成可以推动行动的故事</a:t>
            </a:r>
          </a:p>
        </p:txBody>
      </p:sp>
      <p:sp>
        <p:nvSpPr>
          <p:cNvPr id="3" name="shape-c3kczui">
            <a:extLst xmlns:a="http://schemas.openxmlformats.org/drawingml/2006/main">
              <a:ext uri="{FF2B5EF4-FFF2-40B4-BE49-F238E27FC236}">
                <a16:creationId xmlns:a16="http://schemas.microsoft.com/office/drawing/2014/main" id="{3F9AFAE1-9901-4BB4-A9E6-0CEE6A18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g8gnip6">
            <a:extLst xmlns:a="http://schemas.openxmlformats.org/drawingml/2006/main">
              <a:ext uri="{FF2B5EF4-FFF2-40B4-BE49-F238E27FC236}">
                <a16:creationId xmlns:a16="http://schemas.microsoft.com/office/drawing/2014/main" id="{CEB684BC-B7E4-4467-A33D-918DE5E8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-6z9jwbs">
            <a:extLst xmlns:a="http://schemas.openxmlformats.org/drawingml/2006/main">
              <a:ext uri="{FF2B5EF4-FFF2-40B4-BE49-F238E27FC236}">
                <a16:creationId xmlns:a16="http://schemas.microsoft.com/office/drawing/2014/main" id="{02F3170A-9933-4864-AF6A-C07234ED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发生了什么？</a:t>
            </a:r>
          </a:p>
        </p:txBody>
      </p:sp>
      <p:sp>
        <p:nvSpPr>
          <p:cNvPr id="6" name="shape-1s7w4rl">
            <a:extLst xmlns:a="http://schemas.openxmlformats.org/drawingml/2006/main">
              <a:ext uri="{FF2B5EF4-FFF2-40B4-BE49-F238E27FC236}">
                <a16:creationId xmlns:a16="http://schemas.microsoft.com/office/drawing/2014/main" id="{30E12E9F-D445-4F04-889D-A8CD940E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tn3b6oz">
            <a:extLst xmlns:a="http://schemas.openxmlformats.org/drawingml/2006/main">
              <a:ext uri="{FF2B5EF4-FFF2-40B4-BE49-F238E27FC236}">
                <a16:creationId xmlns:a16="http://schemas.microsoft.com/office/drawing/2014/main" id="{64A3E609-5BD2-46FD-BA37-DB36E614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趋势、差异、异常</a:t>
            </a:r>
          </a:p>
        </p:txBody>
      </p:sp>
      <p:sp>
        <p:nvSpPr>
          <p:cNvPr id="8" name="text-13vdg8s">
            <a:extLst xmlns:a="http://schemas.openxmlformats.org/drawingml/2006/main">
              <a:ext uri="{FF2B5EF4-FFF2-40B4-BE49-F238E27FC236}">
                <a16:creationId xmlns:a16="http://schemas.microsoft.com/office/drawing/2014/main" id="{5A03781C-3A1C-4404-9197-C095D041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text-zmqc8iu">
            <a:extLst xmlns:a="http://schemas.openxmlformats.org/drawingml/2006/main">
              <a:ext uri="{FF2B5EF4-FFF2-40B4-BE49-F238E27FC236}">
                <a16:creationId xmlns:a16="http://schemas.microsoft.com/office/drawing/2014/main" id="{35A99DDE-5D76-4D8C-BACD-2CAEBFA8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为什么发生？</a:t>
            </a:r>
          </a:p>
        </p:txBody>
      </p:sp>
      <p:sp>
        <p:nvSpPr>
          <p:cNvPr id="10" name="shape-bj8iw80">
            <a:extLst xmlns:a="http://schemas.openxmlformats.org/drawingml/2006/main">
              <a:ext uri="{FF2B5EF4-FFF2-40B4-BE49-F238E27FC236}">
                <a16:creationId xmlns:a16="http://schemas.microsoft.com/office/drawing/2014/main" id="{04C8EB96-2686-4339-AE87-90A7B00D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8xxfk7">
            <a:extLst xmlns:a="http://schemas.openxmlformats.org/drawingml/2006/main">
              <a:ext uri="{FF2B5EF4-FFF2-40B4-BE49-F238E27FC236}">
                <a16:creationId xmlns:a16="http://schemas.microsoft.com/office/drawing/2014/main" id="{ED4EA4C6-3DB3-4B05-BE9B-3E2A2C84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原因与证据</a:t>
            </a:r>
          </a:p>
        </p:txBody>
      </p:sp>
      <p:sp>
        <p:nvSpPr>
          <p:cNvPr id="12" name="text-1ezj8oc">
            <a:extLst xmlns:a="http://schemas.openxmlformats.org/drawingml/2006/main">
              <a:ext uri="{FF2B5EF4-FFF2-40B4-BE49-F238E27FC236}">
                <a16:creationId xmlns:a16="http://schemas.microsoft.com/office/drawing/2014/main" id="{DFD26A16-BE87-40AC-A70C-B7AFEACD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text-j02u0a0">
            <a:extLst xmlns:a="http://schemas.openxmlformats.org/drawingml/2006/main">
              <a:ext uri="{FF2B5EF4-FFF2-40B4-BE49-F238E27FC236}">
                <a16:creationId xmlns:a16="http://schemas.microsoft.com/office/drawing/2014/main" id="{61C11DE3-715B-4891-BEFE-9B0644CF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意味着什么？</a:t>
            </a:r>
          </a:p>
        </p:txBody>
      </p:sp>
      <p:sp>
        <p:nvSpPr>
          <p:cNvPr id="14" name="shape-gla5gi3">
            <a:extLst xmlns:a="http://schemas.openxmlformats.org/drawingml/2006/main">
              <a:ext uri="{FF2B5EF4-FFF2-40B4-BE49-F238E27FC236}">
                <a16:creationId xmlns:a16="http://schemas.microsoft.com/office/drawing/2014/main" id="{16A3EAE2-CC19-4F0F-A8ED-07DFF525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ezzxg6m">
            <a:extLst xmlns:a="http://schemas.openxmlformats.org/drawingml/2006/main">
              <a:ext uri="{FF2B5EF4-FFF2-40B4-BE49-F238E27FC236}">
                <a16:creationId xmlns:a16="http://schemas.microsoft.com/office/drawing/2014/main" id="{DFF8B93D-5BCC-475F-B04C-10D1C8F0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风险、机会、影响</a:t>
            </a:r>
          </a:p>
        </p:txBody>
      </p:sp>
      <p:sp>
        <p:nvSpPr>
          <p:cNvPr id="16" name="text-4kzb08u">
            <a:extLst xmlns:a="http://schemas.openxmlformats.org/drawingml/2006/main">
              <a:ext uri="{FF2B5EF4-FFF2-40B4-BE49-F238E27FC236}">
                <a16:creationId xmlns:a16="http://schemas.microsoft.com/office/drawing/2014/main" id="{47FE0FC0-2C3D-4E62-ACE2-C9BDE73E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00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text-x7zzctj">
            <a:extLst xmlns:a="http://schemas.openxmlformats.org/drawingml/2006/main">
              <a:ext uri="{FF2B5EF4-FFF2-40B4-BE49-F238E27FC236}">
                <a16:creationId xmlns:a16="http://schemas.microsoft.com/office/drawing/2014/main" id="{29FC26FA-1627-438E-8E9F-47B9883E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670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接下来做什么？</a:t>
            </a:r>
          </a:p>
        </p:txBody>
      </p:sp>
      <p:sp>
        <p:nvSpPr>
          <p:cNvPr id="18" name="shape-30kt2xx">
            <a:extLst xmlns:a="http://schemas.openxmlformats.org/drawingml/2006/main">
              <a:ext uri="{FF2B5EF4-FFF2-40B4-BE49-F238E27FC236}">
                <a16:creationId xmlns:a16="http://schemas.microsoft.com/office/drawing/2014/main" id="{21C3BAC3-9712-45BF-826B-172DD038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zqndxl8">
            <a:extLst xmlns:a="http://schemas.openxmlformats.org/drawingml/2006/main">
              <a:ext uri="{FF2B5EF4-FFF2-40B4-BE49-F238E27FC236}">
                <a16:creationId xmlns:a16="http://schemas.microsoft.com/office/drawing/2014/main" id="{0CE7D0ED-1976-4965-84AE-452970A3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48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负责人、动作、时间</a:t>
            </a:r>
          </a:p>
        </p:txBody>
      </p:sp>
      <p:sp>
        <p:nvSpPr>
          <p:cNvPr id="20" name="text-4pm3wwe">
            <a:extLst xmlns:a="http://schemas.openxmlformats.org/drawingml/2006/main">
              <a:ext uri="{FF2B5EF4-FFF2-40B4-BE49-F238E27FC236}">
                <a16:creationId xmlns:a16="http://schemas.microsoft.com/office/drawing/2014/main" id="{B44F9EF1-F201-474A-9678-942FE435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标题直接写结论，不要只写“数据分析”。</a:t>
            </a:r>
          </a:p>
        </p:txBody>
      </p:sp>
      <p:sp>
        <p:nvSpPr>
          <p:cNvPr id="21" name="text-fq9c970">
            <a:extLst xmlns:a="http://schemas.openxmlformats.org/drawingml/2006/main">
              <a:ext uri="{FF2B5EF4-FFF2-40B4-BE49-F238E27FC236}">
                <a16:creationId xmlns:a16="http://schemas.microsoft.com/office/drawing/2014/main" id="{9F55C481-C302-4B65-9DAC-1E95A1B7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从Excel到PPT方案</a:t>
            </a:r>
          </a:p>
        </p:txBody>
      </p:sp>
      <p:sp>
        <p:nvSpPr>
          <p:cNvPr id="22" name="text-fq4ejk3">
            <a:extLst xmlns:a="http://schemas.openxmlformats.org/drawingml/2006/main">
              <a:ext uri="{FF2B5EF4-FFF2-40B4-BE49-F238E27FC236}">
                <a16:creationId xmlns:a16="http://schemas.microsoft.com/office/drawing/2014/main" id="{E678EFAB-652F-4D26-8419-DB2DC448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53183263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text-5anqomi">
            <a:extLst xmlns:a="http://schemas.openxmlformats.org/drawingml/2006/main">
              <a:ext uri="{FF2B5EF4-FFF2-40B4-BE49-F238E27FC236}">
                <a16:creationId xmlns:a16="http://schemas.microsoft.com/office/drawing/2014/main" id="{CA074F81-8130-4836-83D9-C2C143F6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一页一个结论</a:t>
            </a:r>
          </a:p>
        </p:txBody>
      </p:sp>
      <p:sp>
        <p:nvSpPr>
          <p:cNvPr id="2" name="text-gqcuo0i">
            <a:extLst xmlns:a="http://schemas.openxmlformats.org/drawingml/2006/main">
              <a:ext uri="{FF2B5EF4-FFF2-40B4-BE49-F238E27FC236}">
                <a16:creationId xmlns:a16="http://schemas.microsoft.com/office/drawing/2014/main" id="{3D95C115-B14E-400C-8C5D-FECF38F5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先用 Markdown 写 5 页方案，再生成 PPT</a:t>
            </a:r>
          </a:p>
        </p:txBody>
      </p:sp>
      <p:sp>
        <p:nvSpPr>
          <p:cNvPr id="3" name="shape-vhi5sa4">
            <a:extLst xmlns:a="http://schemas.openxmlformats.org/drawingml/2006/main">
              <a:ext uri="{FF2B5EF4-FFF2-40B4-BE49-F238E27FC236}">
                <a16:creationId xmlns:a16="http://schemas.microsoft.com/office/drawing/2014/main" id="{E86D81F5-B153-4789-ADAC-3197D3AA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tikevn3">
            <a:extLst xmlns:a="http://schemas.openxmlformats.org/drawingml/2006/main">
              <a:ext uri="{FF2B5EF4-FFF2-40B4-BE49-F238E27FC236}">
                <a16:creationId xmlns:a16="http://schemas.microsoft.com/office/drawing/2014/main" id="{49809669-515A-42D3-A9EE-1FA49E6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-621q5m0">
            <a:extLst xmlns:a="http://schemas.openxmlformats.org/drawingml/2006/main">
              <a:ext uri="{FF2B5EF4-FFF2-40B4-BE49-F238E27FC236}">
                <a16:creationId xmlns:a16="http://schemas.microsoft.com/office/drawing/2014/main" id="{1ADC634D-AB07-4C09-972C-95386F1D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859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页</a:t>
            </a:r>
          </a:p>
        </p:txBody>
      </p:sp>
      <p:sp>
        <p:nvSpPr>
          <p:cNvPr id="6" name="shape-jyyitb2">
            <a:extLst xmlns:a="http://schemas.openxmlformats.org/drawingml/2006/main">
              <a:ext uri="{FF2B5EF4-FFF2-40B4-BE49-F238E27FC236}">
                <a16:creationId xmlns:a16="http://schemas.microsoft.com/office/drawing/2014/main" id="{A97900BF-677D-4137-A14E-0294CB76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-z506ke4">
            <a:extLst xmlns:a="http://schemas.openxmlformats.org/drawingml/2006/main">
              <a:ext uri="{FF2B5EF4-FFF2-40B4-BE49-F238E27FC236}">
                <a16:creationId xmlns:a16="http://schemas.microsoft.com/office/drawing/2014/main" id="{07985092-ECCA-4719-9E9C-5F3836FA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859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页面任务</a:t>
            </a:r>
          </a:p>
        </p:txBody>
      </p:sp>
      <p:sp>
        <p:nvSpPr>
          <p:cNvPr id="8" name="shape-mc98l4o">
            <a:extLst xmlns:a="http://schemas.openxmlformats.org/drawingml/2006/main">
              <a:ext uri="{FF2B5EF4-FFF2-40B4-BE49-F238E27FC236}">
                <a16:creationId xmlns:a16="http://schemas.microsoft.com/office/drawing/2014/main" id="{EEEB54D2-F0FB-4EA0-8873-DE32C1AA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7xqsye6">
            <a:extLst xmlns:a="http://schemas.openxmlformats.org/drawingml/2006/main">
              <a:ext uri="{FF2B5EF4-FFF2-40B4-BE49-F238E27FC236}">
                <a16:creationId xmlns:a16="http://schemas.microsoft.com/office/drawing/2014/main" id="{741A4899-6B67-4B49-980D-3DF7D683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8592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核心内容</a:t>
            </a:r>
          </a:p>
        </p:txBody>
      </p:sp>
      <p:sp>
        <p:nvSpPr>
          <p:cNvPr id="10" name="shape-8k3424z">
            <a:extLst xmlns:a="http://schemas.openxmlformats.org/drawingml/2006/main">
              <a:ext uri="{FF2B5EF4-FFF2-40B4-BE49-F238E27FC236}">
                <a16:creationId xmlns:a16="http://schemas.microsoft.com/office/drawing/2014/main" id="{A914B13B-A0FE-4F69-8F3F-86D48BAC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-sw67t2q">
            <a:extLst xmlns:a="http://schemas.openxmlformats.org/drawingml/2006/main">
              <a:ext uri="{FF2B5EF4-FFF2-40B4-BE49-F238E27FC236}">
                <a16:creationId xmlns:a16="http://schemas.microsoft.com/office/drawing/2014/main" id="{ED09150C-B15B-4851-BB84-765E65CD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859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建议呈现</a:t>
            </a:r>
          </a:p>
        </p:txBody>
      </p:sp>
      <p:sp>
        <p:nvSpPr>
          <p:cNvPr id="12" name="shape-ops8wau">
            <a:extLst xmlns:a="http://schemas.openxmlformats.org/drawingml/2006/main">
              <a:ext uri="{FF2B5EF4-FFF2-40B4-BE49-F238E27FC236}">
                <a16:creationId xmlns:a16="http://schemas.microsoft.com/office/drawing/2014/main" id="{8C32F050-AD6F-4E9D-A374-E723CFA9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-gbquqqh">
            <a:extLst xmlns:a="http://schemas.openxmlformats.org/drawingml/2006/main">
              <a:ext uri="{FF2B5EF4-FFF2-40B4-BE49-F238E27FC236}">
                <a16:creationId xmlns:a16="http://schemas.microsoft.com/office/drawing/2014/main" id="{586B06BE-36D9-4241-AA16-BB385A01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4" name="shape-90sdo9q">
            <a:extLst xmlns:a="http://schemas.openxmlformats.org/drawingml/2006/main">
              <a:ext uri="{FF2B5EF4-FFF2-40B4-BE49-F238E27FC236}">
                <a16:creationId xmlns:a16="http://schemas.microsoft.com/office/drawing/2014/main" id="{52A7C87E-53D7-4876-9EFE-03B86670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860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s0u38fi">
            <a:extLst xmlns:a="http://schemas.openxmlformats.org/drawingml/2006/main">
              <a:ext uri="{FF2B5EF4-FFF2-40B4-BE49-F238E27FC236}">
                <a16:creationId xmlns:a16="http://schemas.microsoft.com/office/drawing/2014/main" id="{9AEC4C86-B973-4647-9304-F65A78C5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526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目标与范围</a:t>
            </a:r>
          </a:p>
        </p:txBody>
      </p:sp>
      <p:sp>
        <p:nvSpPr>
          <p:cNvPr id="16" name="shape-5ylfexy">
            <a:extLst xmlns:a="http://schemas.openxmlformats.org/drawingml/2006/main">
              <a:ext uri="{FF2B5EF4-FFF2-40B4-BE49-F238E27FC236}">
                <a16:creationId xmlns:a16="http://schemas.microsoft.com/office/drawing/2014/main" id="{ACF780EE-FFC2-45E6-8B1A-2683E9B0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1xzlvpj">
            <a:extLst xmlns:a="http://schemas.openxmlformats.org/drawingml/2006/main">
              <a:ext uri="{FF2B5EF4-FFF2-40B4-BE49-F238E27FC236}">
                <a16:creationId xmlns:a16="http://schemas.microsoft.com/office/drawing/2014/main" id="{2791DA19-E6A7-4BA2-BB6B-ABFEB099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5267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这次汇报关注什么</a:t>
            </a:r>
          </a:p>
        </p:txBody>
      </p:sp>
      <p:sp>
        <p:nvSpPr>
          <p:cNvPr id="18" name="shape-ccdq1w1">
            <a:extLst xmlns:a="http://schemas.openxmlformats.org/drawingml/2006/main">
              <a:ext uri="{FF2B5EF4-FFF2-40B4-BE49-F238E27FC236}">
                <a16:creationId xmlns:a16="http://schemas.microsoft.com/office/drawing/2014/main" id="{C31D103C-9E6F-4609-9466-62699140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-ftq0ev4">
            <a:extLst xmlns:a="http://schemas.openxmlformats.org/drawingml/2006/main">
              <a:ext uri="{FF2B5EF4-FFF2-40B4-BE49-F238E27FC236}">
                <a16:creationId xmlns:a16="http://schemas.microsoft.com/office/drawing/2014/main" id="{AEFCF77F-B258-4464-BC0D-9871CF84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526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KPI与统计范围</a:t>
            </a:r>
          </a:p>
        </p:txBody>
      </p:sp>
      <p:sp>
        <p:nvSpPr>
          <p:cNvPr id="20" name="shape-bpic0tg">
            <a:extLst xmlns:a="http://schemas.openxmlformats.org/drawingml/2006/main">
              <a:ext uri="{FF2B5EF4-FFF2-40B4-BE49-F238E27FC236}">
                <a16:creationId xmlns:a16="http://schemas.microsoft.com/office/drawing/2014/main" id="{3B40E496-B1E4-4978-A66C-2363FD05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-n7g7pg3">
            <a:extLst xmlns:a="http://schemas.openxmlformats.org/drawingml/2006/main">
              <a:ext uri="{FF2B5EF4-FFF2-40B4-BE49-F238E27FC236}">
                <a16:creationId xmlns:a16="http://schemas.microsoft.com/office/drawing/2014/main" id="{8D6B14DA-5EFE-4D07-8540-25CC56A1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194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2" name="shape-4eooqjx">
            <a:extLst xmlns:a="http://schemas.openxmlformats.org/drawingml/2006/main">
              <a:ext uri="{FF2B5EF4-FFF2-40B4-BE49-F238E27FC236}">
                <a16:creationId xmlns:a16="http://schemas.microsoft.com/office/drawing/2014/main" id="{62961F0F-D5A6-4E64-9E79-E06841C8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527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xt-dmjft1z">
            <a:extLst xmlns:a="http://schemas.openxmlformats.org/drawingml/2006/main">
              <a:ext uri="{FF2B5EF4-FFF2-40B4-BE49-F238E27FC236}">
                <a16:creationId xmlns:a16="http://schemas.microsoft.com/office/drawing/2014/main" id="{232147C1-908C-4D0C-92E8-AE32F634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194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整体结果</a:t>
            </a:r>
          </a:p>
        </p:txBody>
      </p:sp>
      <p:sp>
        <p:nvSpPr>
          <p:cNvPr id="24" name="shape-3jlrlq1">
            <a:extLst xmlns:a="http://schemas.openxmlformats.org/drawingml/2006/main">
              <a:ext uri="{FF2B5EF4-FFF2-40B4-BE49-F238E27FC236}">
                <a16:creationId xmlns:a16="http://schemas.microsoft.com/office/drawing/2014/main" id="{204C8B3F-1B95-4C59-9CF1-E1A195E1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text-v70721z">
            <a:extLst xmlns:a="http://schemas.openxmlformats.org/drawingml/2006/main">
              <a:ext uri="{FF2B5EF4-FFF2-40B4-BE49-F238E27FC236}">
                <a16:creationId xmlns:a16="http://schemas.microsoft.com/office/drawing/2014/main" id="{893D7D2B-ABAB-4753-9F47-FFE96ECB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1942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最重要的总体结论</a:t>
            </a:r>
          </a:p>
        </p:txBody>
      </p:sp>
      <p:sp>
        <p:nvSpPr>
          <p:cNvPr id="26" name="shape-s800q5j">
            <a:extLst xmlns:a="http://schemas.openxmlformats.org/drawingml/2006/main">
              <a:ext uri="{FF2B5EF4-FFF2-40B4-BE49-F238E27FC236}">
                <a16:creationId xmlns:a16="http://schemas.microsoft.com/office/drawing/2014/main" id="{805CF734-6A78-4B2F-8A41-7D20EBF8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text-8txbjz8">
            <a:extLst xmlns:a="http://schemas.openxmlformats.org/drawingml/2006/main">
              <a:ext uri="{FF2B5EF4-FFF2-40B4-BE49-F238E27FC236}">
                <a16:creationId xmlns:a16="http://schemas.microsoft.com/office/drawing/2014/main" id="{155A101A-3FF7-4773-AF52-4525B8A4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194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柱状图 / 折线图</a:t>
            </a:r>
          </a:p>
        </p:txBody>
      </p:sp>
      <p:sp>
        <p:nvSpPr>
          <p:cNvPr id="28" name="shape-xt3woq7">
            <a:extLst xmlns:a="http://schemas.openxmlformats.org/drawingml/2006/main">
              <a:ext uri="{FF2B5EF4-FFF2-40B4-BE49-F238E27FC236}">
                <a16:creationId xmlns:a16="http://schemas.microsoft.com/office/drawing/2014/main" id="{93BFDAAA-2D76-462A-8C04-A5C14141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text-mziavma">
            <a:extLst xmlns:a="http://schemas.openxmlformats.org/drawingml/2006/main">
              <a:ext uri="{FF2B5EF4-FFF2-40B4-BE49-F238E27FC236}">
                <a16:creationId xmlns:a16="http://schemas.microsoft.com/office/drawing/2014/main" id="{38030A9E-5124-454D-8D8E-0F7C1B7E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0" name="shape-hye3302">
            <a:extLst xmlns:a="http://schemas.openxmlformats.org/drawingml/2006/main">
              <a:ext uri="{FF2B5EF4-FFF2-40B4-BE49-F238E27FC236}">
                <a16:creationId xmlns:a16="http://schemas.microsoft.com/office/drawing/2014/main" id="{B174F9B8-313A-44FE-936A-B4ED6F8C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text-qseze38">
            <a:extLst xmlns:a="http://schemas.openxmlformats.org/drawingml/2006/main">
              <a:ext uri="{FF2B5EF4-FFF2-40B4-BE49-F238E27FC236}">
                <a16:creationId xmlns:a16="http://schemas.microsoft.com/office/drawing/2014/main" id="{1F44A637-F5F3-4E14-AD3E-A36FD88A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861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关键差异</a:t>
            </a:r>
          </a:p>
        </p:txBody>
      </p:sp>
      <p:sp>
        <p:nvSpPr>
          <p:cNvPr id="32" name="shape-zfk7rqk">
            <a:extLst xmlns:a="http://schemas.openxmlformats.org/drawingml/2006/main">
              <a:ext uri="{FF2B5EF4-FFF2-40B4-BE49-F238E27FC236}">
                <a16:creationId xmlns:a16="http://schemas.microsoft.com/office/drawing/2014/main" id="{D0F4EFC0-E1BF-4B61-B760-AB98A0B8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text-h028ilm">
            <a:extLst xmlns:a="http://schemas.openxmlformats.org/drawingml/2006/main">
              <a:ext uri="{FF2B5EF4-FFF2-40B4-BE49-F238E27FC236}">
                <a16:creationId xmlns:a16="http://schemas.microsoft.com/office/drawing/2014/main" id="{EB49FCDA-B329-49C8-9D68-9160247A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8617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哪些门店或产品造成差异</a:t>
            </a:r>
          </a:p>
        </p:txBody>
      </p:sp>
      <p:sp>
        <p:nvSpPr>
          <p:cNvPr id="34" name="shape-ha60fn1">
            <a:extLst xmlns:a="http://schemas.openxmlformats.org/drawingml/2006/main">
              <a:ext uri="{FF2B5EF4-FFF2-40B4-BE49-F238E27FC236}">
                <a16:creationId xmlns:a16="http://schemas.microsoft.com/office/drawing/2014/main" id="{61C9A7AC-BCC9-4321-B043-FD305519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text-haxan3g">
            <a:extLst xmlns:a="http://schemas.openxmlformats.org/drawingml/2006/main">
              <a:ext uri="{FF2B5EF4-FFF2-40B4-BE49-F238E27FC236}">
                <a16:creationId xmlns:a16="http://schemas.microsoft.com/office/drawing/2014/main" id="{C0C9DB50-E8A1-462C-A65D-1BCDD0FA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861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对比图</a:t>
            </a:r>
          </a:p>
        </p:txBody>
      </p:sp>
      <p:sp>
        <p:nvSpPr>
          <p:cNvPr id="36" name="shape-i2ezfla">
            <a:extLst xmlns:a="http://schemas.openxmlformats.org/drawingml/2006/main">
              <a:ext uri="{FF2B5EF4-FFF2-40B4-BE49-F238E27FC236}">
                <a16:creationId xmlns:a16="http://schemas.microsoft.com/office/drawing/2014/main" id="{D030DDA3-DE8C-4ACD-91ED-984C1006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text-80ld73n">
            <a:extLst xmlns:a="http://schemas.openxmlformats.org/drawingml/2006/main">
              <a:ext uri="{FF2B5EF4-FFF2-40B4-BE49-F238E27FC236}">
                <a16:creationId xmlns:a16="http://schemas.microsoft.com/office/drawing/2014/main" id="{B764BF61-F2EB-454C-9C6D-61AAA570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8" name="shape-pr6iwcb">
            <a:extLst xmlns:a="http://schemas.openxmlformats.org/drawingml/2006/main">
              <a:ext uri="{FF2B5EF4-FFF2-40B4-BE49-F238E27FC236}">
                <a16:creationId xmlns:a16="http://schemas.microsoft.com/office/drawing/2014/main" id="{98F2109A-33E1-4E26-BCA1-6DA97E6E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text-18j6eel">
            <a:extLst xmlns:a="http://schemas.openxmlformats.org/drawingml/2006/main">
              <a:ext uri="{FF2B5EF4-FFF2-40B4-BE49-F238E27FC236}">
                <a16:creationId xmlns:a16="http://schemas.microsoft.com/office/drawing/2014/main" id="{BFDF42FC-104D-4A99-8A1C-977C07F6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529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风险与机会</a:t>
            </a:r>
          </a:p>
        </p:txBody>
      </p:sp>
      <p:sp>
        <p:nvSpPr>
          <p:cNvPr id="40" name="shape-bvvtu19">
            <a:extLst xmlns:a="http://schemas.openxmlformats.org/drawingml/2006/main">
              <a:ext uri="{FF2B5EF4-FFF2-40B4-BE49-F238E27FC236}">
                <a16:creationId xmlns:a16="http://schemas.microsoft.com/office/drawing/2014/main" id="{C4713129-3C0F-42F9-9B79-575A91B1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text-gb4sgse">
            <a:extLst xmlns:a="http://schemas.openxmlformats.org/drawingml/2006/main">
              <a:ext uri="{FF2B5EF4-FFF2-40B4-BE49-F238E27FC236}">
                <a16:creationId xmlns:a16="http://schemas.microsoft.com/office/drawing/2014/main" id="{2D490718-7390-45E4-BCA4-4641A49B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5292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需要重点关注什么</a:t>
            </a:r>
          </a:p>
        </p:txBody>
      </p:sp>
      <p:sp>
        <p:nvSpPr>
          <p:cNvPr id="42" name="shape-t3v9vqy">
            <a:extLst xmlns:a="http://schemas.openxmlformats.org/drawingml/2006/main">
              <a:ext uri="{FF2B5EF4-FFF2-40B4-BE49-F238E27FC236}">
                <a16:creationId xmlns:a16="http://schemas.microsoft.com/office/drawing/2014/main" id="{1FF1C1EA-3002-48F8-89C6-DD006651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text-b6famid">
            <a:extLst xmlns:a="http://schemas.openxmlformats.org/drawingml/2006/main">
              <a:ext uri="{FF2B5EF4-FFF2-40B4-BE49-F238E27FC236}">
                <a16:creationId xmlns:a16="http://schemas.microsoft.com/office/drawing/2014/main" id="{2B479892-8343-4126-8206-8F782721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529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异常表 / 散点图</a:t>
            </a:r>
          </a:p>
        </p:txBody>
      </p:sp>
      <p:sp>
        <p:nvSpPr>
          <p:cNvPr id="44" name="shape-j86edsh">
            <a:extLst xmlns:a="http://schemas.openxmlformats.org/drawingml/2006/main">
              <a:ext uri="{FF2B5EF4-FFF2-40B4-BE49-F238E27FC236}">
                <a16:creationId xmlns:a16="http://schemas.microsoft.com/office/drawing/2014/main" id="{093D5AEE-847D-4832-89C1-DCF901E2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text-q6vyy0b">
            <a:extLst xmlns:a="http://schemas.openxmlformats.org/drawingml/2006/main">
              <a:ext uri="{FF2B5EF4-FFF2-40B4-BE49-F238E27FC236}">
                <a16:creationId xmlns:a16="http://schemas.microsoft.com/office/drawing/2014/main" id="{68052EEF-68F7-42D9-9065-FCAB720F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46" name="shape-i0l371s">
            <a:extLst xmlns:a="http://schemas.openxmlformats.org/drawingml/2006/main">
              <a:ext uri="{FF2B5EF4-FFF2-40B4-BE49-F238E27FC236}">
                <a16:creationId xmlns:a16="http://schemas.microsoft.com/office/drawing/2014/main" id="{B755D066-BBFB-4E6D-BB1F-199094EA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text-ftlq2aq">
            <a:extLst xmlns:a="http://schemas.openxmlformats.org/drawingml/2006/main">
              <a:ext uri="{FF2B5EF4-FFF2-40B4-BE49-F238E27FC236}">
                <a16:creationId xmlns:a16="http://schemas.microsoft.com/office/drawing/2014/main" id="{DB751F3B-DC21-4CC6-B660-2B3BD132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196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下一步行动</a:t>
            </a:r>
          </a:p>
        </p:txBody>
      </p:sp>
      <p:sp>
        <p:nvSpPr>
          <p:cNvPr id="48" name="shape-akee6ri">
            <a:extLst xmlns:a="http://schemas.openxmlformats.org/drawingml/2006/main">
              <a:ext uri="{FF2B5EF4-FFF2-40B4-BE49-F238E27FC236}">
                <a16:creationId xmlns:a16="http://schemas.microsoft.com/office/drawing/2014/main" id="{93D72AA3-91BC-4C1A-8A1F-432DB9B9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text-fhzqwfs">
            <a:extLst xmlns:a="http://schemas.openxmlformats.org/drawingml/2006/main">
              <a:ext uri="{FF2B5EF4-FFF2-40B4-BE49-F238E27FC236}">
                <a16:creationId xmlns:a16="http://schemas.microsoft.com/office/drawing/2014/main" id="{55E8F6F9-8BB1-4435-923A-1E715784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19675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谁在什么时候做什么</a:t>
            </a:r>
          </a:p>
        </p:txBody>
      </p:sp>
      <p:sp>
        <p:nvSpPr>
          <p:cNvPr id="50" name="shape-2tfjaxn">
            <a:extLst xmlns:a="http://schemas.openxmlformats.org/drawingml/2006/main">
              <a:ext uri="{FF2B5EF4-FFF2-40B4-BE49-F238E27FC236}">
                <a16:creationId xmlns:a16="http://schemas.microsoft.com/office/drawing/2014/main" id="{5983A544-D28A-49BB-A2B2-A3E37259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text-8kkqpjx">
            <a:extLst xmlns:a="http://schemas.openxmlformats.org/drawingml/2006/main">
              <a:ext uri="{FF2B5EF4-FFF2-40B4-BE49-F238E27FC236}">
                <a16:creationId xmlns:a16="http://schemas.microsoft.com/office/drawing/2014/main" id="{53444EEC-0B1B-4CE9-BB12-1354D2C4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1967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行动清单</a:t>
            </a:r>
          </a:p>
        </p:txBody>
      </p:sp>
      <p:sp>
        <p:nvSpPr>
          <p:cNvPr id="52" name="text-c6iba21">
            <a:extLst xmlns:a="http://schemas.openxmlformats.org/drawingml/2006/main">
              <a:ext uri="{FF2B5EF4-FFF2-40B4-BE49-F238E27FC236}">
                <a16:creationId xmlns:a16="http://schemas.microsoft.com/office/drawing/2014/main" id="{E678FDC7-77A8-4F49-80F9-10502F47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从Excel到PPT方案</a:t>
            </a:r>
          </a:p>
        </p:txBody>
      </p:sp>
      <p:sp>
        <p:nvSpPr>
          <p:cNvPr id="53" name="text-1aq9dsu">
            <a:extLst xmlns:a="http://schemas.openxmlformats.org/drawingml/2006/main">
              <a:ext uri="{FF2B5EF4-FFF2-40B4-BE49-F238E27FC236}">
                <a16:creationId xmlns:a16="http://schemas.microsoft.com/office/drawing/2014/main" id="{E3C3A539-F590-420D-A72A-D52B7734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036522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ywebhh4">
            <a:extLst xmlns:a="http://schemas.openxmlformats.org/drawingml/2006/main">
              <a:ext uri="{FF2B5EF4-FFF2-40B4-BE49-F238E27FC236}">
                <a16:creationId xmlns:a16="http://schemas.microsoft.com/office/drawing/2014/main" id="{D49AEF5B-8C53-4AD5-B686-36C1C99A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从方案到文件</a:t>
            </a:r>
          </a:p>
        </p:txBody>
      </p:sp>
      <p:sp>
        <p:nvSpPr>
          <p:cNvPr id="2" name="text-e5kmsml">
            <a:extLst xmlns:a="http://schemas.openxmlformats.org/drawingml/2006/main">
              <a:ext uri="{FF2B5EF4-FFF2-40B4-BE49-F238E27FC236}">
                <a16:creationId xmlns:a16="http://schemas.microsoft.com/office/drawing/2014/main" id="{8CFDCE01-2C4F-4FD5-B8E1-5A4D52C3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生成 PPT 前，把三类上游依据一起交给 AI</a:t>
            </a:r>
          </a:p>
        </p:txBody>
      </p:sp>
      <p:sp>
        <p:nvSpPr>
          <p:cNvPr id="3" name="shape-yh35eyc">
            <a:extLst xmlns:a="http://schemas.openxmlformats.org/drawingml/2006/main">
              <a:ext uri="{FF2B5EF4-FFF2-40B4-BE49-F238E27FC236}">
                <a16:creationId xmlns:a16="http://schemas.microsoft.com/office/drawing/2014/main" id="{73816CE5-2B3B-4CD9-9C42-40359E14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1s8dtas">
            <a:extLst xmlns:a="http://schemas.openxmlformats.org/drawingml/2006/main">
              <a:ext uri="{FF2B5EF4-FFF2-40B4-BE49-F238E27FC236}">
                <a16:creationId xmlns:a16="http://schemas.microsoft.com/office/drawing/2014/main" id="{961940EF-7F69-4150-B3DD-CD0DC42F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-qlriufg">
            <a:extLst xmlns:a="http://schemas.openxmlformats.org/drawingml/2006/main">
              <a:ext uri="{FF2B5EF4-FFF2-40B4-BE49-F238E27FC236}">
                <a16:creationId xmlns:a16="http://schemas.microsoft.com/office/drawing/2014/main" id="{95B23D44-B574-41A4-87C7-6424ABE1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lujuu9v">
            <a:extLst xmlns:a="http://schemas.openxmlformats.org/drawingml/2006/main">
              <a:ext uri="{FF2B5EF4-FFF2-40B4-BE49-F238E27FC236}">
                <a16:creationId xmlns:a16="http://schemas.microsoft.com/office/drawing/2014/main" id="{6DBE3DC9-71F1-4FF2-9925-2977479B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需求确认单</a:t>
            </a:r>
          </a:p>
        </p:txBody>
      </p:sp>
      <p:sp>
        <p:nvSpPr>
          <p:cNvPr id="7" name="text-dag0sod">
            <a:extLst xmlns:a="http://schemas.openxmlformats.org/drawingml/2006/main">
              <a:ext uri="{FF2B5EF4-FFF2-40B4-BE49-F238E27FC236}">
                <a16:creationId xmlns:a16="http://schemas.microsoft.com/office/drawing/2014/main" id="{E68FDD66-64F5-4026-898E-D75C56A4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对象、目标、范围、边界</a:t>
            </a:r>
          </a:p>
        </p:txBody>
      </p:sp>
      <p:sp>
        <p:nvSpPr>
          <p:cNvPr id="8" name="text-9fgx499">
            <a:extLst xmlns:a="http://schemas.openxmlformats.org/drawingml/2006/main">
              <a:ext uri="{FF2B5EF4-FFF2-40B4-BE49-F238E27FC236}">
                <a16:creationId xmlns:a16="http://schemas.microsoft.com/office/drawing/2014/main" id="{B173743E-4317-4AF9-AA42-2ED6B225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eh0touq">
            <a:extLst xmlns:a="http://schemas.openxmlformats.org/drawingml/2006/main">
              <a:ext uri="{FF2B5EF4-FFF2-40B4-BE49-F238E27FC236}">
                <a16:creationId xmlns:a16="http://schemas.microsoft.com/office/drawing/2014/main" id="{D9DA3252-CB09-49F0-A8FB-0F5CFC66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u2yf6b7">
            <a:extLst xmlns:a="http://schemas.openxmlformats.org/drawingml/2006/main">
              <a:ext uri="{FF2B5EF4-FFF2-40B4-BE49-F238E27FC236}">
                <a16:creationId xmlns:a16="http://schemas.microsoft.com/office/drawing/2014/main" id="{31133FA9-9FF3-4153-93F8-5D2340AA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apnlitq">
            <a:extLst xmlns:a="http://schemas.openxmlformats.org/drawingml/2006/main">
              <a:ext uri="{FF2B5EF4-FFF2-40B4-BE49-F238E27FC236}">
                <a16:creationId xmlns:a16="http://schemas.microsoft.com/office/drawing/2014/main" id="{14FF8700-B782-4F03-8EEE-15E0261F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Excel数据</a:t>
            </a:r>
          </a:p>
        </p:txBody>
      </p:sp>
      <p:sp>
        <p:nvSpPr>
          <p:cNvPr id="12" name="text-hbj9m6u">
            <a:extLst xmlns:a="http://schemas.openxmlformats.org/drawingml/2006/main">
              <a:ext uri="{FF2B5EF4-FFF2-40B4-BE49-F238E27FC236}">
                <a16:creationId xmlns:a16="http://schemas.microsoft.com/office/drawing/2014/main" id="{50F3BEF5-2037-4E33-B77B-9DB51BC9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经过校验的数字与口径</a:t>
            </a:r>
          </a:p>
        </p:txBody>
      </p:sp>
      <p:sp>
        <p:nvSpPr>
          <p:cNvPr id="13" name="text-us620yr">
            <a:extLst xmlns:a="http://schemas.openxmlformats.org/drawingml/2006/main">
              <a:ext uri="{FF2B5EF4-FFF2-40B4-BE49-F238E27FC236}">
                <a16:creationId xmlns:a16="http://schemas.microsoft.com/office/drawing/2014/main" id="{C5CB71FD-9FA3-494D-8EEE-C50E409C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c8wvos5">
            <a:extLst xmlns:a="http://schemas.openxmlformats.org/drawingml/2006/main">
              <a:ext uri="{FF2B5EF4-FFF2-40B4-BE49-F238E27FC236}">
                <a16:creationId xmlns:a16="http://schemas.microsoft.com/office/drawing/2014/main" id="{155D43AC-D886-4CE6-8972-81E6B806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3gymkrq">
            <a:extLst xmlns:a="http://schemas.openxmlformats.org/drawingml/2006/main">
              <a:ext uri="{FF2B5EF4-FFF2-40B4-BE49-F238E27FC236}">
                <a16:creationId xmlns:a16="http://schemas.microsoft.com/office/drawing/2014/main" id="{76E8690E-A92D-415F-AA01-63987055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1rjqxyh">
            <a:extLst xmlns:a="http://schemas.openxmlformats.org/drawingml/2006/main">
              <a:ext uri="{FF2B5EF4-FFF2-40B4-BE49-F238E27FC236}">
                <a16:creationId xmlns:a16="http://schemas.microsoft.com/office/drawing/2014/main" id="{FDADE75F-FD6D-492A-9D58-4F3142C3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页面方案</a:t>
            </a:r>
          </a:p>
        </p:txBody>
      </p:sp>
      <p:sp>
        <p:nvSpPr>
          <p:cNvPr id="17" name="text-dmkts7t">
            <a:extLst xmlns:a="http://schemas.openxmlformats.org/drawingml/2006/main">
              <a:ext uri="{FF2B5EF4-FFF2-40B4-BE49-F238E27FC236}">
                <a16:creationId xmlns:a16="http://schemas.microsoft.com/office/drawing/2014/main" id="{DB11A086-BFE6-451F-84A4-FD6FA31F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标题、证据、图表、行动</a:t>
            </a:r>
          </a:p>
        </p:txBody>
      </p:sp>
      <p:sp>
        <p:nvSpPr>
          <p:cNvPr id="18" name="text-47lo383">
            <a:extLst xmlns:a="http://schemas.openxmlformats.org/drawingml/2006/main">
              <a:ext uri="{FF2B5EF4-FFF2-40B4-BE49-F238E27FC236}">
                <a16:creationId xmlns:a16="http://schemas.microsoft.com/office/drawing/2014/main" id="{E066FDB9-6ABD-42E4-93B2-152A0593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64m8jtr">
            <a:extLst xmlns:a="http://schemas.openxmlformats.org/drawingml/2006/main">
              <a:ext uri="{FF2B5EF4-FFF2-40B4-BE49-F238E27FC236}">
                <a16:creationId xmlns:a16="http://schemas.microsoft.com/office/drawing/2014/main" id="{2F713781-744A-430E-B3BD-B22A8576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yvwlcqj">
            <a:extLst xmlns:a="http://schemas.openxmlformats.org/drawingml/2006/main">
              <a:ext uri="{FF2B5EF4-FFF2-40B4-BE49-F238E27FC236}">
                <a16:creationId xmlns:a16="http://schemas.microsoft.com/office/drawing/2014/main" id="{E5010B87-AB9B-4A36-BB9E-C6B89A0C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tn9w9m3">
            <a:extLst xmlns:a="http://schemas.openxmlformats.org/drawingml/2006/main">
              <a:ext uri="{FF2B5EF4-FFF2-40B4-BE49-F238E27FC236}">
                <a16:creationId xmlns:a16="http://schemas.microsoft.com/office/drawing/2014/main" id="{8B8F4820-B49C-4A2A-86CB-C42E709C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PPT初稿</a:t>
            </a:r>
          </a:p>
        </p:txBody>
      </p:sp>
      <p:sp>
        <p:nvSpPr>
          <p:cNvPr id="22" name="text-yyu88uz">
            <a:extLst xmlns:a="http://schemas.openxmlformats.org/drawingml/2006/main">
              <a:ext uri="{FF2B5EF4-FFF2-40B4-BE49-F238E27FC236}">
                <a16:creationId xmlns:a16="http://schemas.microsoft.com/office/drawing/2014/main" id="{8C9679D5-AEB3-4E7A-AA08-00DB0912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生成后继续检查和迭代</a:t>
            </a:r>
          </a:p>
        </p:txBody>
      </p:sp>
      <p:sp>
        <p:nvSpPr>
          <p:cNvPr id="23" name="text-5wni8on">
            <a:extLst xmlns:a="http://schemas.openxmlformats.org/drawingml/2006/main">
              <a:ext uri="{FF2B5EF4-FFF2-40B4-BE49-F238E27FC236}">
                <a16:creationId xmlns:a16="http://schemas.microsoft.com/office/drawing/2014/main" id="{E2801E61-E306-462E-A2A8-3C914A79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生成并检查PPT</a:t>
            </a:r>
          </a:p>
        </p:txBody>
      </p:sp>
      <p:sp>
        <p:nvSpPr>
          <p:cNvPr id="24" name="text-mkp3mqt">
            <a:extLst xmlns:a="http://schemas.openxmlformats.org/drawingml/2006/main">
              <a:ext uri="{FF2B5EF4-FFF2-40B4-BE49-F238E27FC236}">
                <a16:creationId xmlns:a16="http://schemas.microsoft.com/office/drawing/2014/main" id="{BC533DC7-131B-4878-9701-1803F9F7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7535089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razmwqp">
            <a:extLst xmlns:a="http://schemas.openxmlformats.org/drawingml/2006/main">
              <a:ext uri="{FF2B5EF4-FFF2-40B4-BE49-F238E27FC236}">
                <a16:creationId xmlns:a16="http://schemas.microsoft.com/office/drawing/2014/main" id="{965D249C-48E6-4E5D-98BB-EA66455F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内容正确 · 叙事清楚 · 页面可读</a:t>
            </a:r>
          </a:p>
        </p:txBody>
      </p:sp>
      <p:sp>
        <p:nvSpPr>
          <p:cNvPr id="2" name="text-iop94od">
            <a:extLst xmlns:a="http://schemas.openxmlformats.org/drawingml/2006/main">
              <a:ext uri="{FF2B5EF4-FFF2-40B4-BE49-F238E27FC236}">
                <a16:creationId xmlns:a16="http://schemas.microsoft.com/office/drawing/2014/main" id="{23DBE929-958D-4602-B754-E99148DF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PPT 能不能交付，先看七项检查</a:t>
            </a:r>
          </a:p>
        </p:txBody>
      </p:sp>
      <p:sp>
        <p:nvSpPr>
          <p:cNvPr id="3" name="shape-4tr69e7">
            <a:extLst xmlns:a="http://schemas.openxmlformats.org/drawingml/2006/main">
              <a:ext uri="{FF2B5EF4-FFF2-40B4-BE49-F238E27FC236}">
                <a16:creationId xmlns:a16="http://schemas.microsoft.com/office/drawing/2014/main" id="{8D64A855-2CEE-4CEE-94A2-BF4B64BC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wy5f38q">
            <a:extLst xmlns:a="http://schemas.openxmlformats.org/drawingml/2006/main">
              <a:ext uri="{FF2B5EF4-FFF2-40B4-BE49-F238E27FC236}">
                <a16:creationId xmlns:a16="http://schemas.microsoft.com/office/drawing/2014/main" id="{6E44D024-C1B5-4CB3-8B1E-26E508A1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" name="text-gjyf2o0">
            <a:extLst xmlns:a="http://schemas.openxmlformats.org/drawingml/2006/main">
              <a:ext uri="{FF2B5EF4-FFF2-40B4-BE49-F238E27FC236}">
                <a16:creationId xmlns:a16="http://schemas.microsoft.com/office/drawing/2014/main" id="{CC11B117-9872-43E1-A462-C750FE84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4962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每页只有一个主要结论</a:t>
            </a:r>
          </a:p>
        </p:txBody>
      </p:sp>
      <p:sp>
        <p:nvSpPr>
          <p:cNvPr id="6" name="shape-u3vu02s">
            <a:extLst xmlns:a="http://schemas.openxmlformats.org/drawingml/2006/main">
              <a:ext uri="{FF2B5EF4-FFF2-40B4-BE49-F238E27FC236}">
                <a16:creationId xmlns:a16="http://schemas.microsoft.com/office/drawing/2014/main" id="{B8A4E660-8706-4933-9652-8E978EBE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62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text-tc9cgd2">
            <a:extLst xmlns:a="http://schemas.openxmlformats.org/drawingml/2006/main">
              <a:ext uri="{FF2B5EF4-FFF2-40B4-BE49-F238E27FC236}">
                <a16:creationId xmlns:a16="http://schemas.microsoft.com/office/drawing/2014/main" id="{D1FEB24B-1AE6-4327-B7CD-F343F4AC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14500"/>
            <a:ext cx="4962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标题表达观点，而不是写‘数据分析’</a:t>
            </a:r>
          </a:p>
        </p:txBody>
      </p:sp>
      <p:sp>
        <p:nvSpPr>
          <p:cNvPr id="8" name="shape-3dcel3v">
            <a:extLst xmlns:a="http://schemas.openxmlformats.org/drawingml/2006/main">
              <a:ext uri="{FF2B5EF4-FFF2-40B4-BE49-F238E27FC236}">
                <a16:creationId xmlns:a16="http://schemas.microsoft.com/office/drawing/2014/main" id="{9833C6CA-1E40-4999-9EEF-13C21E0D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text-8vaeia1">
            <a:extLst xmlns:a="http://schemas.openxmlformats.org/drawingml/2006/main">
              <a:ext uri="{FF2B5EF4-FFF2-40B4-BE49-F238E27FC236}">
                <a16:creationId xmlns:a16="http://schemas.microsoft.com/office/drawing/2014/main" id="{805B12F8-D6BF-488B-9667-5F11B906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4962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关键数字与Excel一致</a:t>
            </a:r>
          </a:p>
        </p:txBody>
      </p:sp>
      <p:sp>
        <p:nvSpPr>
          <p:cNvPr id="10" name="shape-cbbipo2">
            <a:extLst xmlns:a="http://schemas.openxmlformats.org/drawingml/2006/main">
              <a:ext uri="{FF2B5EF4-FFF2-40B4-BE49-F238E27FC236}">
                <a16:creationId xmlns:a16="http://schemas.microsoft.com/office/drawing/2014/main" id="{84A0D2D6-501B-4D88-9BF3-D8E5DB3C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09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text-hi982vg">
            <a:extLst xmlns:a="http://schemas.openxmlformats.org/drawingml/2006/main">
              <a:ext uri="{FF2B5EF4-FFF2-40B4-BE49-F238E27FC236}">
                <a16:creationId xmlns:a16="http://schemas.microsoft.com/office/drawing/2014/main" id="{2EFB4CDE-558F-44B1-B215-46ABE4AE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62250"/>
            <a:ext cx="4962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图表类型匹配数据关系</a:t>
            </a:r>
          </a:p>
        </p:txBody>
      </p:sp>
      <p:sp>
        <p:nvSpPr>
          <p:cNvPr id="12" name="shape-kbv9c7k">
            <a:extLst xmlns:a="http://schemas.openxmlformats.org/drawingml/2006/main">
              <a:ext uri="{FF2B5EF4-FFF2-40B4-BE49-F238E27FC236}">
                <a16:creationId xmlns:a16="http://schemas.microsoft.com/office/drawing/2014/main" id="{01203490-9C0C-4957-8956-FBC21499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3" name="text-uhsipqg">
            <a:extLst xmlns:a="http://schemas.openxmlformats.org/drawingml/2006/main">
              <a:ext uri="{FF2B5EF4-FFF2-40B4-BE49-F238E27FC236}">
                <a16:creationId xmlns:a16="http://schemas.microsoft.com/office/drawing/2014/main" id="{00CD640C-835E-4E03-AD9C-F1D06997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4962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没有大段文字和不可读表格</a:t>
            </a:r>
          </a:p>
        </p:txBody>
      </p:sp>
      <p:sp>
        <p:nvSpPr>
          <p:cNvPr id="14" name="shape-18amsqx">
            <a:extLst xmlns:a="http://schemas.openxmlformats.org/drawingml/2006/main">
              <a:ext uri="{FF2B5EF4-FFF2-40B4-BE49-F238E27FC236}">
                <a16:creationId xmlns:a16="http://schemas.microsoft.com/office/drawing/2014/main" id="{F914EA06-B049-40A7-BDEC-A45E6AE8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57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text-46q7omt">
            <a:extLst xmlns:a="http://schemas.openxmlformats.org/drawingml/2006/main">
              <a:ext uri="{FF2B5EF4-FFF2-40B4-BE49-F238E27FC236}">
                <a16:creationId xmlns:a16="http://schemas.microsoft.com/office/drawing/2014/main" id="{65B6E22F-77CF-4FEA-9062-503A2398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10000"/>
            <a:ext cx="4962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建议能够对应前面的数据结论</a:t>
            </a:r>
          </a:p>
        </p:txBody>
      </p:sp>
      <p:sp>
        <p:nvSpPr>
          <p:cNvPr id="16" name="shape-mbj1umf">
            <a:extLst xmlns:a="http://schemas.openxmlformats.org/drawingml/2006/main">
              <a:ext uri="{FF2B5EF4-FFF2-40B4-BE49-F238E27FC236}">
                <a16:creationId xmlns:a16="http://schemas.microsoft.com/office/drawing/2014/main" id="{9E4BD8C7-DEDA-4685-A31F-ED6ADA8A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7" name="text-wkwtygz">
            <a:extLst xmlns:a="http://schemas.openxmlformats.org/drawingml/2006/main">
              <a:ext uri="{FF2B5EF4-FFF2-40B4-BE49-F238E27FC236}">
                <a16:creationId xmlns:a16="http://schemas.microsoft.com/office/drawing/2014/main" id="{5A2ED6C8-C0C5-41D3-AA99-6226A257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49625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文件能够正常打开、翻页和展示</a:t>
            </a:r>
          </a:p>
        </p:txBody>
      </p:sp>
      <p:sp>
        <p:nvSpPr>
          <p:cNvPr id="18" name="text-utfstpa">
            <a:extLst xmlns:a="http://schemas.openxmlformats.org/drawingml/2006/main">
              <a:ext uri="{FF2B5EF4-FFF2-40B4-BE49-F238E27FC236}">
                <a16:creationId xmlns:a16="http://schemas.microsoft.com/office/drawing/2014/main" id="{A605A747-3184-4D17-A642-E8CC90A9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生成并检查PPT</a:t>
            </a:r>
          </a:p>
        </p:txBody>
      </p:sp>
      <p:sp>
        <p:nvSpPr>
          <p:cNvPr id="19" name="text-1e8hh0l">
            <a:extLst xmlns:a="http://schemas.openxmlformats.org/drawingml/2006/main">
              <a:ext uri="{FF2B5EF4-FFF2-40B4-BE49-F238E27FC236}">
                <a16:creationId xmlns:a16="http://schemas.microsoft.com/office/drawing/2014/main" id="{7C8AC5D5-7C83-4494-8CF5-E41D2E52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76579323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u922wds">
            <a:extLst xmlns:a="http://schemas.openxmlformats.org/drawingml/2006/main">
              <a:ext uri="{FF2B5EF4-FFF2-40B4-BE49-F238E27FC236}">
                <a16:creationId xmlns:a16="http://schemas.microsoft.com/office/drawing/2014/main" id="{599995DC-6F23-4FAE-A2DA-648DB8BD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至少演示一次迭代</a:t>
            </a:r>
          </a:p>
        </p:txBody>
      </p:sp>
      <p:sp>
        <p:nvSpPr>
          <p:cNvPr id="2" name="text-b6cuvhg">
            <a:extLst xmlns:a="http://schemas.openxmlformats.org/drawingml/2006/main">
              <a:ext uri="{FF2B5EF4-FFF2-40B4-BE49-F238E27FC236}">
                <a16:creationId xmlns:a16="http://schemas.microsoft.com/office/drawing/2014/main" id="{FBE45AB3-39BA-48F6-B773-725DCD7D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发现问题，不是结束，而是下一轮提示词的起点</a:t>
            </a:r>
          </a:p>
        </p:txBody>
      </p:sp>
      <p:sp>
        <p:nvSpPr>
          <p:cNvPr id="3" name="shape-twzrqcx">
            <a:extLst xmlns:a="http://schemas.openxmlformats.org/drawingml/2006/main">
              <a:ext uri="{FF2B5EF4-FFF2-40B4-BE49-F238E27FC236}">
                <a16:creationId xmlns:a16="http://schemas.microsoft.com/office/drawing/2014/main" id="{5C156135-F001-4FF3-B7C4-0076820D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vndqk8w">
            <a:extLst xmlns:a="http://schemas.openxmlformats.org/drawingml/2006/main">
              <a:ext uri="{FF2B5EF4-FFF2-40B4-BE49-F238E27FC236}">
                <a16:creationId xmlns:a16="http://schemas.microsoft.com/office/drawing/2014/main" id="{E2791453-BC03-4D0C-9E5B-3A3D5276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-fskwd4w">
            <a:extLst xmlns:a="http://schemas.openxmlformats.org/drawingml/2006/main">
              <a:ext uri="{FF2B5EF4-FFF2-40B4-BE49-F238E27FC236}">
                <a16:creationId xmlns:a16="http://schemas.microsoft.com/office/drawing/2014/main" id="{BECFE42D-84AB-4CF0-A837-E2E14A44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vr264ql">
            <a:extLst xmlns:a="http://schemas.openxmlformats.org/drawingml/2006/main">
              <a:ext uri="{FF2B5EF4-FFF2-40B4-BE49-F238E27FC236}">
                <a16:creationId xmlns:a16="http://schemas.microsoft.com/office/drawing/2014/main" id="{1E3F3977-230F-450C-AD56-7A2E9173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发现问题</a:t>
            </a:r>
          </a:p>
        </p:txBody>
      </p:sp>
      <p:sp>
        <p:nvSpPr>
          <p:cNvPr id="7" name="text-azxhbeq">
            <a:extLst xmlns:a="http://schemas.openxmlformats.org/drawingml/2006/main">
              <a:ext uri="{FF2B5EF4-FFF2-40B4-BE49-F238E27FC236}">
                <a16:creationId xmlns:a16="http://schemas.microsoft.com/office/drawing/2014/main" id="{C90F76FE-7BE6-47D1-A42A-0F8DA96D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数字、结构、标题或版式</a:t>
            </a:r>
          </a:p>
        </p:txBody>
      </p:sp>
      <p:sp>
        <p:nvSpPr>
          <p:cNvPr id="8" name="text-neguv7z">
            <a:extLst xmlns:a="http://schemas.openxmlformats.org/drawingml/2006/main">
              <a:ext uri="{FF2B5EF4-FFF2-40B4-BE49-F238E27FC236}">
                <a16:creationId xmlns:a16="http://schemas.microsoft.com/office/drawing/2014/main" id="{244813F5-CA4B-48DE-A242-AC7CE8BD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shape-6hnub0d">
            <a:extLst xmlns:a="http://schemas.openxmlformats.org/drawingml/2006/main">
              <a:ext uri="{FF2B5EF4-FFF2-40B4-BE49-F238E27FC236}">
                <a16:creationId xmlns:a16="http://schemas.microsoft.com/office/drawing/2014/main" id="{26083CF7-DC94-44C7-83DD-B0E68D16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irpkijq">
            <a:extLst xmlns:a="http://schemas.openxmlformats.org/drawingml/2006/main">
              <a:ext uri="{FF2B5EF4-FFF2-40B4-BE49-F238E27FC236}">
                <a16:creationId xmlns:a16="http://schemas.microsoft.com/office/drawing/2014/main" id="{116BDAB4-F85D-43B9-8E02-2584C54E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gfwwzqn">
            <a:extLst xmlns:a="http://schemas.openxmlformats.org/drawingml/2006/main">
              <a:ext uri="{FF2B5EF4-FFF2-40B4-BE49-F238E27FC236}">
                <a16:creationId xmlns:a16="http://schemas.microsoft.com/office/drawing/2014/main" id="{24000826-4757-4847-AD3C-AB170463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指出证据</a:t>
            </a:r>
          </a:p>
        </p:txBody>
      </p:sp>
      <p:sp>
        <p:nvSpPr>
          <p:cNvPr id="12" name="text-qgh7xb8">
            <a:extLst xmlns:a="http://schemas.openxmlformats.org/drawingml/2006/main">
              <a:ext uri="{FF2B5EF4-FFF2-40B4-BE49-F238E27FC236}">
                <a16:creationId xmlns:a16="http://schemas.microsoft.com/office/drawing/2014/main" id="{42B55C00-80D6-419B-9A52-473C045E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说明哪一页、哪一项不符合</a:t>
            </a:r>
          </a:p>
        </p:txBody>
      </p:sp>
      <p:sp>
        <p:nvSpPr>
          <p:cNvPr id="13" name="text-iyyqkj4">
            <a:extLst xmlns:a="http://schemas.openxmlformats.org/drawingml/2006/main">
              <a:ext uri="{FF2B5EF4-FFF2-40B4-BE49-F238E27FC236}">
                <a16:creationId xmlns:a16="http://schemas.microsoft.com/office/drawing/2014/main" id="{C8F77095-CB15-4197-ACD5-5E5B992A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shape-4j8c0rf">
            <a:extLst xmlns:a="http://schemas.openxmlformats.org/drawingml/2006/main">
              <a:ext uri="{FF2B5EF4-FFF2-40B4-BE49-F238E27FC236}">
                <a16:creationId xmlns:a16="http://schemas.microsoft.com/office/drawing/2014/main" id="{541FF5FB-C167-4DC8-B8B2-20D3181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7n8hfks">
            <a:extLst xmlns:a="http://schemas.openxmlformats.org/drawingml/2006/main">
              <a:ext uri="{FF2B5EF4-FFF2-40B4-BE49-F238E27FC236}">
                <a16:creationId xmlns:a16="http://schemas.microsoft.com/office/drawing/2014/main" id="{1002F1DE-6975-4C71-A4DC-3E5DE64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l5o621g">
            <a:extLst xmlns:a="http://schemas.openxmlformats.org/drawingml/2006/main">
              <a:ext uri="{FF2B5EF4-FFF2-40B4-BE49-F238E27FC236}">
                <a16:creationId xmlns:a16="http://schemas.microsoft.com/office/drawing/2014/main" id="{8D2E6437-A1AE-46B2-8419-05754B91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修改提示词</a:t>
            </a:r>
          </a:p>
        </p:txBody>
      </p:sp>
      <p:sp>
        <p:nvSpPr>
          <p:cNvPr id="17" name="text-j7zu52y">
            <a:extLst xmlns:a="http://schemas.openxmlformats.org/drawingml/2006/main">
              <a:ext uri="{FF2B5EF4-FFF2-40B4-BE49-F238E27FC236}">
                <a16:creationId xmlns:a16="http://schemas.microsoft.com/office/drawing/2014/main" id="{EBDA3F21-260B-4464-A548-9F7004B2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给出具体修改和不可改变项</a:t>
            </a:r>
          </a:p>
        </p:txBody>
      </p:sp>
      <p:sp>
        <p:nvSpPr>
          <p:cNvPr id="18" name="text-o9ez8ia">
            <a:extLst xmlns:a="http://schemas.openxmlformats.org/drawingml/2006/main">
              <a:ext uri="{FF2B5EF4-FFF2-40B4-BE49-F238E27FC236}">
                <a16:creationId xmlns:a16="http://schemas.microsoft.com/office/drawing/2014/main" id="{397284C5-A8DB-4579-87AC-87A5A92C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shape-ldmtcbx">
            <a:extLst xmlns:a="http://schemas.openxmlformats.org/drawingml/2006/main">
              <a:ext uri="{FF2B5EF4-FFF2-40B4-BE49-F238E27FC236}">
                <a16:creationId xmlns:a16="http://schemas.microsoft.com/office/drawing/2014/main" id="{F5437022-74D1-4542-8149-E8A5A698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24193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wearz71">
            <a:extLst xmlns:a="http://schemas.openxmlformats.org/drawingml/2006/main">
              <a:ext uri="{FF2B5EF4-FFF2-40B4-BE49-F238E27FC236}">
                <a16:creationId xmlns:a16="http://schemas.microsoft.com/office/drawing/2014/main" id="{A5F1A106-979C-41D6-BB7C-7B9AFE8A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text-9ez1c12">
            <a:extLst xmlns:a="http://schemas.openxmlformats.org/drawingml/2006/main">
              <a:ext uri="{FF2B5EF4-FFF2-40B4-BE49-F238E27FC236}">
                <a16:creationId xmlns:a16="http://schemas.microsoft.com/office/drawing/2014/main" id="{43DD8EF6-6018-47EC-BF4E-E49DAD1E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重新检查</a:t>
            </a:r>
          </a:p>
        </p:txBody>
      </p:sp>
      <p:sp>
        <p:nvSpPr>
          <p:cNvPr id="22" name="text-6vsxxro">
            <a:extLst xmlns:a="http://schemas.openxmlformats.org/drawingml/2006/main">
              <a:ext uri="{FF2B5EF4-FFF2-40B4-BE49-F238E27FC236}">
                <a16:creationId xmlns:a16="http://schemas.microsoft.com/office/drawing/2014/main" id="{13104B78-3D1D-41BD-ABD2-CFABC2AF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147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确认问题已修复且未引入新错误</a:t>
            </a:r>
          </a:p>
        </p:txBody>
      </p:sp>
      <p:sp>
        <p:nvSpPr>
          <p:cNvPr id="23" name="text-sixbfi0">
            <a:extLst xmlns:a="http://schemas.openxmlformats.org/drawingml/2006/main">
              <a:ext uri="{FF2B5EF4-FFF2-40B4-BE49-F238E27FC236}">
                <a16:creationId xmlns:a16="http://schemas.microsoft.com/office/drawing/2014/main" id="{57669FC8-15FB-449B-AB8F-63D43BD0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例：把第3页标题改成结论式表达，保留数据，不改变统计口径。</a:t>
            </a:r>
          </a:p>
        </p:txBody>
      </p:sp>
      <p:sp>
        <p:nvSpPr>
          <p:cNvPr id="24" name="text-7bjvehn">
            <a:extLst xmlns:a="http://schemas.openxmlformats.org/drawingml/2006/main">
              <a:ext uri="{FF2B5EF4-FFF2-40B4-BE49-F238E27FC236}">
                <a16:creationId xmlns:a16="http://schemas.microsoft.com/office/drawing/2014/main" id="{0D832F51-E339-42E5-A59F-ACBD2135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生成并检查PPT</a:t>
            </a:r>
          </a:p>
        </p:txBody>
      </p:sp>
      <p:sp>
        <p:nvSpPr>
          <p:cNvPr id="25" name="text-ka06yeq">
            <a:extLst xmlns:a="http://schemas.openxmlformats.org/drawingml/2006/main">
              <a:ext uri="{FF2B5EF4-FFF2-40B4-BE49-F238E27FC236}">
                <a16:creationId xmlns:a16="http://schemas.microsoft.com/office/drawing/2014/main" id="{06191E42-FBCA-4B0C-A2D2-630C3DD1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3367943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ao10xtf">
            <a:extLst xmlns:a="http://schemas.openxmlformats.org/drawingml/2006/main">
              <a:ext uri="{FF2B5EF4-FFF2-40B4-BE49-F238E27FC236}">
                <a16:creationId xmlns:a16="http://schemas.microsoft.com/office/drawing/2014/main" id="{BD2982C9-DFB3-46DD-823F-479ECCAC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最后记住一条工作原则</a:t>
            </a:r>
          </a:p>
        </p:txBody>
      </p:sp>
      <p:sp>
        <p:nvSpPr>
          <p:cNvPr id="2" name="text-7jwjbmc">
            <a:extLst xmlns:a="http://schemas.openxmlformats.org/drawingml/2006/main">
              <a:ext uri="{FF2B5EF4-FFF2-40B4-BE49-F238E27FC236}">
                <a16:creationId xmlns:a16="http://schemas.microsoft.com/office/drawing/2014/main" id="{5387EA7B-DD5A-46EB-8FCE-7D30E540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先商讨</a:t>
            </a:r>
          </a:p>
          <a:p xmlns:a="http://schemas.openxmlformats.org/drawingml/2006/main">
            <a:pPr algn="l">
              <a:defRPr sz="5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再生成</a:t>
            </a:r>
          </a:p>
          <a:p xmlns:a="http://schemas.openxmlformats.org/drawingml/2006/main">
            <a:pPr algn="l">
              <a:defRPr sz="5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后校验</a:t>
            </a:r>
          </a:p>
        </p:txBody>
      </p:sp>
      <p:sp>
        <p:nvSpPr>
          <p:cNvPr id="3" name="shape-12l23ge">
            <a:extLst xmlns:a="http://schemas.openxmlformats.org/drawingml/2006/main">
              <a:ext uri="{FF2B5EF4-FFF2-40B4-BE49-F238E27FC236}">
                <a16:creationId xmlns:a16="http://schemas.microsoft.com/office/drawing/2014/main" id="{F1CDC522-0334-4AF2-AC11-B5F08517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giywxuo">
            <a:extLst xmlns:a="http://schemas.openxmlformats.org/drawingml/2006/main">
              <a:ext uri="{FF2B5EF4-FFF2-40B4-BE49-F238E27FC236}">
                <a16:creationId xmlns:a16="http://schemas.microsoft.com/office/drawing/2014/main" id="{9BEA1F50-3031-4C58-98FF-25B51583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课后迁移任务</a:t>
            </a:r>
          </a:p>
        </p:txBody>
      </p:sp>
      <p:sp>
        <p:nvSpPr>
          <p:cNvPr id="5" name="text-s7cyxcz">
            <a:extLst xmlns:a="http://schemas.openxmlformats.org/drawingml/2006/main">
              <a:ext uri="{FF2B5EF4-FFF2-40B4-BE49-F238E27FC236}">
                <a16:creationId xmlns:a16="http://schemas.microsoft.com/office/drawing/2014/main" id="{5FC8B91A-EE8C-4425-80B7-82EBCF5E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447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选择一个自己的办公场景：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1. 写一份需求确认单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2. 生成一份数据或报表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3. 提炼三个核心结论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4. 写出5页以内的PPT方案</a:t>
            </a:r>
          </a:p>
        </p:txBody>
      </p:sp>
      <p:sp>
        <p:nvSpPr>
          <p:cNvPr id="6" name="text-nxfbzll">
            <a:extLst xmlns:a="http://schemas.openxmlformats.org/drawingml/2006/main">
              <a:ext uri="{FF2B5EF4-FFF2-40B4-BE49-F238E27FC236}">
                <a16:creationId xmlns:a16="http://schemas.microsoft.com/office/drawing/2014/main" id="{AE98801E-4421-4F3A-9F62-7600A76E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93B7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93B72"/>
                </a:solidFill>
                <a:latin typeface="PingFang SC"/>
                <a:ea typeface="PingFang SC"/>
                <a:cs typeface="PingFang SC"/>
              </a:rPr>
              <a:t>AI负责加速，人负责目标、事实和最终判断。</a:t>
            </a:r>
          </a:p>
        </p:txBody>
      </p:sp>
      <p:sp>
        <p:nvSpPr>
          <p:cNvPr id="7" name="text-fzfgxq7">
            <a:extLst xmlns:a="http://schemas.openxmlformats.org/drawingml/2006/main">
              <a:ext uri="{FF2B5EF4-FFF2-40B4-BE49-F238E27FC236}">
                <a16:creationId xmlns:a16="http://schemas.microsoft.com/office/drawing/2014/main" id="{985BD344-DA76-45C6-B5E0-E87B0593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复盘与迁移</a:t>
            </a:r>
          </a:p>
        </p:txBody>
      </p:sp>
      <p:sp>
        <p:nvSpPr>
          <p:cNvPr id="8" name="text-at9kx3v">
            <a:extLst xmlns:a="http://schemas.openxmlformats.org/drawingml/2006/main">
              <a:ext uri="{FF2B5EF4-FFF2-40B4-BE49-F238E27FC236}">
                <a16:creationId xmlns:a16="http://schemas.microsoft.com/office/drawing/2014/main" id="{2C2ED55F-5134-459C-8BE7-4C500600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99707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2026-07-21T14:28:11.1980000Z</dcterms:created>
  <dcterms:modified xsi:type="dcterms:W3CDTF">2026-07-21T14:28:11.1980000Z</dcterms:modified>
</coreProperties>
</file>