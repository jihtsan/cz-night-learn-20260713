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从“哪些人会被淘汰”切入，但把判断落在任务而非人的全部价值。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 首先接手重复、可数字化、可验收的任务。岗位不会瞬间消失，但只做初稿的价值会先变薄。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录入、汇总、改写、检索、分流、初稿是最典型的六类任务。它们规则清楚、可复制，机器能先交出一个版本。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岗位通常不是被“一刀切”取消，而是入口任务先被自动化。任务被接管以后，新人原本借此练习的机会减少，组织对基础能力的要求会前移，最后留下来的岗位更像是需要持续复核和处理例外的岗位。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 可以快速给出初稿，但它不能替代最终判断，也不能替代对结果的责任。需要看清情境、协调多方、承担后果的工作，反而会变得更重要。人的价值正在转向判断、责任、沟通和协作。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真正有效的用法不是把工作全部丢给 AI，而是把 AI 安排进一条清楚的任务链：初稿由 AI 加速，人来复核关键事实；遇到复杂例外再升级处理；最终把结果说清楚、交付出去。每一步都要明确谁负责。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管理者面对 AI，不该只讨论缩减多少人，而应先重写流程：盘点哪些任务可以接给 AI，在关键节点保留人类签核，为新人保留有学习价值的任务，并让授权、判断和复核留下可追溯记录。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结论不是“人会被 AI 替代”，而是低判断密度、重复且可复制的任务会先被替代。对个人来说，最实际的开始方式，是选一项高频工作，先拆解它，再让 AI 参与其中。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oste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grid-rule Layout"/>
          <p:cNvSpPr/>
          <p:nvPr/>
        </p:nvSpPr>
        <p:spPr>
          <a:xfrm>
            <a:off x="609600" y="552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ver-red-field Layout"/>
          <p:cNvSpPr/>
          <p:nvPr/>
        </p:nvSpPr>
        <p:spPr>
          <a:xfrm>
            <a:off x="609600" y="4857750"/>
            <a:ext cx="10972800" cy="1390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over-title Placeholder"/>
          <p:cNvSpPr>
            <a:spLocks noGrp="1"/>
          </p:cNvSpPr>
          <p:nvPr>
            <p:ph type="title"/>
          </p:nvPr>
        </p:nvSpPr>
        <p:spPr>
          <a:xfrm>
            <a:off x="609600" y="1428750"/>
            <a:ext cx="8763000" cy="2333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7200"/>
            </a:lvl1pPr>
          </a:lstStyle>
          <a:p>
            <a:r>
              <a:rPr lang="zh-CN" sz="7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over-subtitle Placeholder"/>
          <p:cNvSpPr>
            <a:spLocks noGrp="1"/>
          </p:cNvSpPr>
          <p:nvPr>
            <p:ph type="subTitle" idx="1"/>
          </p:nvPr>
        </p:nvSpPr>
        <p:spPr>
          <a:xfrm>
            <a:off x="876300" y="5210175"/>
            <a:ext cx="10096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b="1" dirty="0">
                <a:solidFill>
                  <a:srgbClr val="F5F4EF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cover-footer Placeholder"/>
          <p:cNvSpPr>
            <a:spLocks noGrp="1"/>
          </p:cNvSpPr>
          <p:nvPr>
            <p:ph type="ftr" idx="2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esi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sis-black-field Layout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hesis-red-bar Layout"/>
          <p:cNvSpPr/>
          <p:nvPr/>
        </p:nvSpPr>
        <p:spPr>
          <a:xfrm>
            <a:off x="609600" y="838200"/>
            <a:ext cx="876300" cy="1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hesis-body Placeholder"/>
          <p:cNvSpPr>
            <a:spLocks noGrp="1"/>
          </p:cNvSpPr>
          <p:nvPr>
            <p:ph type="body" idx="1"/>
          </p:nvPr>
        </p:nvSpPr>
        <p:spPr>
          <a:xfrm>
            <a:off x="4667250" y="3771900"/>
            <a:ext cx="59055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idx="2"/>
          </p:nvPr>
        </p:nvSpPr>
        <p:spPr>
          <a:xfrm>
            <a:off x="10763250" y="645795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ask 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eld-top Layout"/>
          <p:cNvSpPr/>
          <p:nvPr/>
        </p:nvSpPr>
        <p:spPr>
          <a:xfrm>
            <a:off x="609600" y="552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ield-bottom Layout"/>
          <p:cNvSpPr/>
          <p:nvPr/>
        </p:nvSpPr>
        <p:spPr>
          <a:xfrm>
            <a:off x="609600" y="5886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field-v1 Layout"/>
          <p:cNvSpPr/>
          <p:nvPr/>
        </p:nvSpPr>
        <p:spPr>
          <a:xfrm>
            <a:off x="4267200" y="1866900"/>
            <a:ext cx="19050" cy="3295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field-v2 Layout"/>
          <p:cNvSpPr/>
          <p:nvPr/>
        </p:nvSpPr>
        <p:spPr>
          <a:xfrm>
            <a:off x="7924800" y="1866900"/>
            <a:ext cx="19050" cy="3295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" name="field-h Layout"/>
          <p:cNvSpPr/>
          <p:nvPr/>
        </p:nvSpPr>
        <p:spPr>
          <a:xfrm>
            <a:off x="609600" y="3524250"/>
            <a:ext cx="109728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" name="field-title Placeholder"/>
          <p:cNvSpPr>
            <a:spLocks noGrp="1"/>
          </p:cNvSpPr>
          <p:nvPr>
            <p:ph type="title"/>
          </p:nvPr>
        </p:nvSpPr>
        <p:spPr>
          <a:xfrm>
            <a:off x="609600" y="819150"/>
            <a:ext cx="923925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field-body Placeholder"/>
          <p:cNvSpPr>
            <a:spLocks noGrp="1"/>
          </p:cNvSpPr>
          <p:nvPr>
            <p:ph type="body" idx="1"/>
          </p:nvPr>
        </p:nvSpPr>
        <p:spPr>
          <a:xfrm>
            <a:off x="609600" y="5295900"/>
            <a:ext cx="93345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footer Placeholder"/>
          <p:cNvSpPr>
            <a:spLocks noGrp="1"/>
          </p:cNvSpPr>
          <p:nvPr>
            <p:ph type="ftr" idx="2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in-top Layout"/>
          <p:cNvSpPr/>
          <p:nvPr/>
        </p:nvSpPr>
        <p:spPr>
          <a:xfrm>
            <a:off x="609600" y="552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hain-left-rule Layout"/>
          <p:cNvSpPr/>
          <p:nvPr/>
        </p:nvSpPr>
        <p:spPr>
          <a:xfrm>
            <a:off x="609600" y="1809750"/>
            <a:ext cx="28575" cy="3714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hain-rule-1 Layout"/>
          <p:cNvSpPr/>
          <p:nvPr/>
        </p:nvSpPr>
        <p:spPr>
          <a:xfrm>
            <a:off x="5143500" y="2209800"/>
            <a:ext cx="64389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chain-rule-2 Layout"/>
          <p:cNvSpPr/>
          <p:nvPr/>
        </p:nvSpPr>
        <p:spPr>
          <a:xfrm>
            <a:off x="5143500" y="3048000"/>
            <a:ext cx="64389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" name="chain-rule-3 Layout"/>
          <p:cNvSpPr/>
          <p:nvPr/>
        </p:nvSpPr>
        <p:spPr>
          <a:xfrm>
            <a:off x="5143500" y="3886200"/>
            <a:ext cx="64389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" name="chain-rule-4 Layout"/>
          <p:cNvSpPr/>
          <p:nvPr/>
        </p:nvSpPr>
        <p:spPr>
          <a:xfrm>
            <a:off x="5143500" y="4724400"/>
            <a:ext cx="64389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" name="chain-title Placeholder"/>
          <p:cNvSpPr>
            <a:spLocks noGrp="1"/>
          </p:cNvSpPr>
          <p:nvPr>
            <p:ph type="title"/>
          </p:nvPr>
        </p:nvSpPr>
        <p:spPr>
          <a:xfrm>
            <a:off x="609600" y="819150"/>
            <a:ext cx="98107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chain-body Placeholder"/>
          <p:cNvSpPr>
            <a:spLocks noGrp="1"/>
          </p:cNvSpPr>
          <p:nvPr>
            <p:ph type="body" idx="1"/>
          </p:nvPr>
        </p:nvSpPr>
        <p:spPr>
          <a:xfrm>
            <a:off x="5143500" y="5238750"/>
            <a:ext cx="619125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footer Placeholder"/>
          <p:cNvSpPr>
            <a:spLocks noGrp="1"/>
          </p:cNvSpPr>
          <p:nvPr>
            <p:ph type="ftr" idx="2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uman Va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uman-red-block Layout"/>
          <p:cNvSpPr/>
          <p:nvPr/>
        </p:nvSpPr>
        <p:spPr>
          <a:xfrm>
            <a:off x="609600" y="552450"/>
            <a:ext cx="272415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human-v1 Layout"/>
          <p:cNvSpPr/>
          <p:nvPr/>
        </p:nvSpPr>
        <p:spPr>
          <a:xfrm>
            <a:off x="6096000" y="1924050"/>
            <a:ext cx="19050" cy="314325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4" name="human-h1 Layout"/>
          <p:cNvSpPr/>
          <p:nvPr/>
        </p:nvSpPr>
        <p:spPr>
          <a:xfrm>
            <a:off x="609600" y="3505200"/>
            <a:ext cx="10972800" cy="1905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5" name="human-title Placeholder"/>
          <p:cNvSpPr>
            <a:spLocks noGrp="1"/>
          </p:cNvSpPr>
          <p:nvPr>
            <p:ph type="title"/>
          </p:nvPr>
        </p:nvSpPr>
        <p:spPr>
          <a:xfrm>
            <a:off x="609600" y="819150"/>
            <a:ext cx="1000125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rgbClr val="F5F4E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idx="1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rgbClr val="C9C7C0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orkflo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flow-top Layout"/>
          <p:cNvSpPr/>
          <p:nvPr/>
        </p:nvSpPr>
        <p:spPr>
          <a:xfrm>
            <a:off x="609600" y="552450"/>
            <a:ext cx="109728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workflow-v1 Layout"/>
          <p:cNvSpPr/>
          <p:nvPr/>
        </p:nvSpPr>
        <p:spPr>
          <a:xfrm>
            <a:off x="3352800" y="2038350"/>
            <a:ext cx="19050" cy="26098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workflow-v2 Layout"/>
          <p:cNvSpPr/>
          <p:nvPr/>
        </p:nvSpPr>
        <p:spPr>
          <a:xfrm>
            <a:off x="6096000" y="2038350"/>
            <a:ext cx="19050" cy="26098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workflow-v3 Layout"/>
          <p:cNvSpPr/>
          <p:nvPr/>
        </p:nvSpPr>
        <p:spPr>
          <a:xfrm>
            <a:off x="8839200" y="2038350"/>
            <a:ext cx="19050" cy="26098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" name="workflow-bottom Layout"/>
          <p:cNvSpPr/>
          <p:nvPr/>
        </p:nvSpPr>
        <p:spPr>
          <a:xfrm>
            <a:off x="609600" y="4648200"/>
            <a:ext cx="109728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" name="workflow-title Placeholder"/>
          <p:cNvSpPr>
            <a:spLocks noGrp="1"/>
          </p:cNvSpPr>
          <p:nvPr>
            <p:ph type="title"/>
          </p:nvPr>
        </p:nvSpPr>
        <p:spPr>
          <a:xfrm>
            <a:off x="609600" y="81915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workflow-body Placeholder"/>
          <p:cNvSpPr>
            <a:spLocks noGrp="1"/>
          </p:cNvSpPr>
          <p:nvPr>
            <p:ph type="body" idx="1"/>
          </p:nvPr>
        </p:nvSpPr>
        <p:spPr>
          <a:xfrm>
            <a:off x="609600" y="5219700"/>
            <a:ext cx="100012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footer Placeholder"/>
          <p:cNvSpPr>
            <a:spLocks noGrp="1"/>
          </p:cNvSpPr>
          <p:nvPr>
            <p:ph type="ftr" idx="2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anag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ager-red Layout"/>
          <p:cNvSpPr/>
          <p:nvPr/>
        </p:nvSpPr>
        <p:spPr>
          <a:xfrm>
            <a:off x="0" y="0"/>
            <a:ext cx="12192000" cy="1790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manager-v1 Layout"/>
          <p:cNvSpPr/>
          <p:nvPr/>
        </p:nvSpPr>
        <p:spPr>
          <a:xfrm>
            <a:off x="6096000" y="2266950"/>
            <a:ext cx="19050" cy="3067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manager-h1 Layout"/>
          <p:cNvSpPr/>
          <p:nvPr/>
        </p:nvSpPr>
        <p:spPr>
          <a:xfrm>
            <a:off x="609600" y="3810000"/>
            <a:ext cx="109728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manager-title Placeholder"/>
          <p:cNvSpPr>
            <a:spLocks noGrp="1"/>
          </p:cNvSpPr>
          <p:nvPr>
            <p:ph type="title"/>
          </p:nvPr>
        </p:nvSpPr>
        <p:spPr>
          <a:xfrm>
            <a:off x="609600" y="400050"/>
            <a:ext cx="981075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rgbClr val="F5F4E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manager-body Placeholder"/>
          <p:cNvSpPr>
            <a:spLocks noGrp="1"/>
          </p:cNvSpPr>
          <p:nvPr>
            <p:ph type="body" idx="1"/>
          </p:nvPr>
        </p:nvSpPr>
        <p:spPr>
          <a:xfrm>
            <a:off x="609600" y="5657850"/>
            <a:ext cx="10001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2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top Layout"/>
          <p:cNvSpPr/>
          <p:nvPr/>
        </p:nvSpPr>
        <p:spPr>
          <a:xfrm>
            <a:off x="609600" y="552450"/>
            <a:ext cx="10972800" cy="285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" name="closing-red-line Layout"/>
          <p:cNvSpPr/>
          <p:nvPr/>
        </p:nvSpPr>
        <p:spPr>
          <a:xfrm>
            <a:off x="609600" y="3381375"/>
            <a:ext cx="7124700" cy="133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losing-blue-block Layout"/>
          <p:cNvSpPr/>
          <p:nvPr/>
        </p:nvSpPr>
        <p:spPr>
          <a:xfrm>
            <a:off x="9982200" y="4857750"/>
            <a:ext cx="1600200" cy="1390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" name="footer Placeholder"/>
          <p:cNvSpPr>
            <a:spLocks noGrp="1"/>
          </p:cNvSpPr>
          <p:nvPr>
            <p:ph type="ftr" idx="1"/>
          </p:nvPr>
        </p:nvSpPr>
        <p:spPr>
          <a:xfrm>
            <a:off x="609600" y="645795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rgbClr val="C9C7C0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wiss Poster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400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1980" y="828675"/>
            <a:ext cx="2300326" cy="293370"/>
            <a:chOff x="601980" y="828675"/>
            <a:chExt cx="2300326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01980" y="828675"/>
              <a:ext cx="2300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AI × WORK / 2026</a:t>
              </a:r>
            </a:p>
          </p:txBody>
        </p:sp>
      </p:grpSp>
      <p:sp>
        <p:nvSpPr>
          <p:cNvPr id="6" name="cover-title Placeholder Carrier"/>
          <p:cNvSpPr txBox="1"/>
          <p:nvPr>
            <p:ph type="title"/>
          </p:nvPr>
        </p:nvSpPr>
        <p:spPr>
          <a:xfrm>
            <a:off x="590550" y="1508760"/>
            <a:ext cx="7190994" cy="2457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400"/>
              </a:lnSpc>
            </a:pPr>
            <a:r>
              <a:rPr lang="zh-CN" sz="7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不会用 AI 的人，</a:t>
            </a:r>
            <a:r>
              <a:rPr lang="zh-CN" sz="7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正在被谁淘汰？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258300" y="2914650"/>
            <a:ext cx="3430524" cy="2305050"/>
            <a:chOff x="9258300" y="2914650"/>
            <a:chExt cx="3430524" cy="2305050"/>
          </a:xfrm>
        </p:grpSpPr>
        <p:sp>
          <p:nvSpPr>
            <p:cNvPr id="8" name="TextBox 8"/>
            <p:cNvSpPr txBox="1"/>
            <p:nvPr/>
          </p:nvSpPr>
          <p:spPr>
            <a:xfrm>
              <a:off x="9258300" y="2914650"/>
              <a:ext cx="3430524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</p:grpSp>
      <p:sp>
        <p:nvSpPr>
          <p:cNvPr id="10" name="cover-subtitle Placeholder Carrier"/>
          <p:cNvSpPr txBox="1"/>
          <p:nvPr>
            <p:ph type="subTitle" idx="1"/>
          </p:nvPr>
        </p:nvSpPr>
        <p:spPr>
          <a:xfrm>
            <a:off x="860298" y="5279708"/>
            <a:ext cx="987215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b="1" dirty="0">
                <a:solidFill>
                  <a:srgbClr val="F5F4EF"/>
                </a:solidFill>
                <a:latin typeface="+mn-lt"/>
                <a:ea typeface="+mn-ea"/>
                <a:cs typeface="+mn-cs"/>
              </a:rPr>
              <a:t>被重新定价的，先是工作里的那一段“重复任务”。</a:t>
            </a:r>
          </a:p>
        </p:txBody>
      </p:sp>
      <p:sp>
        <p:nvSpPr>
          <p:cNvPr id="12" name="cover-footer Placeholder Carrier"/>
          <p:cNvSpPr txBox="1"/>
          <p:nvPr>
            <p:ph type="ftr" idx="2"/>
          </p:nvPr>
        </p:nvSpPr>
        <p:spPr>
          <a:xfrm>
            <a:off x="603504" y="6490335"/>
            <a:ext cx="2666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常州夜校｜AI 办公课｜视觉样张 V2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1980" y="1228725"/>
            <a:ext cx="1639443" cy="293370"/>
            <a:chOff x="601980" y="1228725"/>
            <a:chExt cx="1639443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01980" y="1228725"/>
              <a:ext cx="1639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01 / THE THESIS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0550" y="1996440"/>
            <a:ext cx="2598420" cy="3048000"/>
            <a:chOff x="590550" y="1996440"/>
            <a:chExt cx="2598420" cy="3048000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996440"/>
              <a:ext cx="259842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550"/>
                </a:lnSpc>
              </a:pPr>
              <a:r>
                <a:rPr lang="en-US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先替代</a:t>
              </a:r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任务，</a:t>
              </a:r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不是人。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91050" y="1175385"/>
            <a:ext cx="5126736" cy="2457450"/>
            <a:chOff x="4591050" y="1175385"/>
            <a:chExt cx="5126736" cy="2457450"/>
          </a:xfrm>
        </p:grpSpPr>
        <p:sp>
          <p:nvSpPr>
            <p:cNvPr id="8" name="TextBox 8"/>
            <p:cNvSpPr txBox="1"/>
            <p:nvPr/>
          </p:nvSpPr>
          <p:spPr>
            <a:xfrm>
              <a:off x="4591050" y="1175385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岗位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86550" y="1175385"/>
              <a:ext cx="207355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91050" y="2242185"/>
              <a:ext cx="512673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立刻消失。</a:t>
              </a:r>
            </a:p>
          </p:txBody>
        </p:sp>
      </p:grpSp>
      <p:sp>
        <p:nvSpPr>
          <p:cNvPr id="12" name="thesis-body Placeholder Carrier"/>
          <p:cNvSpPr txBox="1"/>
          <p:nvPr>
            <p:ph type="body" idx="1"/>
          </p:nvPr>
        </p:nvSpPr>
        <p:spPr>
          <a:xfrm>
            <a:off x="4655058" y="3912870"/>
            <a:ext cx="5205984" cy="926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60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变化先发生在那些重复、可数字化、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可验收、能被机器先出草稿的任务上。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59630" y="5286375"/>
            <a:ext cx="4122420" cy="293370"/>
            <a:chOff x="4659630" y="5286375"/>
            <a:chExt cx="4122420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4659630" y="5286375"/>
              <a:ext cx="4122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SO WHAT → “只做初稿”的价值，会先变薄。</a:t>
              </a:r>
            </a:p>
          </p:txBody>
        </p:sp>
      </p:grpSp>
      <p:sp>
        <p:nvSpPr>
          <p:cNvPr id="16" name="footer Placeholder Carrier"/>
          <p:cNvSpPr txBox="1"/>
          <p:nvPr>
            <p:ph type="ftr" idx="2"/>
          </p:nvPr>
        </p:nvSpPr>
        <p:spPr>
          <a:xfrm>
            <a:off x="11214354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eld-title Placeholder Carrier"/>
          <p:cNvSpPr txBox="1"/>
          <p:nvPr>
            <p:ph type="title"/>
          </p:nvPr>
        </p:nvSpPr>
        <p:spPr>
          <a:xfrm>
            <a:off x="590550" y="891540"/>
            <a:ext cx="885840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最先被压缩的，是这六类任务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69880" y="828675"/>
            <a:ext cx="725529" cy="293370"/>
            <a:chOff x="10469880" y="828675"/>
            <a:chExt cx="725529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10469880" y="828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" y="2205990"/>
            <a:ext cx="9205570" cy="2609850"/>
            <a:chOff x="590550" y="2205990"/>
            <a:chExt cx="9205570" cy="2609850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2205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录入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43450" y="2205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01050" y="2205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38823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43450" y="38823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01050" y="38823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初稿</a:t>
              </a:r>
            </a:p>
          </p:txBody>
        </p:sp>
      </p:grpSp>
      <p:sp>
        <p:nvSpPr>
          <p:cNvPr id="18" name="field-body Placeholder Carrier"/>
          <p:cNvSpPr txBox="1"/>
          <p:nvPr>
            <p:ph type="body" idx="1"/>
          </p:nvPr>
        </p:nvSpPr>
        <p:spPr>
          <a:xfrm>
            <a:off x="597408" y="5398770"/>
            <a:ext cx="90708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它们共同的特点：规则清楚、可复制、机器能先交出一个版本。</a:t>
            </a:r>
          </a:p>
        </p:txBody>
      </p:sp>
      <p:sp>
        <p:nvSpPr>
          <p:cNvPr id="20" name="footer Placeholder Carrier"/>
          <p:cNvSpPr txBox="1"/>
          <p:nvPr>
            <p:ph type="ftr" idx="2"/>
          </p:nvPr>
        </p:nvSpPr>
        <p:spPr>
          <a:xfrm>
            <a:off x="603504" y="6490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来源：用户提供研究文档｜岗位与任务的变化清单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in-title Placeholder Carrier"/>
          <p:cNvSpPr txBox="1"/>
          <p:nvPr>
            <p:ph type="title"/>
          </p:nvPr>
        </p:nvSpPr>
        <p:spPr>
          <a:xfrm>
            <a:off x="590550" y="891540"/>
            <a:ext cx="953688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岗位入口，是这样一点点变薄的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469880" y="828675"/>
            <a:ext cx="725529" cy="293370"/>
            <a:chOff x="10469880" y="828675"/>
            <a:chExt cx="725529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10469880" y="828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5350" y="2339340"/>
            <a:ext cx="3238500" cy="2766822"/>
            <a:chOff x="895350" y="2339340"/>
            <a:chExt cx="3238500" cy="2766822"/>
          </a:xfrm>
        </p:grpSpPr>
        <p:sp>
          <p:nvSpPr>
            <p:cNvPr id="12" name="TextBox 12"/>
            <p:cNvSpPr txBox="1"/>
            <p:nvPr/>
          </p:nvSpPr>
          <p:spPr>
            <a:xfrm>
              <a:off x="895350" y="2339340"/>
              <a:ext cx="3238500" cy="1638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550"/>
                </a:lnSpc>
              </a:pP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不是岗位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突然消失。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2208" y="42176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而是起步任务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208" y="46367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先被接管。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35880" y="1717358"/>
            <a:ext cx="3845262" cy="3130677"/>
            <a:chOff x="5135880" y="1717358"/>
            <a:chExt cx="3845262" cy="3130677"/>
          </a:xfrm>
        </p:grpSpPr>
        <p:sp>
          <p:nvSpPr>
            <p:cNvPr id="16" name="TextBox 16"/>
            <p:cNvSpPr txBox="1"/>
            <p:nvPr/>
          </p:nvSpPr>
          <p:spPr>
            <a:xfrm>
              <a:off x="5135880" y="18954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32348" y="17173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任务被接管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35880" y="27336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32348" y="2555558"/>
              <a:ext cx="31487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训练价值被抽空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35880" y="35718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32348" y="3393758"/>
              <a:ext cx="27035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能力门槛提前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5880" y="44100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32348" y="4231958"/>
              <a:ext cx="31487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岗位变成强复核</a:t>
              </a:r>
            </a:p>
          </p:txBody>
        </p:sp>
      </p:grpSp>
      <p:sp>
        <p:nvSpPr>
          <p:cNvPr id="25" name="chain-body Placeholder Carrier"/>
          <p:cNvSpPr txBox="1"/>
          <p:nvPr>
            <p:ph type="body" idx="1"/>
          </p:nvPr>
        </p:nvSpPr>
        <p:spPr>
          <a:xfrm>
            <a:off x="5131308" y="5341620"/>
            <a:ext cx="632277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低风险、可复制的工作，最先被 AI 吃掉。</a:t>
            </a:r>
          </a:p>
        </p:txBody>
      </p:sp>
      <p:sp>
        <p:nvSpPr>
          <p:cNvPr id="27" name="footer Placeholder Carrier"/>
          <p:cNvSpPr txBox="1"/>
          <p:nvPr>
            <p:ph type="ftr" idx="2"/>
          </p:nvPr>
        </p:nvSpPr>
        <p:spPr>
          <a:xfrm>
            <a:off x="603504" y="6490335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来源：用户提供研究文档｜从任务自动化到岗位门槛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uman-title Placeholder Carrier"/>
          <p:cNvSpPr txBox="1"/>
          <p:nvPr>
            <p:ph type="title"/>
          </p:nvPr>
        </p:nvSpPr>
        <p:spPr>
          <a:xfrm>
            <a:off x="590550" y="891540"/>
            <a:ext cx="953688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5F4EF"/>
                </a:solidFill>
                <a:latin typeface="+mj-lt"/>
                <a:ea typeface="+mj-ea"/>
                <a:cs typeface="+mj-cs"/>
              </a:rPr>
              <a:t>人的价值，转向高判断密度区域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69880" y="828675"/>
            <a:ext cx="725529" cy="293370"/>
            <a:chOff x="10469880" y="828675"/>
            <a:chExt cx="72552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10469880" y="828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0550" y="2586990"/>
            <a:ext cx="7319620" cy="2514600"/>
            <a:chOff x="590550" y="2586990"/>
            <a:chExt cx="7319620" cy="2514600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2586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15100" y="258699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责任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550" y="416814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沟通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15100" y="4168140"/>
              <a:ext cx="13950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协作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7408" y="5360670"/>
            <a:ext cx="7837170" cy="469392"/>
            <a:chOff x="597408" y="5360670"/>
            <a:chExt cx="7837170" cy="469392"/>
          </a:xfrm>
        </p:grpSpPr>
        <p:sp>
          <p:nvSpPr>
            <p:cNvPr id="15" name="TextBox 15"/>
            <p:cNvSpPr txBox="1"/>
            <p:nvPr/>
          </p:nvSpPr>
          <p:spPr>
            <a:xfrm>
              <a:off x="597408" y="5360670"/>
              <a:ext cx="28065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AI 可以给出初稿；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21558" y="5360670"/>
              <a:ext cx="51130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谁来判断、谁来负责，仍然是人。</a:t>
              </a:r>
            </a:p>
          </p:txBody>
        </p:sp>
      </p:grpSp>
      <p:sp>
        <p:nvSpPr>
          <p:cNvPr id="18" name="footer Placeholder Carrier"/>
          <p:cNvSpPr txBox="1"/>
          <p:nvPr>
            <p:ph type="ftr" idx="1"/>
          </p:nvPr>
        </p:nvSpPr>
        <p:spPr>
          <a:xfrm>
            <a:off x="603504" y="64903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9C7C0"/>
                </a:solidFill>
                <a:latin typeface="+mn-lt"/>
                <a:ea typeface="+mn-ea"/>
                <a:cs typeface="+mn-cs"/>
              </a:rPr>
              <a:t>来源：用户提供研究文档｜人的不可替代性来自高质量判断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orkflow-title Placeholder Carrier"/>
          <p:cNvSpPr txBox="1"/>
          <p:nvPr>
            <p:ph type="title"/>
          </p:nvPr>
        </p:nvSpPr>
        <p:spPr>
          <a:xfrm>
            <a:off x="590550" y="891540"/>
            <a:ext cx="609581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 AI 接入主任务链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69880" y="828675"/>
            <a:ext cx="725529" cy="293370"/>
            <a:chOff x="10469880" y="828675"/>
            <a:chExt cx="725529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10469880" y="828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3598" y="2105025"/>
            <a:ext cx="9380715" cy="1950720"/>
            <a:chOff x="593598" y="2105025"/>
            <a:chExt cx="9380715" cy="1950720"/>
          </a:xfrm>
        </p:grpSpPr>
        <p:sp>
          <p:nvSpPr>
            <p:cNvPr id="11" name="TextBox 11"/>
            <p:cNvSpPr txBox="1"/>
            <p:nvPr/>
          </p:nvSpPr>
          <p:spPr>
            <a:xfrm>
              <a:off x="60198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3598" y="28413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980" y="3762375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交给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7378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65398" y="28413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73780" y="37623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留给人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98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8598" y="28413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升级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762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处理例外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018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51798" y="284130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60180" y="3762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说清结果</a:t>
              </a:r>
            </a:p>
          </p:txBody>
        </p:sp>
      </p:grpSp>
      <p:sp>
        <p:nvSpPr>
          <p:cNvPr id="24" name="workflow-body Placeholder Carrier"/>
          <p:cNvSpPr txBox="1"/>
          <p:nvPr>
            <p:ph type="body" idx="1"/>
          </p:nvPr>
        </p:nvSpPr>
        <p:spPr>
          <a:xfrm>
            <a:off x="597408" y="5341620"/>
            <a:ext cx="898550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关键不在“有没有用 AI”，而在每一步的责任边界是否清楚。</a:t>
            </a:r>
          </a:p>
        </p:txBody>
      </p:sp>
      <p:sp>
        <p:nvSpPr>
          <p:cNvPr id="26" name="footer Placeholder Carrier"/>
          <p:cNvSpPr txBox="1"/>
          <p:nvPr>
            <p:ph type="ftr" idx="2"/>
          </p:nvPr>
        </p:nvSpPr>
        <p:spPr>
          <a:xfrm>
            <a:off x="603504" y="649033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来源：用户提供研究文档｜从代替工具到人机协作流程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nager-title Placeholder Carrier"/>
          <p:cNvSpPr txBox="1"/>
          <p:nvPr>
            <p:ph type="title"/>
          </p:nvPr>
        </p:nvSpPr>
        <p:spPr>
          <a:xfrm>
            <a:off x="590550" y="358140"/>
            <a:ext cx="6822948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5F4EF"/>
                </a:solidFill>
                <a:latin typeface="+mj-lt"/>
                <a:ea typeface="+mj-ea"/>
                <a:cs typeface="+mj-cs"/>
              </a:rPr>
              <a:t>先重写流程，再谈编制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69880" y="333375"/>
            <a:ext cx="725529" cy="293370"/>
            <a:chOff x="10469880" y="333375"/>
            <a:chExt cx="72552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10469880" y="3333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3598" y="2346008"/>
            <a:ext cx="8371332" cy="2681287"/>
            <a:chOff x="593598" y="2346008"/>
            <a:chExt cx="8371332" cy="2681287"/>
          </a:xfrm>
        </p:grpSpPr>
        <p:sp>
          <p:nvSpPr>
            <p:cNvPr id="9" name="TextBox 9"/>
            <p:cNvSpPr txBox="1"/>
            <p:nvPr/>
          </p:nvSpPr>
          <p:spPr>
            <a:xfrm>
              <a:off x="593598" y="23460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任务盘点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29813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先找出可被接管的高频环节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18148" y="23460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人类签核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26530" y="2981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在关键节点保留责任主体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3598" y="409860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学习性任务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7339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别让新人失去练习的机会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18148" y="40986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治理留痕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26530" y="4733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让判断、授权与复核可追溯</a:t>
              </a:r>
            </a:p>
          </p:txBody>
        </p:sp>
      </p:grpSp>
      <p:sp>
        <p:nvSpPr>
          <p:cNvPr id="18" name="manager-body Placeholder Carrier"/>
          <p:cNvSpPr txBox="1"/>
          <p:nvPr>
            <p:ph type="body" idx="1"/>
          </p:nvPr>
        </p:nvSpPr>
        <p:spPr>
          <a:xfrm>
            <a:off x="597408" y="5741670"/>
            <a:ext cx="792723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落地不是减法题，而是一次组织能力的重新分配。</a:t>
            </a:r>
          </a:p>
        </p:txBody>
      </p:sp>
      <p:sp>
        <p:nvSpPr>
          <p:cNvPr id="20" name="footer Placeholder Carrier"/>
          <p:cNvSpPr txBox="1"/>
          <p:nvPr>
            <p:ph type="ftr" idx="2"/>
          </p:nvPr>
        </p:nvSpPr>
        <p:spPr>
          <a:xfrm>
            <a:off x="603504" y="6490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来源：用户提供研究文档｜管理者的四个优先动作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601980" y="828675"/>
            <a:ext cx="2053895" cy="293370"/>
            <a:chOff x="601980" y="828675"/>
            <a:chExt cx="2053895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828675"/>
              <a:ext cx="2053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12 — AI × WORK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0550" y="1939290"/>
            <a:ext cx="6144463" cy="2762250"/>
            <a:chOff x="590550" y="1939290"/>
            <a:chExt cx="6144463" cy="2762250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1939290"/>
              <a:ext cx="343052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被替代的，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739390"/>
              <a:ext cx="614446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是低判断密度任务。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3768090"/>
              <a:ext cx="614446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不是人的全部价值。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3598" y="5222558"/>
            <a:ext cx="4484561" cy="871537"/>
            <a:chOff x="593598" y="5222558"/>
            <a:chExt cx="4484561" cy="871537"/>
          </a:xfrm>
        </p:grpSpPr>
        <p:sp>
          <p:nvSpPr>
            <p:cNvPr id="12" name="TextBox 12"/>
            <p:cNvSpPr txBox="1"/>
            <p:nvPr/>
          </p:nvSpPr>
          <p:spPr>
            <a:xfrm>
              <a:off x="593598" y="5222558"/>
              <a:ext cx="44845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5F4EF"/>
                  </a:solidFill>
                  <a:latin typeface="+mn-lt"/>
                  <a:ea typeface="+mn-ea"/>
                  <a:cs typeface="+mn-cs"/>
                </a:rPr>
                <a:t>从一项高频任务开始。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980" y="5800725"/>
              <a:ext cx="4101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9C7C0"/>
                  </a:solidFill>
                  <a:latin typeface="+mn-lt"/>
                  <a:ea typeface="+mn-ea"/>
                  <a:cs typeface="+mn-cs"/>
                </a:rPr>
                <a:t>先拆解，再交给 AI；先复核，再改变流程。</a:t>
              </a:r>
            </a:p>
          </p:txBody>
        </p:sp>
      </p:grpSp>
      <p:sp>
        <p:nvSpPr>
          <p:cNvPr id="15" name="footer Placeholder Carrier"/>
          <p:cNvSpPr txBox="1"/>
          <p:nvPr>
            <p:ph type="ftr" idx="1"/>
          </p:nvPr>
        </p:nvSpPr>
        <p:spPr>
          <a:xfrm>
            <a:off x="603504" y="6490335"/>
            <a:ext cx="2495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9C7C0"/>
                </a:solidFill>
                <a:latin typeface="+mn-lt"/>
                <a:ea typeface="+mn-ea"/>
                <a:cs typeface="+mn-cs"/>
              </a:rPr>
              <a:t>常州夜校 003｜PPT × Skill｜2026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21212"/>
      </a:dk1>
      <a:lt1>
        <a:srgbClr val="F5F4EF"/>
      </a:lt1>
      <a:dk2>
        <a:srgbClr val="6A6964"/>
      </a:dk2>
      <a:lt2>
        <a:srgbClr val="F5F4EF"/>
      </a:lt2>
      <a:accent1>
        <a:srgbClr val="121212"/>
      </a:accent1>
      <a:accent2>
        <a:srgbClr val="E53725"/>
      </a:accent2>
      <a:accent3>
        <a:srgbClr val="1E4ED8"/>
      </a:accent3>
      <a:accent4>
        <a:srgbClr val="C9C7C0"/>
      </a:accent4>
      <a:accent5>
        <a:srgbClr val="4BACC6"/>
      </a:accent5>
      <a:accent6>
        <a:srgbClr val="F79646"/>
      </a:accent6>
      <a:hlink>
        <a:srgbClr val="E53725"/>
      </a:hlink>
      <a:folHlink>
        <a:srgbClr val="1E4ED8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21212"/>
      </a:dk1>
      <a:lt1>
        <a:srgbClr val="F5F4EF"/>
      </a:lt1>
      <a:dk2>
        <a:srgbClr val="6A6964"/>
      </a:dk2>
      <a:lt2>
        <a:srgbClr val="F5F4EF"/>
      </a:lt2>
      <a:accent1>
        <a:srgbClr val="121212"/>
      </a:accent1>
      <a:accent2>
        <a:srgbClr val="E53725"/>
      </a:accent2>
      <a:accent3>
        <a:srgbClr val="1E4ED8"/>
      </a:accent3>
      <a:accent4>
        <a:srgbClr val="C9C7C0"/>
      </a:accent4>
      <a:accent5>
        <a:srgbClr val="4BACC6"/>
      </a:accent5>
      <a:accent6>
        <a:srgbClr val="F79646"/>
      </a:accent6>
      <a:hlink>
        <a:srgbClr val="E53725"/>
      </a:hlink>
      <a:folHlink>
        <a:srgbClr val="1E4ED8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2026-07-26T12:52:33Z</dcterms:created>
  <dcterms:modified xsi:type="dcterms:W3CDTF">2026-07-26T12:52:33Z</dcterms:modified>
  <cp:category/>
  <cp:contentStatus/>
</cp:coreProperties>
</file>