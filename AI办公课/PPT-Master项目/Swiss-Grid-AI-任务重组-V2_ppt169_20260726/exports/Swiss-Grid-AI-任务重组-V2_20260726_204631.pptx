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  <Relationship Id="rId1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从“哪些人会被淘汰”切入，但把判断落在任务而非人的全部价值。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 首先接手重复、可数字化、可验收的任务。岗位不会瞬间消失，但只做初稿的价值会先变薄。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录入、汇总、改写、检索、分流、初稿是最典型的六类任务。它们规则清楚、可复制，机器能先交出一个版本。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oster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grid-rule Layout"/>
          <p:cNvSpPr/>
          <p:nvPr/>
        </p:nvSpPr>
        <p:spPr>
          <a:xfrm>
            <a:off x="609600" y="552450"/>
            <a:ext cx="10972800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cover-red-field Layout"/>
          <p:cNvSpPr/>
          <p:nvPr/>
        </p:nvSpPr>
        <p:spPr>
          <a:xfrm>
            <a:off x="609600" y="4857750"/>
            <a:ext cx="10972800" cy="1390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cover-title Placeholder"/>
          <p:cNvSpPr>
            <a:spLocks noGrp="1"/>
          </p:cNvSpPr>
          <p:nvPr>
            <p:ph type="title"/>
          </p:nvPr>
        </p:nvSpPr>
        <p:spPr>
          <a:xfrm>
            <a:off x="609600" y="1428750"/>
            <a:ext cx="8763000" cy="2333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7200"/>
            </a:lvl1pPr>
          </a:lstStyle>
          <a:p>
            <a:r>
              <a:rPr lang="zh-CN" sz="7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cover-subtitle Placeholder"/>
          <p:cNvSpPr>
            <a:spLocks noGrp="1"/>
          </p:cNvSpPr>
          <p:nvPr>
            <p:ph type="subTitle" idx="1"/>
          </p:nvPr>
        </p:nvSpPr>
        <p:spPr>
          <a:xfrm>
            <a:off x="876300" y="5210175"/>
            <a:ext cx="100965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b="1" dirty="0">
                <a:solidFill>
                  <a:srgbClr val="F5F4EF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cover-footer Placeholder"/>
          <p:cNvSpPr>
            <a:spLocks noGrp="1"/>
          </p:cNvSpPr>
          <p:nvPr>
            <p:ph type="ftr" idx="2"/>
          </p:nvPr>
        </p:nvSpPr>
        <p:spPr>
          <a:xfrm>
            <a:off x="609600" y="6457950"/>
            <a:ext cx="8572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esi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sis-black-field Layout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hesis-red-bar Layout"/>
          <p:cNvSpPr/>
          <p:nvPr/>
        </p:nvSpPr>
        <p:spPr>
          <a:xfrm>
            <a:off x="609600" y="838200"/>
            <a:ext cx="876300" cy="11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thesis-body Placeholder"/>
          <p:cNvSpPr>
            <a:spLocks noGrp="1"/>
          </p:cNvSpPr>
          <p:nvPr>
            <p:ph type="body" idx="1"/>
          </p:nvPr>
        </p:nvSpPr>
        <p:spPr>
          <a:xfrm>
            <a:off x="4667250" y="3771900"/>
            <a:ext cx="59055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idx="2"/>
          </p:nvPr>
        </p:nvSpPr>
        <p:spPr>
          <a:xfrm>
            <a:off x="10763250" y="6457950"/>
            <a:ext cx="8191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0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ask F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eld-top Layout"/>
          <p:cNvSpPr/>
          <p:nvPr/>
        </p:nvSpPr>
        <p:spPr>
          <a:xfrm>
            <a:off x="609600" y="552450"/>
            <a:ext cx="10972800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field-bottom Layout"/>
          <p:cNvSpPr/>
          <p:nvPr/>
        </p:nvSpPr>
        <p:spPr>
          <a:xfrm>
            <a:off x="609600" y="5886450"/>
            <a:ext cx="10972800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" name="field-v1 Layout"/>
          <p:cNvSpPr/>
          <p:nvPr/>
        </p:nvSpPr>
        <p:spPr>
          <a:xfrm>
            <a:off x="4267200" y="1866900"/>
            <a:ext cx="19050" cy="32956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" name="field-v2 Layout"/>
          <p:cNvSpPr/>
          <p:nvPr/>
        </p:nvSpPr>
        <p:spPr>
          <a:xfrm>
            <a:off x="7924800" y="1866900"/>
            <a:ext cx="19050" cy="32956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" name="field-h Layout"/>
          <p:cNvSpPr/>
          <p:nvPr/>
        </p:nvSpPr>
        <p:spPr>
          <a:xfrm>
            <a:off x="609600" y="3524250"/>
            <a:ext cx="109728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" name="field-title Placeholder"/>
          <p:cNvSpPr>
            <a:spLocks noGrp="1"/>
          </p:cNvSpPr>
          <p:nvPr>
            <p:ph type="title"/>
          </p:nvPr>
        </p:nvSpPr>
        <p:spPr>
          <a:xfrm>
            <a:off x="609600" y="819150"/>
            <a:ext cx="923925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field-body Placeholder"/>
          <p:cNvSpPr>
            <a:spLocks noGrp="1"/>
          </p:cNvSpPr>
          <p:nvPr>
            <p:ph type="body" idx="1"/>
          </p:nvPr>
        </p:nvSpPr>
        <p:spPr>
          <a:xfrm>
            <a:off x="609600" y="5295900"/>
            <a:ext cx="93345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footer Placeholder"/>
          <p:cNvSpPr>
            <a:spLocks noGrp="1"/>
          </p:cNvSpPr>
          <p:nvPr>
            <p:ph type="ftr" idx="2"/>
          </p:nvPr>
        </p:nvSpPr>
        <p:spPr>
          <a:xfrm>
            <a:off x="609600" y="6457950"/>
            <a:ext cx="8572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0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Swiss Poster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2400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1980" y="828675"/>
            <a:ext cx="2300326" cy="293370"/>
            <a:chOff x="601980" y="828675"/>
            <a:chExt cx="2300326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601980" y="828675"/>
              <a:ext cx="23003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AI × WORK / 2026</a:t>
              </a:r>
            </a:p>
          </p:txBody>
        </p:sp>
      </p:grpSp>
      <p:sp>
        <p:nvSpPr>
          <p:cNvPr id="6" name="cover-title Placeholder Carrier"/>
          <p:cNvSpPr txBox="1"/>
          <p:nvPr>
            <p:ph type="title"/>
          </p:nvPr>
        </p:nvSpPr>
        <p:spPr>
          <a:xfrm>
            <a:off x="590550" y="1508760"/>
            <a:ext cx="7190994" cy="2457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400"/>
              </a:lnSpc>
            </a:pPr>
            <a:r>
              <a:rPr lang="zh-CN" sz="7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不会用 AI 的人，</a:t>
            </a:r>
            <a:r>
              <a:rPr lang="zh-CN" sz="7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正在被谁淘汰？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258300" y="2914650"/>
            <a:ext cx="3430524" cy="2305050"/>
            <a:chOff x="9258300" y="2914650"/>
            <a:chExt cx="3430524" cy="2305050"/>
          </a:xfrm>
        </p:grpSpPr>
        <p:sp>
          <p:nvSpPr>
            <p:cNvPr id="8" name="TextBox 8"/>
            <p:cNvSpPr txBox="1"/>
            <p:nvPr/>
          </p:nvSpPr>
          <p:spPr>
            <a:xfrm>
              <a:off x="9258300" y="2914650"/>
              <a:ext cx="3430524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任务</a:t>
              </a:r>
            </a:p>
          </p:txBody>
        </p:sp>
      </p:grpSp>
      <p:sp>
        <p:nvSpPr>
          <p:cNvPr id="10" name="cover-subtitle Placeholder Carrier"/>
          <p:cNvSpPr txBox="1"/>
          <p:nvPr>
            <p:ph type="subTitle" idx="1"/>
          </p:nvPr>
        </p:nvSpPr>
        <p:spPr>
          <a:xfrm>
            <a:off x="860298" y="5279708"/>
            <a:ext cx="987215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b="1" dirty="0">
                <a:solidFill>
                  <a:srgbClr val="F5F4EF"/>
                </a:solidFill>
                <a:latin typeface="+mn-lt"/>
                <a:ea typeface="+mn-ea"/>
                <a:cs typeface="+mn-cs"/>
              </a:rPr>
              <a:t>被重新定价的，先是工作里的那一段“重复任务”。</a:t>
            </a:r>
          </a:p>
        </p:txBody>
      </p:sp>
      <p:sp>
        <p:nvSpPr>
          <p:cNvPr id="12" name="cover-footer Placeholder Carrier"/>
          <p:cNvSpPr txBox="1"/>
          <p:nvPr>
            <p:ph type="ftr" idx="2"/>
          </p:nvPr>
        </p:nvSpPr>
        <p:spPr>
          <a:xfrm>
            <a:off x="603504" y="6490335"/>
            <a:ext cx="2666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常州夜校｜AI 办公课｜视觉样张 V2</a:t>
            </a:r>
          </a:p>
        </p:txBody>
      </p: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1980" y="1228725"/>
            <a:ext cx="1639443" cy="293370"/>
            <a:chOff x="601980" y="1228725"/>
            <a:chExt cx="1639443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601980" y="1228725"/>
              <a:ext cx="16394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01 / THE THESIS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0550" y="1996440"/>
            <a:ext cx="2598420" cy="3048000"/>
            <a:chOff x="590550" y="1996440"/>
            <a:chExt cx="2598420" cy="3048000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1996440"/>
              <a:ext cx="259842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550"/>
                </a:lnSpc>
              </a:pPr>
              <a:r>
                <a:rPr lang="en-US" sz="48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AI</a:t>
              </a:r>
              <a:r>
                <a:rPr lang="zh-CN" sz="48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先替代</a:t>
              </a:r>
              <a:r>
                <a:rPr lang="zh-CN" sz="48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任务，</a:t>
              </a:r>
              <a:r>
                <a:rPr lang="zh-CN" sz="48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不是人。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91050" y="1175385"/>
            <a:ext cx="5126736" cy="2457450"/>
            <a:chOff x="4591050" y="1175385"/>
            <a:chExt cx="5126736" cy="2457450"/>
          </a:xfrm>
        </p:grpSpPr>
        <p:sp>
          <p:nvSpPr>
            <p:cNvPr id="8" name="TextBox 8"/>
            <p:cNvSpPr txBox="1"/>
            <p:nvPr/>
          </p:nvSpPr>
          <p:spPr>
            <a:xfrm>
              <a:off x="4591050" y="1175385"/>
              <a:ext cx="207355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岗位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86550" y="1175385"/>
              <a:ext cx="207355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91050" y="2242185"/>
              <a:ext cx="5126736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立刻消失。</a:t>
              </a:r>
            </a:p>
          </p:txBody>
        </p:sp>
      </p:grpSp>
      <p:sp>
        <p:nvSpPr>
          <p:cNvPr id="12" name="thesis-body Placeholder Carrier"/>
          <p:cNvSpPr txBox="1"/>
          <p:nvPr>
            <p:ph type="body" idx="1"/>
          </p:nvPr>
        </p:nvSpPr>
        <p:spPr>
          <a:xfrm>
            <a:off x="4655058" y="3912870"/>
            <a:ext cx="5205984" cy="926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600"/>
              </a:lnSpc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变化先发生在那些重复、可数字化、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可验收、能被机器先出草稿的任务上。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659630" y="5286375"/>
            <a:ext cx="4122420" cy="293370"/>
            <a:chOff x="4659630" y="5286375"/>
            <a:chExt cx="4122420" cy="293370"/>
          </a:xfrm>
        </p:grpSpPr>
        <p:sp>
          <p:nvSpPr>
            <p:cNvPr id="14" name="TextBox 14"/>
            <p:cNvSpPr txBox="1"/>
            <p:nvPr/>
          </p:nvSpPr>
          <p:spPr>
            <a:xfrm>
              <a:off x="4659630" y="5286375"/>
              <a:ext cx="4122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SO WHAT → “只做初稿”的价值，会先变薄。</a:t>
              </a:r>
            </a:p>
          </p:txBody>
        </p:sp>
      </p:grpSp>
      <p:sp>
        <p:nvSpPr>
          <p:cNvPr id="16" name="footer Placeholder Carrier"/>
          <p:cNvSpPr txBox="1"/>
          <p:nvPr>
            <p:ph type="ftr" idx="2"/>
          </p:nvPr>
        </p:nvSpPr>
        <p:spPr>
          <a:xfrm>
            <a:off x="11214354" y="6490335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eld-title Placeholder Carrier"/>
          <p:cNvSpPr txBox="1"/>
          <p:nvPr>
            <p:ph type="title"/>
          </p:nvPr>
        </p:nvSpPr>
        <p:spPr>
          <a:xfrm>
            <a:off x="590550" y="891540"/>
            <a:ext cx="8858402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最先被压缩的，是这六类任务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469880" y="828675"/>
            <a:ext cx="725529" cy="293370"/>
            <a:chOff x="10469880" y="828675"/>
            <a:chExt cx="725529" cy="293370"/>
          </a:xfrm>
        </p:grpSpPr>
        <p:sp>
          <p:nvSpPr>
            <p:cNvPr id="9" name="TextBox 9"/>
            <p:cNvSpPr txBox="1"/>
            <p:nvPr/>
          </p:nvSpPr>
          <p:spPr>
            <a:xfrm>
              <a:off x="10469880" y="82867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0550" y="2205990"/>
            <a:ext cx="9205570" cy="2609850"/>
            <a:chOff x="590550" y="2205990"/>
            <a:chExt cx="9205570" cy="2609850"/>
          </a:xfrm>
        </p:grpSpPr>
        <p:sp>
          <p:nvSpPr>
            <p:cNvPr id="11" name="TextBox 11"/>
            <p:cNvSpPr txBox="1"/>
            <p:nvPr/>
          </p:nvSpPr>
          <p:spPr>
            <a:xfrm>
              <a:off x="590550" y="220599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录入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43450" y="220599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01050" y="220599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改写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0550" y="388239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43450" y="388239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01050" y="388239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初稿</a:t>
              </a:r>
            </a:p>
          </p:txBody>
        </p:sp>
      </p:grpSp>
      <p:sp>
        <p:nvSpPr>
          <p:cNvPr id="18" name="field-body Placeholder Carrier"/>
          <p:cNvSpPr txBox="1"/>
          <p:nvPr>
            <p:ph type="body" idx="1"/>
          </p:nvPr>
        </p:nvSpPr>
        <p:spPr>
          <a:xfrm>
            <a:off x="597408" y="5398770"/>
            <a:ext cx="90708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它们共同的特点：规则清楚、可复制、机器能先交出一个版本。</a:t>
            </a:r>
          </a:p>
        </p:txBody>
      </p:sp>
      <p:sp>
        <p:nvSpPr>
          <p:cNvPr id="20" name="footer Placeholder Carrier"/>
          <p:cNvSpPr txBox="1"/>
          <p:nvPr>
            <p:ph type="ftr" idx="2"/>
          </p:nvPr>
        </p:nvSpPr>
        <p:spPr>
          <a:xfrm>
            <a:off x="603504" y="6490335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来源：用户提供研究文档｜岗位与任务的变化清单</a:t>
            </a:r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21212"/>
      </a:dk1>
      <a:lt1>
        <a:srgbClr val="F5F4EF"/>
      </a:lt1>
      <a:dk2>
        <a:srgbClr val="6A6964"/>
      </a:dk2>
      <a:lt2>
        <a:srgbClr val="F5F4EF"/>
      </a:lt2>
      <a:accent1>
        <a:srgbClr val="121212"/>
      </a:accent1>
      <a:accent2>
        <a:srgbClr val="E53725"/>
      </a:accent2>
      <a:accent3>
        <a:srgbClr val="1E4ED8"/>
      </a:accent3>
      <a:accent4>
        <a:srgbClr val="C9C7C0"/>
      </a:accent4>
      <a:accent5>
        <a:srgbClr val="4BACC6"/>
      </a:accent5>
      <a:accent6>
        <a:srgbClr val="F79646"/>
      </a:accent6>
      <a:hlink>
        <a:srgbClr val="E53725"/>
      </a:hlink>
      <a:folHlink>
        <a:srgbClr val="1E4ED8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21212"/>
      </a:dk1>
      <a:lt1>
        <a:srgbClr val="F5F4EF"/>
      </a:lt1>
      <a:dk2>
        <a:srgbClr val="6A6964"/>
      </a:dk2>
      <a:lt2>
        <a:srgbClr val="F5F4EF"/>
      </a:lt2>
      <a:accent1>
        <a:srgbClr val="121212"/>
      </a:accent1>
      <a:accent2>
        <a:srgbClr val="E53725"/>
      </a:accent2>
      <a:accent3>
        <a:srgbClr val="1E4ED8"/>
      </a:accent3>
      <a:accent4>
        <a:srgbClr val="C9C7C0"/>
      </a:accent4>
      <a:accent5>
        <a:srgbClr val="4BACC6"/>
      </a:accent5>
      <a:accent6>
        <a:srgbClr val="F79646"/>
      </a:accent6>
      <a:hlink>
        <a:srgbClr val="E53725"/>
      </a:hlink>
      <a:folHlink>
        <a:srgbClr val="1E4ED8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2026-07-26T12:46:31Z</dcterms:created>
  <dcterms:modified xsi:type="dcterms:W3CDTF">2026-07-26T12:46:31Z</dcterms:modified>
  <cp:category/>
  <cp:contentStatus/>
</cp:coreProperties>
</file>