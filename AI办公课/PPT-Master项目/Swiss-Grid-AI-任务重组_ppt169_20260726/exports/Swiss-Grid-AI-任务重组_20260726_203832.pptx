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开场要先把问题从“AI 会不会取代所有人”改成“哪些任务正在被重新定价”。本节课的重点是找到个人可以升级的位置。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结论是 AI 首先重组任务，而不是瞬间清空岗位。原文指出，重复、可数字化、可验收的任务先被压缩，初级岗位入口和技能门槛随后变化。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录入、汇总、改写、检索、分流和初稿，是当前最先被压缩的六类任务。它们共同特点是标准化程度高，且能让 AI 先产出可用版本。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岗位名称常常还在，但“只做初稿”的价值会先变薄。人的工作会更早转向复核、例外处理、客户沟通和最终责任。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这条链说明为什么入门岗位最先受影响：AI 接手模板化任务后，岗位原本的训练价值被抽空，留岗者的能力要求随之提前。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初级白领、行政支持、客服、初级内容和报表整合更早感到入口收缩。重点不是制造焦虑，而是理解门槛提前出现的机制。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最脆弱的不是某个年龄段，而是任务结构单薄、组织角色脆弱、又不了解 AI 边界的人。会用工具但不会核验与升级，也不足以形成护城河。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组织会同时有 AI 直接替代、AI 增强和因 AI 新增的角色。个人更应向判断、责任、沟通、协作与工作流设计迁移。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真正的升级不是写“会用 AI”，而是展示一条工作流：AI 初稿、人类复核、异常升级、结果表达。这样才能证明你对结果负责。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从一个高频任务开始，三个月做出可验证的效率前后对比。记录过程中的错误、异常和复核方式，这些就是项目证据。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管理者不应把采购工具或减少编制当作转型成果。应先做任务分层、设置签核与治理，并保留学习性任务，避免人才管道断档。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收束结论：被替代的是低判断密度任务，不是人的全部价值。越早把 AI 接入主任务链，越能把时间移向复核、决策、客户与组织价值。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 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lue-plane Layout"/>
          <p:cNvSpPr/>
          <p:nvPr/>
        </p:nvSpPr>
        <p:spPr>
          <a:xfrm>
            <a:off x="0" y="0"/>
            <a:ext cx="26479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cover-red-rule Layout"/>
          <p:cNvSpPr/>
          <p:nvPr/>
        </p:nvSpPr>
        <p:spPr>
          <a:xfrm>
            <a:off x="3333750" y="819150"/>
            <a:ext cx="11049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over-title Placeholder"/>
          <p:cNvSpPr>
            <a:spLocks noGrp="1"/>
          </p:cNvSpPr>
          <p:nvPr>
            <p:ph type="title"/>
          </p:nvPr>
        </p:nvSpPr>
        <p:spPr>
          <a:xfrm>
            <a:off x="3333750" y="1809750"/>
            <a:ext cx="790575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8400"/>
            </a:lvl1pPr>
          </a:lstStyle>
          <a:p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over-subtitle Placeholder"/>
          <p:cNvSpPr>
            <a:spLocks noGrp="1"/>
          </p:cNvSpPr>
          <p:nvPr>
            <p:ph type="subTitle" idx="1"/>
          </p:nvPr>
        </p:nvSpPr>
        <p:spPr>
          <a:xfrm>
            <a:off x="3371850" y="4810125"/>
            <a:ext cx="68580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over-footer Placeholder"/>
          <p:cNvSpPr>
            <a:spLocks noGrp="1"/>
          </p:cNvSpPr>
          <p:nvPr>
            <p:ph type="ftr" idx="2"/>
          </p:nvPr>
        </p:nvSpPr>
        <p:spPr>
          <a:xfrm>
            <a:off x="3352800" y="62674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Statemen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top-rule Layout"/>
          <p:cNvSpPr/>
          <p:nvPr/>
        </p:nvSpPr>
        <p:spPr>
          <a:xfrm>
            <a:off x="685800" y="552450"/>
            <a:ext cx="108204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tatement-side-rule Layout"/>
          <p:cNvSpPr/>
          <p:nvPr/>
        </p:nvSpPr>
        <p:spPr>
          <a:xfrm>
            <a:off x="685800" y="1200150"/>
            <a:ext cx="114300" cy="438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statement-title Placeholder"/>
          <p:cNvSpPr>
            <a:spLocks noGrp="1"/>
          </p:cNvSpPr>
          <p:nvPr>
            <p:ph type="title"/>
          </p:nvPr>
        </p:nvSpPr>
        <p:spPr>
          <a:xfrm>
            <a:off x="1219200" y="1238250"/>
            <a:ext cx="9525000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tatement-lead Placeholder"/>
          <p:cNvSpPr>
            <a:spLocks noGrp="1"/>
          </p:cNvSpPr>
          <p:nvPr>
            <p:ph type="subTitle" idx="1"/>
          </p:nvPr>
        </p:nvSpPr>
        <p:spPr>
          <a:xfrm>
            <a:off x="1219200" y="2971800"/>
            <a:ext cx="981075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statement-points Placeholder"/>
          <p:cNvSpPr>
            <a:spLocks noGrp="1"/>
          </p:cNvSpPr>
          <p:nvPr>
            <p:ph type="body" idx="2"/>
          </p:nvPr>
        </p:nvSpPr>
        <p:spPr>
          <a:xfrm>
            <a:off x="1219200" y="4114800"/>
            <a:ext cx="8953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9DD9B478-4FD1-4FB1-80B9-06527B8F9E4F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ask 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sk-blue-band Layout"/>
          <p:cNvSpPr/>
          <p:nvPr/>
        </p:nvSpPr>
        <p:spPr>
          <a:xfrm>
            <a:off x="685800" y="552450"/>
            <a:ext cx="2038350" cy="575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task-grid-v Layout"/>
          <p:cNvSpPr/>
          <p:nvPr/>
        </p:nvSpPr>
        <p:spPr>
          <a:xfrm>
            <a:off x="5810250" y="247650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task-grid-h Layout"/>
          <p:cNvSpPr/>
          <p:nvPr/>
        </p:nvSpPr>
        <p:spPr>
          <a:xfrm>
            <a:off x="3143250" y="4048125"/>
            <a:ext cx="76962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task-title Placeholder"/>
          <p:cNvSpPr>
            <a:spLocks noGrp="1"/>
          </p:cNvSpPr>
          <p:nvPr>
            <p:ph type="title"/>
          </p:nvPr>
        </p:nvSpPr>
        <p:spPr>
          <a:xfrm>
            <a:off x="3143250" y="68580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task-lead Placeholder"/>
          <p:cNvSpPr>
            <a:spLocks noGrp="1"/>
          </p:cNvSpPr>
          <p:nvPr>
            <p:ph type="subTitle" idx="1"/>
          </p:nvPr>
        </p:nvSpPr>
        <p:spPr>
          <a:xfrm>
            <a:off x="3143250" y="1714500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22CB23BA-ACD9-4552-B51C-3D85EB211423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alue Sh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ue-red-block Layout"/>
          <p:cNvSpPr/>
          <p:nvPr/>
        </p:nvSpPr>
        <p:spPr>
          <a:xfrm>
            <a:off x="685800" y="685800"/>
            <a:ext cx="3200400" cy="495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value-rule Layout"/>
          <p:cNvSpPr/>
          <p:nvPr/>
        </p:nvSpPr>
        <p:spPr>
          <a:xfrm>
            <a:off x="4457700" y="1752600"/>
            <a:ext cx="638175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value-title Placeholder"/>
          <p:cNvSpPr>
            <a:spLocks noGrp="1"/>
          </p:cNvSpPr>
          <p:nvPr>
            <p:ph type="title"/>
          </p:nvPr>
        </p:nvSpPr>
        <p:spPr>
          <a:xfrm>
            <a:off x="4457700" y="723900"/>
            <a:ext cx="666750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value-body Placeholder"/>
          <p:cNvSpPr>
            <a:spLocks noGrp="1"/>
          </p:cNvSpPr>
          <p:nvPr>
            <p:ph type="body" idx="1"/>
          </p:nvPr>
        </p:nvSpPr>
        <p:spPr>
          <a:xfrm>
            <a:off x="4457700" y="2266950"/>
            <a:ext cx="6286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value-takeaway Placeholder"/>
          <p:cNvSpPr>
            <a:spLocks noGrp="1"/>
          </p:cNvSpPr>
          <p:nvPr>
            <p:ph type="subTitle" idx="2"/>
          </p:nvPr>
        </p:nvSpPr>
        <p:spPr>
          <a:xfrm>
            <a:off x="4457700" y="53340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19CA419C-A921-4F05-91DA-F452556B7510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hain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in-blue-band Layout"/>
          <p:cNvSpPr/>
          <p:nvPr/>
        </p:nvSpPr>
        <p:spPr>
          <a:xfrm>
            <a:off x="0" y="0"/>
            <a:ext cx="12192000" cy="895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chain-red-rule Layout"/>
          <p:cNvSpPr/>
          <p:nvPr/>
        </p:nvSpPr>
        <p:spPr>
          <a:xfrm>
            <a:off x="685800" y="1885950"/>
            <a:ext cx="108204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chain-title Placeholder"/>
          <p:cNvSpPr>
            <a:spLocks noGrp="1"/>
          </p:cNvSpPr>
          <p:nvPr>
            <p:ph type="title"/>
          </p:nvPr>
        </p:nvSpPr>
        <p:spPr>
          <a:xfrm>
            <a:off x="685800" y="10668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hain-figure Placeholder"/>
          <p:cNvSpPr>
            <a:spLocks noGrp="1"/>
          </p:cNvSpPr>
          <p:nvPr>
            <p:ph type="pic" idx="1"/>
          </p:nvPr>
        </p:nvSpPr>
        <p:spPr>
          <a:xfrm>
            <a:off x="3009900" y="2305050"/>
            <a:ext cx="6172200" cy="1428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chain-body Placeholder"/>
          <p:cNvSpPr>
            <a:spLocks noGrp="1"/>
          </p:cNvSpPr>
          <p:nvPr>
            <p:ph type="body" idx="2"/>
          </p:nvPr>
        </p:nvSpPr>
        <p:spPr>
          <a:xfrm>
            <a:off x="685800" y="4457700"/>
            <a:ext cx="1066800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6C1A25E7-76BD-44EB-9047-589F45E11067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Entry Pres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ry-red-plane Layout"/>
          <p:cNvSpPr/>
          <p:nvPr/>
        </p:nvSpPr>
        <p:spPr>
          <a:xfrm>
            <a:off x="8210550" y="0"/>
            <a:ext cx="39814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entry-rule Layout"/>
          <p:cNvSpPr/>
          <p:nvPr/>
        </p:nvSpPr>
        <p:spPr>
          <a:xfrm>
            <a:off x="685800" y="2647950"/>
            <a:ext cx="6572250" cy="7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" name="entry-title Placeholder"/>
          <p:cNvSpPr>
            <a:spLocks noGrp="1"/>
          </p:cNvSpPr>
          <p:nvPr>
            <p:ph type="title"/>
          </p:nvPr>
        </p:nvSpPr>
        <p:spPr>
          <a:xfrm>
            <a:off x="685800" y="1238250"/>
            <a:ext cx="68580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entry-body Placeholder"/>
          <p:cNvSpPr>
            <a:spLocks noGrp="1"/>
          </p:cNvSpPr>
          <p:nvPr>
            <p:ph type="body" idx="1"/>
          </p:nvPr>
        </p:nvSpPr>
        <p:spPr>
          <a:xfrm>
            <a:off x="685800" y="3219450"/>
            <a:ext cx="666750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5C1FC503-1E95-4FDB-81F9-ECD44866E01F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Risk Pro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sk-top Layout"/>
          <p:cNvSpPr/>
          <p:nvPr/>
        </p:nvSpPr>
        <p:spPr>
          <a:xfrm>
            <a:off x="685800" y="552450"/>
            <a:ext cx="108204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isk-v1 Layout"/>
          <p:cNvSpPr/>
          <p:nvPr/>
        </p:nvSpPr>
        <p:spPr>
          <a:xfrm>
            <a:off x="4286250" y="226695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risk-v2 Layout"/>
          <p:cNvSpPr/>
          <p:nvPr/>
        </p:nvSpPr>
        <p:spPr>
          <a:xfrm>
            <a:off x="7905750" y="2266950"/>
            <a:ext cx="19050" cy="314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risk-title Placeholder"/>
          <p:cNvSpPr>
            <a:spLocks noGrp="1"/>
          </p:cNvSpPr>
          <p:nvPr>
            <p:ph type="title"/>
          </p:nvPr>
        </p:nvSpPr>
        <p:spPr>
          <a:xfrm>
            <a:off x="685800" y="952500"/>
            <a:ext cx="102870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risk-lead Placeholder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981075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F3D38657-6C41-46E7-9159-540B64ACBD54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Value Tri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d-blue Layout"/>
          <p:cNvSpPr/>
          <p:nvPr/>
        </p:nvSpPr>
        <p:spPr>
          <a:xfrm>
            <a:off x="685800" y="4610100"/>
            <a:ext cx="10820400" cy="10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triad-red Layout"/>
          <p:cNvSpPr/>
          <p:nvPr/>
        </p:nvSpPr>
        <p:spPr>
          <a:xfrm>
            <a:off x="685800" y="5638800"/>
            <a:ext cx="10820400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" name="triad-title Placeholder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8225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triad-lead Placeholder"/>
          <p:cNvSpPr>
            <a:spLocks noGrp="1"/>
          </p:cNvSpPr>
          <p:nvPr>
            <p:ph type="subTitle" idx="1"/>
          </p:nvPr>
        </p:nvSpPr>
        <p:spPr>
          <a:xfrm>
            <a:off x="685800" y="1695450"/>
            <a:ext cx="100965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triad-body Placeholder"/>
          <p:cNvSpPr>
            <a:spLocks noGrp="1"/>
          </p:cNvSpPr>
          <p:nvPr>
            <p:ph type="body" idx="2"/>
          </p:nvPr>
        </p:nvSpPr>
        <p:spPr>
          <a:xfrm>
            <a:off x="685800" y="2667000"/>
            <a:ext cx="10668000" cy="1619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A61C9EE1-3565-4E8D-80BE-39F9D9C5B8B6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orkflow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low-left Layout"/>
          <p:cNvSpPr/>
          <p:nvPr/>
        </p:nvSpPr>
        <p:spPr>
          <a:xfrm>
            <a:off x="685800" y="685800"/>
            <a:ext cx="2057400" cy="49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workflow-line Layout"/>
          <p:cNvSpPr/>
          <p:nvPr/>
        </p:nvSpPr>
        <p:spPr>
          <a:xfrm>
            <a:off x="3238500" y="3429000"/>
            <a:ext cx="7620000" cy="57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workflow-title Placeholder"/>
          <p:cNvSpPr>
            <a:spLocks noGrp="1"/>
          </p:cNvSpPr>
          <p:nvPr>
            <p:ph type="title"/>
          </p:nvPr>
        </p:nvSpPr>
        <p:spPr>
          <a:xfrm>
            <a:off x="3238500" y="762000"/>
            <a:ext cx="762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workflow-lead Placeholder"/>
          <p:cNvSpPr>
            <a:spLocks noGrp="1"/>
          </p:cNvSpPr>
          <p:nvPr>
            <p:ph type="subTitle" idx="1"/>
          </p:nvPr>
        </p:nvSpPr>
        <p:spPr>
          <a:xfrm>
            <a:off x="3238500" y="180975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5B25193A-BF92-48C6-92C3-E8668BC987CE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ction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-blue Layout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" name="action-rule Layout"/>
          <p:cNvSpPr/>
          <p:nvPr/>
        </p:nvSpPr>
        <p:spPr>
          <a:xfrm>
            <a:off x="685800" y="2362200"/>
            <a:ext cx="108204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action-title Placeholder"/>
          <p:cNvSpPr>
            <a:spLocks noGrp="1"/>
          </p:cNvSpPr>
          <p:nvPr>
            <p:ph type="title"/>
          </p:nvPr>
        </p:nvSpPr>
        <p:spPr>
          <a:xfrm>
            <a:off x="685800" y="1066800"/>
            <a:ext cx="104775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action-lead Placeholder"/>
          <p:cNvSpPr>
            <a:spLocks noGrp="1"/>
          </p:cNvSpPr>
          <p:nvPr>
            <p:ph type="subTitle" idx="1"/>
          </p:nvPr>
        </p:nvSpPr>
        <p:spPr>
          <a:xfrm>
            <a:off x="685800" y="1924050"/>
            <a:ext cx="104775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action-body Placeholder"/>
          <p:cNvSpPr>
            <a:spLocks noGrp="1"/>
          </p:cNvSpPr>
          <p:nvPr>
            <p:ph type="body" idx="2"/>
          </p:nvPr>
        </p:nvSpPr>
        <p:spPr>
          <a:xfrm>
            <a:off x="685800" y="2857500"/>
            <a:ext cx="10668000" cy="2381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2400"/>
            </a:lvl1pPr>
          </a:lstStyle>
          <a:p>
            <a:pPr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3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4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C08B601A-FDE3-4FF0-B27A-1CF4321E2D7B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nager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nager-red Layout"/>
          <p:cNvSpPr/>
          <p:nvPr/>
        </p:nvSpPr>
        <p:spPr>
          <a:xfrm>
            <a:off x="685800" y="685800"/>
            <a:ext cx="10820400" cy="1200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manager-v Layout"/>
          <p:cNvSpPr/>
          <p:nvPr/>
        </p:nvSpPr>
        <p:spPr>
          <a:xfrm>
            <a:off x="6096000" y="2476500"/>
            <a:ext cx="19050" cy="2762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4" name="manager-h Layout"/>
          <p:cNvSpPr/>
          <p:nvPr/>
        </p:nvSpPr>
        <p:spPr>
          <a:xfrm>
            <a:off x="685800" y="3867150"/>
            <a:ext cx="108204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" name="manager-title Placeholder"/>
          <p:cNvSpPr>
            <a:spLocks noGrp="1"/>
          </p:cNvSpPr>
          <p:nvPr>
            <p:ph type="title"/>
          </p:nvPr>
        </p:nvSpPr>
        <p:spPr>
          <a:xfrm>
            <a:off x="990600" y="933450"/>
            <a:ext cx="1000125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800"/>
            </a:lvl1pPr>
          </a:lstStyle>
          <a:p>
            <a:r>
              <a:rPr lang="zh-CN" sz="48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manager-lead Placeholder"/>
          <p:cNvSpPr>
            <a:spLocks noGrp="1"/>
          </p:cNvSpPr>
          <p:nvPr>
            <p:ph type="subTitle" idx="1"/>
          </p:nvPr>
        </p:nvSpPr>
        <p:spPr>
          <a:xfrm>
            <a:off x="685800" y="54483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2"/>
          </p:nvPr>
        </p:nvSpPr>
        <p:spPr>
          <a:xfrm>
            <a:off x="685800" y="63817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FEE6F94F-7C88-4C3A-91EA-9A0FC46B5B96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losing Pla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red Layout"/>
          <p:cNvSpPr/>
          <p:nvPr/>
        </p:nvSpPr>
        <p:spPr>
          <a:xfrm>
            <a:off x="685800" y="762000"/>
            <a:ext cx="1333500" cy="11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closing-blue Layout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4" name="closing-title Placeholder"/>
          <p:cNvSpPr>
            <a:spLocks noGrp="1"/>
          </p:cNvSpPr>
          <p:nvPr>
            <p:ph type="title"/>
          </p:nvPr>
        </p:nvSpPr>
        <p:spPr>
          <a:xfrm>
            <a:off x="685800" y="1809750"/>
            <a:ext cx="100965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>
            <a:lvl1pPr>
              <a:defRPr sz="8400"/>
            </a:lvl1pPr>
          </a:lstStyle>
          <a:p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losing-subtitle Placeholder"/>
          <p:cNvSpPr>
            <a:spLocks noGrp="1"/>
          </p:cNvSpPr>
          <p:nvPr>
            <p:ph type="subTitle" idx="1"/>
          </p:nvPr>
        </p:nvSpPr>
        <p:spPr>
          <a:xfrm>
            <a:off x="685800" y="476250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3150"/>
            </a:lvl1pPr>
          </a:lstStyle>
          <a:p>
            <a:pPr>
              <a:buNone/>
            </a:pPr>
            <a:r>
              <a:rPr lang="zh-CN" sz="315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  <p:sp>
        <p:nvSpPr>
          <p:cNvPr id="6" name="closing-footer Placeholder"/>
          <p:cNvSpPr>
            <a:spLocks noGrp="1"/>
          </p:cNvSpPr>
          <p:nvPr>
            <p:ph type="ftr" idx="2"/>
          </p:nvPr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r>
              <a:rPr lang="zh-CN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3"/>
          </p:nvPr>
        </p:nvSpPr>
        <p:spPr>
          <a:xfrm>
            <a:off x="10858500" y="6381750"/>
            <a:ext cx="6477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1200"/>
            </a:lvl1pPr>
          </a:lstStyle>
          <a:p>
            <a:fld id="{357065BF-519A-4006-B349-4048A3D5B3C7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212999818"/>
      </p:ext>
    </p:extLst>
  </p:cSld>
  <p:clrMapOvr>
    <a:masterClrMapping/>
  </p:clrMapOvr>
  <p:hf hdr="0" dt="0" ftr="1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wiss Grid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400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17118966f91bb2d1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345180" y="1362075"/>
            <a:ext cx="1796263" cy="293370"/>
            <a:chOff x="3345180" y="1362075"/>
            <a:chExt cx="1796263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3345180" y="1362075"/>
              <a:ext cx="1796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× WORK / 2026</a:t>
              </a:r>
            </a:p>
          </p:txBody>
        </p:sp>
      </p:grpSp>
      <p:sp>
        <p:nvSpPr>
          <p:cNvPr id="6" name="cover-title Placeholder Carrier"/>
          <p:cNvSpPr txBox="1"/>
          <p:nvPr>
            <p:ph type="title"/>
          </p:nvPr>
        </p:nvSpPr>
        <p:spPr>
          <a:xfrm>
            <a:off x="3314700" y="1855470"/>
            <a:ext cx="8383143" cy="2800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9300"/>
              </a:lnSpc>
            </a:pPr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不会用 AI 的人，</a:t>
            </a:r>
            <a:r>
              <a:rPr lang="zh-CN" sz="84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正在被谁淘汰？</a:t>
            </a:r>
          </a:p>
        </p:txBody>
      </p:sp>
      <p:sp>
        <p:nvSpPr>
          <p:cNvPr id="8" name="cover-subtitle Placeholder Carrier"/>
          <p:cNvSpPr txBox="1"/>
          <p:nvPr>
            <p:ph type="subTitle" idx="1"/>
          </p:nvPr>
        </p:nvSpPr>
        <p:spPr>
          <a:xfrm>
            <a:off x="3355848" y="4803458"/>
            <a:ext cx="76649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被替代的先是任务，不是人的全部价值。</a:t>
            </a:r>
          </a:p>
        </p:txBody>
      </p:sp>
      <p:sp>
        <p:nvSpPr>
          <p:cNvPr id="10" name="cover-footer Placeholder Carrier"/>
          <p:cNvSpPr txBox="1"/>
          <p:nvPr>
            <p:ph type="ftr" idx="2"/>
          </p:nvPr>
        </p:nvSpPr>
        <p:spPr>
          <a:xfrm>
            <a:off x="3346704" y="6309360"/>
            <a:ext cx="36734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常州夜校 AI 办公课｜基于用户提供研究文档整理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847725"/>
            <a:ext cx="725529" cy="293370"/>
            <a:chOff x="678180" y="84772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84772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sp>
        <p:nvSpPr>
          <p:cNvPr id="6" name="statement-title Placeholder Carrier"/>
          <p:cNvSpPr txBox="1"/>
          <p:nvPr>
            <p:ph type="title"/>
          </p:nvPr>
        </p:nvSpPr>
        <p:spPr>
          <a:xfrm>
            <a:off x="1200150" y="1424940"/>
            <a:ext cx="1089897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先重组任务，不会瞬间清空岗位</a:t>
            </a:r>
          </a:p>
        </p:txBody>
      </p:sp>
      <p:sp>
        <p:nvSpPr>
          <p:cNvPr id="8" name="statement-lead Placeholder Carrier"/>
          <p:cNvSpPr txBox="1"/>
          <p:nvPr>
            <p:ph type="subTitle" idx="1"/>
          </p:nvPr>
        </p:nvSpPr>
        <p:spPr>
          <a:xfrm>
            <a:off x="1203198" y="3012758"/>
            <a:ext cx="1148143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真正被淘汰的，是只会完成旧任务、不会驾驭新工作流的人。</a:t>
            </a:r>
          </a:p>
        </p:txBody>
      </p:sp>
      <p:sp>
        <p:nvSpPr>
          <p:cNvPr id="10" name="statement-points Placeholder Carrier"/>
          <p:cNvSpPr txBox="1"/>
          <p:nvPr>
            <p:ph type="body" idx="2"/>
          </p:nvPr>
        </p:nvSpPr>
        <p:spPr>
          <a:xfrm>
            <a:off x="1207008" y="4198620"/>
            <a:ext cx="7461504" cy="1421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任务重组：重复、可数字化、可验收的工作先被压缩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入口收缩：初级岗位的训练性任务正在被拆走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门槛抬升：判断、沟通、责任与协作更早成为要求</a:t>
            </a:r>
          </a:p>
        </p:txBody>
      </p:sp>
      <p:sp>
        <p:nvSpPr>
          <p:cNvPr id="12" name="footer Placeholder Carrier"/>
          <p:cNvSpPr txBox="1"/>
          <p:nvPr>
            <p:ph type="ftr" idx="3"/>
          </p:nvPr>
        </p:nvSpPr>
        <p:spPr>
          <a:xfrm>
            <a:off x="679704" y="6404610"/>
            <a:ext cx="25968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来源：用户提供研究文档｜执行摘要</a:t>
            </a:r>
          </a:p>
        </p:txBody>
      </p:sp>
      <p:sp>
        <p:nvSpPr>
          <p:cNvPr id="14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982980" y="838200"/>
            <a:ext cx="725529" cy="293370"/>
            <a:chOff x="982980" y="838200"/>
            <a:chExt cx="725529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982980" y="838200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sp>
        <p:nvSpPr>
          <p:cNvPr id="7" name="task-title Placeholder Carrier"/>
          <p:cNvSpPr txBox="1"/>
          <p:nvPr>
            <p:ph type="title"/>
          </p:nvPr>
        </p:nvSpPr>
        <p:spPr>
          <a:xfrm>
            <a:off x="3124200" y="739140"/>
            <a:ext cx="6502908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700"/>
              </a:lnSpc>
            </a:pP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最先承压的是</a:t>
            </a: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“可标准化”的信息任务</a:t>
            </a:r>
          </a:p>
        </p:txBody>
      </p:sp>
      <p:sp>
        <p:nvSpPr>
          <p:cNvPr id="9" name="task-lead Placeholder Carrier"/>
          <p:cNvSpPr txBox="1"/>
          <p:nvPr>
            <p:ph type="subTitle" idx="1"/>
          </p:nvPr>
        </p:nvSpPr>
        <p:spPr>
          <a:xfrm>
            <a:off x="3127248" y="1736408"/>
            <a:ext cx="851306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六个关键词，正在抽走初级岗位的训练价值。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131058" y="2931795"/>
            <a:ext cx="4321058" cy="2602992"/>
            <a:chOff x="3131058" y="2931795"/>
            <a:chExt cx="4321058" cy="2602992"/>
          </a:xfrm>
        </p:grpSpPr>
        <p:sp>
          <p:nvSpPr>
            <p:cNvPr id="11" name="TextBox 11"/>
            <p:cNvSpPr txBox="1"/>
            <p:nvPr/>
          </p:nvSpPr>
          <p:spPr>
            <a:xfrm>
              <a:off x="3131058" y="29317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录入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4308" y="29317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汇总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31058" y="39985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改写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4308" y="39985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1058" y="50653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分流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4308" y="5065395"/>
              <a:ext cx="1177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 初稿</a:t>
              </a:r>
            </a:p>
          </p:txBody>
        </p:sp>
      </p:grpSp>
      <p:sp>
        <p:nvSpPr>
          <p:cNvPr id="18" name="footer Placeholder Carrier"/>
          <p:cNvSpPr txBox="1"/>
          <p:nvPr>
            <p:ph type="ftr" idx="2"/>
          </p:nvPr>
        </p:nvSpPr>
        <p:spPr>
          <a:xfrm>
            <a:off x="679704" y="6404610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来源：用户提供研究文档｜岗位与任务的变化清单</a:t>
            </a:r>
          </a:p>
        </p:txBody>
      </p:sp>
      <p:sp>
        <p:nvSpPr>
          <p:cNvPr id="20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5895975"/>
            <a:ext cx="725529" cy="293370"/>
            <a:chOff x="678180" y="589597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58959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4598" y="1203008"/>
            <a:ext cx="2594324" cy="2273427"/>
            <a:chOff x="974598" y="1203008"/>
            <a:chExt cx="2594324" cy="2273427"/>
          </a:xfrm>
        </p:grpSpPr>
        <p:sp>
          <p:nvSpPr>
            <p:cNvPr id="6" name="TextBox 6"/>
            <p:cNvSpPr txBox="1"/>
            <p:nvPr/>
          </p:nvSpPr>
          <p:spPr>
            <a:xfrm>
              <a:off x="974598" y="1203008"/>
              <a:ext cx="2594324" cy="227342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岗位还在，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但“只做初稿”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的价值正在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变薄。</a:t>
              </a:r>
            </a:p>
          </p:txBody>
        </p:sp>
      </p:grpSp>
      <p:sp>
        <p:nvSpPr>
          <p:cNvPr id="8" name="value-title Placeholder Carrier"/>
          <p:cNvSpPr txBox="1"/>
          <p:nvPr>
            <p:ph type="title"/>
          </p:nvPr>
        </p:nvSpPr>
        <p:spPr>
          <a:xfrm>
            <a:off x="4438650" y="796290"/>
            <a:ext cx="7314529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 改变的是任务的价格</a:t>
            </a:r>
          </a:p>
        </p:txBody>
      </p:sp>
      <p:sp>
        <p:nvSpPr>
          <p:cNvPr id="10" name="value-body Placeholder Carrier"/>
          <p:cNvSpPr txBox="1"/>
          <p:nvPr>
            <p:ph type="body" idx="1"/>
          </p:nvPr>
        </p:nvSpPr>
        <p:spPr>
          <a:xfrm>
            <a:off x="4445508" y="2446020"/>
            <a:ext cx="5510784" cy="22029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输入与输出清晰、错误成本可控的工作，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更容易先被 AI 接手。</a:t>
            </a:r>
          </a:p>
          <a:p>
            <a:pPr algn="l">
              <a:lnSpc>
                <a:spcPts val="3750"/>
              </a:lnSpc>
              <a:spcBef>
                <a:spcPts val="2400"/>
              </a:spcBef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留下的人，要更早承担复核、例外处理、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客户沟通与最终责任。</a:t>
            </a:r>
          </a:p>
        </p:txBody>
      </p:sp>
      <p:sp>
        <p:nvSpPr>
          <p:cNvPr id="12" name="value-takeaway Placeholder Carrier"/>
          <p:cNvSpPr txBox="1"/>
          <p:nvPr>
            <p:ph type="subTitle" idx="2"/>
          </p:nvPr>
        </p:nvSpPr>
        <p:spPr>
          <a:xfrm>
            <a:off x="4441698" y="5413058"/>
            <a:ext cx="90219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不是“有没有岗位”，而是“你还剩下什么价值”。</a:t>
            </a:r>
          </a:p>
        </p:txBody>
      </p:sp>
      <p:sp>
        <p:nvSpPr>
          <p:cNvPr id="14" name="footer Placeholder Carrier"/>
          <p:cNvSpPr txBox="1"/>
          <p:nvPr>
            <p:ph type="ftr" idx="3"/>
          </p:nvPr>
        </p:nvSpPr>
        <p:spPr>
          <a:xfrm>
            <a:off x="679704" y="6404610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来源：用户提供研究文档｜任务层面的变化</a:t>
            </a:r>
          </a:p>
        </p:txBody>
      </p:sp>
      <p:sp>
        <p:nvSpPr>
          <p:cNvPr id="16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in-title Placeholder Carrier"/>
          <p:cNvSpPr txBox="1"/>
          <p:nvPr>
            <p:ph type="title"/>
          </p:nvPr>
        </p:nvSpPr>
        <p:spPr>
          <a:xfrm>
            <a:off x="666750" y="1043940"/>
            <a:ext cx="1089385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自动化任务会沿着一条组织链条传导</a:t>
            </a:r>
          </a:p>
        </p:txBody>
      </p:sp>
      <p:pic>
        <p:nvPicPr>
          <p:cNvPr id="6" name="chain-figure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3009900" y="2819400"/>
            <a:ext cx="6172200" cy="800100"/>
          </a:xfrm>
          <a:prstGeom prst="rect">
            <a:avLst/>
          </a:prstGeom>
        </p:spPr>
      </p:pic>
      <p:sp>
        <p:nvSpPr>
          <p:cNvPr id="8" name="chain-body Placeholder Carrier"/>
          <p:cNvSpPr txBox="1"/>
          <p:nvPr>
            <p:ph type="body" idx="2"/>
          </p:nvPr>
        </p:nvSpPr>
        <p:spPr>
          <a:xfrm>
            <a:off x="673608" y="4636770"/>
            <a:ext cx="12079224" cy="9837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0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模板化任务被接管 → 入门训练价值被抽空 → 留岗者门槛提高 → 岗位变成“少人、强复核”。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最明显的场景：客服、文职、初级内容与初级知识工作。</a:t>
            </a:r>
          </a:p>
        </p:txBody>
      </p:sp>
      <p:sp>
        <p:nvSpPr>
          <p:cNvPr id="10" name="footer Placeholder Carrier"/>
          <p:cNvSpPr txBox="1"/>
          <p:nvPr>
            <p:ph type="ftr" idx="3"/>
          </p:nvPr>
        </p:nvSpPr>
        <p:spPr>
          <a:xfrm>
            <a:off x="679704" y="64046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来源：用户提供研究文档｜原文流程图与替代路径说明</a:t>
            </a:r>
          </a:p>
        </p:txBody>
      </p:sp>
      <p:sp>
        <p:nvSpPr>
          <p:cNvPr id="12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78180" y="828675"/>
            <a:ext cx="725529" cy="293370"/>
            <a:chOff x="678180" y="828675"/>
            <a:chExt cx="725529" cy="293370"/>
          </a:xfrm>
        </p:grpSpPr>
        <p:sp>
          <p:nvSpPr>
            <p:cNvPr id="4" name="TextBox 4"/>
            <p:cNvSpPr txBox="1"/>
            <p:nvPr/>
          </p:nvSpPr>
          <p:spPr>
            <a:xfrm>
              <a:off x="678180" y="828675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sp>
        <p:nvSpPr>
          <p:cNvPr id="6" name="entry-title Placeholder Carrier"/>
          <p:cNvSpPr txBox="1"/>
          <p:nvPr>
            <p:ph type="title"/>
          </p:nvPr>
        </p:nvSpPr>
        <p:spPr>
          <a:xfrm>
            <a:off x="666750" y="1310640"/>
            <a:ext cx="7078980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700"/>
              </a:lnSpc>
            </a:pP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初级岗位与早期职业人群</a:t>
            </a: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更先感到入口收缩</a:t>
            </a:r>
          </a:p>
        </p:txBody>
      </p:sp>
      <p:sp>
        <p:nvSpPr>
          <p:cNvPr id="8" name="entry-body Placeholder Carrier"/>
          <p:cNvSpPr txBox="1"/>
          <p:nvPr>
            <p:ph type="body" idx="1"/>
          </p:nvPr>
        </p:nvSpPr>
        <p:spPr>
          <a:xfrm>
            <a:off x="673608" y="3398520"/>
            <a:ext cx="5815584" cy="189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75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行政支持、客服、初级内容、报表整合，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过去是熟悉流程的入口；现在，AI 能先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完成其中一部分，于是留下的人更早被要求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处理例外、沟通客户、承担责任。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632698" y="2384108"/>
            <a:ext cx="1712214" cy="2825877"/>
            <a:chOff x="8632698" y="2384108"/>
            <a:chExt cx="1712214" cy="2825877"/>
          </a:xfrm>
        </p:grpSpPr>
        <p:sp>
          <p:nvSpPr>
            <p:cNvPr id="10" name="TextBox 10"/>
            <p:cNvSpPr txBox="1"/>
            <p:nvPr/>
          </p:nvSpPr>
          <p:spPr>
            <a:xfrm>
              <a:off x="8632698" y="2384108"/>
              <a:ext cx="1712214" cy="2825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入口变薄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不是机会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消失，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而是门槛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提前。</a:t>
              </a:r>
            </a:p>
          </p:txBody>
        </p:sp>
      </p:grpSp>
      <p:sp>
        <p:nvSpPr>
          <p:cNvPr id="12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来源：用户提供研究文档｜谁在被淘汰</a:t>
            </a:r>
          </a:p>
        </p:txBody>
      </p:sp>
      <p:sp>
        <p:nvSpPr>
          <p:cNvPr id="14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sk-title Placeholder Carrier"/>
          <p:cNvSpPr txBox="1"/>
          <p:nvPr>
            <p:ph type="title"/>
          </p:nvPr>
        </p:nvSpPr>
        <p:spPr>
          <a:xfrm>
            <a:off x="666750" y="986790"/>
            <a:ext cx="1021537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先失去优势的，是单薄的任务结构</a:t>
            </a:r>
          </a:p>
        </p:txBody>
      </p:sp>
      <p:sp>
        <p:nvSpPr>
          <p:cNvPr id="7" name="risk-lead Placeholder Carrier"/>
          <p:cNvSpPr txBox="1"/>
          <p:nvPr>
            <p:ph type="subTitle" idx="1"/>
          </p:nvPr>
        </p:nvSpPr>
        <p:spPr>
          <a:xfrm>
            <a:off x="669798" y="1831658"/>
            <a:ext cx="102516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问题不在年龄，而在工作价值是否只剩“搬运与初稿”。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73608" y="2884170"/>
            <a:ext cx="10171938" cy="1383792"/>
            <a:chOff x="673608" y="2884170"/>
            <a:chExt cx="10171938" cy="1383792"/>
          </a:xfrm>
        </p:grpSpPr>
        <p:sp>
          <p:nvSpPr>
            <p:cNvPr id="9" name="TextBox 9"/>
            <p:cNvSpPr txBox="1"/>
            <p:nvPr/>
          </p:nvSpPr>
          <p:spPr>
            <a:xfrm>
              <a:off x="67360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技能单薄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3608" y="33413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信息搬运、格式化、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3798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重复性交付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1695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角色脆弱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6958" y="3341370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只负责汇总、排会、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16958" y="3798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周报与第一轮客服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36458" y="28841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不懂边界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36458" y="33413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会用工具，却不会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36458" y="37985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核验、升级与负责</a:t>
              </a:r>
            </a:p>
          </p:txBody>
        </p:sp>
      </p:grpSp>
      <p:sp>
        <p:nvSpPr>
          <p:cNvPr id="19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来源：用户提供研究文档｜谁在被淘汰</a:t>
            </a:r>
          </a:p>
        </p:txBody>
      </p:sp>
      <p:sp>
        <p:nvSpPr>
          <p:cNvPr id="21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d-title Placeholder Carrier"/>
          <p:cNvSpPr txBox="1"/>
          <p:nvPr>
            <p:ph type="title"/>
          </p:nvPr>
        </p:nvSpPr>
        <p:spPr>
          <a:xfrm>
            <a:off x="666750" y="739140"/>
            <a:ext cx="1157234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人的价值转向判断、责任、沟通与协作</a:t>
            </a:r>
          </a:p>
        </p:txBody>
      </p:sp>
      <p:sp>
        <p:nvSpPr>
          <p:cNvPr id="6" name="triad-lead Placeholder Carrier"/>
          <p:cNvSpPr txBox="1"/>
          <p:nvPr>
            <p:ph type="subTitle" idx="1"/>
          </p:nvPr>
        </p:nvSpPr>
        <p:spPr>
          <a:xfrm>
            <a:off x="669798" y="1717358"/>
            <a:ext cx="978522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组织里会同时存在三类角色，但人的位置不再一样。</a:t>
            </a:r>
          </a:p>
        </p:txBody>
      </p:sp>
      <p:sp>
        <p:nvSpPr>
          <p:cNvPr id="8" name="triad-body Placeholder Carrier"/>
          <p:cNvSpPr txBox="1"/>
          <p:nvPr>
            <p:ph type="body" idx="2"/>
          </p:nvPr>
        </p:nvSpPr>
        <p:spPr>
          <a:xfrm>
            <a:off x="673608" y="2846070"/>
            <a:ext cx="7293864" cy="1536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2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AI 直接替代：可标准化、错误成本可控的功能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AI 增强岗位：人仍需判断、签字、沟通与承担责任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因 AI 新增：工作流设计、治理合规、人机协同质检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5548" y="4917758"/>
            <a:ext cx="9916679" cy="616077"/>
            <a:chOff x="955548" y="4917758"/>
            <a:chExt cx="991667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955548" y="4917758"/>
              <a:ext cx="99166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你的升级方向：从“完成任务”转到“对结果负责”。</a:t>
              </a:r>
            </a:p>
          </p:txBody>
        </p:sp>
      </p:grpSp>
      <p:sp>
        <p:nvSpPr>
          <p:cNvPr id="12" name="footer Placeholder Carrier"/>
          <p:cNvSpPr txBox="1"/>
          <p:nvPr>
            <p:ph type="ftr" idx="3"/>
          </p:nvPr>
        </p:nvSpPr>
        <p:spPr>
          <a:xfrm>
            <a:off x="679704" y="64046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来源：用户提供研究文档｜谁在替代与谁在增值</a:t>
            </a:r>
          </a:p>
        </p:txBody>
      </p:sp>
      <p:sp>
        <p:nvSpPr>
          <p:cNvPr id="14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flow-title Placeholder Carrier"/>
          <p:cNvSpPr txBox="1"/>
          <p:nvPr>
            <p:ph type="title"/>
          </p:nvPr>
        </p:nvSpPr>
        <p:spPr>
          <a:xfrm>
            <a:off x="3219450" y="815340"/>
            <a:ext cx="5894832" cy="1657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5700"/>
              </a:lnSpc>
            </a:pP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真正的升级，是把 AI</a:t>
            </a:r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接入主任务链</a:t>
            </a:r>
          </a:p>
        </p:txBody>
      </p:sp>
      <p:sp>
        <p:nvSpPr>
          <p:cNvPr id="6" name="workflow-lead Placeholder Carrier"/>
          <p:cNvSpPr txBox="1"/>
          <p:nvPr>
            <p:ph type="subTitle" idx="1"/>
          </p:nvPr>
        </p:nvSpPr>
        <p:spPr>
          <a:xfrm>
            <a:off x="3222498" y="1869758"/>
            <a:ext cx="596874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会用工具，不等于能交付结果。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226308" y="2922270"/>
            <a:ext cx="5388559" cy="1174242"/>
            <a:chOff x="3226308" y="2922270"/>
            <a:chExt cx="5388559" cy="1174242"/>
          </a:xfrm>
        </p:grpSpPr>
        <p:sp>
          <p:nvSpPr>
            <p:cNvPr id="8" name="TextBox 8"/>
            <p:cNvSpPr txBox="1"/>
            <p:nvPr/>
          </p:nvSpPr>
          <p:spPr>
            <a:xfrm>
              <a:off x="3226308" y="2922270"/>
              <a:ext cx="27041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让 AI 先做初稿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45808" y="29222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人做复核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6308" y="362712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异常升级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45808" y="362712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结果表达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4598" y="1298258"/>
            <a:ext cx="1292162" cy="2825877"/>
            <a:chOff x="974598" y="1298258"/>
            <a:chExt cx="1292162" cy="2825877"/>
          </a:xfrm>
        </p:grpSpPr>
        <p:sp>
          <p:nvSpPr>
            <p:cNvPr id="13" name="TextBox 13"/>
            <p:cNvSpPr txBox="1"/>
            <p:nvPr/>
          </p:nvSpPr>
          <p:spPr>
            <a:xfrm>
              <a:off x="974598" y="1298258"/>
              <a:ext cx="1292162" cy="28258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初稿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走向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主任务</a:t>
              </a:r>
              <a:r>
                <a:rPr lang="zh-CN" sz="315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链。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226308" y="4598670"/>
            <a:ext cx="8747760" cy="469392"/>
            <a:chOff x="3226308" y="4598670"/>
            <a:chExt cx="8747760" cy="469392"/>
          </a:xfrm>
        </p:grpSpPr>
        <p:sp>
          <p:nvSpPr>
            <p:cNvPr id="15" name="TextBox 15"/>
            <p:cNvSpPr txBox="1"/>
            <p:nvPr/>
          </p:nvSpPr>
          <p:spPr>
            <a:xfrm>
              <a:off x="3226308" y="459867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你要能说清：业务场景、工具、流程变化、结果与复核方式。</a:t>
              </a:r>
            </a:p>
          </p:txBody>
        </p:sp>
      </p:grpSp>
      <p:sp>
        <p:nvSpPr>
          <p:cNvPr id="17" name="footer Placeholder Carrier"/>
          <p:cNvSpPr txBox="1"/>
          <p:nvPr>
            <p:ph type="ftr" idx="2"/>
          </p:nvPr>
        </p:nvSpPr>
        <p:spPr>
          <a:xfrm>
            <a:off x="679704" y="6404610"/>
            <a:ext cx="27584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来源：用户提供研究文档｜个人路线图</a:t>
            </a:r>
          </a:p>
        </p:txBody>
      </p:sp>
      <p:sp>
        <p:nvSpPr>
          <p:cNvPr id="19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-title Placeholder Carrier"/>
          <p:cNvSpPr txBox="1"/>
          <p:nvPr>
            <p:ph type="title"/>
          </p:nvPr>
        </p:nvSpPr>
        <p:spPr>
          <a:xfrm>
            <a:off x="666750" y="1120140"/>
            <a:ext cx="12547824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三个月，做出第一个可验证的 AI 工作流</a:t>
            </a:r>
          </a:p>
        </p:txBody>
      </p:sp>
      <p:sp>
        <p:nvSpPr>
          <p:cNvPr id="6" name="action-lead Placeholder Carrier"/>
          <p:cNvSpPr txBox="1"/>
          <p:nvPr>
            <p:ph type="subTitle" idx="1"/>
          </p:nvPr>
        </p:nvSpPr>
        <p:spPr>
          <a:xfrm>
            <a:off x="669798" y="1869758"/>
            <a:ext cx="106757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不要只收藏课程；做出一个“效率前后对比”的项目证据。</a:t>
            </a:r>
          </a:p>
        </p:txBody>
      </p:sp>
      <p:sp>
        <p:nvSpPr>
          <p:cNvPr id="8" name="action-body Placeholder Carrier"/>
          <p:cNvSpPr txBox="1"/>
          <p:nvPr>
            <p:ph type="body" idx="2"/>
          </p:nvPr>
        </p:nvSpPr>
        <p:spPr>
          <a:xfrm>
            <a:off x="673608" y="3036570"/>
            <a:ext cx="6028944" cy="2069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4200"/>
              </a:lnSpc>
              <a:buNone/>
            </a:pP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01 找出每周最耗时的三个重复任务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02 用 AI 试做初稿，并保留人类复核点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03 记录错误、异常与升级路径</a:t>
            </a:r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04 用“场景—工具—流程—结果—复核”写进简历</a:t>
            </a:r>
          </a:p>
        </p:txBody>
      </p:sp>
      <p:sp>
        <p:nvSpPr>
          <p:cNvPr id="10" name="footer Placeholder Carrier"/>
          <p:cNvSpPr txBox="1"/>
          <p:nvPr>
            <p:ph type="ftr" idx="3"/>
          </p:nvPr>
        </p:nvSpPr>
        <p:spPr>
          <a:xfrm>
            <a:off x="679704" y="64046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来源：用户提供研究文档｜给普通求职者的建议</a:t>
            </a:r>
          </a:p>
        </p:txBody>
      </p:sp>
      <p:sp>
        <p:nvSpPr>
          <p:cNvPr id="12" name="page-number Placeholder Carrier"/>
          <p:cNvSpPr txBox="1"/>
          <p:nvPr>
            <p:ph type="sldNum" idx="4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A4782586-5FA0-4964-AF93-48DCB261D120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</a:t>
            </a:fld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nager-title Placeholder Carrier"/>
          <p:cNvSpPr txBox="1"/>
          <p:nvPr>
            <p:ph type="title"/>
          </p:nvPr>
        </p:nvSpPr>
        <p:spPr>
          <a:xfrm>
            <a:off x="971550" y="948690"/>
            <a:ext cx="9536887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管理者应先重写流程，再谈编制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73608" y="2693670"/>
            <a:ext cx="10015728" cy="2774442"/>
            <a:chOff x="673608" y="2693670"/>
            <a:chExt cx="10015728" cy="2774442"/>
          </a:xfrm>
        </p:grpSpPr>
        <p:sp>
          <p:nvSpPr>
            <p:cNvPr id="7" name="TextBox 7"/>
            <p:cNvSpPr txBox="1"/>
            <p:nvPr/>
          </p:nvSpPr>
          <p:spPr>
            <a:xfrm>
              <a:off x="673608" y="26936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任务盘点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3608" y="315087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按频率、风险、价值分层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64808" y="269367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人类签核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4808" y="315087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异常处理、升级路径、责任人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45415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保留学习性任务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3608" y="499872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避免未来中层人才断档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64808" y="4541520"/>
              <a:ext cx="17690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治理留痕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4808" y="4998720"/>
              <a:ext cx="41550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HR、绩效、监控场景可审计</a:t>
              </a:r>
            </a:p>
          </p:txBody>
        </p:sp>
      </p:grpSp>
      <p:sp>
        <p:nvSpPr>
          <p:cNvPr id="16" name="manager-lead Placeholder Carrier"/>
          <p:cNvSpPr txBox="1"/>
          <p:nvPr>
            <p:ph type="subTitle" idx="1"/>
          </p:nvPr>
        </p:nvSpPr>
        <p:spPr>
          <a:xfrm>
            <a:off x="669798" y="5527358"/>
            <a:ext cx="95531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“用了 AI”不会减轻责任，反而会抬高治理门槛。</a:t>
            </a:r>
          </a:p>
        </p:txBody>
      </p:sp>
      <p:sp>
        <p:nvSpPr>
          <p:cNvPr id="18" name="footer Placeholder Carrier"/>
          <p:cNvSpPr txBox="1"/>
          <p:nvPr>
            <p:ph type="ftr" idx="2"/>
          </p:nvPr>
        </p:nvSpPr>
        <p:spPr>
          <a:xfrm>
            <a:off x="679704" y="640461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来源：用户提供研究文档｜企业、管理层与个人应对</a:t>
            </a:r>
          </a:p>
        </p:txBody>
      </p:sp>
      <p:sp>
        <p:nvSpPr>
          <p:cNvPr id="20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A4782586-5FA0-4964-AF93-48DCB261D120}" type="slidenum">
              <a:rPr lang="en-US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</a:t>
            </a:fld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678180" y="1228725"/>
            <a:ext cx="1482623" cy="293370"/>
            <a:chOff x="678180" y="1228725"/>
            <a:chExt cx="1482623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678180" y="1228725"/>
              <a:ext cx="14826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8F8F5"/>
                  </a:solidFill>
                  <a:latin typeface="+mn-lt"/>
                  <a:ea typeface="+mn-ea"/>
                  <a:cs typeface="+mn-cs"/>
                </a:rPr>
                <a:t>THE TAKEAWAY</a:t>
              </a:r>
            </a:p>
          </p:txBody>
        </p:sp>
      </p:grpSp>
      <p:sp>
        <p:nvSpPr>
          <p:cNvPr id="7" name="closing-title Placeholder Carrier"/>
          <p:cNvSpPr txBox="1"/>
          <p:nvPr>
            <p:ph type="title"/>
          </p:nvPr>
        </p:nvSpPr>
        <p:spPr>
          <a:xfrm>
            <a:off x="666750" y="1817370"/>
            <a:ext cx="8999220" cy="2800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9300"/>
              </a:lnSpc>
            </a:pPr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被替代的是</a:t>
            </a:r>
            <a:r>
              <a:rPr lang="zh-CN" sz="8400" b="1" dirty="0">
                <a:solidFill>
                  <a:srgbClr val="F8F8F5"/>
                </a:solidFill>
                <a:latin typeface="+mj-lt"/>
                <a:ea typeface="+mj-ea"/>
                <a:cs typeface="+mj-cs"/>
              </a:rPr>
              <a:t>低判断密度任务。</a:t>
            </a:r>
          </a:p>
        </p:txBody>
      </p:sp>
      <p:sp>
        <p:nvSpPr>
          <p:cNvPr id="9" name="closing-subtitle Placeholder Carrier"/>
          <p:cNvSpPr txBox="1"/>
          <p:nvPr>
            <p:ph type="subTitle" idx="1"/>
          </p:nvPr>
        </p:nvSpPr>
        <p:spPr>
          <a:xfrm>
            <a:off x="669798" y="4879658"/>
            <a:ext cx="1457142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None/>
            </a:pPr>
            <a:r>
              <a:rPr lang="zh-CN" sz="315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越早把 AI 接入主任务链，越能站到复核、决策、客户与组织价值的一侧。</a:t>
            </a:r>
          </a:p>
        </p:txBody>
      </p:sp>
      <p:sp>
        <p:nvSpPr>
          <p:cNvPr id="11" name="closing-footer Placeholder Carrier"/>
          <p:cNvSpPr txBox="1"/>
          <p:nvPr>
            <p:ph type="ftr" idx="2"/>
          </p:nvPr>
        </p:nvSpPr>
        <p:spPr>
          <a:xfrm>
            <a:off x="679704" y="64046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从自己的一项高频任务开始。</a:t>
            </a:r>
          </a:p>
        </p:txBody>
      </p:sp>
      <p:sp>
        <p:nvSpPr>
          <p:cNvPr id="13" name="page-number Placeholder Carrier"/>
          <p:cNvSpPr txBox="1"/>
          <p:nvPr>
            <p:ph type="sldNum" idx="3"/>
          </p:nvPr>
        </p:nvSpPr>
        <p:spPr>
          <a:xfrm>
            <a:off x="11119104" y="6404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fld id="{A4782586-5FA0-4964-AF93-48DCB261D120}" type="slidenum">
              <a:rPr lang="en-US" sz="1200" dirty="0">
                <a:solidFill>
                  <a:srgbClr val="F8F8F5"/>
                </a:solidFill>
                <a:latin typeface="+mn-lt"/>
                <a:ea typeface="+mn-ea"/>
                <a:cs typeface="+mn-cs"/>
              </a:rPr>
              <a:t>12</a:t>
            </a:fld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71717"/>
      </a:dk1>
      <a:lt1>
        <a:srgbClr val="F8F8F5"/>
      </a:lt1>
      <a:dk2>
        <a:srgbClr val="60615F"/>
      </a:dk2>
      <a:lt2>
        <a:srgbClr val="E9E9E3"/>
      </a:lt2>
      <a:accent1>
        <a:srgbClr val="111111"/>
      </a:accent1>
      <a:accent2>
        <a:srgbClr val="E2261A"/>
      </a:accent2>
      <a:accent3>
        <a:srgbClr val="0057FF"/>
      </a:accent3>
      <a:accent4>
        <a:srgbClr val="B8B8B2"/>
      </a:accent4>
      <a:accent5>
        <a:srgbClr val="4BACC6"/>
      </a:accent5>
      <a:accent6>
        <a:srgbClr val="F79646"/>
      </a:accent6>
      <a:hlink>
        <a:srgbClr val="E2261A"/>
      </a:hlink>
      <a:folHlink>
        <a:srgbClr val="0057FF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71717"/>
      </a:dk1>
      <a:lt1>
        <a:srgbClr val="F8F8F5"/>
      </a:lt1>
      <a:dk2>
        <a:srgbClr val="60615F"/>
      </a:dk2>
      <a:lt2>
        <a:srgbClr val="E9E9E3"/>
      </a:lt2>
      <a:accent1>
        <a:srgbClr val="111111"/>
      </a:accent1>
      <a:accent2>
        <a:srgbClr val="E2261A"/>
      </a:accent2>
      <a:accent3>
        <a:srgbClr val="0057FF"/>
      </a:accent3>
      <a:accent4>
        <a:srgbClr val="B8B8B2"/>
      </a:accent4>
      <a:accent5>
        <a:srgbClr val="4BACC6"/>
      </a:accent5>
      <a:accent6>
        <a:srgbClr val="F79646"/>
      </a:accent6>
      <a:hlink>
        <a:srgbClr val="E2261A"/>
      </a:hlink>
      <a:folHlink>
        <a:srgbClr val="0057FF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2026-07-26T12:38:32Z</dcterms:created>
  <dcterms:modified xsi:type="dcterms:W3CDTF">2026-07-26T12:38:32Z</dcterms:modified>
  <cp:category/>
  <cp:contentStatus/>
</cp:coreProperties>
</file>