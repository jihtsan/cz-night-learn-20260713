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  <Relationship Id="rId19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开场要先把问题从“AI 会不会取代所有人”改成“哪些任务正在被重新定价”。本节课的重点是找到个人可以升级的位置。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结论是 AI 首先重组任务，而不是瞬间清空岗位。原文指出，重复、可数字化、可验收的任务先被压缩，初级岗位入口和技能门槛随后变化。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录入、汇总、改写、检索、分流和初稿，是当前最先被压缩的六类任务。它们共同特点是标准化程度高，且能让 AI 先产出可用版本。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岗位名称常常还在，但“只做初稿”的价值会先变薄。人的工作会更早转向复核、例外处理、客户沟通和最终责任。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这条链说明为什么入门岗位最先受影响：AI 接手模板化任务后，岗位原本的训练价值被抽空，留岗者的能力要求随之提前。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初级白领、行政支持、客服、初级内容和报表整合更早感到入口收缩。重点不是制造焦虑，而是理解门槛提前出现的机制。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最脆弱的不是某个年龄段，而是任务结构单薄、组织角色脆弱、又不了解 AI 边界的人。会用工具但不会核验与升级，也不足以形成护城河。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组织会同时有 AI 直接替代、AI 增强和因 AI 新增的角色。个人更应向判断、责任、沟通、协作与工作流设计迁移。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真正的升级不是写“会用 AI”，而是展示一条工作流：AI 初稿、人类复核、异常升级、结果表达。这样才能证明你对结果负责。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从一个高频任务开始，三个月做出可验证的效率前后对比。记录过程中的错误、异常和复核方式，这些就是项目证据。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管理者不应把采购工具或减少编制当作转型成果。应先做任务分层、设置签核与治理，并保留学习性任务，避免人才管道断档。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收束结论：被替代的是低判断密度任务，不是人的全部价值。越早把 AI 接入主任务链，越能把时间移向复核、决策、客户与组织价值。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 Pla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blue-plane Layout"/>
          <p:cNvSpPr/>
          <p:nvPr/>
        </p:nvSpPr>
        <p:spPr>
          <a:xfrm>
            <a:off x="0" y="0"/>
            <a:ext cx="264795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3" name="cover-red-rule Layout"/>
          <p:cNvSpPr/>
          <p:nvPr/>
        </p:nvSpPr>
        <p:spPr>
          <a:xfrm>
            <a:off x="3333750" y="819150"/>
            <a:ext cx="1104900" cy="11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" name="cover-title Placeholder"/>
          <p:cNvSpPr>
            <a:spLocks noGrp="1"/>
          </p:cNvSpPr>
          <p:nvPr>
            <p:ph type="title"/>
          </p:nvPr>
        </p:nvSpPr>
        <p:spPr>
          <a:xfrm>
            <a:off x="3333750" y="1809750"/>
            <a:ext cx="7905750" cy="2476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>
            <a:lvl1pPr>
              <a:defRPr sz="8400"/>
            </a:lvl1pPr>
          </a:lstStyle>
          <a:p>
            <a:r>
              <a:rPr lang="zh-CN" sz="84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cover-subtitle Placeholder"/>
          <p:cNvSpPr>
            <a:spLocks noGrp="1"/>
          </p:cNvSpPr>
          <p:nvPr>
            <p:ph type="subTitle" idx="1"/>
          </p:nvPr>
        </p:nvSpPr>
        <p:spPr>
          <a:xfrm>
            <a:off x="3371850" y="4810125"/>
            <a:ext cx="6858000" cy="666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150"/>
            </a:lvl1pPr>
          </a:lstStyle>
          <a:p>
            <a:pPr>
              <a:buNone/>
            </a:pPr>
            <a:r>
              <a:rPr lang="zh-CN" sz="31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en-US"/>
          </a:p>
        </p:txBody>
      </p:sp>
      <p:sp>
        <p:nvSpPr>
          <p:cNvPr id="6" name="cover-footer Placeholder"/>
          <p:cNvSpPr>
            <a:spLocks noGrp="1"/>
          </p:cNvSpPr>
          <p:nvPr>
            <p:ph type="ftr" idx="2"/>
          </p:nvPr>
        </p:nvSpPr>
        <p:spPr>
          <a:xfrm>
            <a:off x="3352800" y="6267450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Footer</a:t>
            </a:r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1" sldNum="0"/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Statement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-top-rule Layout"/>
          <p:cNvSpPr/>
          <p:nvPr/>
        </p:nvSpPr>
        <p:spPr>
          <a:xfrm>
            <a:off x="685800" y="552450"/>
            <a:ext cx="108204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statement-side-rule Layout"/>
          <p:cNvSpPr/>
          <p:nvPr/>
        </p:nvSpPr>
        <p:spPr>
          <a:xfrm>
            <a:off x="685800" y="1200150"/>
            <a:ext cx="114300" cy="4381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" name="statement-title Placeholder"/>
          <p:cNvSpPr>
            <a:spLocks noGrp="1"/>
          </p:cNvSpPr>
          <p:nvPr>
            <p:ph type="title"/>
          </p:nvPr>
        </p:nvSpPr>
        <p:spPr>
          <a:xfrm>
            <a:off x="1219200" y="1238250"/>
            <a:ext cx="9525000" cy="152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4800"/>
            </a:lvl1pPr>
          </a:lstStyle>
          <a:p>
            <a:r>
              <a:rPr lang="zh-CN" sz="4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statement-lead Placeholder"/>
          <p:cNvSpPr>
            <a:spLocks noGrp="1"/>
          </p:cNvSpPr>
          <p:nvPr>
            <p:ph type="subTitle" idx="1"/>
          </p:nvPr>
        </p:nvSpPr>
        <p:spPr>
          <a:xfrm>
            <a:off x="1219200" y="2971800"/>
            <a:ext cx="9810750" cy="666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150"/>
            </a:lvl1pPr>
          </a:lstStyle>
          <a:p>
            <a:pPr>
              <a:buNone/>
            </a:pPr>
            <a:r>
              <a:rPr lang="zh-CN" sz="31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en-US"/>
          </a:p>
        </p:txBody>
      </p:sp>
      <p:sp>
        <p:nvSpPr>
          <p:cNvPr id="6" name="statement-points Placeholder"/>
          <p:cNvSpPr>
            <a:spLocks noGrp="1"/>
          </p:cNvSpPr>
          <p:nvPr>
            <p:ph type="body" idx="2"/>
          </p:nvPr>
        </p:nvSpPr>
        <p:spPr>
          <a:xfrm>
            <a:off x="1219200" y="4114800"/>
            <a:ext cx="8953500" cy="142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>
            <a:lvl1pPr>
              <a:defRPr sz="2400"/>
            </a:lvl1pPr>
          </a:lstStyle>
          <a:p>
            <a:pPr>
              <a:buNone/>
            </a:pP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footer Placeholder"/>
          <p:cNvSpPr>
            <a:spLocks noGrp="1"/>
          </p:cNvSpPr>
          <p:nvPr>
            <p:ph type="ftr" idx="3"/>
          </p:nvPr>
        </p:nvSpPr>
        <p:spPr>
          <a:xfrm>
            <a:off x="685800" y="638175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Footer</a:t>
            </a:r>
            <a:endParaRPr lang="en-US"/>
          </a:p>
        </p:txBody>
      </p:sp>
      <p:sp>
        <p:nvSpPr>
          <p:cNvPr id="8" name="page-number Placeholder"/>
          <p:cNvSpPr>
            <a:spLocks noGrp="1"/>
          </p:cNvSpPr>
          <p:nvPr>
            <p:ph type="sldNum" idx="4"/>
          </p:nvPr>
        </p:nvSpPr>
        <p:spPr>
          <a:xfrm>
            <a:off x="10858500" y="638175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fld id="{6CE21B2B-220D-47C2-9CBB-6D8D453EAE50}" type="slidenum">
              <a: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1" sldNum="1"/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Task 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sk-blue-band Layout"/>
          <p:cNvSpPr/>
          <p:nvPr/>
        </p:nvSpPr>
        <p:spPr>
          <a:xfrm>
            <a:off x="685800" y="552450"/>
            <a:ext cx="2038350" cy="5753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3" name="task-grid-v Layout"/>
          <p:cNvSpPr/>
          <p:nvPr/>
        </p:nvSpPr>
        <p:spPr>
          <a:xfrm>
            <a:off x="5810250" y="2476500"/>
            <a:ext cx="19050" cy="31432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4" name="task-grid-h Layout"/>
          <p:cNvSpPr/>
          <p:nvPr/>
        </p:nvSpPr>
        <p:spPr>
          <a:xfrm>
            <a:off x="3143250" y="4048125"/>
            <a:ext cx="76962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5" name="task-title Placeholder"/>
          <p:cNvSpPr>
            <a:spLocks noGrp="1"/>
          </p:cNvSpPr>
          <p:nvPr>
            <p:ph type="title"/>
          </p:nvPr>
        </p:nvSpPr>
        <p:spPr>
          <a:xfrm>
            <a:off x="3143250" y="685800"/>
            <a:ext cx="7620000" cy="1238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4800"/>
            </a:lvl1pPr>
          </a:lstStyle>
          <a:p>
            <a:r>
              <a:rPr lang="zh-CN" sz="4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6" name="task-lead Placeholder"/>
          <p:cNvSpPr>
            <a:spLocks noGrp="1"/>
          </p:cNvSpPr>
          <p:nvPr>
            <p:ph type="subTitle" idx="1"/>
          </p:nvPr>
        </p:nvSpPr>
        <p:spPr>
          <a:xfrm>
            <a:off x="3143250" y="1714500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150"/>
            </a:lvl1pPr>
          </a:lstStyle>
          <a:p>
            <a:pPr>
              <a:buNone/>
            </a:pPr>
            <a:r>
              <a:rPr lang="zh-CN" sz="31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en-US"/>
          </a:p>
        </p:txBody>
      </p:sp>
      <p:sp>
        <p:nvSpPr>
          <p:cNvPr id="7" name="footer Placeholder"/>
          <p:cNvSpPr>
            <a:spLocks noGrp="1"/>
          </p:cNvSpPr>
          <p:nvPr>
            <p:ph type="ftr" idx="2"/>
          </p:nvPr>
        </p:nvSpPr>
        <p:spPr>
          <a:xfrm>
            <a:off x="685800" y="638175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Footer</a:t>
            </a:r>
            <a:endParaRPr lang="en-US"/>
          </a:p>
        </p:txBody>
      </p:sp>
      <p:sp>
        <p:nvSpPr>
          <p:cNvPr id="8" name="page-number Placeholder"/>
          <p:cNvSpPr>
            <a:spLocks noGrp="1"/>
          </p:cNvSpPr>
          <p:nvPr>
            <p:ph type="sldNum" idx="3"/>
          </p:nvPr>
        </p:nvSpPr>
        <p:spPr>
          <a:xfrm>
            <a:off x="10858500" y="638175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fld id="{56660C05-804D-4A94-A920-2345A8C92AF4}" type="slidenum">
              <a: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1" sldNum="1"/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Value Sh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alue-red-block Layout"/>
          <p:cNvSpPr/>
          <p:nvPr/>
        </p:nvSpPr>
        <p:spPr>
          <a:xfrm>
            <a:off x="685800" y="685800"/>
            <a:ext cx="3200400" cy="4953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value-rule Layout"/>
          <p:cNvSpPr/>
          <p:nvPr/>
        </p:nvSpPr>
        <p:spPr>
          <a:xfrm>
            <a:off x="4457700" y="1752600"/>
            <a:ext cx="638175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4" name="value-title Placeholder"/>
          <p:cNvSpPr>
            <a:spLocks noGrp="1"/>
          </p:cNvSpPr>
          <p:nvPr>
            <p:ph type="title"/>
          </p:nvPr>
        </p:nvSpPr>
        <p:spPr>
          <a:xfrm>
            <a:off x="4457700" y="723900"/>
            <a:ext cx="6667500" cy="952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4800"/>
            </a:lvl1pPr>
          </a:lstStyle>
          <a:p>
            <a:r>
              <a:rPr lang="zh-CN" sz="4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value-body Placeholder"/>
          <p:cNvSpPr>
            <a:spLocks noGrp="1"/>
          </p:cNvSpPr>
          <p:nvPr>
            <p:ph type="body" idx="1"/>
          </p:nvPr>
        </p:nvSpPr>
        <p:spPr>
          <a:xfrm>
            <a:off x="4457700" y="2266950"/>
            <a:ext cx="6286500" cy="285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>
            <a:lvl1pPr>
              <a:defRPr sz="2400"/>
            </a:lvl1pPr>
          </a:lstStyle>
          <a:p>
            <a:pPr>
              <a:buNone/>
            </a:pP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value-takeaway Placeholder"/>
          <p:cNvSpPr>
            <a:spLocks noGrp="1"/>
          </p:cNvSpPr>
          <p:nvPr>
            <p:ph type="subTitle" idx="2"/>
          </p:nvPr>
        </p:nvSpPr>
        <p:spPr>
          <a:xfrm>
            <a:off x="4457700" y="5334000"/>
            <a:ext cx="6381750" cy="590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150"/>
            </a:lvl1pPr>
          </a:lstStyle>
          <a:p>
            <a:pPr>
              <a:buNone/>
            </a:pPr>
            <a:r>
              <a:rPr lang="zh-CN" sz="31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en-US"/>
          </a:p>
        </p:txBody>
      </p:sp>
      <p:sp>
        <p:nvSpPr>
          <p:cNvPr id="7" name="footer Placeholder"/>
          <p:cNvSpPr>
            <a:spLocks noGrp="1"/>
          </p:cNvSpPr>
          <p:nvPr>
            <p:ph type="ftr" idx="3"/>
          </p:nvPr>
        </p:nvSpPr>
        <p:spPr>
          <a:xfrm>
            <a:off x="685800" y="638175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Footer</a:t>
            </a:r>
            <a:endParaRPr lang="en-US"/>
          </a:p>
        </p:txBody>
      </p:sp>
      <p:sp>
        <p:nvSpPr>
          <p:cNvPr id="8" name="page-number Placeholder"/>
          <p:cNvSpPr>
            <a:spLocks noGrp="1"/>
          </p:cNvSpPr>
          <p:nvPr>
            <p:ph type="sldNum" idx="4"/>
          </p:nvPr>
        </p:nvSpPr>
        <p:spPr>
          <a:xfrm>
            <a:off x="10858500" y="638175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fld id="{46499DE7-1982-4848-A67C-7482EF0B466E}" type="slidenum">
              <a: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1" sldNum="1"/>
</p:sldLayout>
</file>

<file path=ppt/slideLayouts/slideLayout16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hain 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in-blue-band Layout"/>
          <p:cNvSpPr/>
          <p:nvPr/>
        </p:nvSpPr>
        <p:spPr>
          <a:xfrm>
            <a:off x="0" y="0"/>
            <a:ext cx="12192000" cy="895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3" name="chain-red-rule Layout"/>
          <p:cNvSpPr/>
          <p:nvPr/>
        </p:nvSpPr>
        <p:spPr>
          <a:xfrm>
            <a:off x="685800" y="1885950"/>
            <a:ext cx="108204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" name="chain-title Placeholder"/>
          <p:cNvSpPr>
            <a:spLocks noGrp="1"/>
          </p:cNvSpPr>
          <p:nvPr>
            <p:ph type="title"/>
          </p:nvPr>
        </p:nvSpPr>
        <p:spPr>
          <a:xfrm>
            <a:off x="685800" y="1066800"/>
            <a:ext cx="10287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4800"/>
            </a:lvl1pPr>
          </a:lstStyle>
          <a:p>
            <a:r>
              <a:rPr lang="zh-CN" sz="4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chain-figure Placeholder"/>
          <p:cNvSpPr>
            <a:spLocks noGrp="1"/>
          </p:cNvSpPr>
          <p:nvPr>
            <p:ph type="pic" idx="1"/>
          </p:nvPr>
        </p:nvSpPr>
        <p:spPr>
          <a:xfrm>
            <a:off x="3009900" y="2305050"/>
            <a:ext cx="6172200" cy="14287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t>Click to add picture</a:t>
            </a:r>
            <a:endParaRPr lang="en-US"/>
          </a:p>
        </p:txBody>
      </p:sp>
      <p:sp>
        <p:nvSpPr>
          <p:cNvPr id="6" name="chain-body Placeholder"/>
          <p:cNvSpPr>
            <a:spLocks noGrp="1"/>
          </p:cNvSpPr>
          <p:nvPr>
            <p:ph type="body" idx="2"/>
          </p:nvPr>
        </p:nvSpPr>
        <p:spPr>
          <a:xfrm>
            <a:off x="685800" y="4457700"/>
            <a:ext cx="10668000" cy="1162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>
            <a:lvl1pPr>
              <a:defRPr sz="2400"/>
            </a:lvl1pPr>
          </a:lstStyle>
          <a:p>
            <a:pPr>
              <a:buNone/>
            </a:pP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footer Placeholder"/>
          <p:cNvSpPr>
            <a:spLocks noGrp="1"/>
          </p:cNvSpPr>
          <p:nvPr>
            <p:ph type="ftr" idx="3"/>
          </p:nvPr>
        </p:nvSpPr>
        <p:spPr>
          <a:xfrm>
            <a:off x="685800" y="638175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Footer</a:t>
            </a:r>
            <a:endParaRPr lang="en-US"/>
          </a:p>
        </p:txBody>
      </p:sp>
      <p:sp>
        <p:nvSpPr>
          <p:cNvPr id="8" name="page-number Placeholder"/>
          <p:cNvSpPr>
            <a:spLocks noGrp="1"/>
          </p:cNvSpPr>
          <p:nvPr>
            <p:ph type="sldNum" idx="4"/>
          </p:nvPr>
        </p:nvSpPr>
        <p:spPr>
          <a:xfrm>
            <a:off x="10858500" y="638175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fld id="{83797364-CE04-4425-96BF-E764CDBE803F}" type="slidenum">
              <a: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1" sldNum="1"/>
</p:sldLayout>
</file>

<file path=ppt/slideLayouts/slideLayout17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Entry Press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try-red-plane Layout"/>
          <p:cNvSpPr/>
          <p:nvPr/>
        </p:nvSpPr>
        <p:spPr>
          <a:xfrm>
            <a:off x="8210550" y="0"/>
            <a:ext cx="39814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entry-rule Layout"/>
          <p:cNvSpPr/>
          <p:nvPr/>
        </p:nvSpPr>
        <p:spPr>
          <a:xfrm>
            <a:off x="685800" y="2647950"/>
            <a:ext cx="6572250" cy="76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4" name="entry-title Placeholder"/>
          <p:cNvSpPr>
            <a:spLocks noGrp="1"/>
          </p:cNvSpPr>
          <p:nvPr>
            <p:ph type="title"/>
          </p:nvPr>
        </p:nvSpPr>
        <p:spPr>
          <a:xfrm>
            <a:off x="685800" y="1238250"/>
            <a:ext cx="6858000" cy="142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>
            <a:lvl1pPr>
              <a:defRPr sz="4800"/>
            </a:lvl1pPr>
          </a:lstStyle>
          <a:p>
            <a:r>
              <a:rPr lang="zh-CN" sz="4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entry-body Placeholder"/>
          <p:cNvSpPr>
            <a:spLocks noGrp="1"/>
          </p:cNvSpPr>
          <p:nvPr>
            <p:ph type="body" idx="1"/>
          </p:nvPr>
        </p:nvSpPr>
        <p:spPr>
          <a:xfrm>
            <a:off x="685800" y="3219450"/>
            <a:ext cx="6667500" cy="2000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>
            <a:lvl1pPr>
              <a:defRPr sz="2400"/>
            </a:lvl1pPr>
          </a:lstStyle>
          <a:p>
            <a:pPr>
              <a:buNone/>
            </a:pP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footer Placeholder"/>
          <p:cNvSpPr>
            <a:spLocks noGrp="1"/>
          </p:cNvSpPr>
          <p:nvPr>
            <p:ph type="ftr" idx="2"/>
          </p:nvPr>
        </p:nvSpPr>
        <p:spPr>
          <a:xfrm>
            <a:off x="685800" y="638175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Footer</a:t>
            </a:r>
            <a:endParaRPr lang="en-US"/>
          </a:p>
        </p:txBody>
      </p:sp>
      <p:sp>
        <p:nvSpPr>
          <p:cNvPr id="7" name="page-number Placeholder"/>
          <p:cNvSpPr>
            <a:spLocks noGrp="1"/>
          </p:cNvSpPr>
          <p:nvPr>
            <p:ph type="sldNum" idx="3"/>
          </p:nvPr>
        </p:nvSpPr>
        <p:spPr>
          <a:xfrm>
            <a:off x="10858500" y="638175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fld id="{CA3C2210-3DEE-4B2F-84C6-16F6FC7F461C}" type="slidenum">
              <a:rPr lang="en-US" sz="1200" dirty="0">
                <a:solidFill>
                  <a:srgbClr val="F8F8F5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1" sldNum="1"/>
</p:sldLayout>
</file>

<file path=ppt/slideLayouts/slideLayout18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Risk Prof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sk-top Layout"/>
          <p:cNvSpPr/>
          <p:nvPr/>
        </p:nvSpPr>
        <p:spPr>
          <a:xfrm>
            <a:off x="685800" y="552450"/>
            <a:ext cx="108204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risk-v1 Layout"/>
          <p:cNvSpPr/>
          <p:nvPr/>
        </p:nvSpPr>
        <p:spPr>
          <a:xfrm>
            <a:off x="4286250" y="2266950"/>
            <a:ext cx="19050" cy="31432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4" name="risk-v2 Layout"/>
          <p:cNvSpPr/>
          <p:nvPr/>
        </p:nvSpPr>
        <p:spPr>
          <a:xfrm>
            <a:off x="7905750" y="2266950"/>
            <a:ext cx="19050" cy="31432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5" name="risk-title Placeholder"/>
          <p:cNvSpPr>
            <a:spLocks noGrp="1"/>
          </p:cNvSpPr>
          <p:nvPr>
            <p:ph type="title"/>
          </p:nvPr>
        </p:nvSpPr>
        <p:spPr>
          <a:xfrm>
            <a:off x="685800" y="952500"/>
            <a:ext cx="10287000" cy="857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4800"/>
            </a:lvl1pPr>
          </a:lstStyle>
          <a:p>
            <a:r>
              <a:rPr lang="zh-CN" sz="4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6" name="risk-lead Placeholder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981075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150"/>
            </a:lvl1pPr>
          </a:lstStyle>
          <a:p>
            <a:pPr>
              <a:buNone/>
            </a:pPr>
            <a:r>
              <a:rPr lang="zh-CN" sz="31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en-US"/>
          </a:p>
        </p:txBody>
      </p:sp>
      <p:sp>
        <p:nvSpPr>
          <p:cNvPr id="7" name="footer Placeholder"/>
          <p:cNvSpPr>
            <a:spLocks noGrp="1"/>
          </p:cNvSpPr>
          <p:nvPr>
            <p:ph type="ftr" idx="2"/>
          </p:nvPr>
        </p:nvSpPr>
        <p:spPr>
          <a:xfrm>
            <a:off x="685800" y="638175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Footer</a:t>
            </a:r>
            <a:endParaRPr lang="en-US"/>
          </a:p>
        </p:txBody>
      </p:sp>
      <p:sp>
        <p:nvSpPr>
          <p:cNvPr id="8" name="page-number Placeholder"/>
          <p:cNvSpPr>
            <a:spLocks noGrp="1"/>
          </p:cNvSpPr>
          <p:nvPr>
            <p:ph type="sldNum" idx="3"/>
          </p:nvPr>
        </p:nvSpPr>
        <p:spPr>
          <a:xfrm>
            <a:off x="10858500" y="638175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fld id="{51CDDF1A-45DF-4177-B497-93565B755B95}" type="slidenum">
              <a: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1" sldNum="1"/>
</p:sldLayout>
</file>

<file path=ppt/slideLayouts/slideLayout19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Value Tri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iad-blue Layout"/>
          <p:cNvSpPr/>
          <p:nvPr/>
        </p:nvSpPr>
        <p:spPr>
          <a:xfrm>
            <a:off x="685800" y="4610100"/>
            <a:ext cx="10820400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3" name="triad-red Layout"/>
          <p:cNvSpPr/>
          <p:nvPr/>
        </p:nvSpPr>
        <p:spPr>
          <a:xfrm>
            <a:off x="685800" y="5638800"/>
            <a:ext cx="10820400" cy="952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" name="triad-title Placeholder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382250" cy="857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4800"/>
            </a:lvl1pPr>
          </a:lstStyle>
          <a:p>
            <a:r>
              <a:rPr lang="zh-CN" sz="4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triad-lead Placeholder"/>
          <p:cNvSpPr>
            <a:spLocks noGrp="1"/>
          </p:cNvSpPr>
          <p:nvPr>
            <p:ph type="subTitle" idx="1"/>
          </p:nvPr>
        </p:nvSpPr>
        <p:spPr>
          <a:xfrm>
            <a:off x="685800" y="1695450"/>
            <a:ext cx="100965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150"/>
            </a:lvl1pPr>
          </a:lstStyle>
          <a:p>
            <a:pPr>
              <a:buNone/>
            </a:pPr>
            <a:r>
              <a:rPr lang="zh-CN" sz="31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en-US"/>
          </a:p>
        </p:txBody>
      </p:sp>
      <p:sp>
        <p:nvSpPr>
          <p:cNvPr id="6" name="triad-body Placeholder"/>
          <p:cNvSpPr>
            <a:spLocks noGrp="1"/>
          </p:cNvSpPr>
          <p:nvPr>
            <p:ph type="body" idx="2"/>
          </p:nvPr>
        </p:nvSpPr>
        <p:spPr>
          <a:xfrm>
            <a:off x="685800" y="2667000"/>
            <a:ext cx="1066800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>
            <a:lvl1pPr>
              <a:defRPr sz="2400"/>
            </a:lvl1pPr>
          </a:lstStyle>
          <a:p>
            <a:pPr>
              <a:buNone/>
            </a:pP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footer Placeholder"/>
          <p:cNvSpPr>
            <a:spLocks noGrp="1"/>
          </p:cNvSpPr>
          <p:nvPr>
            <p:ph type="ftr" idx="3"/>
          </p:nvPr>
        </p:nvSpPr>
        <p:spPr>
          <a:xfrm>
            <a:off x="685800" y="638175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Footer</a:t>
            </a:r>
            <a:endParaRPr lang="en-US"/>
          </a:p>
        </p:txBody>
      </p:sp>
      <p:sp>
        <p:nvSpPr>
          <p:cNvPr id="8" name="page-number Placeholder"/>
          <p:cNvSpPr>
            <a:spLocks noGrp="1"/>
          </p:cNvSpPr>
          <p:nvPr>
            <p:ph type="sldNum" idx="4"/>
          </p:nvPr>
        </p:nvSpPr>
        <p:spPr>
          <a:xfrm>
            <a:off x="10858500" y="638175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fld id="{ECA5A16E-311B-4B56-9F38-3A7F2320785D}" type="slidenum">
              <a: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1" sldNum="1"/>
</p:sldLayout>
</file>

<file path=ppt/slideLayouts/slideLayout20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Workflow Lo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kflow-left Layout"/>
          <p:cNvSpPr/>
          <p:nvPr/>
        </p:nvSpPr>
        <p:spPr>
          <a:xfrm>
            <a:off x="685800" y="685800"/>
            <a:ext cx="2057400" cy="495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workflow-line Layout"/>
          <p:cNvSpPr/>
          <p:nvPr/>
        </p:nvSpPr>
        <p:spPr>
          <a:xfrm>
            <a:off x="3238500" y="3429000"/>
            <a:ext cx="7620000" cy="571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4" name="workflow-title Placeholder"/>
          <p:cNvSpPr>
            <a:spLocks noGrp="1"/>
          </p:cNvSpPr>
          <p:nvPr>
            <p:ph type="title"/>
          </p:nvPr>
        </p:nvSpPr>
        <p:spPr>
          <a:xfrm>
            <a:off x="3238500" y="762000"/>
            <a:ext cx="7810500" cy="857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4800"/>
            </a:lvl1pPr>
          </a:lstStyle>
          <a:p>
            <a:r>
              <a:rPr lang="zh-CN" sz="4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workflow-lead Placeholder"/>
          <p:cNvSpPr>
            <a:spLocks noGrp="1"/>
          </p:cNvSpPr>
          <p:nvPr>
            <p:ph type="subTitle" idx="1"/>
          </p:nvPr>
        </p:nvSpPr>
        <p:spPr>
          <a:xfrm>
            <a:off x="3238500" y="180975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150"/>
            </a:lvl1pPr>
          </a:lstStyle>
          <a:p>
            <a:pPr>
              <a:buNone/>
            </a:pPr>
            <a:r>
              <a:rPr lang="zh-CN" sz="31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en-US"/>
          </a:p>
        </p:txBody>
      </p:sp>
      <p:sp>
        <p:nvSpPr>
          <p:cNvPr id="6" name="footer Placeholder"/>
          <p:cNvSpPr>
            <a:spLocks noGrp="1"/>
          </p:cNvSpPr>
          <p:nvPr>
            <p:ph type="ftr" idx="2"/>
          </p:nvPr>
        </p:nvSpPr>
        <p:spPr>
          <a:xfrm>
            <a:off x="685800" y="638175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Footer</a:t>
            </a:r>
            <a:endParaRPr lang="en-US"/>
          </a:p>
        </p:txBody>
      </p:sp>
      <p:sp>
        <p:nvSpPr>
          <p:cNvPr id="7" name="page-number Placeholder"/>
          <p:cNvSpPr>
            <a:spLocks noGrp="1"/>
          </p:cNvSpPr>
          <p:nvPr>
            <p:ph type="sldNum" idx="3"/>
          </p:nvPr>
        </p:nvSpPr>
        <p:spPr>
          <a:xfrm>
            <a:off x="10858500" y="638175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fld id="{0F7A7B4A-A0ED-44B9-8B26-36652870D59A}" type="slidenum">
              <a: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1" sldNum="1"/>
</p:sldLayout>
</file>

<file path=ppt/slideLayouts/slideLayout21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ction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-blue Layout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3" name="action-rule Layout"/>
          <p:cNvSpPr/>
          <p:nvPr/>
        </p:nvSpPr>
        <p:spPr>
          <a:xfrm>
            <a:off x="685800" y="2362200"/>
            <a:ext cx="108204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4" name="action-title Placeholder"/>
          <p:cNvSpPr>
            <a:spLocks noGrp="1"/>
          </p:cNvSpPr>
          <p:nvPr>
            <p:ph type="title"/>
          </p:nvPr>
        </p:nvSpPr>
        <p:spPr>
          <a:xfrm>
            <a:off x="685800" y="1066800"/>
            <a:ext cx="10477500" cy="857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4800"/>
            </a:lvl1pPr>
          </a:lstStyle>
          <a:p>
            <a:r>
              <a:rPr lang="zh-CN" sz="4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action-lead Placeholder"/>
          <p:cNvSpPr>
            <a:spLocks noGrp="1"/>
          </p:cNvSpPr>
          <p:nvPr>
            <p:ph type="subTitle" idx="1"/>
          </p:nvPr>
        </p:nvSpPr>
        <p:spPr>
          <a:xfrm>
            <a:off x="685800" y="1924050"/>
            <a:ext cx="104775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150"/>
            </a:lvl1pPr>
          </a:lstStyle>
          <a:p>
            <a:pPr>
              <a:buNone/>
            </a:pPr>
            <a:r>
              <a:rPr lang="zh-CN" sz="31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en-US"/>
          </a:p>
        </p:txBody>
      </p:sp>
      <p:sp>
        <p:nvSpPr>
          <p:cNvPr id="6" name="action-body Placeholder"/>
          <p:cNvSpPr>
            <a:spLocks noGrp="1"/>
          </p:cNvSpPr>
          <p:nvPr>
            <p:ph type="body" idx="2"/>
          </p:nvPr>
        </p:nvSpPr>
        <p:spPr>
          <a:xfrm>
            <a:off x="685800" y="2857500"/>
            <a:ext cx="10668000" cy="2381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>
            <a:lvl1pPr>
              <a:defRPr sz="2400"/>
            </a:lvl1pPr>
          </a:lstStyle>
          <a:p>
            <a:pPr>
              <a:buNone/>
            </a:pP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footer Placeholder"/>
          <p:cNvSpPr>
            <a:spLocks noGrp="1"/>
          </p:cNvSpPr>
          <p:nvPr>
            <p:ph type="ftr" idx="3"/>
          </p:nvPr>
        </p:nvSpPr>
        <p:spPr>
          <a:xfrm>
            <a:off x="685800" y="638175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Footer</a:t>
            </a:r>
            <a:endParaRPr lang="en-US"/>
          </a:p>
        </p:txBody>
      </p:sp>
      <p:sp>
        <p:nvSpPr>
          <p:cNvPr id="8" name="page-number Placeholder"/>
          <p:cNvSpPr>
            <a:spLocks noGrp="1"/>
          </p:cNvSpPr>
          <p:nvPr>
            <p:ph type="sldNum" idx="4"/>
          </p:nvPr>
        </p:nvSpPr>
        <p:spPr>
          <a:xfrm>
            <a:off x="10858500" y="638175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fld id="{4E43741A-4B38-4058-A545-5343B5BE4D23}" type="slidenum">
              <a: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1" sldNum="1"/>
</p:sldLayout>
</file>

<file path=ppt/slideLayouts/slideLayout2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Manager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nager-red Layout"/>
          <p:cNvSpPr/>
          <p:nvPr/>
        </p:nvSpPr>
        <p:spPr>
          <a:xfrm>
            <a:off x="685800" y="685800"/>
            <a:ext cx="10820400" cy="1200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manager-v Layout"/>
          <p:cNvSpPr/>
          <p:nvPr/>
        </p:nvSpPr>
        <p:spPr>
          <a:xfrm>
            <a:off x="6096000" y="2476500"/>
            <a:ext cx="19050" cy="27622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4" name="manager-h Layout"/>
          <p:cNvSpPr/>
          <p:nvPr/>
        </p:nvSpPr>
        <p:spPr>
          <a:xfrm>
            <a:off x="685800" y="3867150"/>
            <a:ext cx="108204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5" name="manager-title Placeholder"/>
          <p:cNvSpPr>
            <a:spLocks noGrp="1"/>
          </p:cNvSpPr>
          <p:nvPr>
            <p:ph type="title"/>
          </p:nvPr>
        </p:nvSpPr>
        <p:spPr>
          <a:xfrm>
            <a:off x="990600" y="933450"/>
            <a:ext cx="1000125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4800"/>
            </a:lvl1pPr>
          </a:lstStyle>
          <a:p>
            <a:r>
              <a:rPr lang="zh-CN" sz="4800" b="1" dirty="0">
                <a:solidFill>
                  <a:srgbClr val="F8F8F5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6" name="manager-lead Placeholder"/>
          <p:cNvSpPr>
            <a:spLocks noGrp="1"/>
          </p:cNvSpPr>
          <p:nvPr>
            <p:ph type="subTitle" idx="1"/>
          </p:nvPr>
        </p:nvSpPr>
        <p:spPr>
          <a:xfrm>
            <a:off x="685800" y="5448300"/>
            <a:ext cx="1047750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150"/>
            </a:lvl1pPr>
          </a:lstStyle>
          <a:p>
            <a:pPr>
              <a:buNone/>
            </a:pPr>
            <a:r>
              <a:rPr lang="zh-CN" sz="31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en-US"/>
          </a:p>
        </p:txBody>
      </p:sp>
      <p:sp>
        <p:nvSpPr>
          <p:cNvPr id="7" name="footer Placeholder"/>
          <p:cNvSpPr>
            <a:spLocks noGrp="1"/>
          </p:cNvSpPr>
          <p:nvPr>
            <p:ph type="ftr" idx="2"/>
          </p:nvPr>
        </p:nvSpPr>
        <p:spPr>
          <a:xfrm>
            <a:off x="685800" y="638175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Footer</a:t>
            </a:r>
            <a:endParaRPr lang="en-US"/>
          </a:p>
        </p:txBody>
      </p:sp>
      <p:sp>
        <p:nvSpPr>
          <p:cNvPr id="8" name="page-number Placeholder"/>
          <p:cNvSpPr>
            <a:spLocks noGrp="1"/>
          </p:cNvSpPr>
          <p:nvPr>
            <p:ph type="sldNum" idx="3"/>
          </p:nvPr>
        </p:nvSpPr>
        <p:spPr>
          <a:xfrm>
            <a:off x="10858500" y="638175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fld id="{F4ADD026-6265-4696-AA4C-6A32BE6C3755}" type="slidenum">
              <a: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1" sldNum="1"/>
</p:sldLayout>
</file>

<file path=ppt/slideLayouts/slideLayout2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losing Pla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ing-red Layout"/>
          <p:cNvSpPr/>
          <p:nvPr/>
        </p:nvSpPr>
        <p:spPr>
          <a:xfrm>
            <a:off x="685800" y="762000"/>
            <a:ext cx="1333500" cy="11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closing-blue Layout"/>
          <p:cNvSpPr/>
          <p:nvPr/>
        </p:nvSpPr>
        <p:spPr>
          <a:xfrm>
            <a:off x="0" y="6038850"/>
            <a:ext cx="12192000" cy="8191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4" name="closing-title Placeholder"/>
          <p:cNvSpPr>
            <a:spLocks noGrp="1"/>
          </p:cNvSpPr>
          <p:nvPr>
            <p:ph type="title"/>
          </p:nvPr>
        </p:nvSpPr>
        <p:spPr>
          <a:xfrm>
            <a:off x="685800" y="1809750"/>
            <a:ext cx="10096500" cy="2476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>
            <a:lvl1pPr>
              <a:defRPr sz="8400"/>
            </a:lvl1pPr>
          </a:lstStyle>
          <a:p>
            <a:r>
              <a:rPr lang="zh-CN" sz="8400" b="1" dirty="0">
                <a:solidFill>
                  <a:srgbClr val="F8F8F5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closing-subtitle Placeholder"/>
          <p:cNvSpPr>
            <a:spLocks noGrp="1"/>
          </p:cNvSpPr>
          <p:nvPr>
            <p:ph type="subTitle" idx="1"/>
          </p:nvPr>
        </p:nvSpPr>
        <p:spPr>
          <a:xfrm>
            <a:off x="685800" y="4762500"/>
            <a:ext cx="9715500" cy="685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150"/>
            </a:lvl1pPr>
          </a:lstStyle>
          <a:p>
            <a:pPr>
              <a:buNone/>
            </a:pPr>
            <a:r>
              <a:rPr lang="zh-CN" sz="3150" dirty="0">
                <a:solidFill>
                  <a:srgbClr val="F8F8F5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en-US"/>
          </a:p>
        </p:txBody>
      </p:sp>
      <p:sp>
        <p:nvSpPr>
          <p:cNvPr id="6" name="closing-footer Placeholder"/>
          <p:cNvSpPr>
            <a:spLocks noGrp="1"/>
          </p:cNvSpPr>
          <p:nvPr>
            <p:ph type="ftr" idx="2"/>
          </p:nvPr>
        </p:nvSpPr>
        <p:spPr>
          <a:xfrm>
            <a:off x="685800" y="636270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r>
              <a:rPr lang="zh-CN" sz="1200" dirty="0">
                <a:solidFill>
                  <a:srgbClr val="F8F8F5"/>
                </a:solidFill>
                <a:latin typeface="+mn-lt"/>
                <a:ea typeface="+mn-ea"/>
                <a:cs typeface="+mn-cs"/>
              </a:rPr>
              <a:t>Footer</a:t>
            </a:r>
            <a:endParaRPr lang="en-US"/>
          </a:p>
        </p:txBody>
      </p:sp>
      <p:sp>
        <p:nvSpPr>
          <p:cNvPr id="7" name="page-number Placeholder"/>
          <p:cNvSpPr>
            <a:spLocks noGrp="1"/>
          </p:cNvSpPr>
          <p:nvPr>
            <p:ph type="sldNum" idx="3"/>
          </p:nvPr>
        </p:nvSpPr>
        <p:spPr>
          <a:xfrm>
            <a:off x="10858500" y="638175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fld id="{AAAA5A89-12B7-48C6-A0B8-55D9E684D637}" type="slidenum">
              <a:rPr lang="en-US" sz="1200" dirty="0">
                <a:solidFill>
                  <a:srgbClr val="F8F8F5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1" sldNum="1"/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  <Relationship Id="rId16" Type="http://schemas.openxmlformats.org/officeDocument/2006/relationships/slideLayout" Target="../slideLayouts/slideLayout15.xml"/>
  <Relationship Id="rId17" Type="http://schemas.openxmlformats.org/officeDocument/2006/relationships/slideLayout" Target="../slideLayouts/slideLayout16.xml"/>
  <Relationship Id="rId18" Type="http://schemas.openxmlformats.org/officeDocument/2006/relationships/slideLayout" Target="../slideLayouts/slideLayout17.xml"/>
  <Relationship Id="rId19" Type="http://schemas.openxmlformats.org/officeDocument/2006/relationships/slideLayout" Target="../slideLayouts/slideLayout18.xml"/>
  <Relationship Id="rId20" Type="http://schemas.openxmlformats.org/officeDocument/2006/relationships/slideLayout" Target="../slideLayouts/slideLayout19.xml"/>
  <Relationship Id="rId21" Type="http://schemas.openxmlformats.org/officeDocument/2006/relationships/slideLayout" Target="../slideLayouts/slideLayout20.xml"/>
  <Relationship Id="rId22" Type="http://schemas.openxmlformats.org/officeDocument/2006/relationships/slideLayout" Target="../slideLayouts/slideLayout21.xml"/>
  <Relationship Id="rId23" Type="http://schemas.openxmlformats.org/officeDocument/2006/relationships/slideLayout" Target="../slideLayouts/slideLayout22.xml"/>
  <Relationship Id="rId24" Type="http://schemas.openxmlformats.org/officeDocument/2006/relationships/slideLayout" Target="../slideLayouts/slideLayout23.xml"/>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Swiss Grid Mast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txStyles>
    <p:titleStyle>
      <a:lvl1pPr algn="ctr" defTabSz="457200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 sz="2400"/>
      </a:defPPr>
      <a:lvl1pPr marL="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5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6.xml"/>
  <Relationship Id="rId2" Type="http://schemas.openxmlformats.org/officeDocument/2006/relationships/image" Target="../media/image_17118966f91bb2d1.jp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8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9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0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2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3.xml"/>
  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345180" y="1362075"/>
            <a:ext cx="1796263" cy="293370"/>
            <a:chOff x="3345180" y="1362075"/>
            <a:chExt cx="1796263" cy="293370"/>
          </a:xfrm>
        </p:grpSpPr>
        <p:sp>
          <p:nvSpPr>
            <p:cNvPr id="4" name="TextBox 4"/>
            <p:cNvSpPr txBox="1"/>
            <p:nvPr/>
          </p:nvSpPr>
          <p:spPr>
            <a:xfrm>
              <a:off x="3345180" y="1362075"/>
              <a:ext cx="17962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AI × WORK / 2026</a:t>
              </a:r>
            </a:p>
          </p:txBody>
        </p:sp>
      </p:grpSp>
      <p:sp>
        <p:nvSpPr>
          <p:cNvPr id="6" name="cover-title Placeholder Carrier"/>
          <p:cNvSpPr txBox="1"/>
          <p:nvPr>
            <p:ph type="title"/>
          </p:nvPr>
        </p:nvSpPr>
        <p:spPr>
          <a:xfrm>
            <a:off x="3314700" y="1855470"/>
            <a:ext cx="8383143" cy="2800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9300"/>
              </a:lnSpc>
            </a:pPr>
            <a:r>
              <a:rPr lang="zh-CN" sz="84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不会用 AI 的人，</a:t>
            </a:r>
            <a:r>
              <a:rPr lang="zh-CN" sz="84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正在被谁淘汰？</a:t>
            </a:r>
          </a:p>
        </p:txBody>
      </p:sp>
      <p:sp>
        <p:nvSpPr>
          <p:cNvPr id="8" name="cover-subtitle Placeholder Carrier"/>
          <p:cNvSpPr txBox="1"/>
          <p:nvPr>
            <p:ph type="subTitle" idx="1"/>
          </p:nvPr>
        </p:nvSpPr>
        <p:spPr>
          <a:xfrm>
            <a:off x="3355848" y="4803458"/>
            <a:ext cx="766495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buNone/>
            </a:pPr>
            <a:r>
              <a:rPr lang="zh-CN" sz="31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被替代的先是任务，不是人的全部价值。</a:t>
            </a:r>
          </a:p>
        </p:txBody>
      </p:sp>
      <p:sp>
        <p:nvSpPr>
          <p:cNvPr id="10" name="cover-footer Placeholder Carrier"/>
          <p:cNvSpPr txBox="1"/>
          <p:nvPr>
            <p:ph type="ftr" idx="2"/>
          </p:nvPr>
        </p:nvSpPr>
        <p:spPr>
          <a:xfrm>
            <a:off x="3346704" y="6309360"/>
            <a:ext cx="36734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常州夜校 AI 办公课｜基于用户提供研究文档整理</a:t>
            </a:r>
          </a:p>
        </p:txBody>
      </p:sp>
    </p:spTree>
  </p:cSld>
  <p:clrMapOvr>
    <a:masterClrMapping/>
  </p:clrMapOvr>
  <p:transition p14:dur="400">
    <p:fade/>
  </p:transition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78180" y="847725"/>
            <a:ext cx="725529" cy="293370"/>
            <a:chOff x="678180" y="847725"/>
            <a:chExt cx="725529" cy="293370"/>
          </a:xfrm>
        </p:grpSpPr>
        <p:sp>
          <p:nvSpPr>
            <p:cNvPr id="4" name="TextBox 4"/>
            <p:cNvSpPr txBox="1"/>
            <p:nvPr/>
          </p:nvSpPr>
          <p:spPr>
            <a:xfrm>
              <a:off x="678180" y="847725"/>
              <a:ext cx="7255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/ 12</a:t>
              </a:r>
            </a:p>
          </p:txBody>
        </p:sp>
      </p:grpSp>
      <p:sp>
        <p:nvSpPr>
          <p:cNvPr id="6" name="statement-title Placeholder Carrier"/>
          <p:cNvSpPr txBox="1"/>
          <p:nvPr>
            <p:ph type="title"/>
          </p:nvPr>
        </p:nvSpPr>
        <p:spPr>
          <a:xfrm>
            <a:off x="1200150" y="1424940"/>
            <a:ext cx="10898977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AI 先重组任务，不会瞬间清空岗位</a:t>
            </a:r>
          </a:p>
        </p:txBody>
      </p:sp>
      <p:sp>
        <p:nvSpPr>
          <p:cNvPr id="8" name="statement-lead Placeholder Carrier"/>
          <p:cNvSpPr txBox="1"/>
          <p:nvPr>
            <p:ph type="subTitle" idx="1"/>
          </p:nvPr>
        </p:nvSpPr>
        <p:spPr>
          <a:xfrm>
            <a:off x="1203198" y="3012758"/>
            <a:ext cx="11481435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buNone/>
            </a:pPr>
            <a:r>
              <a:rPr lang="zh-CN" sz="31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真正被淘汰的，是只会完成旧任务、不会驾驭新工作流的人。</a:t>
            </a:r>
          </a:p>
        </p:txBody>
      </p:sp>
      <p:sp>
        <p:nvSpPr>
          <p:cNvPr id="10" name="statement-points Placeholder Carrier"/>
          <p:cNvSpPr txBox="1"/>
          <p:nvPr>
            <p:ph type="body" idx="2"/>
          </p:nvPr>
        </p:nvSpPr>
        <p:spPr>
          <a:xfrm>
            <a:off x="1207008" y="4198620"/>
            <a:ext cx="7461504" cy="14218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3750"/>
              </a:lnSpc>
              <a:buNone/>
            </a:pP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01 任务重组：重复、可数字化、可验收的工作先被压缩</a:t>
            </a: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02 入口收缩：初级岗位的训练性任务正在被拆走</a:t>
            </a: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03 门槛抬升：判断、沟通、责任与协作更早成为要求</a:t>
            </a:r>
          </a:p>
        </p:txBody>
      </p:sp>
      <p:sp>
        <p:nvSpPr>
          <p:cNvPr id="12" name="footer Placeholder Carrier"/>
          <p:cNvSpPr txBox="1"/>
          <p:nvPr>
            <p:ph type="ftr" idx="3"/>
          </p:nvPr>
        </p:nvSpPr>
        <p:spPr>
          <a:xfrm>
            <a:off x="679704" y="6404610"/>
            <a:ext cx="25968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来源：用户提供研究文档｜执行摘要</a:t>
            </a:r>
          </a:p>
        </p:txBody>
      </p:sp>
      <p:sp>
        <p:nvSpPr>
          <p:cNvPr id="14" name="page-number Placeholder Carrier"/>
          <p:cNvSpPr txBox="1"/>
          <p:nvPr>
            <p:ph type="sldNum" idx="4"/>
          </p:nvPr>
        </p:nvSpPr>
        <p:spPr>
          <a:xfrm>
            <a:off x="11119104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</p:spTree>
  </p:cSld>
  <p:clrMapOvr>
    <a:masterClrMapping/>
  </p:clrMapOvr>
  <p:transition p14:dur="400">
    <p:fade/>
  </p:transition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982980" y="838200"/>
            <a:ext cx="725529" cy="293370"/>
            <a:chOff x="982980" y="838200"/>
            <a:chExt cx="725529" cy="293370"/>
          </a:xfrm>
        </p:grpSpPr>
        <p:sp>
          <p:nvSpPr>
            <p:cNvPr id="5" name="TextBox 5"/>
            <p:cNvSpPr txBox="1"/>
            <p:nvPr/>
          </p:nvSpPr>
          <p:spPr>
            <a:xfrm>
              <a:off x="982980" y="838200"/>
              <a:ext cx="7255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8F8F5"/>
                  </a:solidFill>
                  <a:latin typeface="+mn-lt"/>
                  <a:ea typeface="+mn-ea"/>
                  <a:cs typeface="+mn-cs"/>
                </a:rPr>
                <a:t>03 / 12</a:t>
              </a:r>
            </a:p>
          </p:txBody>
        </p:sp>
      </p:grpSp>
      <p:sp>
        <p:nvSpPr>
          <p:cNvPr id="7" name="task-title Placeholder Carrier"/>
          <p:cNvSpPr txBox="1"/>
          <p:nvPr>
            <p:ph type="title"/>
          </p:nvPr>
        </p:nvSpPr>
        <p:spPr>
          <a:xfrm>
            <a:off x="3124200" y="739140"/>
            <a:ext cx="10961705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最先承压的是“可标准化”的信息任务</a:t>
            </a:r>
          </a:p>
        </p:txBody>
      </p:sp>
      <p:sp>
        <p:nvSpPr>
          <p:cNvPr id="9" name="task-lead Placeholder Carrier"/>
          <p:cNvSpPr txBox="1"/>
          <p:nvPr>
            <p:ph type="subTitle" idx="1"/>
          </p:nvPr>
        </p:nvSpPr>
        <p:spPr>
          <a:xfrm>
            <a:off x="3127248" y="1736408"/>
            <a:ext cx="851306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buNone/>
            </a:pPr>
            <a:r>
              <a:rPr lang="zh-CN" sz="31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六个关键词，正在抽走初级岗位的训练价值。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3131058" y="2931795"/>
            <a:ext cx="4321058" cy="2602992"/>
            <a:chOff x="3131058" y="2931795"/>
            <a:chExt cx="4321058" cy="2602992"/>
          </a:xfrm>
        </p:grpSpPr>
        <p:sp>
          <p:nvSpPr>
            <p:cNvPr id="11" name="TextBox 11"/>
            <p:cNvSpPr txBox="1"/>
            <p:nvPr/>
          </p:nvSpPr>
          <p:spPr>
            <a:xfrm>
              <a:off x="3131058" y="2931795"/>
              <a:ext cx="1177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 录入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74308" y="2931795"/>
              <a:ext cx="1177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 汇总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131058" y="3998595"/>
              <a:ext cx="1177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 改写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74308" y="3998595"/>
              <a:ext cx="1177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04 检索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31058" y="5065395"/>
              <a:ext cx="1177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05 分流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74308" y="5065395"/>
              <a:ext cx="1177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06 初稿</a:t>
              </a:r>
            </a:p>
          </p:txBody>
        </p:sp>
      </p:grpSp>
      <p:sp>
        <p:nvSpPr>
          <p:cNvPr id="18" name="footer Placeholder Carrier"/>
          <p:cNvSpPr txBox="1"/>
          <p:nvPr>
            <p:ph type="ftr" idx="2"/>
          </p:nvPr>
        </p:nvSpPr>
        <p:spPr>
          <a:xfrm>
            <a:off x="679704" y="6404610"/>
            <a:ext cx="356616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来源：用户提供研究文档｜岗位与任务的变化清单</a:t>
            </a:r>
          </a:p>
        </p:txBody>
      </p:sp>
      <p:sp>
        <p:nvSpPr>
          <p:cNvPr id="20" name="page-number Placeholder Carrier"/>
          <p:cNvSpPr txBox="1"/>
          <p:nvPr>
            <p:ph type="sldNum" idx="3"/>
          </p:nvPr>
        </p:nvSpPr>
        <p:spPr>
          <a:xfrm>
            <a:off x="11119104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</p:spTree>
  </p:cSld>
  <p:clrMapOvr>
    <a:masterClrMapping/>
  </p:clrMapOvr>
  <p:transition p14:dur="400">
    <p:fade/>
  </p:transition>
</p:sld>
</file>

<file path=ppt/slides/slide4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78180" y="5895975"/>
            <a:ext cx="725529" cy="293370"/>
            <a:chOff x="678180" y="5895975"/>
            <a:chExt cx="725529" cy="293370"/>
          </a:xfrm>
        </p:grpSpPr>
        <p:sp>
          <p:nvSpPr>
            <p:cNvPr id="4" name="TextBox 4"/>
            <p:cNvSpPr txBox="1"/>
            <p:nvPr/>
          </p:nvSpPr>
          <p:spPr>
            <a:xfrm>
              <a:off x="678180" y="5895975"/>
              <a:ext cx="7255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04 / 12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74598" y="1203008"/>
            <a:ext cx="2594324" cy="2273427"/>
            <a:chOff x="974598" y="1203008"/>
            <a:chExt cx="2594324" cy="2273427"/>
          </a:xfrm>
        </p:grpSpPr>
        <p:sp>
          <p:nvSpPr>
            <p:cNvPr id="6" name="TextBox 6"/>
            <p:cNvSpPr txBox="1"/>
            <p:nvPr/>
          </p:nvSpPr>
          <p:spPr>
            <a:xfrm>
              <a:off x="974598" y="1203008"/>
              <a:ext cx="2594324" cy="227342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350"/>
                </a:lnSpc>
              </a:pPr>
              <a:r>
                <a:rPr lang="zh-CN" sz="3150" b="1" dirty="0">
                  <a:solidFill>
                    <a:srgbClr val="F8F8F5"/>
                  </a:solidFill>
                  <a:latin typeface="+mn-lt"/>
                  <a:ea typeface="+mn-ea"/>
                  <a:cs typeface="+mn-cs"/>
                </a:rPr>
                <a:t>岗位还在，</a:t>
              </a:r>
              <a:r>
                <a:rPr lang="zh-CN" sz="3150" b="1" dirty="0">
                  <a:solidFill>
                    <a:srgbClr val="F8F8F5"/>
                  </a:solidFill>
                  <a:latin typeface="+mn-lt"/>
                  <a:ea typeface="+mn-ea"/>
                  <a:cs typeface="+mn-cs"/>
                </a:rPr>
                <a:t>但“只做初稿”</a:t>
              </a:r>
              <a:r>
                <a:rPr lang="zh-CN" sz="3150" b="1" dirty="0">
                  <a:solidFill>
                    <a:srgbClr val="F8F8F5"/>
                  </a:solidFill>
                  <a:latin typeface="+mn-lt"/>
                  <a:ea typeface="+mn-ea"/>
                  <a:cs typeface="+mn-cs"/>
                </a:rPr>
                <a:t>的价值正在</a:t>
              </a:r>
              <a:r>
                <a:rPr lang="zh-CN" sz="3150" b="1" dirty="0">
                  <a:solidFill>
                    <a:srgbClr val="F8F8F5"/>
                  </a:solidFill>
                  <a:latin typeface="+mn-lt"/>
                  <a:ea typeface="+mn-ea"/>
                  <a:cs typeface="+mn-cs"/>
                </a:rPr>
                <a:t>变薄。</a:t>
              </a:r>
            </a:p>
          </p:txBody>
        </p:sp>
      </p:grpSp>
      <p:sp>
        <p:nvSpPr>
          <p:cNvPr id="8" name="value-title Placeholder Carrier"/>
          <p:cNvSpPr txBox="1"/>
          <p:nvPr>
            <p:ph type="title"/>
          </p:nvPr>
        </p:nvSpPr>
        <p:spPr>
          <a:xfrm>
            <a:off x="4438650" y="796290"/>
            <a:ext cx="7314529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AI 改变的是任务的价格</a:t>
            </a:r>
          </a:p>
        </p:txBody>
      </p:sp>
      <p:sp>
        <p:nvSpPr>
          <p:cNvPr id="10" name="value-body Placeholder Carrier"/>
          <p:cNvSpPr txBox="1"/>
          <p:nvPr>
            <p:ph type="body" idx="1"/>
          </p:nvPr>
        </p:nvSpPr>
        <p:spPr>
          <a:xfrm>
            <a:off x="4445508" y="2446020"/>
            <a:ext cx="5510784" cy="22029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3750"/>
              </a:lnSpc>
              <a:buNone/>
            </a:pP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输入与输出清晰、错误成本可控的工作，</a:t>
            </a: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更容易先被 AI 接手。</a:t>
            </a:r>
          </a:p>
          <a:p>
            <a:pPr algn="l">
              <a:lnSpc>
                <a:spcPts val="3750"/>
              </a:lnSpc>
              <a:spcBef>
                <a:spcPts val="2400"/>
              </a:spcBef>
              <a:buNone/>
            </a:pP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留下的人，要更早承担复核、例外处理、</a:t>
            </a: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客户沟通与最终责任。</a:t>
            </a:r>
          </a:p>
        </p:txBody>
      </p:sp>
      <p:sp>
        <p:nvSpPr>
          <p:cNvPr id="12" name="value-takeaway Placeholder Carrier"/>
          <p:cNvSpPr txBox="1"/>
          <p:nvPr>
            <p:ph type="subTitle" idx="2"/>
          </p:nvPr>
        </p:nvSpPr>
        <p:spPr>
          <a:xfrm>
            <a:off x="4441698" y="5413058"/>
            <a:ext cx="902192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buNone/>
            </a:pPr>
            <a:r>
              <a:rPr lang="zh-CN" sz="31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不是“有没有岗位”，而是“你还剩下什么价值”。</a:t>
            </a:r>
          </a:p>
        </p:txBody>
      </p:sp>
      <p:sp>
        <p:nvSpPr>
          <p:cNvPr id="14" name="footer Placeholder Carrier"/>
          <p:cNvSpPr txBox="1"/>
          <p:nvPr>
            <p:ph type="ftr" idx="3"/>
          </p:nvPr>
        </p:nvSpPr>
        <p:spPr>
          <a:xfrm>
            <a:off x="679704" y="6404610"/>
            <a:ext cx="30815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来源：用户提供研究文档｜任务层面的变化</a:t>
            </a:r>
          </a:p>
        </p:txBody>
      </p:sp>
      <p:sp>
        <p:nvSpPr>
          <p:cNvPr id="16" name="page-number Placeholder Carrier"/>
          <p:cNvSpPr txBox="1"/>
          <p:nvPr>
            <p:ph type="sldNum" idx="4"/>
          </p:nvPr>
        </p:nvSpPr>
        <p:spPr>
          <a:xfrm>
            <a:off x="11119104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</p:spTree>
  </p:cSld>
  <p:clrMapOvr>
    <a:masterClrMapping/>
  </p:clrMapOvr>
  <p:transition p14:dur="400">
    <p:fade/>
  </p:transition>
</p:sld>
</file>

<file path=ppt/slides/slide5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in-title Placeholder Carrier"/>
          <p:cNvSpPr txBox="1"/>
          <p:nvPr>
            <p:ph type="title"/>
          </p:nvPr>
        </p:nvSpPr>
        <p:spPr>
          <a:xfrm>
            <a:off x="666750" y="1043940"/>
            <a:ext cx="10893857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自动化任务会沿着一条组织链条传导</a:t>
            </a:r>
          </a:p>
        </p:txBody>
      </p:sp>
      <p:pic>
        <p:nvPicPr>
          <p:cNvPr id="6" name="chain-figure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tretch>
            <a:fillRect/>
          </a:stretch>
        </p:blipFill>
        <p:spPr>
          <a:xfrm>
            <a:off x="3009900" y="2819400"/>
            <a:ext cx="6172200" cy="800100"/>
          </a:xfrm>
          <a:prstGeom prst="rect">
            <a:avLst/>
          </a:prstGeom>
        </p:spPr>
      </p:pic>
      <p:sp>
        <p:nvSpPr>
          <p:cNvPr id="8" name="chain-body Placeholder Carrier"/>
          <p:cNvSpPr txBox="1"/>
          <p:nvPr>
            <p:ph type="body" idx="2"/>
          </p:nvPr>
        </p:nvSpPr>
        <p:spPr>
          <a:xfrm>
            <a:off x="673608" y="4636770"/>
            <a:ext cx="12079224" cy="9837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4050"/>
              </a:lnSpc>
              <a:buNone/>
            </a:pP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模板化任务被接管 → 入门训练价值被抽空 → 留岗者门槛提高 → 岗位变成“少人、强复核”。</a:t>
            </a: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最明显的场景：客服、文职、初级内容与初级知识工作。</a:t>
            </a:r>
          </a:p>
        </p:txBody>
      </p:sp>
      <p:sp>
        <p:nvSpPr>
          <p:cNvPr id="10" name="footer Placeholder Carrier"/>
          <p:cNvSpPr txBox="1"/>
          <p:nvPr>
            <p:ph type="ftr" idx="3"/>
          </p:nvPr>
        </p:nvSpPr>
        <p:spPr>
          <a:xfrm>
            <a:off x="679704" y="6404610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来源：用户提供研究文档｜原文流程图与替代路径说明</a:t>
            </a:r>
          </a:p>
        </p:txBody>
      </p:sp>
      <p:sp>
        <p:nvSpPr>
          <p:cNvPr id="12" name="page-number Placeholder Carrier"/>
          <p:cNvSpPr txBox="1"/>
          <p:nvPr>
            <p:ph type="sldNum" idx="4"/>
          </p:nvPr>
        </p:nvSpPr>
        <p:spPr>
          <a:xfrm>
            <a:off x="11119104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</p:spTree>
  </p:cSld>
  <p:clrMapOvr>
    <a:masterClrMapping/>
  </p:clrMapOvr>
  <p:transition p14:dur="400">
    <p:fade/>
  </p:transition>
</p:sld>
</file>

<file path=ppt/slides/slide6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78180" y="828675"/>
            <a:ext cx="725529" cy="293370"/>
            <a:chOff x="678180" y="828675"/>
            <a:chExt cx="725529" cy="293370"/>
          </a:xfrm>
        </p:grpSpPr>
        <p:sp>
          <p:nvSpPr>
            <p:cNvPr id="4" name="TextBox 4"/>
            <p:cNvSpPr txBox="1"/>
            <p:nvPr/>
          </p:nvSpPr>
          <p:spPr>
            <a:xfrm>
              <a:off x="678180" y="828675"/>
              <a:ext cx="7255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06 / 12</a:t>
              </a:r>
            </a:p>
          </p:txBody>
        </p:sp>
      </p:grpSp>
      <p:sp>
        <p:nvSpPr>
          <p:cNvPr id="6" name="entry-title Placeholder Carrier"/>
          <p:cNvSpPr txBox="1"/>
          <p:nvPr>
            <p:ph type="title"/>
          </p:nvPr>
        </p:nvSpPr>
        <p:spPr>
          <a:xfrm>
            <a:off x="666750" y="1310640"/>
            <a:ext cx="7078980" cy="1657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5700"/>
              </a:lnSpc>
            </a:pPr>
            <a:r>
              <a:rPr lang="zh-CN" sz="4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初级岗位与早期职业人群</a:t>
            </a:r>
            <a:r>
              <a:rPr lang="zh-CN" sz="4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更先感到入口收缩</a:t>
            </a:r>
          </a:p>
        </p:txBody>
      </p:sp>
      <p:sp>
        <p:nvSpPr>
          <p:cNvPr id="8" name="entry-body Placeholder Carrier"/>
          <p:cNvSpPr txBox="1"/>
          <p:nvPr>
            <p:ph type="body" idx="1"/>
          </p:nvPr>
        </p:nvSpPr>
        <p:spPr>
          <a:xfrm>
            <a:off x="673608" y="3398520"/>
            <a:ext cx="5815584" cy="18981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3750"/>
              </a:lnSpc>
              <a:buNone/>
            </a:pP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行政支持、客服、初级内容、报表整合，</a:t>
            </a: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过去是熟悉流程的入口；现在，AI 能先</a:t>
            </a: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完成其中一部分，于是留下的人更早被要求</a:t>
            </a: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处理例外、沟通客户、承担责任。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8632698" y="2384108"/>
            <a:ext cx="1712214" cy="2825877"/>
            <a:chOff x="8632698" y="2384108"/>
            <a:chExt cx="1712214" cy="2825877"/>
          </a:xfrm>
        </p:grpSpPr>
        <p:sp>
          <p:nvSpPr>
            <p:cNvPr id="10" name="TextBox 10"/>
            <p:cNvSpPr txBox="1"/>
            <p:nvPr/>
          </p:nvSpPr>
          <p:spPr>
            <a:xfrm>
              <a:off x="8632698" y="2384108"/>
              <a:ext cx="1712214" cy="28258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350"/>
                </a:lnSpc>
              </a:pPr>
              <a:r>
                <a:rPr lang="zh-CN" sz="3150" b="1" dirty="0">
                  <a:solidFill>
                    <a:srgbClr val="F8F8F5"/>
                  </a:solidFill>
                  <a:latin typeface="+mn-lt"/>
                  <a:ea typeface="+mn-ea"/>
                  <a:cs typeface="+mn-cs"/>
                </a:rPr>
                <a:t>入口变薄</a:t>
              </a:r>
              <a:r>
                <a:rPr lang="zh-CN" sz="3150" b="1" dirty="0">
                  <a:solidFill>
                    <a:srgbClr val="F8F8F5"/>
                  </a:solidFill>
                  <a:latin typeface="+mn-lt"/>
                  <a:ea typeface="+mn-ea"/>
                  <a:cs typeface="+mn-cs"/>
                </a:rPr>
                <a:t>不是机会</a:t>
              </a:r>
              <a:r>
                <a:rPr lang="zh-CN" sz="3150" b="1" dirty="0">
                  <a:solidFill>
                    <a:srgbClr val="F8F8F5"/>
                  </a:solidFill>
                  <a:latin typeface="+mn-lt"/>
                  <a:ea typeface="+mn-ea"/>
                  <a:cs typeface="+mn-cs"/>
                </a:rPr>
                <a:t>消失，</a:t>
              </a:r>
              <a:r>
                <a:rPr lang="zh-CN" sz="3150" b="1" dirty="0">
                  <a:solidFill>
                    <a:srgbClr val="F8F8F5"/>
                  </a:solidFill>
                  <a:latin typeface="+mn-lt"/>
                  <a:ea typeface="+mn-ea"/>
                  <a:cs typeface="+mn-cs"/>
                </a:rPr>
                <a:t>而是门槛</a:t>
              </a:r>
              <a:r>
                <a:rPr lang="zh-CN" sz="3150" b="1" dirty="0">
                  <a:solidFill>
                    <a:srgbClr val="F8F8F5"/>
                  </a:solidFill>
                  <a:latin typeface="+mn-lt"/>
                  <a:ea typeface="+mn-ea"/>
                  <a:cs typeface="+mn-cs"/>
                </a:rPr>
                <a:t>提前。</a:t>
              </a:r>
            </a:p>
          </p:txBody>
        </p:sp>
      </p:grpSp>
      <p:sp>
        <p:nvSpPr>
          <p:cNvPr id="12" name="footer Placeholder Carrier"/>
          <p:cNvSpPr txBox="1"/>
          <p:nvPr>
            <p:ph type="ftr" idx="2"/>
          </p:nvPr>
        </p:nvSpPr>
        <p:spPr>
          <a:xfrm>
            <a:off x="679704" y="6404610"/>
            <a:ext cx="275844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来源：用户提供研究文档｜谁在被淘汰</a:t>
            </a:r>
          </a:p>
        </p:txBody>
      </p:sp>
      <p:sp>
        <p:nvSpPr>
          <p:cNvPr id="14" name="page-number Placeholder Carrier"/>
          <p:cNvSpPr txBox="1"/>
          <p:nvPr>
            <p:ph type="sldNum" idx="3"/>
          </p:nvPr>
        </p:nvSpPr>
        <p:spPr>
          <a:xfrm>
            <a:off x="11119104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8F8F5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</p:spTree>
  </p:cSld>
  <p:clrMapOvr>
    <a:masterClrMapping/>
  </p:clrMapOvr>
  <p:transition p14:dur="400">
    <p:fade/>
  </p:transition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sk-title Placeholder Carrier"/>
          <p:cNvSpPr txBox="1"/>
          <p:nvPr>
            <p:ph type="title"/>
          </p:nvPr>
        </p:nvSpPr>
        <p:spPr>
          <a:xfrm>
            <a:off x="666750" y="986790"/>
            <a:ext cx="10215372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先失去优势的，是单薄的任务结构</a:t>
            </a:r>
          </a:p>
        </p:txBody>
      </p:sp>
      <p:sp>
        <p:nvSpPr>
          <p:cNvPr id="7" name="risk-lead Placeholder Carrier"/>
          <p:cNvSpPr txBox="1"/>
          <p:nvPr>
            <p:ph type="subTitle" idx="1"/>
          </p:nvPr>
        </p:nvSpPr>
        <p:spPr>
          <a:xfrm>
            <a:off x="669798" y="1831658"/>
            <a:ext cx="1025168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buNone/>
            </a:pPr>
            <a:r>
              <a:rPr lang="zh-CN" sz="31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问题不在年龄，而在工作价值是否只剩“搬运与初稿”。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73608" y="2884170"/>
            <a:ext cx="10171938" cy="1383792"/>
            <a:chOff x="673608" y="2884170"/>
            <a:chExt cx="10171938" cy="1383792"/>
          </a:xfrm>
        </p:grpSpPr>
        <p:sp>
          <p:nvSpPr>
            <p:cNvPr id="9" name="TextBox 9"/>
            <p:cNvSpPr txBox="1"/>
            <p:nvPr/>
          </p:nvSpPr>
          <p:spPr>
            <a:xfrm>
              <a:off x="673608" y="2884170"/>
              <a:ext cx="176905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 技能单薄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3608" y="3341370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信息搬运、格式化、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3608" y="379857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重复性交付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16958" y="2884170"/>
              <a:ext cx="176905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 角色脆弱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16958" y="3341370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只负责汇总、排会、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16958" y="379857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周报与第一轮客服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36458" y="2884170"/>
              <a:ext cx="176905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 不懂边界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36458" y="334137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会用工具，却不会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36458" y="379857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核验、升级与负责</a:t>
              </a:r>
            </a:p>
          </p:txBody>
        </p:sp>
      </p:grpSp>
      <p:sp>
        <p:nvSpPr>
          <p:cNvPr id="19" name="footer Placeholder Carrier"/>
          <p:cNvSpPr txBox="1"/>
          <p:nvPr>
            <p:ph type="ftr" idx="2"/>
          </p:nvPr>
        </p:nvSpPr>
        <p:spPr>
          <a:xfrm>
            <a:off x="679704" y="6404610"/>
            <a:ext cx="275844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来源：用户提供研究文档｜谁在被淘汰</a:t>
            </a:r>
          </a:p>
        </p:txBody>
      </p:sp>
      <p:sp>
        <p:nvSpPr>
          <p:cNvPr id="21" name="page-number Placeholder Carrier"/>
          <p:cNvSpPr txBox="1"/>
          <p:nvPr>
            <p:ph type="sldNum" idx="3"/>
          </p:nvPr>
        </p:nvSpPr>
        <p:spPr>
          <a:xfrm>
            <a:off x="11119104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</p:spTree>
  </p:cSld>
  <p:clrMapOvr>
    <a:masterClrMapping/>
  </p:clrMapOvr>
  <p:transition p14:dur="400">
    <p:fade/>
  </p:transition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iad-title Placeholder Carrier"/>
          <p:cNvSpPr txBox="1"/>
          <p:nvPr>
            <p:ph type="title"/>
          </p:nvPr>
        </p:nvSpPr>
        <p:spPr>
          <a:xfrm>
            <a:off x="666750" y="739140"/>
            <a:ext cx="11572342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人的价值转向判断、责任、沟通与协作</a:t>
            </a:r>
          </a:p>
        </p:txBody>
      </p:sp>
      <p:sp>
        <p:nvSpPr>
          <p:cNvPr id="6" name="triad-lead Placeholder Carrier"/>
          <p:cNvSpPr txBox="1"/>
          <p:nvPr>
            <p:ph type="subTitle" idx="1"/>
          </p:nvPr>
        </p:nvSpPr>
        <p:spPr>
          <a:xfrm>
            <a:off x="669798" y="1717358"/>
            <a:ext cx="9785223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buNone/>
            </a:pPr>
            <a:r>
              <a:rPr lang="zh-CN" sz="31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组织里会同时存在三类角色，但人的位置不再一样。</a:t>
            </a:r>
          </a:p>
        </p:txBody>
      </p:sp>
      <p:sp>
        <p:nvSpPr>
          <p:cNvPr id="8" name="triad-body Placeholder Carrier"/>
          <p:cNvSpPr txBox="1"/>
          <p:nvPr>
            <p:ph type="body" idx="2"/>
          </p:nvPr>
        </p:nvSpPr>
        <p:spPr>
          <a:xfrm>
            <a:off x="673608" y="2846070"/>
            <a:ext cx="7293864" cy="1536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4200"/>
              </a:lnSpc>
              <a:buNone/>
            </a:pP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01 AI 直接替代：可标准化、错误成本可控的功能</a:t>
            </a: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02 AI 增强岗位：人仍需判断、签字、沟通与承担责任</a:t>
            </a: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03 因 AI 新增：工作流设计、治理合规、人机协同质检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55548" y="4917758"/>
            <a:ext cx="9916679" cy="616077"/>
            <a:chOff x="955548" y="4917758"/>
            <a:chExt cx="9916679" cy="616077"/>
          </a:xfrm>
        </p:grpSpPr>
        <p:sp>
          <p:nvSpPr>
            <p:cNvPr id="10" name="TextBox 10"/>
            <p:cNvSpPr txBox="1"/>
            <p:nvPr/>
          </p:nvSpPr>
          <p:spPr>
            <a:xfrm>
              <a:off x="955548" y="4917758"/>
              <a:ext cx="991667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8F8F5"/>
                  </a:solidFill>
                  <a:latin typeface="+mn-lt"/>
                  <a:ea typeface="+mn-ea"/>
                  <a:cs typeface="+mn-cs"/>
                </a:rPr>
                <a:t>你的升级方向：从“完成任务”转到“对结果负责”。</a:t>
              </a:r>
            </a:p>
          </p:txBody>
        </p:sp>
      </p:grpSp>
      <p:sp>
        <p:nvSpPr>
          <p:cNvPr id="12" name="footer Placeholder Carrier"/>
          <p:cNvSpPr txBox="1"/>
          <p:nvPr>
            <p:ph type="ftr" idx="3"/>
          </p:nvPr>
        </p:nvSpPr>
        <p:spPr>
          <a:xfrm>
            <a:off x="679704" y="6404610"/>
            <a:ext cx="34046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来源：用户提供研究文档｜谁在替代与谁在增值</a:t>
            </a:r>
          </a:p>
        </p:txBody>
      </p:sp>
      <p:sp>
        <p:nvSpPr>
          <p:cNvPr id="14" name="page-number Placeholder Carrier"/>
          <p:cNvSpPr txBox="1"/>
          <p:nvPr>
            <p:ph type="sldNum" idx="4"/>
          </p:nvPr>
        </p:nvSpPr>
        <p:spPr>
          <a:xfrm>
            <a:off x="11119104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</p:spTree>
  </p:cSld>
  <p:clrMapOvr>
    <a:masterClrMapping/>
  </p:clrMapOvr>
  <p:transition p14:dur="400">
    <p:fade/>
  </p:transition>
</p:sld>
</file>

<file path=ppt/slides/slide9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orkflow-title Placeholder Carrier"/>
          <p:cNvSpPr txBox="1"/>
          <p:nvPr>
            <p:ph type="title"/>
          </p:nvPr>
        </p:nvSpPr>
        <p:spPr>
          <a:xfrm>
            <a:off x="3219450" y="815340"/>
            <a:ext cx="11114044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真正的升级，是把 AI 接入主任务链</a:t>
            </a:r>
          </a:p>
        </p:txBody>
      </p:sp>
      <p:sp>
        <p:nvSpPr>
          <p:cNvPr id="6" name="workflow-lead Placeholder Carrier"/>
          <p:cNvSpPr txBox="1"/>
          <p:nvPr>
            <p:ph type="subTitle" idx="1"/>
          </p:nvPr>
        </p:nvSpPr>
        <p:spPr>
          <a:xfrm>
            <a:off x="3222498" y="1869758"/>
            <a:ext cx="5968746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buNone/>
            </a:pPr>
            <a:r>
              <a:rPr lang="zh-CN" sz="31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会用工具，不等于能交付结果。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3226308" y="2922270"/>
            <a:ext cx="8055559" cy="469392"/>
            <a:chOff x="3226308" y="2922270"/>
            <a:chExt cx="8055559" cy="469392"/>
          </a:xfrm>
        </p:grpSpPr>
        <p:sp>
          <p:nvSpPr>
            <p:cNvPr id="8" name="TextBox 8"/>
            <p:cNvSpPr txBox="1"/>
            <p:nvPr/>
          </p:nvSpPr>
          <p:spPr>
            <a:xfrm>
              <a:off x="3226308" y="2922270"/>
              <a:ext cx="270418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 让 AI 先做初稿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321808" y="2922270"/>
              <a:ext cx="176905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 人做复核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17308" y="2922270"/>
              <a:ext cx="176905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 异常升级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512808" y="2922270"/>
              <a:ext cx="176905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04 结果表达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4598" y="1298258"/>
            <a:ext cx="1292162" cy="2825877"/>
            <a:chOff x="974598" y="1298258"/>
            <a:chExt cx="1292162" cy="2825877"/>
          </a:xfrm>
        </p:grpSpPr>
        <p:sp>
          <p:nvSpPr>
            <p:cNvPr id="13" name="TextBox 13"/>
            <p:cNvSpPr txBox="1"/>
            <p:nvPr/>
          </p:nvSpPr>
          <p:spPr>
            <a:xfrm>
              <a:off x="974598" y="1298258"/>
              <a:ext cx="1292162" cy="28258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350"/>
                </a:lnSpc>
              </a:pPr>
              <a:r>
                <a:rPr lang="zh-CN" sz="3150" b="1" dirty="0">
                  <a:solidFill>
                    <a:srgbClr val="F8F8F5"/>
                  </a:solidFill>
                  <a:latin typeface="+mn-lt"/>
                  <a:ea typeface="+mn-ea"/>
                  <a:cs typeface="+mn-cs"/>
                </a:rPr>
                <a:t>从</a:t>
              </a:r>
              <a:r>
                <a:rPr lang="zh-CN" sz="3150" b="1" dirty="0">
                  <a:solidFill>
                    <a:srgbClr val="F8F8F5"/>
                  </a:solidFill>
                  <a:latin typeface="+mn-lt"/>
                  <a:ea typeface="+mn-ea"/>
                  <a:cs typeface="+mn-cs"/>
                </a:rPr>
                <a:t>初稿</a:t>
              </a:r>
              <a:r>
                <a:rPr lang="zh-CN" sz="3150" b="1" dirty="0">
                  <a:solidFill>
                    <a:srgbClr val="F8F8F5"/>
                  </a:solidFill>
                  <a:latin typeface="+mn-lt"/>
                  <a:ea typeface="+mn-ea"/>
                  <a:cs typeface="+mn-cs"/>
                </a:rPr>
                <a:t>走向</a:t>
              </a:r>
              <a:r>
                <a:rPr lang="zh-CN" sz="3150" b="1" dirty="0">
                  <a:solidFill>
                    <a:srgbClr val="F8F8F5"/>
                  </a:solidFill>
                  <a:latin typeface="+mn-lt"/>
                  <a:ea typeface="+mn-ea"/>
                  <a:cs typeface="+mn-cs"/>
                </a:rPr>
                <a:t>主任务</a:t>
              </a:r>
              <a:r>
                <a:rPr lang="zh-CN" sz="3150" b="1" dirty="0">
                  <a:solidFill>
                    <a:srgbClr val="F8F8F5"/>
                  </a:solidFill>
                  <a:latin typeface="+mn-lt"/>
                  <a:ea typeface="+mn-ea"/>
                  <a:cs typeface="+mn-cs"/>
                </a:rPr>
                <a:t>链。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226308" y="4598670"/>
            <a:ext cx="8747760" cy="469392"/>
            <a:chOff x="3226308" y="4598670"/>
            <a:chExt cx="8747760" cy="469392"/>
          </a:xfrm>
        </p:grpSpPr>
        <p:sp>
          <p:nvSpPr>
            <p:cNvPr id="15" name="TextBox 15"/>
            <p:cNvSpPr txBox="1"/>
            <p:nvPr/>
          </p:nvSpPr>
          <p:spPr>
            <a:xfrm>
              <a:off x="3226308" y="4598670"/>
              <a:ext cx="87477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你要能说清：业务场景、工具、流程变化、结果与复核方式。</a:t>
              </a:r>
            </a:p>
          </p:txBody>
        </p:sp>
      </p:grpSp>
      <p:sp>
        <p:nvSpPr>
          <p:cNvPr id="17" name="footer Placeholder Carrier"/>
          <p:cNvSpPr txBox="1"/>
          <p:nvPr>
            <p:ph type="ftr" idx="2"/>
          </p:nvPr>
        </p:nvSpPr>
        <p:spPr>
          <a:xfrm>
            <a:off x="679704" y="6404610"/>
            <a:ext cx="275844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来源：用户提供研究文档｜个人路线图</a:t>
            </a:r>
          </a:p>
        </p:txBody>
      </p:sp>
      <p:sp>
        <p:nvSpPr>
          <p:cNvPr id="19" name="page-number Placeholder Carrier"/>
          <p:cNvSpPr txBox="1"/>
          <p:nvPr>
            <p:ph type="sldNum" idx="3"/>
          </p:nvPr>
        </p:nvSpPr>
        <p:spPr>
          <a:xfrm>
            <a:off x="11119104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09</a:t>
            </a:r>
          </a:p>
        </p:txBody>
      </p:sp>
    </p:spTree>
  </p:cSld>
  <p:clrMapOvr>
    <a:masterClrMapping/>
  </p:clrMapOvr>
  <p:transition p14:dur="400">
    <p:fade/>
  </p:transition>
</p:sld>
</file>

<file path=ppt/slides/slide10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tion-title Placeholder Carrier"/>
          <p:cNvSpPr txBox="1"/>
          <p:nvPr>
            <p:ph type="title"/>
          </p:nvPr>
        </p:nvSpPr>
        <p:spPr>
          <a:xfrm>
            <a:off x="666750" y="1120140"/>
            <a:ext cx="12547824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三个月，做出第一个可验证的 AI 工作流</a:t>
            </a:r>
          </a:p>
        </p:txBody>
      </p:sp>
      <p:sp>
        <p:nvSpPr>
          <p:cNvPr id="6" name="action-lead Placeholder Carrier"/>
          <p:cNvSpPr txBox="1"/>
          <p:nvPr>
            <p:ph type="subTitle" idx="1"/>
          </p:nvPr>
        </p:nvSpPr>
        <p:spPr>
          <a:xfrm>
            <a:off x="669798" y="1869758"/>
            <a:ext cx="1067573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buNone/>
            </a:pPr>
            <a:r>
              <a:rPr lang="zh-CN" sz="31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不要只收藏课程；做出一个“效率前后对比”的项目证据。</a:t>
            </a:r>
          </a:p>
        </p:txBody>
      </p:sp>
      <p:sp>
        <p:nvSpPr>
          <p:cNvPr id="8" name="action-body Placeholder Carrier"/>
          <p:cNvSpPr txBox="1"/>
          <p:nvPr>
            <p:ph type="body" idx="2"/>
          </p:nvPr>
        </p:nvSpPr>
        <p:spPr>
          <a:xfrm>
            <a:off x="673608" y="3036570"/>
            <a:ext cx="6028944" cy="2069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4200"/>
              </a:lnSpc>
              <a:buNone/>
            </a:pP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01 找出每周最耗时的三个重复任务</a:t>
            </a: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02 用 AI 试做初稿，并保留人类复核点</a:t>
            </a: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03 记录错误、异常与升级路径</a:t>
            </a: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04 用“场景—工具—流程—结果—复核”写进简历</a:t>
            </a:r>
          </a:p>
        </p:txBody>
      </p:sp>
      <p:sp>
        <p:nvSpPr>
          <p:cNvPr id="10" name="footer Placeholder Carrier"/>
          <p:cNvSpPr txBox="1"/>
          <p:nvPr>
            <p:ph type="ftr" idx="3"/>
          </p:nvPr>
        </p:nvSpPr>
        <p:spPr>
          <a:xfrm>
            <a:off x="679704" y="6404610"/>
            <a:ext cx="34046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来源：用户提供研究文档｜给普通求职者的建议</a:t>
            </a:r>
          </a:p>
        </p:txBody>
      </p:sp>
      <p:sp>
        <p:nvSpPr>
          <p:cNvPr id="12" name="page-number Placeholder Carrier"/>
          <p:cNvSpPr txBox="1"/>
          <p:nvPr>
            <p:ph type="sldNum" idx="4"/>
          </p:nvPr>
        </p:nvSpPr>
        <p:spPr>
          <a:xfrm>
            <a:off x="11119104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fld id="{D1379FF0-561A-4D73-9DA1-D289AB2306BD}" type="slidenum">
              <a: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10</a:t>
            </a:fld>
          </a:p>
        </p:txBody>
      </p:sp>
    </p:spTree>
  </p:cSld>
  <p:clrMapOvr>
    <a:masterClrMapping/>
  </p:clrMapOvr>
  <p:transition p14:dur="400">
    <p:fade/>
  </p:transition>
</p:sld>
</file>

<file path=ppt/slides/slide11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nager-title Placeholder Carrier"/>
          <p:cNvSpPr txBox="1"/>
          <p:nvPr>
            <p:ph type="title"/>
          </p:nvPr>
        </p:nvSpPr>
        <p:spPr>
          <a:xfrm>
            <a:off x="971550" y="948690"/>
            <a:ext cx="9536887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F8F8F5"/>
                </a:solidFill>
                <a:latin typeface="+mj-lt"/>
                <a:ea typeface="+mj-ea"/>
                <a:cs typeface="+mj-cs"/>
              </a:rPr>
              <a:t>管理者应先重写流程，再谈编制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73608" y="2693670"/>
            <a:ext cx="10015728" cy="2774442"/>
            <a:chOff x="673608" y="2693670"/>
            <a:chExt cx="10015728" cy="2774442"/>
          </a:xfrm>
        </p:grpSpPr>
        <p:sp>
          <p:nvSpPr>
            <p:cNvPr id="7" name="TextBox 7"/>
            <p:cNvSpPr txBox="1"/>
            <p:nvPr/>
          </p:nvSpPr>
          <p:spPr>
            <a:xfrm>
              <a:off x="673608" y="2693670"/>
              <a:ext cx="176905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 任务盘点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3608" y="3150870"/>
              <a:ext cx="35783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按频率、风险、价值分层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464808" y="2693670"/>
              <a:ext cx="176905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 人类签核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64808" y="3150870"/>
              <a:ext cx="42245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异常处理、升级路径、责任人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3608" y="4541520"/>
              <a:ext cx="27383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 保留学习性任务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3608" y="499872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避免未来中层人才断档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64808" y="4541520"/>
              <a:ext cx="176905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04 治理留痕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64808" y="4998720"/>
              <a:ext cx="415503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HR、绩效、监控场景可审计</a:t>
              </a:r>
            </a:p>
          </p:txBody>
        </p:sp>
      </p:grpSp>
      <p:sp>
        <p:nvSpPr>
          <p:cNvPr id="16" name="manager-lead Placeholder Carrier"/>
          <p:cNvSpPr txBox="1"/>
          <p:nvPr>
            <p:ph type="subTitle" idx="1"/>
          </p:nvPr>
        </p:nvSpPr>
        <p:spPr>
          <a:xfrm>
            <a:off x="669798" y="5527358"/>
            <a:ext cx="955319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buNone/>
            </a:pPr>
            <a:r>
              <a:rPr lang="zh-CN" sz="31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“用了 AI”不会减轻责任，反而会抬高治理门槛。</a:t>
            </a:r>
          </a:p>
        </p:txBody>
      </p:sp>
      <p:sp>
        <p:nvSpPr>
          <p:cNvPr id="18" name="footer Placeholder Carrier"/>
          <p:cNvSpPr txBox="1"/>
          <p:nvPr>
            <p:ph type="ftr" idx="2"/>
          </p:nvPr>
        </p:nvSpPr>
        <p:spPr>
          <a:xfrm>
            <a:off x="679704" y="6404610"/>
            <a:ext cx="37277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来源：用户提供研究文档｜企业、管理层与个人应对</a:t>
            </a:r>
          </a:p>
        </p:txBody>
      </p:sp>
      <p:sp>
        <p:nvSpPr>
          <p:cNvPr id="20" name="page-number Placeholder Carrier"/>
          <p:cNvSpPr txBox="1"/>
          <p:nvPr>
            <p:ph type="sldNum" idx="3"/>
          </p:nvPr>
        </p:nvSpPr>
        <p:spPr>
          <a:xfrm>
            <a:off x="11119104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fld id="{D1379FF0-561A-4D73-9DA1-D289AB2306BD}" type="slidenum">
              <a: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11</a:t>
            </a:fld>
          </a:p>
        </p:txBody>
      </p:sp>
    </p:spTree>
  </p:cSld>
  <p:clrMapOvr>
    <a:masterClrMapping/>
  </p:clrMapOvr>
  <p:transition p14:dur="400">
    <p:fade/>
  </p:transition>
</p:sld>
</file>

<file path=ppt/slides/slide12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78180" y="1228725"/>
            <a:ext cx="1482623" cy="293370"/>
            <a:chOff x="678180" y="1228725"/>
            <a:chExt cx="1482623" cy="293370"/>
          </a:xfrm>
        </p:grpSpPr>
        <p:sp>
          <p:nvSpPr>
            <p:cNvPr id="5" name="TextBox 5"/>
            <p:cNvSpPr txBox="1"/>
            <p:nvPr/>
          </p:nvSpPr>
          <p:spPr>
            <a:xfrm>
              <a:off x="678180" y="1228725"/>
              <a:ext cx="14826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8F8F5"/>
                  </a:solidFill>
                  <a:latin typeface="+mn-lt"/>
                  <a:ea typeface="+mn-ea"/>
                  <a:cs typeface="+mn-cs"/>
                </a:rPr>
                <a:t>THE TAKEAWAY</a:t>
              </a:r>
            </a:p>
          </p:txBody>
        </p:sp>
      </p:grpSp>
      <p:sp>
        <p:nvSpPr>
          <p:cNvPr id="7" name="closing-title Placeholder Carrier"/>
          <p:cNvSpPr txBox="1"/>
          <p:nvPr>
            <p:ph type="title"/>
          </p:nvPr>
        </p:nvSpPr>
        <p:spPr>
          <a:xfrm>
            <a:off x="666750" y="1817370"/>
            <a:ext cx="8999220" cy="2800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9300"/>
              </a:lnSpc>
            </a:pPr>
            <a:r>
              <a:rPr lang="zh-CN" sz="8400" b="1" dirty="0">
                <a:solidFill>
                  <a:srgbClr val="F8F8F5"/>
                </a:solidFill>
                <a:latin typeface="+mj-lt"/>
                <a:ea typeface="+mj-ea"/>
                <a:cs typeface="+mj-cs"/>
              </a:rPr>
              <a:t>被替代的是</a:t>
            </a:r>
            <a:r>
              <a:rPr lang="zh-CN" sz="8400" b="1" dirty="0">
                <a:solidFill>
                  <a:srgbClr val="F8F8F5"/>
                </a:solidFill>
                <a:latin typeface="+mj-lt"/>
                <a:ea typeface="+mj-ea"/>
                <a:cs typeface="+mj-cs"/>
              </a:rPr>
              <a:t>低判断密度任务。</a:t>
            </a:r>
          </a:p>
        </p:txBody>
      </p:sp>
      <p:sp>
        <p:nvSpPr>
          <p:cNvPr id="9" name="closing-subtitle Placeholder Carrier"/>
          <p:cNvSpPr txBox="1"/>
          <p:nvPr>
            <p:ph type="subTitle" idx="1"/>
          </p:nvPr>
        </p:nvSpPr>
        <p:spPr>
          <a:xfrm>
            <a:off x="669798" y="4879658"/>
            <a:ext cx="1457142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buNone/>
            </a:pPr>
            <a:r>
              <a:rPr lang="zh-CN" sz="3150" dirty="0">
                <a:solidFill>
                  <a:srgbClr val="F8F8F5"/>
                </a:solidFill>
                <a:latin typeface="+mn-lt"/>
                <a:ea typeface="+mn-ea"/>
                <a:cs typeface="+mn-cs"/>
              </a:rPr>
              <a:t>越早把 AI 接入主任务链，越能站到复核、决策、客户与组织价值的一侧。</a:t>
            </a:r>
          </a:p>
        </p:txBody>
      </p:sp>
      <p:sp>
        <p:nvSpPr>
          <p:cNvPr id="11" name="closing-footer Placeholder Carrier"/>
          <p:cNvSpPr txBox="1"/>
          <p:nvPr>
            <p:ph type="ftr" idx="2"/>
          </p:nvPr>
        </p:nvSpPr>
        <p:spPr>
          <a:xfrm>
            <a:off x="679704" y="640461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8F8F5"/>
                </a:solidFill>
                <a:latin typeface="+mn-lt"/>
                <a:ea typeface="+mn-ea"/>
                <a:cs typeface="+mn-cs"/>
              </a:rPr>
              <a:t>从自己的一项高频任务开始。</a:t>
            </a:r>
          </a:p>
        </p:txBody>
      </p:sp>
      <p:sp>
        <p:nvSpPr>
          <p:cNvPr id="13" name="page-number Placeholder Carrier"/>
          <p:cNvSpPr txBox="1"/>
          <p:nvPr>
            <p:ph type="sldNum" idx="3"/>
          </p:nvPr>
        </p:nvSpPr>
        <p:spPr>
          <a:xfrm>
            <a:off x="11119104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fld id="{D1379FF0-561A-4D73-9DA1-D289AB2306BD}" type="slidenum">
              <a:rPr lang="en-US" sz="1200" dirty="0">
                <a:solidFill>
                  <a:srgbClr val="F8F8F5"/>
                </a:solidFill>
                <a:latin typeface="+mn-lt"/>
                <a:ea typeface="+mn-ea"/>
                <a:cs typeface="+mn-cs"/>
              </a:rPr>
              <a:t>12</a:t>
            </a:fld>
          </a:p>
        </p:txBody>
      </p:sp>
    </p:spTree>
  </p:cSld>
  <p:clrMapOvr>
    <a:masterClrMapping/>
  </p:clrMapOvr>
  <p:transition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71717"/>
      </a:dk1>
      <a:lt1>
        <a:srgbClr val="F8F8F5"/>
      </a:lt1>
      <a:dk2>
        <a:srgbClr val="60615F"/>
      </a:dk2>
      <a:lt2>
        <a:srgbClr val="E9E9E3"/>
      </a:lt2>
      <a:accent1>
        <a:srgbClr val="111111"/>
      </a:accent1>
      <a:accent2>
        <a:srgbClr val="E2261A"/>
      </a:accent2>
      <a:accent3>
        <a:srgbClr val="0057FF"/>
      </a:accent3>
      <a:accent4>
        <a:srgbClr val="B8B8B2"/>
      </a:accent4>
      <a:accent5>
        <a:srgbClr val="4BACC6"/>
      </a:accent5>
      <a:accent6>
        <a:srgbClr val="F79646"/>
      </a:accent6>
      <a:hlink>
        <a:srgbClr val="E2261A"/>
      </a:hlink>
      <a:folHlink>
        <a:srgbClr val="0057FF"/>
      </a:folHlink>
    </a:clrScheme>
    <a:fontScheme name="PPT Maste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71717"/>
      </a:dk1>
      <a:lt1>
        <a:srgbClr val="F8F8F5"/>
      </a:lt1>
      <a:dk2>
        <a:srgbClr val="60615F"/>
      </a:dk2>
      <a:lt2>
        <a:srgbClr val="E9E9E3"/>
      </a:lt2>
      <a:accent1>
        <a:srgbClr val="111111"/>
      </a:accent1>
      <a:accent2>
        <a:srgbClr val="E2261A"/>
      </a:accent2>
      <a:accent3>
        <a:srgbClr val="0057FF"/>
      </a:accent3>
      <a:accent4>
        <a:srgbClr val="B8B8B2"/>
      </a:accent4>
      <a:accent5>
        <a:srgbClr val="4BACC6"/>
      </a:accent5>
      <a:accent6>
        <a:srgbClr val="F79646"/>
      </a:accent6>
      <a:hlink>
        <a:srgbClr val="E2261A"/>
      </a:hlink>
      <a:folHlink>
        <a:srgbClr val="0057FF"/>
      </a:folHlink>
    </a:clrScheme>
    <a:fontScheme name="PPT Maste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2026-07-26T12:37:21Z</dcterms:created>
  <dcterms:modified xsi:type="dcterms:W3CDTF">2026-07-26T12:37:21Z</dcterms:modified>
  <cp:category/>
  <cp:contentStatus/>
</cp:coreProperties>
</file>