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研发与算力</c:v>
                </c:pt>
                <c:pt idx="1">
                  <c:v>金融数据与知识图谱</c:v>
                </c:pt>
                <c:pt idx="2">
                  <c:v>标杆客户与场景拓展</c:v>
                </c:pt>
                <c:pt idx="3">
                  <c:v>团队建设</c:v>
                </c:pt>
                <c:pt idx="4">
                  <c:v>运营/合规/储备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各位投资人好,我是天微AI实验室的[姓名]。今天汇报我们的金融舆情智能体平台。我们正用 AI Agent 重建金融机构的舆情分析与声誉风险管理工作流,本轮种子轮计划融资1000万,用于验证PMF、打磨金融行业模型、拿下首批标杆客户。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汇报分四部分:先看行业痛点与机会,再讲产品方案与壁垒,然后市场与竞争,最后商业化与融资规划。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01,项目情况介绍。讲清解决什么痛点、带来什么价值、为什么是现在。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金融舆情核心矛盾:信息海量且专业,现有工具要么关键词+规则不懂金融,要么人工慢且贵,还要严苛合规留痕。这就是切入口。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用AI Agent替代监测员+分析师+合规审核,实现看见→看懂→研判→行动闭环。资深分析师工作流首次工程化。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某城商行消保舆情POC:误报率降六成,响应从小时级压到十分钟级,分析师产能提升三倍。数字须替换为真实数据。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三个趋势同时成熟:模型能力到了,监管要求到了,客户基建也到了。金融舆情智能体最好的时间窗。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02,产品方案。讲清架构、差异化、部署合规与路线图。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架构核心是中间两层:金融知识图谱提供专业语义,多Agent编排实现复杂研判。上层业务应用,下层支持私有化。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四个差异化点里,金融语义理解和可解释性是金融场景硬门槛,通用大模型平台短期补不齐。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金融机构对数据出域高度敏感,三档部署都支持,私有化是银行和监管首选,也是硬门槛之一。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种子轮18-24月目标:平台GA、私有化闭环、三个标杆客户,然后启动Pre-A。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03,市场与竞争。用数据证明天花板够高,且有清晰位置。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市场规模双口径对齐:自上而下行业报告总量,自下而上客户数×客单价交叉验证。具体数字以最新行业报告为准。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四类对手各有短板。我们站在金融垂直×Agent智能×私有化合规的交叉点,目前没人占住的生态位。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首发客户是城商行和上市公司董办,决策快、预算明确;中期延伸券商与地方金融监管。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横向对比,我们是唯一在金融语义、可解释、私有化三项同时达标的方案。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04,商业化与未来。落到钱上——商业模式、里程碑、融资用途、退出。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四档商业模式:中小走SaaS,银行走私有化,生态伙伴走按量,行业客户走解决方案。收入逐步转向高毛利订阅与维保。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四个里程碑是种子轮核心交付:产品、客户、能力、下一轮。达成后即有Pre-A数据支撑。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1000万分配:研发算力五成,数据与图谱近两成,客户与场景一成半,团队一成出头,运营合规留尾数。跑道18-24月。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总结:1000万种子轮验证PMF、拿三个标杆、跑通私有化闭环。Pre-A时希望带真实付费客户与单位经济数据,再与各位深入交流。谢谢!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D4A03C"/>
                </a:solidFill>
                <a:latin typeface="微软雅黑"/>
                <a:ea typeface="微软雅黑"/>
              </a:rPr>
              <a:t>天微AI实验室  |  TIANWEI AI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0">
                <a:solidFill>
                  <a:srgbClr val="BFD2F2"/>
                </a:solidFill>
                <a:latin typeface="微软雅黑"/>
                <a:ea typeface="微软雅黑"/>
              </a:rPr>
              <a:t>让机器像资深分析师一样  研判金融舆情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商 业 计 划 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9FB6D8"/>
                </a:solidFill>
                <a:latin typeface="微软雅黑"/>
                <a:ea typeface="微软雅黑"/>
              </a:rPr>
              <a:t>种子轮 · 拟融资 1000 万人民币   |   2026.X   |   汇报人:[贵司提供]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8229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64208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F2C5C"/>
                </a:solidFill>
                <a:latin typeface="微软雅黑"/>
                <a:ea typeface="微软雅黑"/>
              </a:rPr>
              <a:t>项目情况介绍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84832"/>
            <a:ext cx="8686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痛点与机会 · 价值主张 · 时机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697480"/>
            <a:ext cx="8229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807208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F2C5C"/>
                </a:solidFill>
                <a:latin typeface="微软雅黑"/>
                <a:ea typeface="微软雅黑"/>
              </a:rPr>
              <a:t>产品方案分析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27832"/>
            <a:ext cx="8686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架构 · 差异化 · 部署合规 · 路线图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840480"/>
            <a:ext cx="8229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50208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F2C5C"/>
                </a:solidFill>
                <a:latin typeface="微软雅黑"/>
                <a:ea typeface="微软雅黑"/>
              </a:rPr>
              <a:t>市场与竞争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70832"/>
            <a:ext cx="8686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规模 · 定位 · 竞品 · 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983480"/>
            <a:ext cx="8229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93208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0F2C5C"/>
                </a:solidFill>
                <a:latin typeface="微软雅黑"/>
                <a:ea typeface="微软雅黑"/>
              </a:rPr>
              <a:t>商业化与未来规划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513832"/>
            <a:ext cx="8686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模式 · 里程碑 · 融资用途 · 退出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1463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D4A03C"/>
                </a:solidFill>
                <a:latin typeface="微软雅黑"/>
                <a:ea typeface="微软雅黑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项目情况介绍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BFD2F2"/>
                </a:solidFill>
                <a:latin typeface="微软雅黑"/>
                <a:ea typeface="微软雅黑"/>
              </a:rPr>
              <a:t>金融舆情,正从“关键词时代”迈入“智能体时代”。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2179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9FB6D8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01 · 项目情况介绍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行业痛点:金融舆情的四重结构性矛盾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228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9728" cy="2286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关键词舆情不懂金融语义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4617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5A6573"/>
                </a:solidFill>
                <a:latin typeface="微软雅黑"/>
                <a:ea typeface="微软雅黑"/>
              </a:rPr>
              <a:t>无法区分「公告利好」与「被立案调查」,金融文本专业隐晦,误报漏报严重。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120640" cy="228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109728" cy="2286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0020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人工研判慢、稀缺、贵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40280"/>
            <a:ext cx="4617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5A6573"/>
                </a:solidFill>
                <a:latin typeface="微软雅黑"/>
                <a:ea typeface="微软雅黑"/>
              </a:rPr>
              <a:t>潜在负面响应需数十分钟到数小时,声誉窗口常只有分钟级;资深分析师稀缺。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5120640" cy="228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109728" cy="2286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1480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多源多模态信息碎片化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54880"/>
            <a:ext cx="4617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5A6573"/>
                </a:solidFill>
                <a:latin typeface="微软雅黑"/>
                <a:ea typeface="微软雅黑"/>
              </a:rPr>
              <a:t>社媒、新闻、股吧、研报、公告、短视频、境外媒体难以整合关联,关键线索易遗漏。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886200"/>
            <a:ext cx="5120640" cy="228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109728" cy="2286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强监管下幻觉与留痕是红线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617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50" b="0">
                <a:solidFill>
                  <a:srgbClr val="5A6573"/>
                </a:solidFill>
                <a:latin typeface="微软雅黑"/>
                <a:ea typeface="微软雅黑"/>
              </a:rPr>
              <a:t>银行/券商/上市公司要求可解释、可追溯,通用大模型幻觉在金融场景是红线。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01 · 项目情况介绍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解决方案:用 AI Agent 重建舆情工作流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56616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5661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智能监测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0175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7×24 全网 + 授权源采集,金融实体级(公司/人物/产品/事件)精准命中,告别关键词误判。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54480"/>
            <a:ext cx="356616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554480"/>
            <a:ext cx="35661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语义研判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30175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自动识别事件类型、风险等级、传播态势与利益相关方,像资深分析师一样理解上下文。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554480"/>
            <a:ext cx="356616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554480"/>
            <a:ext cx="35661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自动应对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743200"/>
            <a:ext cx="30175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生成研判报告与应对口径草稿(人在回路确认),分级预警触达钉钉/企微/系统。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C5C"/>
                </a:solidFill>
                <a:latin typeface="微软雅黑"/>
                <a:ea typeface="微软雅黑"/>
              </a:rPr>
              <a:t>核心:用 Agent 替代“监测员 + 分析师 + 合规审核”,从“看见”到“看懂、研判、行动”。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01 · 项目情况介绍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量化价值:某城商行消保舆情 POC 验证 [核实]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5A6573"/>
                </a:solidFill>
                <a:latin typeface="微软雅黑"/>
                <a:ea typeface="微软雅黑"/>
              </a:rPr>
              <a:t>POC 场景:消费者权益保护舆情 + 品牌声誉管理(脱敏)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606040" cy="2194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2606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6060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2E86DE"/>
                </a:solidFill>
                <a:latin typeface="微软雅黑"/>
                <a:ea typeface="微软雅黑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2240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误报率较原通用工具下降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103120"/>
            <a:ext cx="2606040" cy="2194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103120"/>
            <a:ext cx="2606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6060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2E86DE"/>
                </a:solidFill>
                <a:latin typeface="微软雅黑"/>
                <a:ea typeface="微软雅黑"/>
              </a:rP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20440"/>
            <a:ext cx="2240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负面平均响应(原 4 小时)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03120"/>
            <a:ext cx="2606040" cy="2194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2606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6060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2E86DE"/>
                </a:solidFill>
                <a:latin typeface="微软雅黑"/>
                <a:ea typeface="微软雅黑"/>
              </a:rPr>
              <a:t>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20440"/>
            <a:ext cx="2240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分析师日覆盖事件数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103120"/>
            <a:ext cx="2606040" cy="2194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103120"/>
            <a:ext cx="2606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60604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2E86DE"/>
                </a:solidFill>
                <a:latin typeface="微软雅黑"/>
                <a:ea typeface="微软雅黑"/>
              </a:rPr>
              <a:t>92%+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20440"/>
            <a:ext cx="22402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金融实体识别准确率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A93030"/>
                </a:solidFill>
                <a:latin typeface="微软雅黑"/>
                <a:ea typeface="微软雅黑"/>
              </a:rPr>
              <a:t>提示:上述数字为 POC 量级参考,路演前须替换为真实验证数据。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01 · 项目情况介绍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为什么是现在:四个趋势同时成熟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69848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377440" cy="9601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37744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技术成熟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7955279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大模型 + Agent 框架成熟,“理解 + 行动”首次工程可行。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2377440" cy="9601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37744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监管趋严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51760"/>
            <a:ext cx="7955279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声誉风险、消保、投资者保护、ESG、数据合规要求持续收紧。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1069848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40"/>
            <a:ext cx="2377440" cy="9601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237744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基建就绪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49040"/>
            <a:ext cx="7955279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金融机构数据治理成熟,私有化部署大模型成为可能。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69848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2377440" cy="9601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237744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窗口打开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46320"/>
            <a:ext cx="7955279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通用舆情进入存量竞争,智能化升级需求集中释放。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1463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D4A03C"/>
                </a:solidFill>
                <a:latin typeface="微软雅黑"/>
                <a:ea typeface="微软雅黑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产品方案分析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BFD2F2"/>
                </a:solidFill>
                <a:latin typeface="微软雅黑"/>
                <a:ea typeface="微软雅黑"/>
              </a:rPr>
              <a:t>金融行业大模型 + 多 Agent 编排 + 金融知识图谱。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2179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9FB6D8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02 · 产品方案分析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产品架构:六层金融舆情智能体平台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834640" cy="6583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应用层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417320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舆情驾驶舱 · 研判报告 · 分级预警 · 投资者关系助手 · 危机指挥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85416"/>
            <a:ext cx="2834640" cy="65836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85416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Agent 编排层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2185416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185416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监测 / 研判 / 应对 / 合规 / 预警 多 Agent 协同,任务规划与工具调用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53512"/>
            <a:ext cx="2834640" cy="65836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金融知识图谱层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2953512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2953512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公司—人物—事件—关联交易关系网,支撑关联研判与溯源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21608"/>
            <a:ext cx="2834640" cy="65836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21608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智能处理层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3721608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721608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金融实体识别(NER)· 情感分析 · 事件抽取 · 谣言检测 · 跨语言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89704"/>
            <a:ext cx="2834640" cy="65836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9704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数据采集层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4489704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489704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全网爬虫 + 授权数据源 + API(社媒/新闻/股吧/公告/研报/境外媒体)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57800"/>
            <a:ext cx="2834640" cy="658368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283464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模型层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5257800"/>
            <a:ext cx="786384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5257800"/>
            <a:ext cx="75895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1F2A37"/>
                </a:solidFill>
                <a:latin typeface="微软雅黑"/>
                <a:ea typeface="微软雅黑"/>
              </a:rPr>
              <a:t>金融行业大模型 + 私有化部署 + 可插拔主流模型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02 · 产品方案分析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核心技术与差异化:金融场景的硬门槛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700" b="1">
                <a:solidFill>
                  <a:srgbClr val="0F2C5C"/>
                </a:solidFill>
                <a:latin typeface="微软雅黑"/>
                <a:ea typeface="微软雅黑"/>
              </a:rPr>
              <a:t>金融语义理解</a:t>
            </a:r>
            <a:r>
              <a:rPr sz="1700" b="0">
                <a:solidFill>
                  <a:srgbClr val="1F2A37"/>
                </a:solidFill>
                <a:latin typeface="微软雅黑"/>
                <a:ea typeface="微软雅黑"/>
              </a:rPr>
              <a:t>金融领域微调 + 知识图谱,远超通用工具的关键词命中。</a:t>
            </a:r>
          </a:p>
          <a:p>
            <a:pPr>
              <a:spcAft>
                <a:spcPts val="18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700" b="1">
                <a:solidFill>
                  <a:srgbClr val="0F2C5C"/>
                </a:solidFill>
                <a:latin typeface="微软雅黑"/>
                <a:ea typeface="微软雅黑"/>
              </a:rPr>
              <a:t>秒级实时引擎</a:t>
            </a:r>
            <a:r>
              <a:rPr sz="1700" b="0">
                <a:solidFill>
                  <a:srgbClr val="1F2A37"/>
                </a:solidFill>
                <a:latin typeface="微软雅黑"/>
                <a:ea typeface="微软雅黑"/>
              </a:rPr>
              <a:t>流式处理,潜在风险分钟/秒级预警。</a:t>
            </a:r>
          </a:p>
          <a:p>
            <a:pPr>
              <a:spcAft>
                <a:spcPts val="18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700" b="1">
                <a:solidFill>
                  <a:srgbClr val="0F2C5C"/>
                </a:solidFill>
                <a:latin typeface="微软雅黑"/>
                <a:ea typeface="微软雅黑"/>
              </a:rPr>
              <a:t>幻觉抑制 + 可解释</a:t>
            </a:r>
            <a:r>
              <a:rPr sz="1700" b="0">
                <a:solidFill>
                  <a:srgbClr val="1F2A37"/>
                </a:solidFill>
                <a:latin typeface="微软雅黑"/>
                <a:ea typeface="微软雅黑"/>
              </a:rPr>
              <a:t>研判结论附证据链与出处,满足合规审计。</a:t>
            </a:r>
          </a:p>
          <a:p>
            <a:pPr>
              <a:spcAft>
                <a:spcPts val="18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700" b="1">
                <a:solidFill>
                  <a:srgbClr val="0F2C5C"/>
                </a:solidFill>
                <a:latin typeface="微软雅黑"/>
                <a:ea typeface="微软雅黑"/>
              </a:rPr>
              <a:t>多 Agent 协同 + 低代码</a:t>
            </a:r>
            <a:r>
              <a:rPr sz="1700" b="0">
                <a:solidFill>
                  <a:srgbClr val="1F2A37"/>
                </a:solidFill>
                <a:latin typeface="微软雅黑"/>
                <a:ea typeface="微软雅黑"/>
              </a:rPr>
              <a:t>复杂舆情自动拆解,业务人员可自定义 Agent。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C5C"/>
                </a:solidFill>
                <a:latin typeface="微软雅黑"/>
                <a:ea typeface="微软雅黑"/>
              </a:rPr>
              <a:t>金融语义理解 + 可解释性,是通用大模型平台短期补不齐的能力。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02 · 产品方案分析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部署形态与安全合规:三档交付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56616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566160" cy="8229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私有化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银行 / 监管首选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全栈本地化、数据不出域、权限分级、操作审计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54480"/>
            <a:ext cx="356616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554480"/>
            <a:ext cx="3566160" cy="8229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混合云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0604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2E86DE"/>
                </a:solidFill>
                <a:latin typeface="微软雅黑"/>
                <a:ea typeface="微软雅黑"/>
              </a:rPr>
              <a:t>大中型机构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54680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敏感数据本地、弹性算力上云、灰度升级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554480"/>
            <a:ext cx="356616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554480"/>
            <a:ext cx="3566160" cy="82296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566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06040"/>
            <a:ext cx="3017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D4A03C"/>
                </a:solidFill>
                <a:latin typeface="微软雅黑"/>
                <a:ea typeface="微软雅黑"/>
              </a:rPr>
              <a:t>中小机构 / 上市公司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54680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快速接入、按需付费、运维托管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F2C5C"/>
                </a:solidFill>
                <a:latin typeface="微软雅黑"/>
                <a:ea typeface="微软雅黑"/>
              </a:rPr>
              <a:t>合规:权限分级 · 操作审计 · 数据脱敏 · 信创/国产化适配 · 等保 [核实资质等级]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02 · 产品方案分析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产品路线图:18-24 月三步走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1033272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2286000"/>
            <a:ext cx="4572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D4A03C"/>
                </a:solidFill>
                <a:latin typeface="微软雅黑"/>
                <a:ea typeface="微软雅黑"/>
              </a:rPr>
              <a:t>Q1–Q2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平台 GA + 金融知识图谱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74720"/>
            <a:ext cx="29260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5A6573"/>
                </a:solidFill>
                <a:latin typeface="微软雅黑"/>
                <a:ea typeface="微软雅黑"/>
              </a:rPr>
              <a:t>消保 / 声誉场景上线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286000"/>
            <a:ext cx="4572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01168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D4A03C"/>
                </a:solidFill>
                <a:latin typeface="微软雅黑"/>
                <a:ea typeface="微软雅黑"/>
              </a:rPr>
              <a:t>Q3–Q4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346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私有化部署闭环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474720"/>
            <a:ext cx="29260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5A6573"/>
                </a:solidFill>
                <a:latin typeface="微软雅黑"/>
                <a:ea typeface="微软雅黑"/>
              </a:rPr>
              <a:t>3 个标杆付费客户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4572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01168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D4A03C"/>
                </a:solidFill>
                <a:latin typeface="微软雅黑"/>
                <a:ea typeface="微软雅黑"/>
              </a:rPr>
              <a:t>次年 H1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8346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行业版扩展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29260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50" b="0">
                <a:solidFill>
                  <a:srgbClr val="5A6573"/>
                </a:solidFill>
                <a:latin typeface="微软雅黑"/>
                <a:ea typeface="微软雅黑"/>
              </a:rPr>
              <a:t>券商研报合规 · 上市公司投关 · To G 地方金融风险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1463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D4A03C"/>
                </a:solidFill>
                <a:latin typeface="微软雅黑"/>
                <a:ea typeface="微软雅黑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市场调查结果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BFD2F2"/>
                </a:solidFill>
                <a:latin typeface="微软雅黑"/>
                <a:ea typeface="微软雅黑"/>
              </a:rPr>
              <a:t>金融舆情与声誉风险管理,一个被低估的智能体刚需市场。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2179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9FB6D8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03 · 市场与竞争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市场规模:TAM / SAM / SOM(双口径,数字待核实)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463040" cy="123444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TAM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554480"/>
            <a:ext cx="914400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737360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中国企业舆情监测与公关分析服务市场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12848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数十亿级 [艾瑞/赛迪/IDC 核实]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1463040" cy="12344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SAM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926080"/>
            <a:ext cx="914400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108960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金融垂直声誉/消保/投关支出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84448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银行 · 券商 · 基金 · 上市公司 · 地方金融监管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1463040" cy="1234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4630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SOM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297680"/>
            <a:ext cx="914400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4480560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500" b="1">
                <a:solidFill>
                  <a:srgbClr val="0F2C5C"/>
                </a:solidFill>
                <a:latin typeface="微软雅黑"/>
                <a:ea typeface="微软雅黑"/>
              </a:rPr>
              <a:t>3 年现实可获取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956048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5A6573"/>
                </a:solidFill>
                <a:latin typeface="微软雅黑"/>
                <a:ea typeface="微软雅黑"/>
              </a:rPr>
              <a:t>客户数 × 渗透率 × 客单价(私有化百万级 / SaaS 数十万每年)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03 · 市场与竞争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竞争定位:金融垂直 × Agent 智能 × 私有化合规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3444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→ 金融纵深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↑ Agent 智能化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691640"/>
            <a:ext cx="9601200" cy="4114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44805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4805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5A6573"/>
                </a:solidFill>
                <a:latin typeface="微软雅黑"/>
                <a:ea typeface="微软雅黑"/>
              </a:rPr>
              <a:t>传统舆情厂商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01168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01168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5A6573"/>
                </a:solidFill>
                <a:latin typeface="微软雅黑"/>
                <a:ea typeface="微软雅黑"/>
              </a:rPr>
              <a:t>通用大模型/Agent平台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4572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5A6573"/>
                </a:solidFill>
                <a:latin typeface="微软雅黑"/>
                <a:ea typeface="微软雅黑"/>
              </a:rPr>
              <a:t>海外财经情报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10312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A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10312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5A6573"/>
                </a:solidFill>
                <a:latin typeface="微软雅黑"/>
                <a:ea typeface="微软雅黑"/>
              </a:rPr>
              <a:t>金融机构自建IT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017520"/>
            <a:ext cx="2651760" cy="6858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017520"/>
            <a:ext cx="265176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天微AI实验室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03 · 市场与竞争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目标客户与高价值场景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09728" cy="20116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城商行 / 农商行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572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5A6573"/>
                </a:solidFill>
                <a:latin typeface="微软雅黑"/>
                <a:ea typeface="微软雅黑"/>
              </a:rPr>
              <a:t>消保舆情 · 品牌声誉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54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109728" cy="20116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券商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572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5A6573"/>
                </a:solidFill>
                <a:latin typeface="微软雅黑"/>
                <a:ea typeface="微软雅黑"/>
              </a:rPr>
              <a:t>研报合规 · 声誉管理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9728" cy="20116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上市公司董办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46320"/>
            <a:ext cx="4572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5A6573"/>
                </a:solidFill>
                <a:latin typeface="微软雅黑"/>
                <a:ea typeface="微软雅黑"/>
              </a:rPr>
              <a:t>投资者关系 · 危机公关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840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840480"/>
            <a:ext cx="109728" cy="20116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206240"/>
            <a:ext cx="45720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地方金融监管(To 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46320"/>
            <a:ext cx="4572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5A6573"/>
                </a:solidFill>
                <a:latin typeface="微软雅黑"/>
                <a:ea typeface="微软雅黑"/>
              </a:rPr>
              <a:t>非法集资监测 · 地方金融风险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决策链:品牌/合规/办公室/IT  ·  采购周期 3–9 月  ·  预算:科技/品牌/合规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03 · 市场与竞争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竞品对比:唯一三项同时达标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194560" cy="56692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2194560" cy="56692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64592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天微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645920"/>
            <a:ext cx="2194560" cy="56692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64592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通用舆情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45920"/>
            <a:ext cx="2194560" cy="56692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64592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通用大模型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645920"/>
            <a:ext cx="2194560" cy="566928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4592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人工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12848"/>
            <a:ext cx="219456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212848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0F2C5C"/>
                </a:solidFill>
                <a:latin typeface="微软雅黑"/>
                <a:ea typeface="微软雅黑"/>
              </a:rPr>
              <a:t>金融语义理解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212848"/>
            <a:ext cx="2194560" cy="566928"/>
          </a:xfrm>
          <a:prstGeom prst="rect">
            <a:avLst/>
          </a:prstGeom>
          <a:solidFill>
            <a:srgbClr val="FC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212848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D4A03C"/>
                </a:solidFill>
                <a:latin typeface="微软雅黑"/>
                <a:ea typeface="微软雅黑"/>
              </a:rPr>
              <a:t>★★★★★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21284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212848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21284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212848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212848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212848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★★★★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779776"/>
            <a:ext cx="219456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779776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0F2C5C"/>
                </a:solidFill>
                <a:latin typeface="微软雅黑"/>
                <a:ea typeface="微软雅黑"/>
              </a:rPr>
              <a:t>响应速度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779776"/>
            <a:ext cx="2194560" cy="566928"/>
          </a:xfrm>
          <a:prstGeom prst="rect">
            <a:avLst/>
          </a:prstGeom>
          <a:solidFill>
            <a:srgbClr val="FC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2779776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D4A03C"/>
                </a:solidFill>
                <a:latin typeface="微软雅黑"/>
                <a:ea typeface="微软雅黑"/>
              </a:rPr>
              <a:t>秒级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77977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779776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分钟级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77977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2779776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分钟级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77977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2779776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小时级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346704"/>
            <a:ext cx="219456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346704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0F2C5C"/>
                </a:solidFill>
                <a:latin typeface="微软雅黑"/>
                <a:ea typeface="微软雅黑"/>
              </a:rPr>
              <a:t>可解释/留痕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346704"/>
            <a:ext cx="2194560" cy="566928"/>
          </a:xfrm>
          <a:prstGeom prst="rect">
            <a:avLst/>
          </a:prstGeom>
          <a:solidFill>
            <a:srgbClr val="FC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3346704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D4A03C"/>
                </a:solidFill>
                <a:latin typeface="微软雅黑"/>
                <a:ea typeface="微软雅黑"/>
              </a:rPr>
              <a:t>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34670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346704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334670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346704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346704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3346704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3913632"/>
            <a:ext cx="219456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3913632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0F2C5C"/>
                </a:solidFill>
                <a:latin typeface="微软雅黑"/>
                <a:ea typeface="微软雅黑"/>
              </a:rPr>
              <a:t>私有化合规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3913632"/>
            <a:ext cx="2194560" cy="566928"/>
          </a:xfrm>
          <a:prstGeom prst="rect">
            <a:avLst/>
          </a:prstGeom>
          <a:solidFill>
            <a:srgbClr val="FC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0" y="3913632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D4A03C"/>
                </a:solidFill>
                <a:latin typeface="微软雅黑"/>
                <a:ea typeface="微软雅黑"/>
              </a:rPr>
              <a:t>原生支持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391363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3913632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391363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13632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391363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913632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4480560"/>
            <a:ext cx="219456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48056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0F2C5C"/>
                </a:solidFill>
                <a:latin typeface="微软雅黑"/>
                <a:ea typeface="微软雅黑"/>
              </a:rPr>
              <a:t>成本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80" y="4480560"/>
            <a:ext cx="2194560" cy="566928"/>
          </a:xfrm>
          <a:prstGeom prst="rect">
            <a:avLst/>
          </a:prstGeom>
          <a:solidFill>
            <a:srgbClr val="FC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0" y="448056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50" b="1">
                <a:solidFill>
                  <a:srgbClr val="D4A03C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4480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448056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4480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48056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60" y="44805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09760" y="4480560"/>
            <a:ext cx="21945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1463040" cy="9144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3152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D4A03C"/>
                </a:solidFill>
                <a:latin typeface="微软雅黑"/>
                <a:ea typeface="微软雅黑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未来发展预期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>
                <a:solidFill>
                  <a:srgbClr val="BFD2F2"/>
                </a:solidFill>
                <a:latin typeface="微软雅黑"/>
                <a:ea typeface="微软雅黑"/>
              </a:rPr>
              <a:t>种子轮:验证 PMF,18-24 月跑道。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2179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000" b="0">
                <a:solidFill>
                  <a:srgbClr val="9FB6D8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04 · 商业化与未来规划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商业模式:四档定价覆盖不同客户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09728" cy="201168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订阅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微软雅黑"/>
                <a:ea typeface="微软雅黑"/>
              </a:rPr>
              <a:t>按账号/模块/数据量计费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适用:中小机构 · 上市公司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109728" cy="201168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2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私有化项目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微软雅黑"/>
                <a:ea typeface="微软雅黑"/>
              </a:rPr>
              <a:t>一次性 + 年度维保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适用:银行 · 监管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109728" cy="201168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6052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按量计费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微软雅黑"/>
                <a:ea typeface="微软雅黑"/>
              </a:rPr>
              <a:t>API 调用 /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578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适用:集成方 · ISV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840480"/>
            <a:ext cx="5120640" cy="2011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840480"/>
            <a:ext cx="109728" cy="201168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16052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F2C5C"/>
                </a:solidFill>
                <a:latin typeface="微软雅黑"/>
                <a:ea typeface="微软雅黑"/>
              </a:rPr>
              <a:t>行业解决方案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754880"/>
            <a:ext cx="4572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微软雅黑"/>
                <a:ea typeface="微软雅黑"/>
              </a:rPr>
              <a:t>打包交付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A6573"/>
                </a:solidFill>
                <a:latin typeface="微软雅黑"/>
                <a:ea typeface="微软雅黑"/>
              </a:rPr>
              <a:t>适用:消保/声誉/投关/地方金融风险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04 · 商业化与未来规划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18-24 月里程碑:四条主线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011680" cy="91440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0116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45920"/>
            <a:ext cx="8595360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45920"/>
            <a:ext cx="8138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平台 GA + 金融知识图谱 v1 + 私有化部署闭环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2011680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0116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697480"/>
            <a:ext cx="8595360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697480"/>
            <a:ext cx="8138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3 个标杆付费客户(城商行/券商/上市公司)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2011680" cy="914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20116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749040"/>
            <a:ext cx="8595360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749040"/>
            <a:ext cx="8138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实时预警秒级 + 可解释证据链 + 信创适配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2011680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00600"/>
            <a:ext cx="20116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融资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800600"/>
            <a:ext cx="8595360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800600"/>
            <a:ext cx="8138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微软雅黑"/>
                <a:ea typeface="微软雅黑"/>
              </a:rPr>
              <a:t>种子轮 1000 万 → 18-24 月后启动 Pre-A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04 · 商业化与未来规划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1000 万种子轮资金用途结构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21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675120" y="1737360"/>
            <a:ext cx="2286000" cy="5029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737360"/>
            <a:ext cx="2286000" cy="5029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占比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20" y="1737360"/>
            <a:ext cx="2286000" cy="5029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17373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金额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24028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F2C5C"/>
                </a:solidFill>
                <a:latin typeface="微软雅黑"/>
                <a:ea typeface="微软雅黑"/>
              </a:rPr>
              <a:t>研发与算力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24028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24028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47120" y="224028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224028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500 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432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F2C5C"/>
                </a:solidFill>
                <a:latin typeface="微软雅黑"/>
                <a:ea typeface="微软雅黑"/>
              </a:rPr>
              <a:t>金融数据与知识图谱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7432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74320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0" y="27432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274320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180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24612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4612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F2C5C"/>
                </a:solidFill>
                <a:latin typeface="微软雅黑"/>
                <a:ea typeface="微软雅黑"/>
              </a:rPr>
              <a:t>标杆客户与场景拓展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24612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24612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247120" y="324612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0" y="324612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7490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74904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F2C5C"/>
                </a:solidFill>
                <a:latin typeface="微软雅黑"/>
                <a:ea typeface="微软雅黑"/>
              </a:rPr>
              <a:t>团队建设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7490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374904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47120" y="37490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374904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120 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25196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2519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1">
                <a:solidFill>
                  <a:srgbClr val="0F2C5C"/>
                </a:solidFill>
                <a:latin typeface="微软雅黑"/>
                <a:ea typeface="微软雅黑"/>
              </a:rPr>
              <a:t>运营/合规/储备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25196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42519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247120" y="4251960"/>
            <a:ext cx="2286000" cy="502920"/>
          </a:xfrm>
          <a:prstGeom prst="rect">
            <a:avLst/>
          </a:prstGeom>
          <a:solidFill>
            <a:srgbClr val="F2F5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47120" y="4251960"/>
            <a:ext cx="22860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1F2A37"/>
                </a:solidFill>
                <a:latin typeface="微软雅黑"/>
                <a:ea typeface="微软雅黑"/>
              </a:rPr>
              <a:t>50 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300" b="1">
                <a:solidFill>
                  <a:srgbClr val="D4A03C"/>
                </a:solidFill>
                <a:latin typeface="微软雅黑"/>
                <a:ea typeface="微软雅黑"/>
              </a:rPr>
              <a:t>PART 04 · 商业化与未来规划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种子轮融资计划与退出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天微AI实验室 · 金融舆情智能体平台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5A6573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0F2C5C"/>
                </a:solidFill>
                <a:latin typeface="微软雅黑"/>
                <a:ea typeface="微软雅黑"/>
              </a:rPr>
              <a:t>本轮</a:t>
            </a:r>
            <a:r>
              <a:rPr sz="1600" b="0">
                <a:solidFill>
                  <a:srgbClr val="1F2A37"/>
                </a:solidFill>
                <a:latin typeface="微软雅黑"/>
                <a:ea typeface="微软雅黑"/>
              </a:rPr>
              <a:t>种子轮 1000 万人民币,跑道 18-24 月。</a:t>
            </a:r>
          </a:p>
          <a:p>
            <a:pPr>
              <a:spcAft>
                <a:spcPts val="16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0F2C5C"/>
                </a:solidFill>
                <a:latin typeface="微软雅黑"/>
                <a:ea typeface="微软雅黑"/>
              </a:rPr>
              <a:t>估值</a:t>
            </a:r>
            <a:r>
              <a:rPr sz="1600" b="0">
                <a:solidFill>
                  <a:srgbClr val="1F2A37"/>
                </a:solidFill>
                <a:latin typeface="微软雅黑"/>
                <a:ea typeface="微软雅黑"/>
              </a:rPr>
              <a:t>[内部决策]种子轮通常出让 10-20%,投后约 5000 万 - 1 亿(对标可比交易)。</a:t>
            </a:r>
          </a:p>
          <a:p>
            <a:pPr>
              <a:spcAft>
                <a:spcPts val="16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0F2C5C"/>
                </a:solidFill>
                <a:latin typeface="微软雅黑"/>
                <a:ea typeface="微软雅黑"/>
              </a:rPr>
              <a:t>用途</a:t>
            </a:r>
            <a:r>
              <a:rPr sz="1600" b="0">
                <a:solidFill>
                  <a:srgbClr val="1F2A37"/>
                </a:solidFill>
                <a:latin typeface="微软雅黑"/>
                <a:ea typeface="微软雅黑"/>
              </a:rPr>
              <a:t>研发50% · 数据18% · 客户15% · 团队12% · 运营5%。</a:t>
            </a:r>
          </a:p>
          <a:p>
            <a:pPr>
              <a:spcAft>
                <a:spcPts val="16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0F2C5C"/>
                </a:solidFill>
                <a:latin typeface="微软雅黑"/>
                <a:ea typeface="微软雅黑"/>
              </a:rPr>
              <a:t>退出路径</a:t>
            </a:r>
            <a:r>
              <a:rPr sz="1600" b="0">
                <a:solidFill>
                  <a:srgbClr val="1F2A37"/>
                </a:solidFill>
                <a:latin typeface="微软雅黑"/>
                <a:ea typeface="微软雅黑"/>
              </a:rPr>
              <a:t>下一轮 Pre-A / 战略并购(金融科技、舆情、数据厂商)。</a:t>
            </a:r>
          </a:p>
          <a:p>
            <a:pPr>
              <a:spcAft>
                <a:spcPts val="1600"/>
              </a:spcAft>
            </a:pPr>
            <a:r>
              <a:rPr sz="1200" b="1">
                <a:solidFill>
                  <a:srgbClr val="2E86DE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0F2C5C"/>
                </a:solidFill>
                <a:latin typeface="微软雅黑"/>
                <a:ea typeface="微软雅黑"/>
              </a:rPr>
              <a:t>核心团队</a:t>
            </a:r>
            <a:r>
              <a:rPr sz="1600" b="0">
                <a:solidFill>
                  <a:srgbClr val="1F2A37"/>
                </a:solidFill>
                <a:latin typeface="微软雅黑"/>
                <a:ea typeface="微软雅黑"/>
              </a:rPr>
              <a:t>[贵司提供] AI 工程 + 金融行业 + To B 销售。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0F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用 1000 万验证 PMF · 拿 3 个标杆 · 跑通私有化闭环 —— 期待与各位携手。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