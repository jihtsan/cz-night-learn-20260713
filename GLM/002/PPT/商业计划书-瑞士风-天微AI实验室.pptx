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各位投资人好,我是天微AI实验室。今天汇报我们的金融舆情智能体平台:用 AI Agent 重建金融机构的舆情分析与声誉风险管理工作流。本轮种子轮计划融资 1000 万,用于验证产品市场匹配、打磨金融行业模型、拿下首批标杆客户。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汇报分四部分:先看行业痛点与机会,再讲产品方案与壁垒,然后是市场与竞争,最后落到商业化与融资规划。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进入第一部分:项目情况介绍。核心判断是——金融舆情正从关键词时代迈入智能体时代。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金融舆情的核心矛盾:信息海量且专业,但现有工具要么是关键词+规则不懂金融,要么是人工慢且贵,同时还要满足严苛的合规留痕。这就是我们的切入口。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 AI Agent 替代监测员、分析师、合规审核的组合,实现从看见到看懂、研判、行动的闭环。这是资深舆情分析师的完整工作流,首次被工程化。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这是我们在某城商行消保舆情场景的 POC 验证结果。误报率下降六成,响应时长从小时级压缩到十分钟级,分析师产能提升三倍。这些数字需在路演前替换为真实 POC 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三个趋势同时成熟:模型能力到了,监管要求到了,客户基建也到了。这是金融舆情智能体最好的时间窗。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第二部分:产品方案分析。我们的技术底座是金融行业大模型、多 Agent 编排与金融知识图谱。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六层架构自下而上:数据采集、智能处理、金融知识图谱、Agent 编排、应用,以及底座的金融行业大模型。每一层都为「金融语义 + 可解释 + 私有化」服务。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四个差异化点:金融语义、秒级实时、幻觉抑制加可解释、多 Agent 加低代码配置。这是证明我们不是套壳的关键。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三档部署形态覆盖不同客户:银行监管走私有化,中大型机构走混合云,中小机构走 SaaS。权限分级、操作审计、脱敏、信创适配和等保是 To B / To G 的硬门槛。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路线图:前两季度平台 GA 加知识图谱 v1;下半年跑通私有化闭环并拿下三个标杆;第二年开始行业版扩展。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第三部分:市场与竞争。我们看金融舆情与声誉风险管理市场,天花板足够高,且关键生态位目前空白。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市场规模三层:TAM 是企业舆情监测与公关分析服务市场,数十亿级;SAM 收敛到金融垂直支出;SOM 用自下而上口径——目标客户数乘渗透率乘客单价测算,3 年可获取数千万级。所有数字需权威报告核实。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四类对手各有短板:传统舆情规则强但智能弱;通用大模型平台私有化弱;海外财经情报本地合规弱;自建 IT 成本高。我们的位置是金融垂直、Agent 智能、私有化合规三者的交叉点,目前没人占住。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首发客户是城商行和上市公司董办,决策相对快、预算明确;中期延伸到券商和地方金融监管。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横向对比可以看到,我们是唯一在金融语义、可解释、私有化三项同时达标的方案。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第四部分:商业化与未来规划。种子轮的核心任务是验证 PMF,18 到 24 个月跑道。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四档商业模式覆盖不同客户:中小走 SaaS,银行走私有化,生态伙伴走按量计费,行业客户走解决方案。收入结构会随客户成熟度逐步转向高毛利的订阅与私有化维保。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这四个里程碑是种子轮的核心交付:产品、客户、能力、下一轮。达成后我们就有 Pre-A 的数据支撑。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1000 万的分配逻辑:种子轮重压研发与场景验证。研发算力五成,数据与知识图谱近两成,客户与场景一成半,团队一成出头,运营合规留个尾数。跑道 18 到 24 个月。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总结:我们用 1000 万种子轮验证金融舆情智能体的 PMF,拿三个标杆客户,跑通私有化闭环。下一轮 Pre-A 时,我们希望带着真实的付费客户和单位经济数据,和各位再深入交流。谢谢!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40">
                <a:solidFill>
                  <a:srgbClr val="666666"/>
                </a:solidFill>
                <a:latin typeface="Arial"/>
                <a:ea typeface="微软雅黑"/>
              </a:rPr>
              <a:t>BUSINESS PLAN  ·  种子轮  ·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768096"/>
            <a:ext cx="21945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64247" y="457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 spc="160">
                <a:solidFill>
                  <a:srgbClr val="666666"/>
                </a:solidFill>
                <a:latin typeface="Arial"/>
                <a:ea typeface="微软雅黑"/>
              </a:rPr>
              <a:t>天微AI实验室  ·  TIANWEI AI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803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1A1A1A"/>
                </a:solidFill>
                <a:latin typeface="Arial Black"/>
                <a:ea typeface="微软雅黑"/>
              </a:rPr>
              <a:t>金融舆情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95020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1A1A1A"/>
                </a:solidFill>
                <a:latin typeface="Arial Black"/>
                <a:ea typeface="微软雅黑"/>
              </a:rPr>
              <a:t>智能体平台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" y="5257800"/>
            <a:ext cx="0" cy="86868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816" y="52852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  <a:ea typeface="微软雅黑"/>
              </a:rPr>
              <a:t>让机器像资深分析师一样 · 理解 / 研判 / 应对金融舆情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55961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FINANCIAL SENTIMENT AI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1447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140">
                <a:solidFill>
                  <a:srgbClr val="666666"/>
                </a:solidFill>
                <a:latin typeface="Arial"/>
                <a:ea typeface="微软雅黑"/>
              </a:rPr>
              <a:t>种子轮  ·  拟融资人民币 1,000 万  ·  跑道 18–24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CONTENTS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520887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E8E8E8"/>
                </a:solidFill>
                <a:latin typeface="Arial Black"/>
                <a:ea typeface="微软雅黑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246120"/>
            <a:ext cx="520887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383279"/>
            <a:ext cx="52088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项目情况介绍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13048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114800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9251D"/>
                </a:solidFill>
                <a:latin typeface="Arial"/>
                <a:ea typeface="微软雅黑"/>
              </a:rPr>
              <a:t>痛点与机会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331720"/>
            <a:ext cx="520887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E8E8E8"/>
                </a:solidFill>
                <a:latin typeface="Arial Black"/>
                <a:ea typeface="微软雅黑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70167" y="3246120"/>
            <a:ext cx="520888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70167" y="3383279"/>
            <a:ext cx="52088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产品方案分析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813048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PRODUCT &amp;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114800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9251D"/>
                </a:solidFill>
                <a:latin typeface="Arial"/>
                <a:ea typeface="微软雅黑"/>
              </a:rPr>
              <a:t>架构与壁垒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160520"/>
            <a:ext cx="520887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E8E8E8"/>
                </a:solidFill>
                <a:latin typeface="Arial Black"/>
                <a:ea typeface="微软雅黑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5074920"/>
            <a:ext cx="520887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5212079"/>
            <a:ext cx="52088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市场与竞争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641848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MARKET &amp; COMPETITION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9251D"/>
                </a:solidFill>
                <a:latin typeface="Arial"/>
                <a:ea typeface="微软雅黑"/>
              </a:rPr>
              <a:t>规模与定位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4160520"/>
            <a:ext cx="520887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E8E8E8"/>
                </a:solidFill>
                <a:latin typeface="Arial Black"/>
                <a:ea typeface="微软雅黑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70167" y="5074920"/>
            <a:ext cx="520888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70167" y="5212079"/>
            <a:ext cx="52088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商业化与未来规划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641848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BUSINESS &amp; 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5943600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9251D"/>
                </a:solidFill>
                <a:latin typeface="Arial"/>
                <a:ea typeface="微软雅黑"/>
              </a:rPr>
              <a:t>融资与里程碑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 spc="260">
                <a:solidFill>
                  <a:srgbClr val="666666"/>
                </a:solidFill>
                <a:latin typeface="Arial"/>
                <a:ea typeface="微软雅黑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0" b="1" i="0">
                <a:solidFill>
                  <a:srgbClr val="E8E8E8"/>
                </a:solidFill>
                <a:latin typeface="Arial Black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 Black"/>
                <a:ea typeface="微软雅黑"/>
              </a:rPr>
              <a:t>项目情况介绍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26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40">
                <a:solidFill>
                  <a:srgbClr val="666666"/>
                </a:solidFill>
                <a:latin typeface="Arial"/>
                <a:ea typeface="微软雅黑"/>
              </a:rPr>
              <a:t>PROJECT OVERVIEW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" y="4983480"/>
            <a:ext cx="658368" cy="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5138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  <a:ea typeface="微软雅黑"/>
              </a:rPr>
              <a:t>金融舆情正从「关键词时代」迈入「智能体时代」。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行业痛点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STRUCTURAL PAIN POINTS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516315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154680"/>
            <a:ext cx="516315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273552"/>
            <a:ext cx="51631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 Black"/>
                <a:ea typeface="微软雅黑"/>
              </a:rPr>
              <a:t>关键词舆情不懂金融语义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675887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200">
                <a:solidFill>
                  <a:srgbClr val="D9251D"/>
                </a:solidFill>
                <a:latin typeface="Arial"/>
                <a:ea typeface="微软雅黑"/>
              </a:rPr>
              <a:t>KEYWORD-BLIND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977639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无法区分「公告利好」与「被立案调查」,误报漏报严重。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286000"/>
            <a:ext cx="516315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5887" y="3154680"/>
            <a:ext cx="51631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5887" y="3273552"/>
            <a:ext cx="51631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 Black"/>
                <a:ea typeface="微软雅黑"/>
              </a:rPr>
              <a:t>人工研判慢、稀缺、贵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3675887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200">
                <a:solidFill>
                  <a:srgbClr val="D9251D"/>
                </a:solidFill>
                <a:latin typeface="Arial"/>
                <a:ea typeface="微软雅黑"/>
              </a:rPr>
              <a:t>SLOW &amp; COSTLY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3977639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潜在负面响应常需数十分钟到数小时,声誉窗口常只有分钟级。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24528"/>
            <a:ext cx="516315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5093208"/>
            <a:ext cx="516315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5212080"/>
            <a:ext cx="51631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 Black"/>
                <a:ea typeface="微软雅黑"/>
              </a:rPr>
              <a:t>多源多语言多模态碎片化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614416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200">
                <a:solidFill>
                  <a:srgbClr val="D9251D"/>
                </a:solidFill>
                <a:latin typeface="Arial"/>
                <a:ea typeface="微软雅黑"/>
              </a:rPr>
              <a:t>FRAGMENTED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916168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社媒、新闻、股吧、研报、公告、短视频、境外媒体难以整合关联。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4224528"/>
            <a:ext cx="516315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15887" y="5093208"/>
            <a:ext cx="51631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15887" y="5212080"/>
            <a:ext cx="51631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rial Black"/>
                <a:ea typeface="微软雅黑"/>
              </a:rPr>
              <a:t>强监管下幻觉与留痕是红线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614416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200">
                <a:solidFill>
                  <a:srgbClr val="D9251D"/>
                </a:solidFill>
                <a:latin typeface="Arial"/>
                <a:ea typeface="微软雅黑"/>
              </a:rPr>
              <a:t>COMPLIANCE-CRITICAL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5916168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银行 / 券商 / 上市公司要求可解释、可追溯,容错率低。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FROM SEEING TO ACTING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32897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200400"/>
            <a:ext cx="32897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310128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智能监测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749039"/>
            <a:ext cx="32897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D9251D"/>
                </a:solidFill>
                <a:latin typeface="Arial"/>
                <a:ea typeface="微软雅黑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114800"/>
            <a:ext cx="328970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7×24 全网 + 授权源,金融实体级(公司 / 人物 / 产品 / 事件)精准命中。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994" y="2331720"/>
            <a:ext cx="32897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50994" y="3200400"/>
            <a:ext cx="32897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50994" y="3310128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语义研判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994" y="3749039"/>
            <a:ext cx="32897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D9251D"/>
                </a:solidFill>
                <a:latin typeface="Arial"/>
                <a:ea typeface="微软雅黑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994" y="4114800"/>
            <a:ext cx="328970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事件类型、风险等级、传播态势、利益相关方自动识别与关联。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340" y="2331720"/>
            <a:ext cx="32897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 i="0">
                <a:solidFill>
                  <a:srgbClr val="E8E8E8"/>
                </a:solidFill>
                <a:latin typeface="Arial Black"/>
                <a:ea typeface="微软雅黑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9340" y="3200400"/>
            <a:ext cx="3289707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89340" y="3310128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自动应对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340" y="3749039"/>
            <a:ext cx="32897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D9251D"/>
                </a:solidFill>
                <a:latin typeface="Arial"/>
                <a:ea typeface="微软雅黑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9340" y="4114800"/>
            <a:ext cx="328970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研判报告 + 应对口径草稿(人在回路确认),分级预警触达。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715000"/>
            <a:ext cx="10966399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715000"/>
            <a:ext cx="10600639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rial"/>
                <a:ea typeface="微软雅黑"/>
              </a:rPr>
              <a:t>用 AI Agent 替代「监测员 + 分析师 + 合规审核」组合 ——</a:t>
            </a:r>
            <a:r>
              <a:rPr sz="1250" b="1" i="0">
                <a:solidFill>
                  <a:srgbClr val="FFFFFF"/>
                </a:solidFill>
                <a:latin typeface="Arial"/>
                <a:ea typeface="微软雅黑"/>
              </a:rPr>
              <a:t>  从「看见」到「看懂、研判、行动」的闭环。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量化价值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VALIDATED OUTCOMES · CITY COMMERCIAL BANK POC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68880"/>
            <a:ext cx="2398699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A1A1A"/>
                </a:solidFill>
                <a:latin typeface="Arial Black"/>
                <a:ea typeface="微软雅黑"/>
              </a:rPr>
              <a:t>60%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611880"/>
            <a:ext cx="2398699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749039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误报率下降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11480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120">
                <a:solidFill>
                  <a:srgbClr val="666666"/>
                </a:solidFill>
                <a:latin typeface="Arial"/>
                <a:ea typeface="微软雅黑"/>
              </a:rPr>
              <a:t>FALSE-POSITIVE  vs 通用工具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8547" y="2468880"/>
            <a:ext cx="2398699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A1A1A"/>
                </a:solidFill>
                <a:latin typeface="Arial Black"/>
                <a:ea typeface="微软雅黑"/>
              </a:rPr>
              <a:t>10min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68547" y="3611880"/>
            <a:ext cx="2398700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68547" y="3749039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负面平均响应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8547" y="411480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120">
                <a:solidFill>
                  <a:srgbClr val="666666"/>
                </a:solidFill>
                <a:latin typeface="Arial"/>
                <a:ea typeface="微软雅黑"/>
              </a:rPr>
              <a:t>4h  →  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468880"/>
            <a:ext cx="2398699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A1A1A"/>
                </a:solidFill>
                <a:latin typeface="Arial Black"/>
                <a:ea typeface="微软雅黑"/>
              </a:rPr>
              <a:t>×3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3611880"/>
            <a:ext cx="2398700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3749039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分析师产能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11480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120">
                <a:solidFill>
                  <a:srgbClr val="666666"/>
                </a:solidFill>
                <a:latin typeface="Arial"/>
                <a:ea typeface="微软雅黑"/>
              </a:rPr>
              <a:t>单日覆盖事件数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347" y="2468880"/>
            <a:ext cx="2398699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A1A1A"/>
                </a:solidFill>
                <a:latin typeface="Arial Black"/>
                <a:ea typeface="微软雅黑"/>
              </a:rPr>
              <a:t>92%+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80347" y="3611880"/>
            <a:ext cx="2398700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80347" y="3749039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实体识别准确率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347" y="411480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 i="0" spc="120">
                <a:solidFill>
                  <a:srgbClr val="666666"/>
                </a:solidFill>
                <a:latin typeface="Arial"/>
                <a:ea typeface="微软雅黑"/>
              </a:rPr>
              <a:t>金融 NER 准确率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029200"/>
            <a:ext cx="10966399" cy="457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029200"/>
            <a:ext cx="1069207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  <a:ea typeface="微软雅黑"/>
              </a:rPr>
              <a:t>数据来源:某城商行消保舆情 POC 验证  ·  标 [核实] 处需替换为真实 POC 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为什么是现在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WHY NOW · TIMING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239869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8328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TECH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703320"/>
            <a:ext cx="239869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886200"/>
            <a:ext cx="239869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大模型 + Agent 框架成熟,「理解 + 行动」首次工程可行。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5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547" y="2697480"/>
            <a:ext cx="239869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监管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8547" y="338328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68547" y="370332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68547" y="3886200"/>
            <a:ext cx="239869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声誉风险、消保、投资者保护、ESG、数据合规要求趋严。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697480"/>
            <a:ext cx="239869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基建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38328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INFRA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4447" y="370332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24447" y="3886200"/>
            <a:ext cx="239869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金融机构数据治理就绪,私有化部署大模型成为可能。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3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347" y="2697480"/>
            <a:ext cx="239869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市场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347" y="338328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MARKET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80347" y="370332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80347" y="3886200"/>
            <a:ext cx="239869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666666"/>
                </a:solidFill>
                <a:latin typeface="Arial"/>
                <a:ea typeface="微软雅黑"/>
              </a:rPr>
              <a:t>通用舆情存量竞争,「智能化升级」窗口打开。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 spc="260">
                <a:solidFill>
                  <a:srgbClr val="666666"/>
                </a:solidFill>
                <a:latin typeface="Arial"/>
                <a:ea typeface="微软雅黑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0" b="1" i="0">
                <a:solidFill>
                  <a:srgbClr val="E8E8E8"/>
                </a:solidFill>
                <a:latin typeface="Arial Black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 Black"/>
                <a:ea typeface="微软雅黑"/>
              </a:rPr>
              <a:t>产品方案分析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26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40">
                <a:solidFill>
                  <a:srgbClr val="666666"/>
                </a:solidFill>
                <a:latin typeface="Arial"/>
                <a:ea typeface="微软雅黑"/>
              </a:rPr>
              <a:t>PRODUCT &amp; SOLUTION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" y="4983480"/>
            <a:ext cx="658368" cy="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5138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  <a:ea typeface="微软雅黑"/>
              </a:rPr>
              <a:t>金融行业大模型 + 多 Agent 编排 + 金融知识图谱。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产品架构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LAYERED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09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240280"/>
            <a:ext cx="109663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240280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2402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2402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2240280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舆情驾驶舱 · 研判报告 · 实时预警 · 投关助手 · 危机指挥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10966399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" y="2916936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91693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Agent 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1693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916936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监测 / 研判 / 应对 / 合规 / 预警 多 Agent 协同 · 任务规划与工具调用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3593592"/>
            <a:ext cx="109663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" y="3593592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9359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金融知识图谱层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59359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KNOWLEDGE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3593592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公司—人物—事件—关联交易关系网 · 支撑关联研判与溯源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4270248"/>
            <a:ext cx="10966399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4270248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27024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智能处理层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427024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NLP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8" y="4270248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金融 NER · 情感分析 · 事件抽取 · 谣言检测 · 跨语言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4946904"/>
            <a:ext cx="109663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4946904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94690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数据采集层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494690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DATA INTAKE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7608" y="4946904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全网爬虫 + 授权数据源 + API · 社媒/新闻/股吧/公告/研报/境外媒体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5623560"/>
            <a:ext cx="10966399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" y="5623560"/>
            <a:ext cx="82296" cy="56692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6235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 Black"/>
                <a:ea typeface="微软雅黑"/>
              </a:rPr>
              <a:t>模型层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62356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i="0" spc="160">
                <a:solidFill>
                  <a:srgbClr val="666666"/>
                </a:solidFill>
                <a:latin typeface="Arial"/>
                <a:ea typeface="微软雅黑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8" y="5623560"/>
            <a:ext cx="538855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Arial"/>
                <a:ea typeface="微软雅黑"/>
              </a:rPr>
              <a:t>金融行业大模型 + 私有化部署 + 可插拔主流模型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核心技术与差异化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CORE TECH &amp; DIFFERENTIATION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51631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78608"/>
            <a:ext cx="5163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金融语义理解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108960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FINANCIAL SEMANTICS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429000"/>
            <a:ext cx="516315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566160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领域微调 + 知识图谱,远超通用舆情的关键词命中。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286000"/>
            <a:ext cx="51631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578608"/>
            <a:ext cx="5163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秒级实时引擎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108960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REAL-TIME ENGINE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5887" y="3429000"/>
            <a:ext cx="51631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5887" y="3566160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流式处理,潜在风险分钟 / 秒级预警。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24528"/>
            <a:ext cx="51631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517136"/>
            <a:ext cx="5163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幻觉抑制 + 可解释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047488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HALLUCINATION CONTROL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5367528"/>
            <a:ext cx="516315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" y="5504688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结论附证据链与出处,金融场景必备。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4224528"/>
            <a:ext cx="51631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4517136"/>
            <a:ext cx="5163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多 Agent + 低代码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5047488"/>
            <a:ext cx="51631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MULTI-AGENT &amp; LOW-CODE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15887" y="5367528"/>
            <a:ext cx="516316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15887" y="5504688"/>
            <a:ext cx="516315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业务人员可自定义研判规则与 Agent。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部署形态与安全合规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DEPLOYMENT &amp; COMPLIANCE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331720"/>
            <a:ext cx="3289706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331720"/>
            <a:ext cx="3289706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0604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私有化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28325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PRIVATE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520440"/>
            <a:ext cx="28325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65760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  <a:ea typeface="微软雅黑"/>
              </a:rPr>
              <a:t>银行 / 监管首选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023360"/>
            <a:ext cx="283250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全栈本地化 · 数据不出域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0994" y="2331720"/>
            <a:ext cx="3289706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0994" y="2331720"/>
            <a:ext cx="3289706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9594" y="260604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混合云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594" y="3200400"/>
            <a:ext cx="28325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HYBRID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79594" y="3520440"/>
            <a:ext cx="28325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79594" y="365760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  <a:ea typeface="微软雅黑"/>
              </a:rPr>
              <a:t>中大型机构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9594" y="4023360"/>
            <a:ext cx="283250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模型与敏感数据本地 · 弹性算力上云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9340" y="2331720"/>
            <a:ext cx="3289706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9340" y="2331720"/>
            <a:ext cx="3289706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7940" y="2606040"/>
            <a:ext cx="28325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7940" y="3200400"/>
            <a:ext cx="28325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SAAS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17940" y="3520440"/>
            <a:ext cx="2832507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17940" y="3657600"/>
            <a:ext cx="28325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  <a:ea typeface="微软雅黑"/>
              </a:rPr>
              <a:t>中小机构 / 上市公司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7940" y="4023360"/>
            <a:ext cx="283250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快速接入 · 按账号与数据量计费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" y="5257800"/>
            <a:ext cx="10966399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257800"/>
            <a:ext cx="106006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9251D"/>
                </a:solidFill>
                <a:latin typeface="Arial"/>
                <a:ea typeface="微软雅黑"/>
              </a:rPr>
              <a:t>合规硬门槛  ·  </a:t>
            </a:r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权限分级  ·  操作审计  ·  数据脱敏  ·  信创适配  ·  等保 [核实]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产品路线图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12 /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8408" y="3840480"/>
            <a:ext cx="1023487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95528" y="3758184"/>
            <a:ext cx="164592" cy="164592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32897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160">
                <a:solidFill>
                  <a:srgbClr val="D9251D"/>
                </a:solidFill>
                <a:latin typeface="Arial"/>
                <a:ea typeface="微软雅黑"/>
              </a:rPr>
              <a:t>Q1–Q2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00400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 Black"/>
                <a:ea typeface="微软雅黑"/>
              </a:rPr>
              <a:t>平台 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160520"/>
            <a:ext cx="328970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核心平台上线 + 金融知识图谱 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3874" y="3758184"/>
            <a:ext cx="164592" cy="164592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0994" y="2788920"/>
            <a:ext cx="32897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160">
                <a:solidFill>
                  <a:srgbClr val="D9251D"/>
                </a:solidFill>
                <a:latin typeface="Arial"/>
                <a:ea typeface="微软雅黑"/>
              </a:rPr>
              <a:t>Q3–Q4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994" y="3200400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 Black"/>
                <a:ea typeface="微软雅黑"/>
              </a:rPr>
              <a:t>私有化闭环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994" y="4160520"/>
            <a:ext cx="328970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私有化部署闭环 + 3 个标杆客户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2220" y="3758184"/>
            <a:ext cx="164592" cy="164592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9340" y="2788920"/>
            <a:ext cx="32897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160">
                <a:solidFill>
                  <a:srgbClr val="D9251D"/>
                </a:solidFill>
                <a:latin typeface="Arial"/>
                <a:ea typeface="微软雅黑"/>
              </a:rPr>
              <a:t>Y2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340" y="3200400"/>
            <a:ext cx="328970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 Black"/>
                <a:ea typeface="微软雅黑"/>
              </a:rPr>
              <a:t>行业版扩展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340" y="4160520"/>
            <a:ext cx="328970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消保 / 声誉 / 投关 / 地方金融风险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 spc="260">
                <a:solidFill>
                  <a:srgbClr val="666666"/>
                </a:solidFill>
                <a:latin typeface="Arial"/>
                <a:ea typeface="微软雅黑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0" b="1" i="0">
                <a:solidFill>
                  <a:srgbClr val="E8E8E8"/>
                </a:solidFill>
                <a:latin typeface="Arial Black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 Black"/>
                <a:ea typeface="微软雅黑"/>
              </a:rPr>
              <a:t>市场与竞争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26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40">
                <a:solidFill>
                  <a:srgbClr val="666666"/>
                </a:solidFill>
                <a:latin typeface="Arial"/>
                <a:ea typeface="微软雅黑"/>
              </a:rPr>
              <a:t>MARKET &amp; COMPETITION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" y="4983480"/>
            <a:ext cx="658368" cy="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5138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  <a:ea typeface="微软雅黑"/>
              </a:rPr>
              <a:t>金融舆情与声誉风险管理市场,规模可观、生态位空白。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市场规模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TAM · SAM · SOM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14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331720"/>
            <a:ext cx="1096639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1463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D9251D"/>
                </a:solidFill>
                <a:latin typeface="Arial Black"/>
                <a:ea typeface="微软雅黑"/>
              </a:rPr>
              <a:t>TAM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2496312"/>
            <a:ext cx="0" cy="722376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70048" y="2331720"/>
            <a:ext cx="3840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  <a:ea typeface="微软雅黑"/>
              </a:rPr>
              <a:t>总量市场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743200"/>
            <a:ext cx="3840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企业舆情监测与公关分析服务市场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数十亿级 RMB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78892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  <a:ea typeface="微软雅黑"/>
              </a:rPr>
              <a:t>[艾瑞 / 赛迪 / IDC 核实]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547872"/>
            <a:ext cx="10966399" cy="1051560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47872"/>
            <a:ext cx="1463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D9251D"/>
                </a:solidFill>
                <a:latin typeface="Arial Black"/>
                <a:ea typeface="微软雅黑"/>
              </a:rPr>
              <a:t>SAM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95728" y="3712463"/>
            <a:ext cx="0" cy="722377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70048" y="3547872"/>
            <a:ext cx="3840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  <a:ea typeface="微软雅黑"/>
              </a:rPr>
              <a:t>可服务市场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959352"/>
            <a:ext cx="3840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金融垂直:声誉 / 消保 / 投关支出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547872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数亿级 RMB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005072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  <a:ea typeface="微软雅黑"/>
              </a:rPr>
              <a:t>银行 / 券商 / 上市公司 / 监管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764023"/>
            <a:ext cx="10966399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764023"/>
            <a:ext cx="1463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D9251D"/>
                </a:solidFill>
                <a:latin typeface="Arial Black"/>
                <a:ea typeface="微软雅黑"/>
              </a:rPr>
              <a:t>SOM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95728" y="4928615"/>
            <a:ext cx="0" cy="722376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70048" y="4764023"/>
            <a:ext cx="3840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 Black"/>
                <a:ea typeface="微软雅黑"/>
              </a:rPr>
              <a:t>3 年可获取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5175503"/>
            <a:ext cx="3840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目标客户数 × 渗透率 × 客单价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4764023"/>
            <a:ext cx="3108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200" b="1" i="0">
                <a:solidFill>
                  <a:srgbClr val="1A1A1A"/>
                </a:solidFill>
                <a:latin typeface="Arial Black"/>
                <a:ea typeface="微软雅黑"/>
              </a:rPr>
              <a:t>数千万级 RMB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5221223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  <a:ea typeface="微软雅黑"/>
              </a:rPr>
              <a:t>私有化百万级 · SaaS 数十万/年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竞争定位矩阵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COMPETITIVE POSITIONING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15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331720"/>
            <a:ext cx="1096639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12648" y="4023360"/>
            <a:ext cx="10966399" cy="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2331720"/>
            <a:ext cx="0" cy="3383280"/>
          </a:xfrm>
          <a:prstGeom prst="line">
            <a:avLst/>
          </a:prstGeom>
          <a:ln w="1270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2039112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120">
                <a:solidFill>
                  <a:srgbClr val="666666"/>
                </a:solidFill>
                <a:latin typeface="Arial"/>
                <a:ea typeface="微软雅黑"/>
              </a:rPr>
              <a:t>Agent 智能 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39112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  <a:ea typeface="微软雅黑"/>
              </a:rPr>
              <a:t>规则驱动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788152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←  通用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788152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金融垂直 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2591" y="4771339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4615" y="4689043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/>
                <a:ea typeface="微软雅黑"/>
              </a:rPr>
              <a:t>传统舆情厂商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47807" y="3282696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9831" y="32004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/>
                <a:ea typeface="微软雅黑"/>
              </a:rPr>
              <a:t>通用大模型平台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1919" y="3282696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3943" y="32004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/>
                <a:ea typeface="微软雅黑"/>
              </a:rPr>
              <a:t>海外财经情报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8479" y="4128515"/>
            <a:ext cx="128016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0503" y="404622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/>
                <a:ea typeface="微软雅黑"/>
              </a:rPr>
              <a:t>金融机构自建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60415" y="2944368"/>
            <a:ext cx="128016" cy="128016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2439" y="286207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>
                <a:solidFill>
                  <a:srgbClr val="D9251D"/>
                </a:solidFill>
                <a:latin typeface="Arial"/>
                <a:ea typeface="微软雅黑"/>
              </a:rPr>
              <a:t>天微 AI 实验室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0087" y="5257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 i="0">
                <a:solidFill>
                  <a:srgbClr val="D9251D"/>
                </a:solidFill>
                <a:latin typeface="Arial"/>
                <a:ea typeface="微软雅黑"/>
              </a:rPr>
              <a:t>空白生态位 = 金融垂直 × Agent 智能 × 私有化合规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目标客户与场景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TARGET CUSTOMERS &amp; SCENARIOS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16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286000"/>
            <a:ext cx="5163159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286000"/>
            <a:ext cx="82296" cy="150876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4320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rial Black"/>
                <a:ea typeface="微软雅黑"/>
              </a:rPr>
              <a:t>城商行 / 农商行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4612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消保舆情 · 品牌声誉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2286000"/>
            <a:ext cx="5163159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5887" y="2286000"/>
            <a:ext cx="82296" cy="150876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245059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274320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rial Black"/>
                <a:ea typeface="微软雅黑"/>
              </a:rPr>
              <a:t>券商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324612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研报合规 · 声誉管理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023360"/>
            <a:ext cx="5163159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" y="4023360"/>
            <a:ext cx="82296" cy="150876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18795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8056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rial Black"/>
                <a:ea typeface="微软雅黑"/>
              </a:rPr>
              <a:t>上市公司董办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98348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投资者关系 · 危机公关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5887" y="4023360"/>
            <a:ext cx="5163159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5887" y="4023360"/>
            <a:ext cx="82296" cy="150876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0207" y="418795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0207" y="448056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Arial Black"/>
                <a:ea typeface="微软雅黑"/>
              </a:rPr>
              <a:t>地方金融监管 (To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207" y="4983480"/>
            <a:ext cx="4705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非法集资监测 · 地方金融风险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760720"/>
            <a:ext cx="10966399" cy="457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760720"/>
            <a:ext cx="1060063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决策链  </a:t>
            </a:r>
            <a:r>
              <a:rPr sz="1100" b="0" i="0">
                <a:solidFill>
                  <a:srgbClr val="666666"/>
                </a:solidFill>
                <a:latin typeface="Arial"/>
                <a:ea typeface="微软雅黑"/>
              </a:rPr>
              <a:t>品牌 / 合规 / 办公室 / IT      </a:t>
            </a: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采购周期  </a:t>
            </a:r>
            <a:r>
              <a:rPr sz="1100" b="0" i="0">
                <a:solidFill>
                  <a:srgbClr val="666666"/>
                </a:solidFill>
                <a:latin typeface="Arial"/>
                <a:ea typeface="微软雅黑"/>
              </a:rPr>
              <a:t>3–9 个月      </a:t>
            </a: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预算来源  </a:t>
            </a:r>
            <a:r>
              <a:rPr sz="1100" b="0" i="0">
                <a:solidFill>
                  <a:srgbClr val="666666"/>
                </a:solidFill>
                <a:latin typeface="Arial"/>
                <a:ea typeface="微软雅黑"/>
              </a:rPr>
              <a:t>科技 / 品牌 / 合规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竞品对比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COMPETITIVE COMPARISON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17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286000"/>
            <a:ext cx="274320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 Black"/>
                <a:ea typeface="微软雅黑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286000"/>
            <a:ext cx="2011680" cy="566928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2860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 Black"/>
                <a:ea typeface="微软雅黑"/>
              </a:rPr>
              <a:t>天微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7528" y="2286000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22860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 Black"/>
                <a:ea typeface="微软雅黑"/>
              </a:rPr>
              <a:t>通用舆情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9208" y="2286000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22860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 Black"/>
                <a:ea typeface="微软雅黑"/>
              </a:rPr>
              <a:t>通用大模型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0888" y="2286000"/>
            <a:ext cx="2185416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286000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1A1A1A"/>
                </a:solidFill>
                <a:latin typeface="Arial Black"/>
                <a:ea typeface="微软雅黑"/>
              </a:rPr>
              <a:t>人工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285292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85292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  <a:ea typeface="微软雅黑"/>
              </a:rPr>
              <a:t>金融语义理解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5848" y="2852928"/>
            <a:ext cx="2011680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285292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D9251D"/>
                </a:solidFill>
                <a:latin typeface="Arial"/>
                <a:ea typeface="微软雅黑"/>
              </a:rPr>
              <a:t>★★★★★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7528" y="285292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528" y="285292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9208" y="2852928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208" y="2852928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90888" y="2852928"/>
            <a:ext cx="2185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2852928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★★★★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419856"/>
            <a:ext cx="274320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341985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  <a:ea typeface="微软雅黑"/>
              </a:rPr>
              <a:t>响应速度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3419856"/>
            <a:ext cx="2011680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341985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D9251D"/>
                </a:solidFill>
                <a:latin typeface="Arial"/>
                <a:ea typeface="微软雅黑"/>
              </a:rPr>
              <a:t>秒级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67528" y="3419856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67528" y="341985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分钟级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9208" y="3419856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208" y="3419856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分钟级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90888" y="3419856"/>
            <a:ext cx="2185416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3419856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小时级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" y="3986783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3986783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  <a:ea typeface="微软雅黑"/>
              </a:rPr>
              <a:t>可解释 / 留痕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3986783"/>
            <a:ext cx="2011680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5848" y="3986783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D9251D"/>
                </a:solidFill>
                <a:latin typeface="Arial"/>
                <a:ea typeface="微软雅黑"/>
              </a:rPr>
              <a:t>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67528" y="3986783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67528" y="3986783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9208" y="3986783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208" y="3986783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90888" y="3986783"/>
            <a:ext cx="2185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0888" y="3986783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4553712"/>
            <a:ext cx="274320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" y="455371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  <a:ea typeface="微软雅黑"/>
              </a:rPr>
              <a:t>私有化合规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55848" y="4553712"/>
            <a:ext cx="2011680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5848" y="455371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D9251D"/>
                </a:solidFill>
                <a:latin typeface="Arial"/>
                <a:ea typeface="微软雅黑"/>
              </a:rPr>
              <a:t>原生支持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67528" y="4553712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67528" y="455371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79208" y="4553712"/>
            <a:ext cx="2011680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208" y="4553712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90888" y="4553712"/>
            <a:ext cx="2185416" cy="566928"/>
          </a:xfrm>
          <a:prstGeom prst="rect">
            <a:avLst/>
          </a:prstGeom>
          <a:solidFill>
            <a:srgbClr val="F4F4F4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90888" y="4553712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20640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" y="512064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rial"/>
                <a:ea typeface="微软雅黑"/>
              </a:rPr>
              <a:t>成本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55848" y="5120640"/>
            <a:ext cx="2011680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55848" y="51206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1" i="0">
                <a:solidFill>
                  <a:srgbClr val="D9251D"/>
                </a:solidFill>
                <a:latin typeface="Arial"/>
                <a:ea typeface="微软雅黑"/>
              </a:rP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67528" y="512064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67528" y="51206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79208" y="512064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208" y="51206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90888" y="5120640"/>
            <a:ext cx="2185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90888" y="5120640"/>
            <a:ext cx="2185416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Arial"/>
                <a:ea typeface="微软雅黑"/>
              </a:rPr>
              <a:t>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 spc="260">
                <a:solidFill>
                  <a:srgbClr val="666666"/>
                </a:solidFill>
                <a:latin typeface="Arial"/>
                <a:ea typeface="微软雅黑"/>
              </a:rPr>
              <a:t>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430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0" b="1" i="0">
                <a:solidFill>
                  <a:srgbClr val="E8E8E8"/>
                </a:solidFill>
                <a:latin typeface="Arial Black"/>
                <a:ea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rial Black"/>
                <a:ea typeface="微软雅黑"/>
              </a:rPr>
              <a:t>商业化与未来规划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26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40">
                <a:solidFill>
                  <a:srgbClr val="666666"/>
                </a:solidFill>
                <a:latin typeface="Arial"/>
                <a:ea typeface="微软雅黑"/>
              </a:rPr>
              <a:t>BUSINESS &amp; FUTURE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" y="4983480"/>
            <a:ext cx="658368" cy="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" y="5138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Arial"/>
                <a:ea typeface="微软雅黑"/>
              </a:rPr>
              <a:t>种子轮:验证 PMF,18–24 个月跑道。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REVENUE MODEL · FOUR TIERS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19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331720"/>
            <a:ext cx="243298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331720"/>
            <a:ext cx="2432989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560320"/>
            <a:ext cx="206722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880360"/>
            <a:ext cx="206722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Arial Black"/>
                <a:ea typeface="微软雅黑"/>
              </a:rPr>
              <a:t>订阅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456432"/>
            <a:ext cx="206722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180">
                <a:solidFill>
                  <a:srgbClr val="666666"/>
                </a:solidFill>
                <a:latin typeface="Arial"/>
                <a:ea typeface="微软雅黑"/>
              </a:rPr>
              <a:t>SUBSCRIPTION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" y="3794760"/>
            <a:ext cx="2030653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931920"/>
            <a:ext cx="206722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按账号 / 模块 / 数据量计费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4892040"/>
            <a:ext cx="206722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中小机构 · 上市公司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7117" y="2331720"/>
            <a:ext cx="243298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7117" y="2331720"/>
            <a:ext cx="2432989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8285" y="2560320"/>
            <a:ext cx="206722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8285" y="2880360"/>
            <a:ext cx="206722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Arial Black"/>
                <a:ea typeface="微软雅黑"/>
              </a:rPr>
              <a:t>私有化项目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8285" y="3456432"/>
            <a:ext cx="206722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180">
                <a:solidFill>
                  <a:srgbClr val="666666"/>
                </a:solidFill>
                <a:latin typeface="Arial"/>
                <a:ea typeface="微软雅黑"/>
              </a:rPr>
              <a:t>ON-PREMISE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8285" y="3794760"/>
            <a:ext cx="2030654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8285" y="3931920"/>
            <a:ext cx="206722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一次性交付 + 年度维保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8285" y="4892040"/>
            <a:ext cx="206722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银行 · 监管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1587" y="2331720"/>
            <a:ext cx="243298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1587" y="2331720"/>
            <a:ext cx="2432989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2755" y="2560320"/>
            <a:ext cx="206722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755" y="2880360"/>
            <a:ext cx="206722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Arial Black"/>
                <a:ea typeface="微软雅黑"/>
              </a:rPr>
              <a:t>按量计费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2755" y="3456432"/>
            <a:ext cx="206722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180">
                <a:solidFill>
                  <a:srgbClr val="666666"/>
                </a:solidFill>
                <a:latin typeface="Arial"/>
                <a:ea typeface="微软雅黑"/>
              </a:rPr>
              <a:t>USAGE-BASED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02755" y="3794760"/>
            <a:ext cx="2030654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02755" y="3931920"/>
            <a:ext cx="206722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API 调用 / Token 计费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755" y="4892040"/>
            <a:ext cx="206722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集成方 · ISV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6057" y="2331720"/>
            <a:ext cx="2432989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6057" y="2331720"/>
            <a:ext cx="2432989" cy="91440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7225" y="2560320"/>
            <a:ext cx="206722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7225" y="2880360"/>
            <a:ext cx="206722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Arial Black"/>
                <a:ea typeface="微软雅黑"/>
              </a:rPr>
              <a:t>行业解决方案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7225" y="3456432"/>
            <a:ext cx="206722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 i="0" spc="180">
                <a:solidFill>
                  <a:srgbClr val="666666"/>
                </a:solidFill>
                <a:latin typeface="Arial"/>
                <a:ea typeface="微软雅黑"/>
              </a:rPr>
              <a:t>SOLUTION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47225" y="3794760"/>
            <a:ext cx="2030654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47225" y="3931920"/>
            <a:ext cx="206722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Arial"/>
                <a:ea typeface="微软雅黑"/>
              </a:rPr>
              <a:t>打包交付 · 场景化定价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7225" y="4892040"/>
            <a:ext cx="206722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</a:rPr>
              <a:t>消保 / 声誉 / 投关 / 地方金融风险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18–24 月里程碑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MILESTONES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239869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3756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PRODUCT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657600"/>
            <a:ext cx="2398699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840480"/>
            <a:ext cx="2398699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平台 GA + 金融知识图谱 v1 + 私有化部署闭环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5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547" y="2697480"/>
            <a:ext cx="239869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8547" y="333756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CUSTOMER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68547" y="365760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68547" y="3840480"/>
            <a:ext cx="2398699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3 个标杆付费客户(城商行 / 券商 / 上市公司)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697480"/>
            <a:ext cx="239869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33756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CAPABILITY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4447" y="365760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24447" y="3840480"/>
            <a:ext cx="2398699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实时预警秒级 + 可解释证据链 + 信创适配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347" y="2377440"/>
            <a:ext cx="239869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00">
                <a:solidFill>
                  <a:srgbClr val="D9251D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347" y="2697480"/>
            <a:ext cx="239869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 Black"/>
                <a:ea typeface="微软雅黑"/>
              </a:rPr>
              <a:t>融资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347" y="3337560"/>
            <a:ext cx="23986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666666"/>
                </a:solidFill>
                <a:latin typeface="Arial"/>
                <a:ea typeface="微软雅黑"/>
              </a:rPr>
              <a:t>FUNDING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80347" y="3657600"/>
            <a:ext cx="23987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80347" y="3840480"/>
            <a:ext cx="2398699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666666"/>
                </a:solidFill>
                <a:latin typeface="Arial"/>
                <a:ea typeface="微软雅黑"/>
              </a:rPr>
              <a:t>种子轮 1,000 万 → 18–24 月后启动 Pre-A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Arial Black"/>
                <a:ea typeface="微软雅黑"/>
              </a:rPr>
              <a:t>资金用途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109663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666666"/>
                </a:solidFill>
                <a:latin typeface="Arial"/>
                <a:ea typeface="微软雅黑"/>
              </a:rPr>
              <a:t>USE OF PROCEEDS · SEED ROUND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1810512"/>
            <a:ext cx="658368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A1A1A"/>
                </a:solidFill>
                <a:latin typeface="Arial Black"/>
                <a:ea typeface="微软雅黑"/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83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  <a:ea typeface="微软雅黑"/>
              </a:rPr>
              <a:t>万 RMB  ·  跑道 18–24 个月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" y="3886200"/>
            <a:ext cx="3931920" cy="0"/>
          </a:xfrm>
          <a:prstGeom prst="line">
            <a:avLst/>
          </a:prstGeom>
          <a:ln w="3175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4023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  <a:ea typeface="微软雅黑"/>
              </a:rPr>
              <a:t>种子轮重压研发与场景验证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4526280"/>
            <a:ext cx="5483199" cy="65836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26280"/>
            <a:ext cx="548319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微软雅黑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4526280"/>
            <a:ext cx="1973951" cy="658368"/>
          </a:xfrm>
          <a:prstGeom prst="rect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5847" y="4526280"/>
            <a:ext cx="1973951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微软雅黑"/>
              </a:rPr>
              <a:t>18%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9799" y="4526280"/>
            <a:ext cx="1644959" cy="658368"/>
          </a:xfrm>
          <a:prstGeom prst="rect">
            <a:avLst/>
          </a:prstGeom>
          <a:solidFill>
            <a:srgbClr val="1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9799" y="4526280"/>
            <a:ext cx="164495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微软雅黑"/>
              </a:rP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14759" y="4526280"/>
            <a:ext cx="1315967" cy="65836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4759" y="4526280"/>
            <a:ext cx="1315967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  <a:ea typeface="微软雅黑"/>
              </a:rPr>
              <a:t>12%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30727" y="4526280"/>
            <a:ext cx="548319" cy="65836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294376"/>
            <a:ext cx="53917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Arial"/>
                <a:ea typeface="微软雅黑"/>
              </a:rPr>
              <a:t>研发与算力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68696"/>
            <a:ext cx="53917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500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1567" y="5294376"/>
            <a:ext cx="188251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Arial"/>
                <a:ea typeface="微软雅黑"/>
              </a:rPr>
              <a:t>金融数据与知识图谱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567" y="5568696"/>
            <a:ext cx="188251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180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5519" y="5294376"/>
            <a:ext cx="1553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Arial"/>
                <a:ea typeface="微软雅黑"/>
              </a:rPr>
              <a:t>标杆客户与场景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5519" y="5568696"/>
            <a:ext cx="155351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150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0479" y="5294376"/>
            <a:ext cx="1224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Arial"/>
                <a:ea typeface="微软雅黑"/>
              </a:rPr>
              <a:t>团队建设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0479" y="5568696"/>
            <a:ext cx="1224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120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76447" y="5294376"/>
            <a:ext cx="456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Arial"/>
                <a:ea typeface="微软雅黑"/>
              </a:rPr>
              <a:t>运营 / 合规 / 储备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6447" y="5568696"/>
            <a:ext cx="456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Arial"/>
                <a:ea typeface="微软雅黑"/>
              </a:rPr>
              <a:t>50 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 spc="200">
                <a:solidFill>
                  <a:srgbClr val="999999"/>
                </a:solidFill>
                <a:latin typeface="Arial"/>
                <a:ea typeface="微软雅黑"/>
              </a:rPr>
              <a:t>P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260">
                <a:solidFill>
                  <a:srgbClr val="666666"/>
                </a:solidFill>
                <a:latin typeface="Arial"/>
                <a:ea typeface="微软雅黑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A1A1A"/>
                </a:solidFill>
                <a:latin typeface="Arial Black"/>
                <a:ea typeface="微软雅黑"/>
              </a:rPr>
              <a:t>验证 PMF,</a:t>
            </a:r>
            <a:r>
              <a:rPr sz="4400" b="1" i="0">
                <a:solidFill>
                  <a:srgbClr val="1A1A1A"/>
                </a:solidFill>
                <a:latin typeface="Arial Black"/>
                <a:ea typeface="微软雅黑"/>
              </a:rPr>
              <a:t>  拿下标杆,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40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D9251D"/>
                </a:solidFill>
                <a:latin typeface="Arial Black"/>
                <a:ea typeface="微软雅黑"/>
              </a:rPr>
              <a:t>跑通私有化闭环。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3291840"/>
            <a:ext cx="658368" cy="0"/>
          </a:xfrm>
          <a:prstGeom prst="line">
            <a:avLst/>
          </a:prstGeom>
          <a:ln w="38100">
            <a:solidFill>
              <a:srgbClr val="D925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3520440"/>
            <a:ext cx="328970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D9251D"/>
                </a:solidFill>
                <a:latin typeface="Arial"/>
                <a:ea typeface="微软雅黑"/>
              </a:rPr>
              <a:t>本轮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840480"/>
            <a:ext cx="32897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977639"/>
            <a:ext cx="3289706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A1A1A"/>
                </a:solidFill>
                <a:latin typeface="Arial"/>
                <a:ea typeface="微软雅黑"/>
              </a:rPr>
              <a:t>1,000 万 RMB · 种子轮 · 跑道 18–24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994" y="3520440"/>
            <a:ext cx="328970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D9251D"/>
                </a:solidFill>
                <a:latin typeface="Arial"/>
                <a:ea typeface="微软雅黑"/>
              </a:rPr>
              <a:t>估值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50994" y="3840480"/>
            <a:ext cx="3289706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50994" y="3977639"/>
            <a:ext cx="3289706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A1A1A"/>
                </a:solidFill>
                <a:latin typeface="Arial"/>
                <a:ea typeface="微软雅黑"/>
              </a:rPr>
              <a:t>投后约 5,000 万–1 亿(出让 10–20%)[内部决策]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9340" y="3520440"/>
            <a:ext cx="3289706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 i="0" spc="220">
                <a:solidFill>
                  <a:srgbClr val="D9251D"/>
                </a:solidFill>
                <a:latin typeface="Arial"/>
                <a:ea typeface="微软雅黑"/>
              </a:rPr>
              <a:t>退出路径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9340" y="3840480"/>
            <a:ext cx="3289707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89340" y="3977639"/>
            <a:ext cx="3289706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A1A1A"/>
                </a:solidFill>
                <a:latin typeface="Arial"/>
                <a:ea typeface="微软雅黑"/>
              </a:rPr>
              <a:t>下一轮 Pre-A / 战略并购(金融科技 · 舆情 · 数据厂商)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5486400"/>
            <a:ext cx="10966399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486400"/>
            <a:ext cx="10600639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9251D"/>
                </a:solidFill>
                <a:latin typeface="Arial"/>
                <a:ea typeface="微软雅黑"/>
              </a:rPr>
              <a:t>核心团队  ·  </a:t>
            </a:r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AI 工程 + 金融行业 + To B 销售  [贵司提供履历 / 照片]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7367" y="6355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 spc="120">
                <a:solidFill>
                  <a:srgbClr val="999999"/>
                </a:solidFill>
                <a:latin typeface="Arial"/>
                <a:ea typeface="微软雅黑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